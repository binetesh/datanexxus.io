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theme/themeOverride1.xml" ContentType="application/vnd.openxmlformats-officedocument.themeOverride+xml"/>
  <Override PartName="/ppt/charts/chart2.xml" ContentType="application/vnd.openxmlformats-officedocument.drawingml.chart+xml"/>
  <Override PartName="/ppt/theme/themeOverride2.xml" ContentType="application/vnd.openxmlformats-officedocument.themeOverride+xml"/>
  <Override PartName="/ppt/charts/chart3.xml" ContentType="application/vnd.openxmlformats-officedocument.drawingml.chart+xml"/>
  <Override PartName="/ppt/theme/themeOverride3.xml" ContentType="application/vnd.openxmlformats-officedocument.themeOverride+xml"/>
  <Override PartName="/ppt/charts/chart4.xml" ContentType="application/vnd.openxmlformats-officedocument.drawingml.chart+xml"/>
  <Override PartName="/ppt/theme/themeOverride4.xml" ContentType="application/vnd.openxmlformats-officedocument.themeOverride+xml"/>
  <Override PartName="/ppt/charts/chart5.xml" ContentType="application/vnd.openxmlformats-officedocument.drawingml.chart+xml"/>
  <Override PartName="/ppt/theme/themeOverride5.xml" ContentType="application/vnd.openxmlformats-officedocument.themeOverride+xml"/>
  <Override PartName="/ppt/notesSlides/notesSlide3.xml" ContentType="application/vnd.openxmlformats-officedocument.presentationml.notesSlide+xml"/>
  <Override PartName="/ppt/charts/chart6.xml" ContentType="application/vnd.openxmlformats-officedocument.drawingml.chart+xml"/>
  <Override PartName="/ppt/theme/themeOverride6.xml" ContentType="application/vnd.openxmlformats-officedocument.themeOverride+xml"/>
  <Override PartName="/ppt/charts/chart7.xml" ContentType="application/vnd.openxmlformats-officedocument.drawingml.chart+xml"/>
  <Override PartName="/ppt/theme/themeOverride7.xml" ContentType="application/vnd.openxmlformats-officedocument.themeOverride+xml"/>
  <Override PartName="/ppt/charts/chart8.xml" ContentType="application/vnd.openxmlformats-officedocument.drawingml.chart+xml"/>
  <Override PartName="/ppt/theme/themeOverride8.xml" ContentType="application/vnd.openxmlformats-officedocument.themeOverride+xml"/>
  <Override PartName="/ppt/charts/chart9.xml" ContentType="application/vnd.openxmlformats-officedocument.drawingml.chart+xml"/>
  <Override PartName="/ppt/theme/themeOverride9.xml" ContentType="application/vnd.openxmlformats-officedocument.themeOverride+xml"/>
  <Override PartName="/ppt/notesSlides/notesSlide4.xml" ContentType="application/vnd.openxmlformats-officedocument.presentationml.notesSlide+xml"/>
  <Override PartName="/ppt/charts/chart10.xml" ContentType="application/vnd.openxmlformats-officedocument.drawingml.chart+xml"/>
  <Override PartName="/ppt/theme/themeOverride10.xml" ContentType="application/vnd.openxmlformats-officedocument.themeOverride+xml"/>
  <Override PartName="/ppt/charts/chart11.xml" ContentType="application/vnd.openxmlformats-officedocument.drawingml.chart+xml"/>
  <Override PartName="/ppt/theme/themeOverride11.xml" ContentType="application/vnd.openxmlformats-officedocument.themeOverride+xml"/>
  <Override PartName="/ppt/charts/chart12.xml" ContentType="application/vnd.openxmlformats-officedocument.drawingml.chart+xml"/>
  <Override PartName="/ppt/theme/themeOverride12.xml" ContentType="application/vnd.openxmlformats-officedocument.themeOverride+xml"/>
  <Override PartName="/ppt/charts/chart13.xml" ContentType="application/vnd.openxmlformats-officedocument.drawingml.chart+xml"/>
  <Override PartName="/ppt/theme/themeOverride13.xml" ContentType="application/vnd.openxmlformats-officedocument.themeOverride+xml"/>
  <Override PartName="/ppt/charts/chart14.xml" ContentType="application/vnd.openxmlformats-officedocument.drawingml.char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5.xml" ContentType="application/vnd.openxmlformats-officedocument.drawingml.chart+xml"/>
  <Override PartName="/ppt/theme/themeOverride14.xml" ContentType="application/vnd.openxmlformats-officedocument.themeOverride+xml"/>
  <Override PartName="/ppt/charts/chart16.xml" ContentType="application/vnd.openxmlformats-officedocument.drawingml.chart+xml"/>
  <Override PartName="/ppt/theme/themeOverride15.xml" ContentType="application/vnd.openxmlformats-officedocument.themeOverride+xml"/>
  <Override PartName="/ppt/charts/chart17.xml" ContentType="application/vnd.openxmlformats-officedocument.drawingml.chart+xml"/>
  <Override PartName="/ppt/theme/themeOverride16.xml" ContentType="application/vnd.openxmlformats-officedocument.themeOverride+xml"/>
  <Override PartName="/ppt/charts/chart18.xml" ContentType="application/vnd.openxmlformats-officedocument.drawingml.chart+xml"/>
  <Override PartName="/ppt/charts/chart19.xml" ContentType="application/vnd.openxmlformats-officedocument.drawingml.chart+xml"/>
  <Override PartName="/ppt/theme/themeOverride17.xml" ContentType="application/vnd.openxmlformats-officedocument.themeOverr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rts/chart20.xml" ContentType="application/vnd.openxmlformats-officedocument.drawingml.chart+xml"/>
  <Override PartName="/ppt/theme/themeOverride18.xml" ContentType="application/vnd.openxmlformats-officedocument.themeOverride+xml"/>
  <Override PartName="/ppt/charts/chart21.xml" ContentType="application/vnd.openxmlformats-officedocument.drawingml.chart+xml"/>
  <Override PartName="/ppt/theme/themeOverride19.xml" ContentType="application/vnd.openxmlformats-officedocument.themeOverride+xml"/>
  <Override PartName="/ppt/charts/chart22.xml" ContentType="application/vnd.openxmlformats-officedocument.drawingml.chart+xml"/>
  <Override PartName="/ppt/theme/themeOverride20.xml" ContentType="application/vnd.openxmlformats-officedocument.themeOverride+xml"/>
  <Override PartName="/ppt/charts/chart23.xml" ContentType="application/vnd.openxmlformats-officedocument.drawingml.chart+xml"/>
  <Override PartName="/ppt/theme/themeOverride21.xml" ContentType="application/vnd.openxmlformats-officedocument.themeOverr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rts/chart24.xml" ContentType="application/vnd.openxmlformats-officedocument.drawingml.chart+xml"/>
  <Override PartName="/ppt/theme/themeOverride22.xml" ContentType="application/vnd.openxmlformats-officedocument.themeOverride+xml"/>
  <Override PartName="/ppt/charts/chart25.xml" ContentType="application/vnd.openxmlformats-officedocument.drawingml.chart+xml"/>
  <Override PartName="/ppt/theme/themeOverride23.xml" ContentType="application/vnd.openxmlformats-officedocument.themeOverride+xml"/>
  <Override PartName="/ppt/charts/chart26.xml" ContentType="application/vnd.openxmlformats-officedocument.drawingml.chart+xml"/>
  <Override PartName="/ppt/theme/themeOverride24.xml" ContentType="application/vnd.openxmlformats-officedocument.themeOverride+xml"/>
  <Override PartName="/ppt/charts/chart27.xml" ContentType="application/vnd.openxmlformats-officedocument.drawingml.chart+xml"/>
  <Override PartName="/ppt/theme/themeOverride25.xml" ContentType="application/vnd.openxmlformats-officedocument.themeOverr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rts/chart28.xml" ContentType="application/vnd.openxmlformats-officedocument.drawingml.chart+xml"/>
  <Override PartName="/ppt/theme/themeOverride26.xml" ContentType="application/vnd.openxmlformats-officedocument.themeOverride+xml"/>
  <Override PartName="/ppt/charts/chart29.xml" ContentType="application/vnd.openxmlformats-officedocument.drawingml.chart+xml"/>
  <Override PartName="/ppt/theme/themeOverride27.xml" ContentType="application/vnd.openxmlformats-officedocument.themeOverride+xml"/>
  <Override PartName="/ppt/charts/chart30.xml" ContentType="application/vnd.openxmlformats-officedocument.drawingml.chart+xml"/>
  <Override PartName="/ppt/theme/themeOverride28.xml" ContentType="application/vnd.openxmlformats-officedocument.themeOverride+xml"/>
  <Override PartName="/ppt/charts/chart31.xml" ContentType="application/vnd.openxmlformats-officedocument.drawingml.chart+xml"/>
  <Override PartName="/ppt/theme/themeOverride29.xml" ContentType="application/vnd.openxmlformats-officedocument.themeOverr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394" r:id="rId2"/>
    <p:sldId id="473" r:id="rId3"/>
    <p:sldId id="554" r:id="rId4"/>
    <p:sldId id="536" r:id="rId5"/>
    <p:sldId id="537" r:id="rId6"/>
    <p:sldId id="546" r:id="rId7"/>
    <p:sldId id="545" r:id="rId8"/>
    <p:sldId id="550" r:id="rId9"/>
    <p:sldId id="544" r:id="rId10"/>
    <p:sldId id="520" r:id="rId11"/>
    <p:sldId id="551" r:id="rId12"/>
    <p:sldId id="552" r:id="rId13"/>
    <p:sldId id="515" r:id="rId14"/>
    <p:sldId id="530" r:id="rId15"/>
    <p:sldId id="532" r:id="rId16"/>
    <p:sldId id="517" r:id="rId17"/>
    <p:sldId id="521" r:id="rId18"/>
    <p:sldId id="518" r:id="rId19"/>
    <p:sldId id="523" r:id="rId20"/>
    <p:sldId id="527" r:id="rId21"/>
    <p:sldId id="534" r:id="rId22"/>
    <p:sldId id="538" r:id="rId23"/>
    <p:sldId id="540" r:id="rId24"/>
    <p:sldId id="541" r:id="rId25"/>
    <p:sldId id="553" r:id="rId26"/>
    <p:sldId id="543" r:id="rId27"/>
    <p:sldId id="542" r:id="rId28"/>
    <p:sldId id="555" r:id="rId29"/>
    <p:sldId id="556" r:id="rId30"/>
    <p:sldId id="512" r:id="rId31"/>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5BDB5"/>
    <a:srgbClr val="F0D5D4"/>
    <a:srgbClr val="17375E"/>
    <a:srgbClr val="CFF6F6"/>
    <a:srgbClr val="1E4649"/>
    <a:srgbClr val="3D4D54"/>
    <a:srgbClr val="009592"/>
    <a:srgbClr val="93CDCA"/>
    <a:srgbClr val="00C4A8"/>
    <a:srgbClr val="CC9C5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24" autoAdjust="0"/>
    <p:restoredTop sz="94576" autoAdjust="0"/>
  </p:normalViewPr>
  <p:slideViewPr>
    <p:cSldViewPr>
      <p:cViewPr varScale="1">
        <p:scale>
          <a:sx n="67" d="100"/>
          <a:sy n="67" d="100"/>
        </p:scale>
        <p:origin x="1632" y="72"/>
      </p:cViewPr>
      <p:guideLst>
        <p:guide orient="horz" pos="2160"/>
        <p:guide pos="2880"/>
      </p:guideLst>
    </p:cSldViewPr>
  </p:slideViewPr>
  <p:notesTextViewPr>
    <p:cViewPr>
      <p:scale>
        <a:sx n="100" d="100"/>
        <a:sy n="100" d="100"/>
      </p:scale>
      <p:origin x="0" y="0"/>
    </p:cViewPr>
  </p:notesTextViewPr>
  <p:sorterViewPr>
    <p:cViewPr>
      <p:scale>
        <a:sx n="66" d="100"/>
        <a:sy n="66" d="100"/>
      </p:scale>
      <p:origin x="0" y="114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2" Type="http://schemas.openxmlformats.org/officeDocument/2006/relationships/oleObject" Target="file:///E:\Carrercruise\Project\Report\Sanofi\Annual-2015-wrksheet.xlsx" TargetMode="External"/><Relationship Id="rId1" Type="http://schemas.openxmlformats.org/officeDocument/2006/relationships/themeOverride" Target="../theme/themeOverride1.xml"/></Relationships>
</file>

<file path=ppt/charts/_rels/chart2.xml.rels><?xml version="1.0" encoding="UTF-8" standalone="yes"?>
<Relationships xmlns="http://schemas.openxmlformats.org/package/2006/relationships"><Relationship Id="rId2" Type="http://schemas.openxmlformats.org/officeDocument/2006/relationships/oleObject" Target="file:///E:\Carrercruise\Project\Report\Sanofi\Annual-2015-wrksheet.xlsx" TargetMode="External"/><Relationship Id="rId1" Type="http://schemas.openxmlformats.org/officeDocument/2006/relationships/themeOverride" Target="../theme/themeOverride2.xml"/></Relationships>
</file>

<file path=ppt/charts/_rels/chart3.xml.rels><?xml version="1.0" encoding="UTF-8" standalone="yes"?>
<Relationships xmlns="http://schemas.openxmlformats.org/package/2006/relationships"><Relationship Id="rId2" Type="http://schemas.openxmlformats.org/officeDocument/2006/relationships/oleObject" Target="file:///E:\Carrercruise\Project\Report\Sanofi\Annual-2015-wrksheet.xlsx" TargetMode="External"/><Relationship Id="rId1" Type="http://schemas.openxmlformats.org/officeDocument/2006/relationships/themeOverride" Target="../theme/themeOverride3.xml"/></Relationships>
</file>

<file path=ppt/charts/_rels/chart4.xml.rels><?xml version="1.0" encoding="UTF-8" standalone="yes"?>
<Relationships xmlns="http://schemas.openxmlformats.org/package/2006/relationships"><Relationship Id="rId2" Type="http://schemas.openxmlformats.org/officeDocument/2006/relationships/oleObject" Target="file:///E:\Carrercruise\Project\Report\Sanofi\Annual-2015-wrksheet.xlsx" TargetMode="External"/><Relationship Id="rId1" Type="http://schemas.openxmlformats.org/officeDocument/2006/relationships/themeOverride" Target="../theme/themeOverride4.xml"/></Relationships>
</file>

<file path=ppt/charts/_rels/chart5.xml.rels><?xml version="1.0" encoding="UTF-8" standalone="yes"?>
<Relationships xmlns="http://schemas.openxmlformats.org/package/2006/relationships"><Relationship Id="rId2" Type="http://schemas.openxmlformats.org/officeDocument/2006/relationships/oleObject" Target="file:///E:\Carrercruise\Project\Report\Sanofi\Annual-2015-wrksheet.xlsx" TargetMode="External"/><Relationship Id="rId1" Type="http://schemas.openxmlformats.org/officeDocument/2006/relationships/themeOverride" Target="../theme/themeOverride5.xml"/></Relationships>
</file>

<file path=ppt/charts/_rels/chart6.xml.rels><?xml version="1.0" encoding="UTF-8" standalone="yes"?>
<Relationships xmlns="http://schemas.openxmlformats.org/package/2006/relationships"><Relationship Id="rId2" Type="http://schemas.openxmlformats.org/officeDocument/2006/relationships/oleObject" Target="file:///E:\Carrercruise\Project\Report\Sanofi\Annual-2015-wrksheet.xlsx" TargetMode="External"/><Relationship Id="rId1" Type="http://schemas.openxmlformats.org/officeDocument/2006/relationships/themeOverride" Target="../theme/themeOverride6.xml"/></Relationships>
</file>

<file path=ppt/charts/_rels/chart7.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7.xml"/></Relationships>
</file>

<file path=ppt/charts/_rels/chart8.xml.rels><?xml version="1.0" encoding="UTF-8" standalone="yes"?>
<Relationships xmlns="http://schemas.openxmlformats.org/package/2006/relationships"><Relationship Id="rId2" Type="http://schemas.openxmlformats.org/officeDocument/2006/relationships/oleObject" Target="file:///E:\Carrercruise\Project\Report\Sanofi\Annual-2015-wrksheet.xlsx" TargetMode="External"/><Relationship Id="rId1" Type="http://schemas.openxmlformats.org/officeDocument/2006/relationships/themeOverride" Target="../theme/themeOverride8.xml"/></Relationships>
</file>

<file path=ppt/charts/_rels/chart9.xml.rels><?xml version="1.0" encoding="UTF-8" standalone="yes"?>
<Relationships xmlns="http://schemas.openxmlformats.org/package/2006/relationships"><Relationship Id="rId2" Type="http://schemas.openxmlformats.org/officeDocument/2006/relationships/oleObject" Target="file:///E:\Carrercruise\Project\Report\Sanofi\Annual-2015-wrksheet.xlsx" TargetMode="External"/><Relationship Id="rId1" Type="http://schemas.openxmlformats.org/officeDocument/2006/relationships/themeOverride" Target="../theme/themeOverride9.xml"/></Relationships>
</file>

<file path=ppt/charts/_rels/chart10.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10.xml"/></Relationships>
</file>

<file path=ppt/charts/_rels/chart11.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11.xml"/></Relationships>
</file>

<file path=ppt/charts/_rels/chart12.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12.xml"/></Relationships>
</file>

<file path=ppt/charts/_rels/chart13.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13.xml"/></Relationships>
</file>

<file path=ppt/charts/_rels/chart14.xml.rels><?xml version="1.0" encoding="UTF-8" standalone="yes"?>
<Relationships xmlns="http://schemas.openxmlformats.org/package/2006/relationships"><Relationship Id="rId1" Type="http://schemas.openxmlformats.org/officeDocument/2006/relationships/oleObject" Target="file:///E:\Carrercruise\Project\Report\Sanofi\Annual-2015-wrksheet_revised.xlsx" TargetMode="External"/></Relationships>
</file>

<file path=ppt/charts/_rels/chart15.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14.xml"/></Relationships>
</file>

<file path=ppt/charts/_rels/chart16.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15.xml"/></Relationships>
</file>

<file path=ppt/charts/_rels/chart17.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16.xml"/></Relationships>
</file>

<file path=ppt/charts/_rels/chart18.xml.rels><?xml version="1.0" encoding="UTF-8" standalone="yes"?>
<Relationships xmlns="http://schemas.openxmlformats.org/package/2006/relationships"><Relationship Id="rId1" Type="http://schemas.openxmlformats.org/officeDocument/2006/relationships/oleObject" Target="file:///E:\Carrercruise\Project\Report\Sanofi\Annual-2015-wrksheet_revised.xlsx" TargetMode="External"/></Relationships>
</file>

<file path=ppt/charts/_rels/chart19.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17.xml"/></Relationships>
</file>

<file path=ppt/charts/_rels/chart20.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18.xml"/></Relationships>
</file>

<file path=ppt/charts/_rels/chart21.xml.rels><?xml version="1.0" encoding="UTF-8" standalone="yes"?>
<Relationships xmlns="http://schemas.openxmlformats.org/package/2006/relationships"><Relationship Id="rId2" Type="http://schemas.openxmlformats.org/officeDocument/2006/relationships/oleObject" Target="file:///E:\Carrercruise\Project\SPSS%20work%20files\Sanofi\2015\cause%20&amp;%20effect%20demographic.xls" TargetMode="External"/><Relationship Id="rId1" Type="http://schemas.openxmlformats.org/officeDocument/2006/relationships/themeOverride" Target="../theme/themeOverride19.xml"/></Relationships>
</file>

<file path=ppt/charts/_rels/chart22.xml.rels><?xml version="1.0" encoding="UTF-8" standalone="yes"?>
<Relationships xmlns="http://schemas.openxmlformats.org/package/2006/relationships"><Relationship Id="rId2" Type="http://schemas.openxmlformats.org/officeDocument/2006/relationships/oleObject" Target="file:///E:\Carrercruise\Project\SPSS%20work%20files\Sanofi\2015\cause%20&amp;%20effect%20demographic.xls" TargetMode="External"/><Relationship Id="rId1" Type="http://schemas.openxmlformats.org/officeDocument/2006/relationships/themeOverride" Target="../theme/themeOverride20.xml"/></Relationships>
</file>

<file path=ppt/charts/_rels/chart23.xml.rels><?xml version="1.0" encoding="UTF-8" standalone="yes"?>
<Relationships xmlns="http://schemas.openxmlformats.org/package/2006/relationships"><Relationship Id="rId2" Type="http://schemas.openxmlformats.org/officeDocument/2006/relationships/oleObject" Target="file:///E:\Carrercruise\Project\SPSS%20work%20files\Sanofi\2015\cause%20&amp;%20effect%20demographic.xls" TargetMode="External"/><Relationship Id="rId1" Type="http://schemas.openxmlformats.org/officeDocument/2006/relationships/themeOverride" Target="../theme/themeOverride21.xml"/></Relationships>
</file>

<file path=ppt/charts/_rels/chart24.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22.xml"/></Relationships>
</file>

<file path=ppt/charts/_rels/chart25.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23.xml"/></Relationships>
</file>

<file path=ppt/charts/_rels/chart26.xml.rels><?xml version="1.0" encoding="UTF-8" standalone="yes"?>
<Relationships xmlns="http://schemas.openxmlformats.org/package/2006/relationships"><Relationship Id="rId2" Type="http://schemas.openxmlformats.org/officeDocument/2006/relationships/oleObject" Target="file:///E:\Carrercruise\Project\SPSS%20work%20files\Sanofi\2015\cause%20&amp;%20effect%20demographic.xls" TargetMode="External"/><Relationship Id="rId1" Type="http://schemas.openxmlformats.org/officeDocument/2006/relationships/themeOverride" Target="../theme/themeOverride24.xml"/></Relationships>
</file>

<file path=ppt/charts/_rels/chart27.xml.rels><?xml version="1.0" encoding="UTF-8" standalone="yes"?>
<Relationships xmlns="http://schemas.openxmlformats.org/package/2006/relationships"><Relationship Id="rId2" Type="http://schemas.openxmlformats.org/officeDocument/2006/relationships/oleObject" Target="file:///E:\Carrercruise\Project\SPSS%20work%20files\Sanofi\2015\cause%20&amp;%20effect%20demographic.xls" TargetMode="External"/><Relationship Id="rId1" Type="http://schemas.openxmlformats.org/officeDocument/2006/relationships/themeOverride" Target="../theme/themeOverride25.xml"/></Relationships>
</file>

<file path=ppt/charts/_rels/chart28.xml.rels><?xml version="1.0" encoding="UTF-8" standalone="yes"?>
<Relationships xmlns="http://schemas.openxmlformats.org/package/2006/relationships"><Relationship Id="rId2" Type="http://schemas.openxmlformats.org/officeDocument/2006/relationships/oleObject" Target="file:///E:\Carrercruise\Project\SPSS%20work%20files\Sanofi\2015\comparision%202014%20vs%202015.xls" TargetMode="External"/><Relationship Id="rId1" Type="http://schemas.openxmlformats.org/officeDocument/2006/relationships/themeOverride" Target="../theme/themeOverride26.xml"/></Relationships>
</file>

<file path=ppt/charts/_rels/chart29.xml.rels><?xml version="1.0" encoding="UTF-8" standalone="yes"?>
<Relationships xmlns="http://schemas.openxmlformats.org/package/2006/relationships"><Relationship Id="rId2" Type="http://schemas.openxmlformats.org/officeDocument/2006/relationships/oleObject" Target="file:///E:\Carrercruise\Project\SPSS%20work%20files\Sanofi\2015\comparision%202014%20vs%202015.xls" TargetMode="External"/><Relationship Id="rId1" Type="http://schemas.openxmlformats.org/officeDocument/2006/relationships/themeOverride" Target="../theme/themeOverride27.xml"/></Relationships>
</file>

<file path=ppt/charts/_rels/chart30.xml.rels><?xml version="1.0" encoding="UTF-8" standalone="yes"?>
<Relationships xmlns="http://schemas.openxmlformats.org/package/2006/relationships"><Relationship Id="rId2" Type="http://schemas.openxmlformats.org/officeDocument/2006/relationships/oleObject" Target="file:///E:\Carrercruise\Project\SPSS%20work%20files\Sanofi\2015\comparision%202014%20vs%202015.xls" TargetMode="External"/><Relationship Id="rId1" Type="http://schemas.openxmlformats.org/officeDocument/2006/relationships/themeOverride" Target="../theme/themeOverride28.xml"/></Relationships>
</file>

<file path=ppt/charts/_rels/chart31.xml.rels><?xml version="1.0" encoding="UTF-8" standalone="yes"?>
<Relationships xmlns="http://schemas.openxmlformats.org/package/2006/relationships"><Relationship Id="rId2" Type="http://schemas.openxmlformats.org/officeDocument/2006/relationships/oleObject" Target="file:///E:\Carrercruise\Project\Report\Sanofi\Annual-2015-wrksheet_revised.xlsx" TargetMode="External"/><Relationship Id="rId1" Type="http://schemas.openxmlformats.org/officeDocument/2006/relationships/themeOverride" Target="../theme/themeOverride29.xml"/></Relationships>
</file>

<file path=ppt/charts/_rels/chart32.xml.rels><?xml version="1.0" encoding="UTF-8" standalone="yes"?>
<Relationships xmlns="http://schemas.openxmlformats.org/package/2006/relationships"><Relationship Id="rId1" Type="http://schemas.openxmlformats.org/officeDocument/2006/relationships/oleObject" Target="file:///E:\Carrercruise\Project\Report\Sanofi\Annual-2015-wrksheet.xlsx" TargetMode="External"/></Relationships>
</file>

<file path=ppt/charts/_rels/chart33.xml.rels><?xml version="1.0" encoding="UTF-8" standalone="yes"?>
<Relationships xmlns="http://schemas.openxmlformats.org/package/2006/relationships"><Relationship Id="rId1" Type="http://schemas.openxmlformats.org/officeDocument/2006/relationships/oleObject" Target="file:///E:\Carrercruise\Project\Report\Sanofi\Annual-2015-wrksheet.xlsx" TargetMode="External"/></Relationships>
</file>

<file path=ppt/charts/_rels/chart34.xml.rels><?xml version="1.0" encoding="UTF-8" standalone="yes"?>
<Relationships xmlns="http://schemas.openxmlformats.org/package/2006/relationships"><Relationship Id="rId1" Type="http://schemas.openxmlformats.org/officeDocument/2006/relationships/oleObject" Target="file:///E:\Carrercruise\Project\Report\Sanofi\Annual-2015-wrkshee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view3D>
      <c:rotX val="30"/>
      <c:rotY val="0"/>
      <c:rAngAx val="0"/>
    </c:view3D>
    <c:floor>
      <c:thickness val="0"/>
    </c:floor>
    <c:sideWall>
      <c:thickness val="0"/>
    </c:sideWall>
    <c:backWall>
      <c:thickness val="0"/>
    </c:backWall>
    <c:plotArea>
      <c:layout/>
      <c:pie3DChart>
        <c:varyColors val="1"/>
        <c:ser>
          <c:idx val="0"/>
          <c:order val="0"/>
          <c:explosion val="4"/>
          <c:dPt>
            <c:idx val="0"/>
            <c:bubble3D val="0"/>
            <c:spPr>
              <a:solidFill>
                <a:srgbClr val="000000">
                  <a:lumMod val="50000"/>
                  <a:lumOff val="50000"/>
                </a:srgbClr>
              </a:solidFill>
            </c:spPr>
            <c:extLst>
              <c:ext xmlns:c16="http://schemas.microsoft.com/office/drawing/2014/chart" uri="{C3380CC4-5D6E-409C-BE32-E72D297353CC}">
                <c16:uniqueId val="{00000000-C08D-48BE-A324-E713549C17F8}"/>
              </c:ext>
            </c:extLst>
          </c:dPt>
          <c:dPt>
            <c:idx val="1"/>
            <c:bubble3D val="0"/>
            <c:spPr>
              <a:solidFill>
                <a:srgbClr val="990000"/>
              </a:solidFill>
            </c:spPr>
            <c:extLst>
              <c:ext xmlns:c16="http://schemas.microsoft.com/office/drawing/2014/chart" uri="{C3380CC4-5D6E-409C-BE32-E72D297353CC}">
                <c16:uniqueId val="{00000001-C08D-48BE-A324-E713549C17F8}"/>
              </c:ext>
            </c:extLst>
          </c:dPt>
          <c:dLbls>
            <c:dLbl>
              <c:idx val="0"/>
              <c:layout>
                <c:manualLayout>
                  <c:x val="-0.29376781027371601"/>
                  <c:y val="-0.2423576794280019"/>
                </c:manualLayout>
              </c:layout>
              <c:tx>
                <c:rich>
                  <a:bodyPr/>
                  <a:lstStyle/>
                  <a:p>
                    <a:r>
                      <a:rPr lang="en-US">
                        <a:solidFill>
                          <a:schemeClr val="tx1"/>
                        </a:solidFill>
                        <a:latin typeface="Calibri" pitchFamily="34" charset="0"/>
                        <a:cs typeface="Calibri" pitchFamily="34" charset="0"/>
                      </a:rPr>
                      <a:t>I</a:t>
                    </a:r>
                    <a:r>
                      <a:rPr lang="en-US">
                        <a:latin typeface="Calibri" pitchFamily="34" charset="0"/>
                        <a:cs typeface="Calibri" pitchFamily="34" charset="0"/>
                      </a:rPr>
                      <a:t>nterview Conducted, </a:t>
                    </a:r>
                  </a:p>
                  <a:p>
                    <a:r>
                      <a:rPr lang="en-US">
                        <a:latin typeface="Calibri" pitchFamily="34" charset="0"/>
                        <a:cs typeface="Calibri" pitchFamily="34" charset="0"/>
                      </a:rPr>
                      <a:t>76%</a:t>
                    </a:r>
                  </a:p>
                </c:rich>
              </c:tx>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C08D-48BE-A324-E713549C17F8}"/>
                </c:ext>
              </c:extLst>
            </c:dLbl>
            <c:dLbl>
              <c:idx val="1"/>
              <c:layout>
                <c:manualLayout>
                  <c:x val="0.21779160104986911"/>
                  <c:y val="0.120809575527197"/>
                </c:manualLayout>
              </c:layout>
              <c:tx>
                <c:rich>
                  <a:bodyPr/>
                  <a:lstStyle/>
                  <a:p>
                    <a:pPr>
                      <a:defRPr lang="en-IN" sz="1000" b="1">
                        <a:solidFill>
                          <a:schemeClr val="bg1"/>
                        </a:solidFill>
                        <a:latin typeface="Calibri" pitchFamily="34" charset="0"/>
                        <a:cs typeface="Calibri" pitchFamily="34" charset="0"/>
                      </a:defRPr>
                    </a:pPr>
                    <a:r>
                      <a:rPr lang="en-US" dirty="0">
                        <a:solidFill>
                          <a:schemeClr val="bg1"/>
                        </a:solidFill>
                        <a:latin typeface="Calibri" pitchFamily="34" charset="0"/>
                        <a:cs typeface="Calibri" pitchFamily="34" charset="0"/>
                      </a:rPr>
                      <a:t>Not Contactable,</a:t>
                    </a:r>
                  </a:p>
                  <a:p>
                    <a:pPr>
                      <a:defRPr lang="en-IN" sz="1000" b="1">
                        <a:solidFill>
                          <a:schemeClr val="bg1"/>
                        </a:solidFill>
                        <a:latin typeface="Calibri" pitchFamily="34" charset="0"/>
                        <a:cs typeface="Calibri" pitchFamily="34" charset="0"/>
                      </a:defRPr>
                    </a:pPr>
                    <a:r>
                      <a:rPr lang="en-US" dirty="0">
                        <a:solidFill>
                          <a:schemeClr val="bg1"/>
                        </a:solidFill>
                        <a:latin typeface="Calibri" pitchFamily="34" charset="0"/>
                        <a:cs typeface="Calibri" pitchFamily="34" charset="0"/>
                      </a:rPr>
                      <a:t> 23%</a:t>
                    </a:r>
                  </a:p>
                </c:rich>
              </c:tx>
              <c:spPr/>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08D-48BE-A324-E713549C17F8}"/>
                </c:ext>
              </c:extLst>
            </c:dLbl>
            <c:dLbl>
              <c:idx val="2"/>
              <c:tx>
                <c:rich>
                  <a:bodyPr/>
                  <a:lstStyle/>
                  <a:p>
                    <a:r>
                      <a:rPr lang="en-US" dirty="0">
                        <a:solidFill>
                          <a:schemeClr val="tx1"/>
                        </a:solidFill>
                        <a:latin typeface="Calibri" pitchFamily="34" charset="0"/>
                        <a:cs typeface="Calibri" pitchFamily="34" charset="0"/>
                      </a:rPr>
                      <a:t>N</a:t>
                    </a:r>
                    <a:r>
                      <a:rPr lang="en-US" dirty="0">
                        <a:latin typeface="Calibri" pitchFamily="34" charset="0"/>
                        <a:cs typeface="Calibri" pitchFamily="34" charset="0"/>
                      </a:rPr>
                      <a:t>ot interested to give interview,</a:t>
                    </a:r>
                  </a:p>
                  <a:p>
                    <a:r>
                      <a:rPr lang="en-US" dirty="0">
                        <a:latin typeface="Calibri" pitchFamily="34" charset="0"/>
                        <a:cs typeface="Calibri" pitchFamily="34" charset="0"/>
                      </a:rPr>
                      <a:t> 1%</a:t>
                    </a:r>
                  </a:p>
                </c:rich>
              </c:tx>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C08D-48BE-A324-E713549C17F8}"/>
                </c:ext>
              </c:extLst>
            </c:dLbl>
            <c:spPr>
              <a:noFill/>
              <a:ln>
                <a:noFill/>
              </a:ln>
              <a:effectLst/>
            </c:spPr>
            <c:txPr>
              <a:bodyPr/>
              <a:lstStyle/>
              <a:p>
                <a:pPr>
                  <a:defRPr lang="en-IN" sz="1000" b="1">
                    <a:solidFill>
                      <a:schemeClr val="tx1"/>
                    </a:solidFill>
                    <a:latin typeface="Calibri" pitchFamily="34" charset="0"/>
                    <a:cs typeface="Calibri" pitchFamily="34" charset="0"/>
                  </a:defRPr>
                </a:pPr>
                <a:endParaRPr lang="en-US"/>
              </a:p>
            </c:txPr>
            <c:showLegendKey val="0"/>
            <c:showVal val="1"/>
            <c:showCatName val="1"/>
            <c:showSerName val="0"/>
            <c:showPercent val="0"/>
            <c:showBubbleSize val="0"/>
            <c:showLeaderLines val="1"/>
            <c:extLst>
              <c:ext xmlns:c15="http://schemas.microsoft.com/office/drawing/2012/chart" uri="{CE6537A1-D6FC-4f65-9D91-7224C49458BB}"/>
            </c:extLst>
          </c:dLbls>
          <c:cat>
            <c:strRef>
              <c:f>Sheet1!$L$5:$L$7</c:f>
              <c:strCache>
                <c:ptCount val="3"/>
                <c:pt idx="0">
                  <c:v>Interview Conducted</c:v>
                </c:pt>
                <c:pt idx="1">
                  <c:v>Not Contactable</c:v>
                </c:pt>
                <c:pt idx="2">
                  <c:v>Not interested to giving interview</c:v>
                </c:pt>
              </c:strCache>
            </c:strRef>
          </c:cat>
          <c:val>
            <c:numRef>
              <c:f>Sheet1!$N$5:$N$7</c:f>
              <c:numCache>
                <c:formatCode>0%</c:formatCode>
                <c:ptCount val="3"/>
                <c:pt idx="0">
                  <c:v>0.76438356164383603</c:v>
                </c:pt>
                <c:pt idx="1">
                  <c:v>0.23013698630137011</c:v>
                </c:pt>
                <c:pt idx="2">
                  <c:v>5.4794520547945882E-3</c:v>
                </c:pt>
              </c:numCache>
            </c:numRef>
          </c:val>
          <c:extLst>
            <c:ext xmlns:c16="http://schemas.microsoft.com/office/drawing/2014/chart" uri="{C3380CC4-5D6E-409C-BE32-E72D297353CC}">
              <c16:uniqueId val="{00000003-C08D-48BE-A324-E713549C17F8}"/>
            </c:ext>
          </c:extLst>
        </c:ser>
        <c:dLbls>
          <c:showLegendKey val="0"/>
          <c:showVal val="0"/>
          <c:showCatName val="0"/>
          <c:showSerName val="0"/>
          <c:showPercent val="0"/>
          <c:showBubbleSize val="0"/>
          <c:showLeaderLines val="1"/>
        </c:dLbls>
      </c:pie3DChart>
    </c:plotArea>
    <c:plotVisOnly val="1"/>
    <c:dispBlanksAs val="zero"/>
    <c:showDLblsOverMax val="0"/>
  </c:chart>
  <c:spPr>
    <a:ln>
      <a:noFill/>
    </a:ln>
  </c:spPr>
  <c:externalData r:id="rId2">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overlay val="0"/>
      <c:txPr>
        <a:bodyPr/>
        <a:lstStyle/>
        <a:p>
          <a:pPr>
            <a:defRPr lang="en-IN" sz="1200">
              <a:latin typeface="Calibri" pitchFamily="34" charset="0"/>
              <a:cs typeface="Calibri" pitchFamily="34" charset="0"/>
            </a:defRPr>
          </a:pPr>
          <a:endParaRPr lang="en-US"/>
        </a:p>
      </c:txPr>
    </c:title>
    <c:autoTitleDeleted val="0"/>
    <c:view3D>
      <c:rotX val="30"/>
      <c:rotY val="0"/>
      <c:rAngAx val="0"/>
    </c:view3D>
    <c:floor>
      <c:thickness val="0"/>
    </c:floor>
    <c:sideWall>
      <c:thickness val="0"/>
    </c:sideWall>
    <c:backWall>
      <c:thickness val="0"/>
    </c:backWall>
    <c:plotArea>
      <c:layout/>
      <c:pie3DChart>
        <c:varyColors val="1"/>
        <c:ser>
          <c:idx val="0"/>
          <c:order val="0"/>
          <c:tx>
            <c:strRef>
              <c:f>Contactibility_modified!$K$5</c:f>
              <c:strCache>
                <c:ptCount val="1"/>
                <c:pt idx="0">
                  <c:v>East</c:v>
                </c:pt>
              </c:strCache>
            </c:strRef>
          </c:tx>
          <c:explosion val="25"/>
          <c:dPt>
            <c:idx val="0"/>
            <c:bubble3D val="0"/>
            <c:spPr>
              <a:solidFill>
                <a:srgbClr val="000000">
                  <a:lumMod val="50000"/>
                  <a:lumOff val="50000"/>
                </a:srgbClr>
              </a:solidFill>
            </c:spPr>
            <c:extLst>
              <c:ext xmlns:c16="http://schemas.microsoft.com/office/drawing/2014/chart" uri="{C3380CC4-5D6E-409C-BE32-E72D297353CC}">
                <c16:uniqueId val="{00000000-B0FC-4BFF-B65A-30CF3E22792A}"/>
              </c:ext>
            </c:extLst>
          </c:dPt>
          <c:dPt>
            <c:idx val="1"/>
            <c:bubble3D val="0"/>
            <c:spPr>
              <a:solidFill>
                <a:srgbClr val="990000"/>
              </a:solidFill>
            </c:spPr>
            <c:extLst>
              <c:ext xmlns:c16="http://schemas.microsoft.com/office/drawing/2014/chart" uri="{C3380CC4-5D6E-409C-BE32-E72D297353CC}">
                <c16:uniqueId val="{00000001-B0FC-4BFF-B65A-30CF3E22792A}"/>
              </c:ext>
            </c:extLst>
          </c:dPt>
          <c:dLbls>
            <c:dLbl>
              <c:idx val="1"/>
              <c:spPr/>
              <c:txPr>
                <a:bodyPr/>
                <a:lstStyle/>
                <a:p>
                  <a:pPr>
                    <a:defRPr lang="en-IN" b="1">
                      <a:solidFill>
                        <a:schemeClr val="bg1"/>
                      </a:solidFill>
                      <a:latin typeface="Calibri" pitchFamily="34" charset="0"/>
                      <a:cs typeface="Calibri" pitchFamily="34" charset="0"/>
                    </a:defRPr>
                  </a:pPr>
                  <a:endParaRPr lang="en-US"/>
                </a:p>
              </c:txPr>
              <c:showLegendKey val="0"/>
              <c:showVal val="1"/>
              <c:showCatName val="0"/>
              <c:showSerName val="0"/>
              <c:showPercent val="0"/>
              <c:showBubbleSize val="0"/>
              <c:extLst>
                <c:ext xmlns:c16="http://schemas.microsoft.com/office/drawing/2014/chart" uri="{C3380CC4-5D6E-409C-BE32-E72D297353CC}">
                  <c16:uniqueId val="{00000001-B0FC-4BFF-B65A-30CF3E22792A}"/>
                </c:ext>
              </c:extLst>
            </c:dLbl>
            <c:spPr>
              <a:noFill/>
              <a:ln>
                <a:noFill/>
              </a:ln>
              <a:effectLst/>
            </c:spPr>
            <c:txPr>
              <a:bodyPr/>
              <a:lstStyle/>
              <a:p>
                <a:pPr>
                  <a:defRPr lang="en-IN" b="1">
                    <a:latin typeface="Calibri" pitchFamily="34" charset="0"/>
                    <a:cs typeface="Calibri" pitchFamily="34" charset="0"/>
                  </a:defRPr>
                </a:pPr>
                <a:endParaRPr lang="en-US"/>
              </a:p>
            </c:txPr>
            <c:showLegendKey val="0"/>
            <c:showVal val="1"/>
            <c:showCatName val="0"/>
            <c:showSerName val="0"/>
            <c:showPercent val="0"/>
            <c:showBubbleSize val="0"/>
            <c:showLeaderLines val="1"/>
            <c:extLst>
              <c:ext xmlns:c15="http://schemas.microsoft.com/office/drawing/2012/chart" uri="{CE6537A1-D6FC-4f65-9D91-7224C49458BB}"/>
            </c:extLst>
          </c:dLbls>
          <c:cat>
            <c:strRef>
              <c:f>Contactibility_modified!$L$3:$M$3</c:f>
              <c:strCache>
                <c:ptCount val="2"/>
                <c:pt idx="0">
                  <c:v>Contactable</c:v>
                </c:pt>
                <c:pt idx="1">
                  <c:v>Not Contactable</c:v>
                </c:pt>
              </c:strCache>
            </c:strRef>
          </c:cat>
          <c:val>
            <c:numRef>
              <c:f>Contactibility_modified!$L$5:$M$5</c:f>
              <c:numCache>
                <c:formatCode>0%</c:formatCode>
                <c:ptCount val="2"/>
                <c:pt idx="0">
                  <c:v>0.80555555555555602</c:v>
                </c:pt>
                <c:pt idx="1">
                  <c:v>0.19444444444444525</c:v>
                </c:pt>
              </c:numCache>
            </c:numRef>
          </c:val>
          <c:extLst>
            <c:ext xmlns:c16="http://schemas.microsoft.com/office/drawing/2014/chart" uri="{C3380CC4-5D6E-409C-BE32-E72D297353CC}">
              <c16:uniqueId val="{00000002-B0FC-4BFF-B65A-30CF3E22792A}"/>
            </c:ext>
          </c:extLst>
        </c:ser>
        <c:dLbls>
          <c:showLegendKey val="0"/>
          <c:showVal val="0"/>
          <c:showCatName val="0"/>
          <c:showSerName val="0"/>
          <c:showPercent val="0"/>
          <c:showBubbleSize val="0"/>
          <c:showLeaderLines val="1"/>
        </c:dLbls>
      </c:pie3DChart>
    </c:plotArea>
    <c:plotVisOnly val="1"/>
    <c:dispBlanksAs val="zero"/>
    <c:showDLblsOverMax val="0"/>
  </c:chart>
  <c:spPr>
    <a:ln>
      <a:noFill/>
    </a:ln>
  </c:sp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layout>
        <c:manualLayout>
          <c:xMode val="edge"/>
          <c:yMode val="edge"/>
          <c:x val="0.39273840769903823"/>
          <c:y val="8.771929824561403E-2"/>
        </c:manualLayout>
      </c:layout>
      <c:overlay val="0"/>
      <c:txPr>
        <a:bodyPr/>
        <a:lstStyle/>
        <a:p>
          <a:pPr>
            <a:defRPr lang="en-IN" sz="1200">
              <a:latin typeface="Calibri" pitchFamily="34" charset="0"/>
              <a:cs typeface="Calibri" pitchFamily="34" charset="0"/>
            </a:defRPr>
          </a:pPr>
          <a:endParaRPr lang="en-US"/>
        </a:p>
      </c:txPr>
    </c:title>
    <c:autoTitleDeleted val="0"/>
    <c:view3D>
      <c:rotX val="30"/>
      <c:rotY val="0"/>
      <c:rAngAx val="0"/>
    </c:view3D>
    <c:floor>
      <c:thickness val="0"/>
    </c:floor>
    <c:sideWall>
      <c:thickness val="0"/>
    </c:sideWall>
    <c:backWall>
      <c:thickness val="0"/>
    </c:backWall>
    <c:plotArea>
      <c:layout/>
      <c:pie3DChart>
        <c:varyColors val="1"/>
        <c:ser>
          <c:idx val="0"/>
          <c:order val="0"/>
          <c:tx>
            <c:strRef>
              <c:f>Contactibility_modified!$K$6</c:f>
              <c:strCache>
                <c:ptCount val="1"/>
                <c:pt idx="0">
                  <c:v>West</c:v>
                </c:pt>
              </c:strCache>
            </c:strRef>
          </c:tx>
          <c:explosion val="25"/>
          <c:dPt>
            <c:idx val="0"/>
            <c:bubble3D val="0"/>
            <c:spPr>
              <a:solidFill>
                <a:srgbClr val="000000">
                  <a:lumMod val="50000"/>
                  <a:lumOff val="50000"/>
                </a:srgbClr>
              </a:solidFill>
            </c:spPr>
            <c:extLst>
              <c:ext xmlns:c16="http://schemas.microsoft.com/office/drawing/2014/chart" uri="{C3380CC4-5D6E-409C-BE32-E72D297353CC}">
                <c16:uniqueId val="{00000000-9654-41F8-9538-5C8AA6689D31}"/>
              </c:ext>
            </c:extLst>
          </c:dPt>
          <c:dPt>
            <c:idx val="1"/>
            <c:bubble3D val="0"/>
            <c:spPr>
              <a:solidFill>
                <a:srgbClr val="990000"/>
              </a:solidFill>
            </c:spPr>
            <c:extLst>
              <c:ext xmlns:c16="http://schemas.microsoft.com/office/drawing/2014/chart" uri="{C3380CC4-5D6E-409C-BE32-E72D297353CC}">
                <c16:uniqueId val="{00000001-9654-41F8-9538-5C8AA6689D31}"/>
              </c:ext>
            </c:extLst>
          </c:dPt>
          <c:dLbls>
            <c:dLbl>
              <c:idx val="1"/>
              <c:spPr/>
              <c:txPr>
                <a:bodyPr/>
                <a:lstStyle/>
                <a:p>
                  <a:pPr>
                    <a:defRPr lang="en-IN" b="1">
                      <a:solidFill>
                        <a:schemeClr val="bg1"/>
                      </a:solidFill>
                      <a:latin typeface="Calibri" pitchFamily="34" charset="0"/>
                      <a:cs typeface="Calibri" pitchFamily="34" charset="0"/>
                    </a:defRPr>
                  </a:pPr>
                  <a:endParaRPr lang="en-US"/>
                </a:p>
              </c:txPr>
              <c:showLegendKey val="0"/>
              <c:showVal val="1"/>
              <c:showCatName val="0"/>
              <c:showSerName val="0"/>
              <c:showPercent val="0"/>
              <c:showBubbleSize val="0"/>
              <c:extLst>
                <c:ext xmlns:c16="http://schemas.microsoft.com/office/drawing/2014/chart" uri="{C3380CC4-5D6E-409C-BE32-E72D297353CC}">
                  <c16:uniqueId val="{00000001-9654-41F8-9538-5C8AA6689D31}"/>
                </c:ext>
              </c:extLst>
            </c:dLbl>
            <c:spPr>
              <a:noFill/>
              <a:ln>
                <a:noFill/>
              </a:ln>
              <a:effectLst/>
            </c:spPr>
            <c:txPr>
              <a:bodyPr/>
              <a:lstStyle/>
              <a:p>
                <a:pPr>
                  <a:defRPr lang="en-IN" b="1">
                    <a:latin typeface="Calibri" pitchFamily="34" charset="0"/>
                    <a:cs typeface="Calibri" pitchFamily="34" charset="0"/>
                  </a:defRPr>
                </a:pPr>
                <a:endParaRPr lang="en-US"/>
              </a:p>
            </c:txPr>
            <c:showLegendKey val="0"/>
            <c:showVal val="1"/>
            <c:showCatName val="0"/>
            <c:showSerName val="0"/>
            <c:showPercent val="0"/>
            <c:showBubbleSize val="0"/>
            <c:showLeaderLines val="1"/>
            <c:extLst>
              <c:ext xmlns:c15="http://schemas.microsoft.com/office/drawing/2012/chart" uri="{CE6537A1-D6FC-4f65-9D91-7224C49458BB}"/>
            </c:extLst>
          </c:dLbls>
          <c:cat>
            <c:strRef>
              <c:f>Contactibility_modified!$L$3:$M$3</c:f>
              <c:strCache>
                <c:ptCount val="2"/>
                <c:pt idx="0">
                  <c:v>Contactable</c:v>
                </c:pt>
                <c:pt idx="1">
                  <c:v>Not Contactable</c:v>
                </c:pt>
              </c:strCache>
            </c:strRef>
          </c:cat>
          <c:val>
            <c:numRef>
              <c:f>Contactibility_modified!$L$6:$M$6</c:f>
              <c:numCache>
                <c:formatCode>0%</c:formatCode>
                <c:ptCount val="2"/>
                <c:pt idx="0">
                  <c:v>0.70063694267516041</c:v>
                </c:pt>
                <c:pt idx="1">
                  <c:v>0.29936305732484353</c:v>
                </c:pt>
              </c:numCache>
            </c:numRef>
          </c:val>
          <c:extLst>
            <c:ext xmlns:c16="http://schemas.microsoft.com/office/drawing/2014/chart" uri="{C3380CC4-5D6E-409C-BE32-E72D297353CC}">
              <c16:uniqueId val="{00000002-9654-41F8-9538-5C8AA6689D31}"/>
            </c:ext>
          </c:extLst>
        </c:ser>
        <c:dLbls>
          <c:showLegendKey val="0"/>
          <c:showVal val="0"/>
          <c:showCatName val="0"/>
          <c:showSerName val="0"/>
          <c:showPercent val="0"/>
          <c:showBubbleSize val="0"/>
          <c:showLeaderLines val="1"/>
        </c:dLbls>
      </c:pie3DChart>
    </c:plotArea>
    <c:plotVisOnly val="1"/>
    <c:dispBlanksAs val="zero"/>
    <c:showDLblsOverMax val="0"/>
  </c:chart>
  <c:spPr>
    <a:ln>
      <a:noFill/>
    </a:ln>
  </c:spPr>
  <c:externalData r:id="rId2">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layout>
        <c:manualLayout>
          <c:xMode val="edge"/>
          <c:yMode val="edge"/>
          <c:x val="0.36687778158165052"/>
          <c:y val="8.771929824561403E-2"/>
        </c:manualLayout>
      </c:layout>
      <c:overlay val="0"/>
      <c:txPr>
        <a:bodyPr/>
        <a:lstStyle/>
        <a:p>
          <a:pPr>
            <a:defRPr lang="en-IN" sz="1200">
              <a:latin typeface="Calibri" pitchFamily="34" charset="0"/>
              <a:cs typeface="Calibri" pitchFamily="34" charset="0"/>
            </a:defRPr>
          </a:pPr>
          <a:endParaRPr lang="en-US"/>
        </a:p>
      </c:txPr>
    </c:title>
    <c:autoTitleDeleted val="0"/>
    <c:view3D>
      <c:rotX val="30"/>
      <c:rotY val="0"/>
      <c:rAngAx val="0"/>
    </c:view3D>
    <c:floor>
      <c:thickness val="0"/>
    </c:floor>
    <c:sideWall>
      <c:thickness val="0"/>
    </c:sideWall>
    <c:backWall>
      <c:thickness val="0"/>
    </c:backWall>
    <c:plotArea>
      <c:layout/>
      <c:pie3DChart>
        <c:varyColors val="1"/>
        <c:ser>
          <c:idx val="0"/>
          <c:order val="0"/>
          <c:tx>
            <c:strRef>
              <c:f>Contactibility_modified!$K$7</c:f>
              <c:strCache>
                <c:ptCount val="1"/>
                <c:pt idx="0">
                  <c:v>North</c:v>
                </c:pt>
              </c:strCache>
            </c:strRef>
          </c:tx>
          <c:spPr>
            <a:solidFill>
              <a:srgbClr val="009592"/>
            </a:solidFill>
          </c:spPr>
          <c:explosion val="25"/>
          <c:dPt>
            <c:idx val="0"/>
            <c:bubble3D val="0"/>
            <c:spPr>
              <a:solidFill>
                <a:srgbClr val="000000">
                  <a:lumMod val="50000"/>
                  <a:lumOff val="50000"/>
                </a:srgbClr>
              </a:solidFill>
            </c:spPr>
            <c:extLst>
              <c:ext xmlns:c16="http://schemas.microsoft.com/office/drawing/2014/chart" uri="{C3380CC4-5D6E-409C-BE32-E72D297353CC}">
                <c16:uniqueId val="{00000000-4B72-415C-BB05-61CFBF479631}"/>
              </c:ext>
            </c:extLst>
          </c:dPt>
          <c:dPt>
            <c:idx val="1"/>
            <c:bubble3D val="0"/>
            <c:spPr>
              <a:solidFill>
                <a:srgbClr val="990000"/>
              </a:solidFill>
            </c:spPr>
            <c:extLst>
              <c:ext xmlns:c16="http://schemas.microsoft.com/office/drawing/2014/chart" uri="{C3380CC4-5D6E-409C-BE32-E72D297353CC}">
                <c16:uniqueId val="{00000001-4B72-415C-BB05-61CFBF479631}"/>
              </c:ext>
            </c:extLst>
          </c:dPt>
          <c:dLbls>
            <c:dLbl>
              <c:idx val="1"/>
              <c:spPr/>
              <c:txPr>
                <a:bodyPr/>
                <a:lstStyle/>
                <a:p>
                  <a:pPr>
                    <a:defRPr lang="en-IN" b="1">
                      <a:solidFill>
                        <a:schemeClr val="bg1"/>
                      </a:solidFill>
                      <a:latin typeface="Calibri" pitchFamily="34" charset="0"/>
                      <a:cs typeface="Calibri" pitchFamily="34" charset="0"/>
                    </a:defRPr>
                  </a:pPr>
                  <a:endParaRPr lang="en-US"/>
                </a:p>
              </c:txPr>
              <c:showLegendKey val="0"/>
              <c:showVal val="1"/>
              <c:showCatName val="0"/>
              <c:showSerName val="0"/>
              <c:showPercent val="0"/>
              <c:showBubbleSize val="0"/>
              <c:extLst>
                <c:ext xmlns:c16="http://schemas.microsoft.com/office/drawing/2014/chart" uri="{C3380CC4-5D6E-409C-BE32-E72D297353CC}">
                  <c16:uniqueId val="{00000001-4B72-415C-BB05-61CFBF479631}"/>
                </c:ext>
              </c:extLst>
            </c:dLbl>
            <c:spPr>
              <a:noFill/>
              <a:ln>
                <a:noFill/>
              </a:ln>
              <a:effectLst/>
            </c:spPr>
            <c:txPr>
              <a:bodyPr/>
              <a:lstStyle/>
              <a:p>
                <a:pPr>
                  <a:defRPr lang="en-IN" b="1">
                    <a:latin typeface="Calibri" pitchFamily="34" charset="0"/>
                    <a:cs typeface="Calibri" pitchFamily="34" charset="0"/>
                  </a:defRPr>
                </a:pPr>
                <a:endParaRPr lang="en-US"/>
              </a:p>
            </c:txPr>
            <c:showLegendKey val="0"/>
            <c:showVal val="1"/>
            <c:showCatName val="0"/>
            <c:showSerName val="0"/>
            <c:showPercent val="0"/>
            <c:showBubbleSize val="0"/>
            <c:showLeaderLines val="1"/>
            <c:extLst>
              <c:ext xmlns:c15="http://schemas.microsoft.com/office/drawing/2012/chart" uri="{CE6537A1-D6FC-4f65-9D91-7224C49458BB}"/>
            </c:extLst>
          </c:dLbls>
          <c:cat>
            <c:strRef>
              <c:f>Contactibility_modified!$L$3:$M$3</c:f>
              <c:strCache>
                <c:ptCount val="2"/>
                <c:pt idx="0">
                  <c:v>Contactable</c:v>
                </c:pt>
                <c:pt idx="1">
                  <c:v>Not Contactable</c:v>
                </c:pt>
              </c:strCache>
            </c:strRef>
          </c:cat>
          <c:val>
            <c:numRef>
              <c:f>Contactibility_modified!$L$7:$M$7</c:f>
              <c:numCache>
                <c:formatCode>0%</c:formatCode>
                <c:ptCount val="2"/>
                <c:pt idx="0">
                  <c:v>0.73846153846153939</c:v>
                </c:pt>
                <c:pt idx="1">
                  <c:v>0.26153846153846222</c:v>
                </c:pt>
              </c:numCache>
            </c:numRef>
          </c:val>
          <c:extLst>
            <c:ext xmlns:c16="http://schemas.microsoft.com/office/drawing/2014/chart" uri="{C3380CC4-5D6E-409C-BE32-E72D297353CC}">
              <c16:uniqueId val="{00000002-4B72-415C-BB05-61CFBF479631}"/>
            </c:ext>
          </c:extLst>
        </c:ser>
        <c:dLbls>
          <c:showLegendKey val="0"/>
          <c:showVal val="0"/>
          <c:showCatName val="0"/>
          <c:showSerName val="0"/>
          <c:showPercent val="0"/>
          <c:showBubbleSize val="0"/>
          <c:showLeaderLines val="1"/>
        </c:dLbls>
      </c:pie3DChart>
    </c:plotArea>
    <c:plotVisOnly val="1"/>
    <c:dispBlanksAs val="zero"/>
    <c:showDLblsOverMax val="0"/>
  </c:chart>
  <c:spPr>
    <a:ln>
      <a:noFill/>
    </a:ln>
  </c:sp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layout>
        <c:manualLayout>
          <c:xMode val="edge"/>
          <c:yMode val="edge"/>
          <c:x val="0.36707415649130781"/>
          <c:y val="4.3859649122807015E-2"/>
        </c:manualLayout>
      </c:layout>
      <c:overlay val="0"/>
      <c:txPr>
        <a:bodyPr/>
        <a:lstStyle/>
        <a:p>
          <a:pPr>
            <a:defRPr lang="en-IN" sz="1200">
              <a:latin typeface="Calibri" pitchFamily="34" charset="0"/>
              <a:cs typeface="Calibri" pitchFamily="34" charset="0"/>
            </a:defRPr>
          </a:pPr>
          <a:endParaRPr lang="en-US"/>
        </a:p>
      </c:txPr>
    </c:title>
    <c:autoTitleDeleted val="0"/>
    <c:view3D>
      <c:rotX val="30"/>
      <c:rotY val="0"/>
      <c:rAngAx val="0"/>
    </c:view3D>
    <c:floor>
      <c:thickness val="0"/>
    </c:floor>
    <c:sideWall>
      <c:thickness val="0"/>
    </c:sideWall>
    <c:backWall>
      <c:thickness val="0"/>
    </c:backWall>
    <c:plotArea>
      <c:layout/>
      <c:pie3DChart>
        <c:varyColors val="1"/>
        <c:ser>
          <c:idx val="0"/>
          <c:order val="0"/>
          <c:tx>
            <c:strRef>
              <c:f>Contactibility_modified!$K$4</c:f>
              <c:strCache>
                <c:ptCount val="1"/>
                <c:pt idx="0">
                  <c:v>South</c:v>
                </c:pt>
              </c:strCache>
            </c:strRef>
          </c:tx>
          <c:explosion val="25"/>
          <c:dPt>
            <c:idx val="0"/>
            <c:bubble3D val="0"/>
            <c:spPr>
              <a:solidFill>
                <a:srgbClr val="000000">
                  <a:lumMod val="50000"/>
                  <a:lumOff val="50000"/>
                </a:srgbClr>
              </a:solidFill>
            </c:spPr>
            <c:extLst>
              <c:ext xmlns:c16="http://schemas.microsoft.com/office/drawing/2014/chart" uri="{C3380CC4-5D6E-409C-BE32-E72D297353CC}">
                <c16:uniqueId val="{00000000-20DF-4C9B-8E41-0DC94C1773DA}"/>
              </c:ext>
            </c:extLst>
          </c:dPt>
          <c:dPt>
            <c:idx val="1"/>
            <c:bubble3D val="0"/>
            <c:spPr>
              <a:solidFill>
                <a:srgbClr val="990000"/>
              </a:solidFill>
            </c:spPr>
            <c:extLst>
              <c:ext xmlns:c16="http://schemas.microsoft.com/office/drawing/2014/chart" uri="{C3380CC4-5D6E-409C-BE32-E72D297353CC}">
                <c16:uniqueId val="{00000001-20DF-4C9B-8E41-0DC94C1773DA}"/>
              </c:ext>
            </c:extLst>
          </c:dPt>
          <c:dLbls>
            <c:spPr>
              <a:noFill/>
              <a:ln>
                <a:noFill/>
              </a:ln>
              <a:effectLst/>
            </c:spPr>
            <c:txPr>
              <a:bodyPr/>
              <a:lstStyle/>
              <a:p>
                <a:pPr>
                  <a:defRPr lang="en-IN" b="1">
                    <a:latin typeface="Calibri" pitchFamily="34" charset="0"/>
                    <a:cs typeface="Calibri" pitchFamily="34" charset="0"/>
                  </a:defRPr>
                </a:pPr>
                <a:endParaRPr lang="en-US"/>
              </a:p>
            </c:txPr>
            <c:showLegendKey val="0"/>
            <c:showVal val="1"/>
            <c:showCatName val="0"/>
            <c:showSerName val="0"/>
            <c:showPercent val="0"/>
            <c:showBubbleSize val="0"/>
            <c:showLeaderLines val="1"/>
            <c:extLst>
              <c:ext xmlns:c15="http://schemas.microsoft.com/office/drawing/2012/chart" uri="{CE6537A1-D6FC-4f65-9D91-7224C49458BB}"/>
            </c:extLst>
          </c:dLbls>
          <c:cat>
            <c:strRef>
              <c:f>Contactibility_modified!$L$3:$M$3</c:f>
              <c:strCache>
                <c:ptCount val="2"/>
                <c:pt idx="0">
                  <c:v>Contactable</c:v>
                </c:pt>
                <c:pt idx="1">
                  <c:v>Not Contactable</c:v>
                </c:pt>
              </c:strCache>
            </c:strRef>
          </c:cat>
          <c:val>
            <c:numRef>
              <c:f>Contactibility_modified!$L$4:$M$4</c:f>
              <c:numCache>
                <c:formatCode>0%</c:formatCode>
                <c:ptCount val="2"/>
                <c:pt idx="0">
                  <c:v>0.85981308411214896</c:v>
                </c:pt>
                <c:pt idx="1">
                  <c:v>0.14018691588785001</c:v>
                </c:pt>
              </c:numCache>
            </c:numRef>
          </c:val>
          <c:extLst>
            <c:ext xmlns:c16="http://schemas.microsoft.com/office/drawing/2014/chart" uri="{C3380CC4-5D6E-409C-BE32-E72D297353CC}">
              <c16:uniqueId val="{00000002-20DF-4C9B-8E41-0DC94C1773DA}"/>
            </c:ext>
          </c:extLst>
        </c:ser>
        <c:dLbls>
          <c:showLegendKey val="0"/>
          <c:showVal val="0"/>
          <c:showCatName val="0"/>
          <c:showSerName val="0"/>
          <c:showPercent val="0"/>
          <c:showBubbleSize val="0"/>
          <c:showLeaderLines val="1"/>
        </c:dLbls>
      </c:pie3DChart>
    </c:plotArea>
    <c:plotVisOnly val="1"/>
    <c:dispBlanksAs val="zero"/>
    <c:showDLblsOverMax val="0"/>
  </c:chart>
  <c:spPr>
    <a:ln>
      <a:noFill/>
    </a:ln>
  </c:spPr>
  <c:externalData r:id="rId2">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view3D>
      <c:rotX val="15"/>
      <c:rotY val="20"/>
      <c:rAngAx val="1"/>
    </c:view3D>
    <c:floor>
      <c:thickness val="0"/>
      <c:spPr>
        <a:solidFill>
          <a:schemeClr val="bg1">
            <a:lumMod val="95000"/>
          </a:schemeClr>
        </a:solidFill>
        <a:ln>
          <a:noFill/>
        </a:ln>
      </c:spPr>
    </c:floor>
    <c:sideWall>
      <c:thickness val="0"/>
    </c:sideWall>
    <c:backWall>
      <c:thickness val="0"/>
    </c:backWall>
    <c:plotArea>
      <c:layout/>
      <c:bar3DChart>
        <c:barDir val="col"/>
        <c:grouping val="clustered"/>
        <c:varyColors val="0"/>
        <c:ser>
          <c:idx val="0"/>
          <c:order val="0"/>
          <c:tx>
            <c:strRef>
              <c:f>Sheet1!$L$59</c:f>
              <c:strCache>
                <c:ptCount val="1"/>
                <c:pt idx="0">
                  <c:v>20 - 30 yrs</c:v>
                </c:pt>
              </c:strCache>
            </c:strRef>
          </c:tx>
          <c:spPr>
            <a:gradFill flip="none" rotWithShape="1">
              <a:gsLst>
                <a:gs pos="0">
                  <a:srgbClr val="009592">
                    <a:shade val="30000"/>
                    <a:satMod val="115000"/>
                  </a:srgbClr>
                </a:gs>
                <a:gs pos="50000">
                  <a:srgbClr val="009592">
                    <a:shade val="67500"/>
                    <a:satMod val="115000"/>
                  </a:srgbClr>
                </a:gs>
                <a:gs pos="100000">
                  <a:srgbClr val="009592">
                    <a:shade val="100000"/>
                    <a:satMod val="115000"/>
                  </a:srgbClr>
                </a:gs>
              </a:gsLst>
              <a:lin ang="2700000" scaled="1"/>
              <a:tileRect/>
            </a:gradFill>
          </c:spPr>
          <c:invertIfNegative val="0"/>
          <c:dLbls>
            <c:spPr>
              <a:noFill/>
              <a:ln>
                <a:noFill/>
              </a:ln>
              <a:effectLst/>
            </c:spPr>
            <c:txPr>
              <a:bodyPr/>
              <a:lstStyle/>
              <a:p>
                <a:pPr>
                  <a:defRPr lang="en-IN">
                    <a:latin typeface="Calibri" pitchFamily="34" charset="0"/>
                    <a:cs typeface="Calibri"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Sheet1!$M$58:$S$58</c:f>
              <c:strCache>
                <c:ptCount val="7"/>
                <c:pt idx="0">
                  <c:v>Total (Q1 &amp; Q2)</c:v>
                </c:pt>
                <c:pt idx="1">
                  <c:v>Quater - 1</c:v>
                </c:pt>
                <c:pt idx="2">
                  <c:v>Quater - 2</c:v>
                </c:pt>
                <c:pt idx="4">
                  <c:v>Total (Q3 &amp; Q4)</c:v>
                </c:pt>
                <c:pt idx="5">
                  <c:v>Quater - 3</c:v>
                </c:pt>
                <c:pt idx="6">
                  <c:v>Quater - 4</c:v>
                </c:pt>
              </c:strCache>
            </c:strRef>
          </c:cat>
          <c:val>
            <c:numRef>
              <c:f>Sheet1!$M$59:$S$59</c:f>
              <c:numCache>
                <c:formatCode>###0</c:formatCode>
                <c:ptCount val="7"/>
                <c:pt idx="1">
                  <c:v>37</c:v>
                </c:pt>
                <c:pt idx="2">
                  <c:v>44</c:v>
                </c:pt>
                <c:pt idx="5">
                  <c:v>46</c:v>
                </c:pt>
                <c:pt idx="6">
                  <c:v>55</c:v>
                </c:pt>
              </c:numCache>
            </c:numRef>
          </c:val>
          <c:extLst>
            <c:ext xmlns:c16="http://schemas.microsoft.com/office/drawing/2014/chart" uri="{C3380CC4-5D6E-409C-BE32-E72D297353CC}">
              <c16:uniqueId val="{00000000-1987-480D-B839-E4A3EDB64DC9}"/>
            </c:ext>
          </c:extLst>
        </c:ser>
        <c:ser>
          <c:idx val="1"/>
          <c:order val="1"/>
          <c:tx>
            <c:strRef>
              <c:f>Sheet1!$L$60</c:f>
              <c:strCache>
                <c:ptCount val="1"/>
                <c:pt idx="0">
                  <c:v>31 - 40 yrs</c:v>
                </c:pt>
              </c:strCache>
            </c:strRef>
          </c:tx>
          <c:spPr>
            <a:solidFill>
              <a:schemeClr val="tx2">
                <a:lumMod val="75000"/>
              </a:schemeClr>
            </a:solidFill>
          </c:spPr>
          <c:invertIfNegative val="0"/>
          <c:dLbls>
            <c:dLbl>
              <c:idx val="1"/>
              <c:layout>
                <c:manualLayout>
                  <c:x val="5.9523809523809521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87-480D-B839-E4A3EDB64DC9}"/>
                </c:ext>
              </c:extLst>
            </c:dLbl>
            <c:dLbl>
              <c:idx val="2"/>
              <c:layout>
                <c:manualLayout>
                  <c:x val="2.1825396825396925E-2"/>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987-480D-B839-E4A3EDB64DC9}"/>
                </c:ext>
              </c:extLst>
            </c:dLbl>
            <c:dLbl>
              <c:idx val="5"/>
              <c:layout>
                <c:manualLayout>
                  <c:x val="1.58730158730159E-2"/>
                  <c:y val="1.543209876543220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87-480D-B839-E4A3EDB64DC9}"/>
                </c:ext>
              </c:extLst>
            </c:dLbl>
            <c:dLbl>
              <c:idx val="6"/>
              <c:layout>
                <c:manualLayout>
                  <c:x val="9.9206349206350086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1987-480D-B839-E4A3EDB64DC9}"/>
                </c:ext>
              </c:extLst>
            </c:dLbl>
            <c:spPr>
              <a:noFill/>
              <a:ln>
                <a:noFill/>
              </a:ln>
              <a:effectLst/>
            </c:spPr>
            <c:txPr>
              <a:bodyPr/>
              <a:lstStyle/>
              <a:p>
                <a:pPr>
                  <a:defRPr lang="en-IN">
                    <a:latin typeface="Calibri"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Sheet1!$M$58:$S$58</c:f>
              <c:strCache>
                <c:ptCount val="7"/>
                <c:pt idx="0">
                  <c:v>Total (Q1 &amp; Q2)</c:v>
                </c:pt>
                <c:pt idx="1">
                  <c:v>Quater - 1</c:v>
                </c:pt>
                <c:pt idx="2">
                  <c:v>Quater - 2</c:v>
                </c:pt>
                <c:pt idx="4">
                  <c:v>Total (Q3 &amp; Q4)</c:v>
                </c:pt>
                <c:pt idx="5">
                  <c:v>Quater - 3</c:v>
                </c:pt>
                <c:pt idx="6">
                  <c:v>Quater - 4</c:v>
                </c:pt>
              </c:strCache>
            </c:strRef>
          </c:cat>
          <c:val>
            <c:numRef>
              <c:f>Sheet1!$M$60:$S$60</c:f>
              <c:numCache>
                <c:formatCode>###0</c:formatCode>
                <c:ptCount val="7"/>
                <c:pt idx="1">
                  <c:v>15</c:v>
                </c:pt>
                <c:pt idx="2">
                  <c:v>22</c:v>
                </c:pt>
                <c:pt idx="5">
                  <c:v>28</c:v>
                </c:pt>
                <c:pt idx="6">
                  <c:v>23</c:v>
                </c:pt>
              </c:numCache>
            </c:numRef>
          </c:val>
          <c:extLst>
            <c:ext xmlns:c16="http://schemas.microsoft.com/office/drawing/2014/chart" uri="{C3380CC4-5D6E-409C-BE32-E72D297353CC}">
              <c16:uniqueId val="{00000005-1987-480D-B839-E4A3EDB64DC9}"/>
            </c:ext>
          </c:extLst>
        </c:ser>
        <c:ser>
          <c:idx val="2"/>
          <c:order val="2"/>
          <c:tx>
            <c:strRef>
              <c:f>Sheet1!$L$61</c:f>
              <c:strCache>
                <c:ptCount val="1"/>
                <c:pt idx="0">
                  <c:v>41 - 50 yrs</c:v>
                </c:pt>
              </c:strCache>
            </c:strRef>
          </c:tx>
          <c:spPr>
            <a:solidFill>
              <a:srgbClr val="C00000"/>
            </a:solidFill>
          </c:spPr>
          <c:invertIfNegative val="0"/>
          <c:dLbls>
            <c:dLbl>
              <c:idx val="1"/>
              <c:layout>
                <c:manualLayout>
                  <c:x val="1.3888732658417814E-2"/>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987-480D-B839-E4A3EDB64DC9}"/>
                </c:ext>
              </c:extLst>
            </c:dLbl>
            <c:dLbl>
              <c:idx val="2"/>
              <c:delete val="1"/>
              <c:extLst>
                <c:ext xmlns:c15="http://schemas.microsoft.com/office/drawing/2012/chart" uri="{CE6537A1-D6FC-4f65-9D91-7224C49458BB}"/>
                <c:ext xmlns:c16="http://schemas.microsoft.com/office/drawing/2014/chart" uri="{C3380CC4-5D6E-409C-BE32-E72D297353CC}">
                  <c16:uniqueId val="{00000007-1987-480D-B839-E4A3EDB64DC9}"/>
                </c:ext>
              </c:extLst>
            </c:dLbl>
            <c:dLbl>
              <c:idx val="5"/>
              <c:layout>
                <c:manualLayout>
                  <c:x val="1.58730158730159E-2"/>
                  <c:y val="1.028806584362140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987-480D-B839-E4A3EDB64DC9}"/>
                </c:ext>
              </c:extLst>
            </c:dLbl>
            <c:dLbl>
              <c:idx val="6"/>
              <c:layout>
                <c:manualLayout>
                  <c:x val="1.1904761904761908E-2"/>
                  <c:y val="-2.057613168724280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987-480D-B839-E4A3EDB64DC9}"/>
                </c:ext>
              </c:extLst>
            </c:dLbl>
            <c:spPr>
              <a:noFill/>
              <a:ln>
                <a:noFill/>
              </a:ln>
              <a:effectLst/>
            </c:spPr>
            <c:txPr>
              <a:bodyPr/>
              <a:lstStyle/>
              <a:p>
                <a:pPr>
                  <a:defRPr lang="en-IN">
                    <a:latin typeface="Calibri"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Sheet1!$M$58:$S$58</c:f>
              <c:strCache>
                <c:ptCount val="7"/>
                <c:pt idx="0">
                  <c:v>Total (Q1 &amp; Q2)</c:v>
                </c:pt>
                <c:pt idx="1">
                  <c:v>Quater - 1</c:v>
                </c:pt>
                <c:pt idx="2">
                  <c:v>Quater - 2</c:v>
                </c:pt>
                <c:pt idx="4">
                  <c:v>Total (Q3 &amp; Q4)</c:v>
                </c:pt>
                <c:pt idx="5">
                  <c:v>Quater - 3</c:v>
                </c:pt>
                <c:pt idx="6">
                  <c:v>Quater - 4</c:v>
                </c:pt>
              </c:strCache>
            </c:strRef>
          </c:cat>
          <c:val>
            <c:numRef>
              <c:f>Sheet1!$M$61:$S$61</c:f>
              <c:numCache>
                <c:formatCode>###0</c:formatCode>
                <c:ptCount val="7"/>
                <c:pt idx="1">
                  <c:v>6</c:v>
                </c:pt>
                <c:pt idx="2">
                  <c:v>0</c:v>
                </c:pt>
                <c:pt idx="5">
                  <c:v>2</c:v>
                </c:pt>
                <c:pt idx="6">
                  <c:v>1</c:v>
                </c:pt>
              </c:numCache>
            </c:numRef>
          </c:val>
          <c:extLst>
            <c:ext xmlns:c16="http://schemas.microsoft.com/office/drawing/2014/chart" uri="{C3380CC4-5D6E-409C-BE32-E72D297353CC}">
              <c16:uniqueId val="{0000000A-1987-480D-B839-E4A3EDB64DC9}"/>
            </c:ext>
          </c:extLst>
        </c:ser>
        <c:ser>
          <c:idx val="3"/>
          <c:order val="3"/>
          <c:tx>
            <c:strRef>
              <c:f>Sheet1!$L$62</c:f>
              <c:strCache>
                <c:ptCount val="1"/>
                <c:pt idx="0">
                  <c:v>50+ yrs</c:v>
                </c:pt>
              </c:strCache>
            </c:strRef>
          </c:tx>
          <c:invertIfNegative val="0"/>
          <c:cat>
            <c:strRef>
              <c:f>Sheet1!$M$58:$S$58</c:f>
              <c:strCache>
                <c:ptCount val="7"/>
                <c:pt idx="0">
                  <c:v>Total (Q1 &amp; Q2)</c:v>
                </c:pt>
                <c:pt idx="1">
                  <c:v>Quater - 1</c:v>
                </c:pt>
                <c:pt idx="2">
                  <c:v>Quater - 2</c:v>
                </c:pt>
                <c:pt idx="4">
                  <c:v>Total (Q3 &amp; Q4)</c:v>
                </c:pt>
                <c:pt idx="5">
                  <c:v>Quater - 3</c:v>
                </c:pt>
                <c:pt idx="6">
                  <c:v>Quater - 4</c:v>
                </c:pt>
              </c:strCache>
            </c:strRef>
          </c:cat>
          <c:val>
            <c:numRef>
              <c:f>Sheet1!$M$62:$S$62</c:f>
              <c:numCache>
                <c:formatCode>###0</c:formatCode>
                <c:ptCount val="7"/>
                <c:pt idx="1">
                  <c:v>0</c:v>
                </c:pt>
                <c:pt idx="2">
                  <c:v>0</c:v>
                </c:pt>
                <c:pt idx="5">
                  <c:v>0</c:v>
                </c:pt>
                <c:pt idx="6">
                  <c:v>0</c:v>
                </c:pt>
              </c:numCache>
            </c:numRef>
          </c:val>
          <c:extLst>
            <c:ext xmlns:c16="http://schemas.microsoft.com/office/drawing/2014/chart" uri="{C3380CC4-5D6E-409C-BE32-E72D297353CC}">
              <c16:uniqueId val="{0000000B-1987-480D-B839-E4A3EDB64DC9}"/>
            </c:ext>
          </c:extLst>
        </c:ser>
        <c:ser>
          <c:idx val="4"/>
          <c:order val="4"/>
          <c:tx>
            <c:strRef>
              <c:f>Sheet1!$L$63</c:f>
              <c:strCache>
                <c:ptCount val="1"/>
                <c:pt idx="0">
                  <c:v>Total</c:v>
                </c:pt>
              </c:strCache>
            </c:strRef>
          </c:tx>
          <c:spPr>
            <a:solidFill>
              <a:srgbClr val="CF9292"/>
            </a:solidFill>
          </c:spPr>
          <c:invertIfNegative val="0"/>
          <c:dLbls>
            <c:spPr>
              <a:noFill/>
              <a:ln>
                <a:noFill/>
              </a:ln>
              <a:effectLst/>
            </c:spPr>
            <c:txPr>
              <a:bodyPr/>
              <a:lstStyle/>
              <a:p>
                <a:pPr>
                  <a:defRPr lang="en-IN"/>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Sheet1!$M$58:$S$58</c:f>
              <c:strCache>
                <c:ptCount val="7"/>
                <c:pt idx="0">
                  <c:v>Total (Q1 &amp; Q2)</c:v>
                </c:pt>
                <c:pt idx="1">
                  <c:v>Quater - 1</c:v>
                </c:pt>
                <c:pt idx="2">
                  <c:v>Quater - 2</c:v>
                </c:pt>
                <c:pt idx="4">
                  <c:v>Total (Q3 &amp; Q4)</c:v>
                </c:pt>
                <c:pt idx="5">
                  <c:v>Quater - 3</c:v>
                </c:pt>
                <c:pt idx="6">
                  <c:v>Quater - 4</c:v>
                </c:pt>
              </c:strCache>
            </c:strRef>
          </c:cat>
          <c:val>
            <c:numRef>
              <c:f>Sheet1!$M$63:$S$63</c:f>
              <c:numCache>
                <c:formatCode>General</c:formatCode>
                <c:ptCount val="7"/>
                <c:pt idx="0" formatCode="###0">
                  <c:v>124</c:v>
                </c:pt>
                <c:pt idx="4" formatCode="###0">
                  <c:v>155</c:v>
                </c:pt>
              </c:numCache>
            </c:numRef>
          </c:val>
          <c:extLst>
            <c:ext xmlns:c16="http://schemas.microsoft.com/office/drawing/2014/chart" uri="{C3380CC4-5D6E-409C-BE32-E72D297353CC}">
              <c16:uniqueId val="{0000000C-1987-480D-B839-E4A3EDB64DC9}"/>
            </c:ext>
          </c:extLst>
        </c:ser>
        <c:dLbls>
          <c:showLegendKey val="0"/>
          <c:showVal val="0"/>
          <c:showCatName val="0"/>
          <c:showSerName val="0"/>
          <c:showPercent val="0"/>
          <c:showBubbleSize val="0"/>
        </c:dLbls>
        <c:gapWidth val="150"/>
        <c:shape val="box"/>
        <c:axId val="74495104"/>
        <c:axId val="74496640"/>
        <c:axId val="0"/>
      </c:bar3DChart>
      <c:catAx>
        <c:axId val="74495104"/>
        <c:scaling>
          <c:orientation val="minMax"/>
        </c:scaling>
        <c:delete val="0"/>
        <c:axPos val="b"/>
        <c:numFmt formatCode="General" sourceLinked="0"/>
        <c:majorTickMark val="out"/>
        <c:minorTickMark val="none"/>
        <c:tickLblPos val="nextTo"/>
        <c:txPr>
          <a:bodyPr/>
          <a:lstStyle/>
          <a:p>
            <a:pPr>
              <a:defRPr lang="en-IN" sz="1000">
                <a:latin typeface="Calibri" pitchFamily="34" charset="0"/>
              </a:defRPr>
            </a:pPr>
            <a:endParaRPr lang="en-US"/>
          </a:p>
        </c:txPr>
        <c:crossAx val="74496640"/>
        <c:crosses val="autoZero"/>
        <c:auto val="1"/>
        <c:lblAlgn val="ctr"/>
        <c:lblOffset val="100"/>
        <c:noMultiLvlLbl val="0"/>
      </c:catAx>
      <c:valAx>
        <c:axId val="74496640"/>
        <c:scaling>
          <c:orientation val="minMax"/>
        </c:scaling>
        <c:delete val="1"/>
        <c:axPos val="l"/>
        <c:numFmt formatCode="###0" sourceLinked="1"/>
        <c:majorTickMark val="out"/>
        <c:minorTickMark val="none"/>
        <c:tickLblPos val="none"/>
        <c:crossAx val="74495104"/>
        <c:crosses val="autoZero"/>
        <c:crossBetween val="between"/>
      </c:valAx>
    </c:plotArea>
    <c:legend>
      <c:legendPos val="b"/>
      <c:legendEntry>
        <c:idx val="4"/>
        <c:delete val="1"/>
      </c:legendEntry>
      <c:overlay val="0"/>
      <c:txPr>
        <a:bodyPr/>
        <a:lstStyle/>
        <a:p>
          <a:pPr>
            <a:defRPr lang="en-IN">
              <a:latin typeface="Calibri" pitchFamily="34" charset="0"/>
              <a:cs typeface="Calibri" pitchFamily="34" charset="0"/>
            </a:defRPr>
          </a:pPr>
          <a:endParaRPr lang="en-US"/>
        </a:p>
      </c:txPr>
    </c:legend>
    <c:plotVisOnly val="1"/>
    <c:dispBlanksAs val="gap"/>
    <c:showDLblsOverMax val="0"/>
  </c:chart>
  <c:spPr>
    <a:ln>
      <a:noFill/>
    </a:ln>
  </c:spPr>
  <c:externalData r:id="rId2">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barChart>
        <c:barDir val="col"/>
        <c:grouping val="clustered"/>
        <c:varyColors val="0"/>
        <c:ser>
          <c:idx val="0"/>
          <c:order val="0"/>
          <c:tx>
            <c:strRef>
              <c:f>'BU classification'!$L$79</c:f>
              <c:strCache>
                <c:ptCount val="1"/>
                <c:pt idx="0">
                  <c:v>Total Head Count</c:v>
                </c:pt>
              </c:strCache>
            </c:strRef>
          </c:tx>
          <c:spPr>
            <a:solidFill>
              <a:srgbClr val="3B97A0"/>
            </a:solidFill>
          </c:spPr>
          <c:invertIfNegative val="0"/>
          <c:dLbls>
            <c:dLbl>
              <c:idx val="1"/>
              <c:layout>
                <c:manualLayout>
                  <c:x val="-4.629629629629632E-3"/>
                  <c:y val="2.380952380952389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ED0-44AB-94C3-DEAC043B51D9}"/>
                </c:ext>
              </c:extLst>
            </c:dLbl>
            <c:dLbl>
              <c:idx val="7"/>
              <c:layout>
                <c:manualLayout>
                  <c:x val="0"/>
                  <c:y val="-1.984126984126978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ED0-44AB-94C3-DEAC043B51D9}"/>
                </c:ext>
              </c:extLst>
            </c:dLbl>
            <c:spPr>
              <a:noFill/>
              <a:ln>
                <a:noFill/>
              </a:ln>
              <a:effectLst/>
            </c:spPr>
            <c:txPr>
              <a:bodyPr/>
              <a:lstStyle/>
              <a:p>
                <a:pPr>
                  <a:defRPr>
                    <a:latin typeface="Calibri" pitchFamily="34" charset="0"/>
                    <a:cs typeface="Calibri"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'BU classification'!$K$80:$K$91</c:f>
              <c:strCache>
                <c:ptCount val="12"/>
                <c:pt idx="0">
                  <c:v>Diabetes</c:v>
                </c:pt>
                <c:pt idx="1">
                  <c:v>CHC RX</c:v>
                </c:pt>
                <c:pt idx="2">
                  <c:v>Vaccines</c:v>
                </c:pt>
                <c:pt idx="3">
                  <c:v>IA</c:v>
                </c:pt>
                <c:pt idx="4">
                  <c:v>Hospital</c:v>
                </c:pt>
                <c:pt idx="5">
                  <c:v>Cardio</c:v>
                </c:pt>
                <c:pt idx="6">
                  <c:v>HO</c:v>
                </c:pt>
                <c:pt idx="7">
                  <c:v>CHC OTC</c:v>
                </c:pt>
                <c:pt idx="8">
                  <c:v>Mass Therapy</c:v>
                </c:pt>
                <c:pt idx="9">
                  <c:v>CNS</c:v>
                </c:pt>
                <c:pt idx="10">
                  <c:v>Superspecialty</c:v>
                </c:pt>
                <c:pt idx="11">
                  <c:v>Institution Business</c:v>
                </c:pt>
              </c:strCache>
            </c:strRef>
          </c:cat>
          <c:val>
            <c:numRef>
              <c:f>'BU classification'!$L$80:$L$91</c:f>
              <c:numCache>
                <c:formatCode>General</c:formatCode>
                <c:ptCount val="12"/>
                <c:pt idx="0">
                  <c:v>809</c:v>
                </c:pt>
                <c:pt idx="1">
                  <c:v>456</c:v>
                </c:pt>
                <c:pt idx="2">
                  <c:v>330</c:v>
                </c:pt>
                <c:pt idx="3">
                  <c:v>808</c:v>
                </c:pt>
                <c:pt idx="4">
                  <c:v>230</c:v>
                </c:pt>
                <c:pt idx="5">
                  <c:v>261</c:v>
                </c:pt>
                <c:pt idx="6">
                  <c:v>360</c:v>
                </c:pt>
                <c:pt idx="7">
                  <c:v>22</c:v>
                </c:pt>
                <c:pt idx="8">
                  <c:v>290</c:v>
                </c:pt>
                <c:pt idx="9">
                  <c:v>194</c:v>
                </c:pt>
                <c:pt idx="10">
                  <c:v>55</c:v>
                </c:pt>
                <c:pt idx="11">
                  <c:v>29</c:v>
                </c:pt>
              </c:numCache>
            </c:numRef>
          </c:val>
          <c:extLst>
            <c:ext xmlns:c16="http://schemas.microsoft.com/office/drawing/2014/chart" uri="{C3380CC4-5D6E-409C-BE32-E72D297353CC}">
              <c16:uniqueId val="{00000002-DED0-44AB-94C3-DEAC043B51D9}"/>
            </c:ext>
          </c:extLst>
        </c:ser>
        <c:ser>
          <c:idx val="1"/>
          <c:order val="1"/>
          <c:tx>
            <c:strRef>
              <c:f>'BU classification'!$M$79</c:f>
              <c:strCache>
                <c:ptCount val="1"/>
                <c:pt idx="0">
                  <c:v>Total Exits</c:v>
                </c:pt>
              </c:strCache>
            </c:strRef>
          </c:tx>
          <c:spPr>
            <a:solidFill>
              <a:srgbClr val="C00000"/>
            </a:solidFill>
          </c:spPr>
          <c:invertIfNegative val="0"/>
          <c:dLbls>
            <c:dLbl>
              <c:idx val="0"/>
              <c:layout>
                <c:manualLayout>
                  <c:x val="9.259259259259269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ED0-44AB-94C3-DEAC043B51D9}"/>
                </c:ext>
              </c:extLst>
            </c:dLbl>
            <c:dLbl>
              <c:idx val="1"/>
              <c:layout>
                <c:manualLayout>
                  <c:x val="6.9444444444444493E-3"/>
                  <c:y val="7.2750482331543041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ED0-44AB-94C3-DEAC043B51D9}"/>
                </c:ext>
              </c:extLst>
            </c:dLbl>
            <c:dLbl>
              <c:idx val="2"/>
              <c:layout>
                <c:manualLayout>
                  <c:x val="6.9444444444444493E-3"/>
                  <c:y val="3.968253968253970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ED0-44AB-94C3-DEAC043B51D9}"/>
                </c:ext>
              </c:extLst>
            </c:dLbl>
            <c:dLbl>
              <c:idx val="4"/>
              <c:layout>
                <c:manualLayout>
                  <c:x val="9.259259259259269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ED0-44AB-94C3-DEAC043B51D9}"/>
                </c:ext>
              </c:extLst>
            </c:dLbl>
            <c:dLbl>
              <c:idx val="5"/>
              <c:layout>
                <c:manualLayout>
                  <c:x val="6.9444444444444493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ED0-44AB-94C3-DEAC043B51D9}"/>
                </c:ext>
              </c:extLst>
            </c:dLbl>
            <c:dLbl>
              <c:idx val="6"/>
              <c:layout>
                <c:manualLayout>
                  <c:x val="4.629629629629632E-3"/>
                  <c:y val="-3.1246094238220256E-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ED0-44AB-94C3-DEAC043B51D9}"/>
                </c:ext>
              </c:extLst>
            </c:dLbl>
            <c:dLbl>
              <c:idx val="7"/>
              <c:layout>
                <c:manualLayout>
                  <c:x val="2.3148148148148147E-3"/>
                  <c:y val="1.587301587301587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DED0-44AB-94C3-DEAC043B51D9}"/>
                </c:ext>
              </c:extLst>
            </c:dLbl>
            <c:dLbl>
              <c:idx val="8"/>
              <c:layout>
                <c:manualLayout>
                  <c:x val="4.62962962962963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ED0-44AB-94C3-DEAC043B51D9}"/>
                </c:ext>
              </c:extLst>
            </c:dLbl>
            <c:dLbl>
              <c:idx val="9"/>
              <c:layout>
                <c:manualLayout>
                  <c:x val="6.9444444444444493E-3"/>
                  <c:y val="7.936507936508012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ED0-44AB-94C3-DEAC043B51D9}"/>
                </c:ext>
              </c:extLst>
            </c:dLbl>
            <c:dLbl>
              <c:idx val="10"/>
              <c:layout>
                <c:manualLayout>
                  <c:x val="0"/>
                  <c:y val="1.190476190476191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ED0-44AB-94C3-DEAC043B51D9}"/>
                </c:ext>
              </c:extLst>
            </c:dLbl>
            <c:dLbl>
              <c:idx val="11"/>
              <c:layout>
                <c:manualLayout>
                  <c:x val="1.38888888888889E-2"/>
                  <c:y val="7.2750482331543041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ED0-44AB-94C3-DEAC043B51D9}"/>
                </c:ext>
              </c:extLst>
            </c:dLbl>
            <c:spPr>
              <a:noFill/>
              <a:ln>
                <a:noFill/>
              </a:ln>
              <a:effectLst/>
            </c:spPr>
            <c:txPr>
              <a:bodyPr/>
              <a:lstStyle/>
              <a:p>
                <a:pPr>
                  <a:defRPr>
                    <a:latin typeface="Calibri" pitchFamily="34" charset="0"/>
                    <a:cs typeface="Calibri"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'BU classification'!$K$80:$K$91</c:f>
              <c:strCache>
                <c:ptCount val="12"/>
                <c:pt idx="0">
                  <c:v>Diabetes</c:v>
                </c:pt>
                <c:pt idx="1">
                  <c:v>CHC RX</c:v>
                </c:pt>
                <c:pt idx="2">
                  <c:v>Vaccines</c:v>
                </c:pt>
                <c:pt idx="3">
                  <c:v>IA</c:v>
                </c:pt>
                <c:pt idx="4">
                  <c:v>Hospital</c:v>
                </c:pt>
                <c:pt idx="5">
                  <c:v>Cardio</c:v>
                </c:pt>
                <c:pt idx="6">
                  <c:v>HO</c:v>
                </c:pt>
                <c:pt idx="7">
                  <c:v>CHC OTC</c:v>
                </c:pt>
                <c:pt idx="8">
                  <c:v>Mass Therapy</c:v>
                </c:pt>
                <c:pt idx="9">
                  <c:v>CNS</c:v>
                </c:pt>
                <c:pt idx="10">
                  <c:v>Superspecialty</c:v>
                </c:pt>
                <c:pt idx="11">
                  <c:v>Institution Business</c:v>
                </c:pt>
              </c:strCache>
            </c:strRef>
          </c:cat>
          <c:val>
            <c:numRef>
              <c:f>'BU classification'!$M$80:$M$91</c:f>
              <c:numCache>
                <c:formatCode>###0</c:formatCode>
                <c:ptCount val="12"/>
                <c:pt idx="0">
                  <c:v>118</c:v>
                </c:pt>
                <c:pt idx="1">
                  <c:v>44</c:v>
                </c:pt>
                <c:pt idx="2">
                  <c:v>40</c:v>
                </c:pt>
                <c:pt idx="3">
                  <c:v>51</c:v>
                </c:pt>
                <c:pt idx="4">
                  <c:v>27</c:v>
                </c:pt>
                <c:pt idx="5">
                  <c:v>27</c:v>
                </c:pt>
                <c:pt idx="6">
                  <c:v>25</c:v>
                </c:pt>
                <c:pt idx="7">
                  <c:v>18</c:v>
                </c:pt>
                <c:pt idx="8">
                  <c:v>17</c:v>
                </c:pt>
                <c:pt idx="9">
                  <c:v>19</c:v>
                </c:pt>
                <c:pt idx="10">
                  <c:v>9</c:v>
                </c:pt>
                <c:pt idx="11">
                  <c:v>5</c:v>
                </c:pt>
              </c:numCache>
            </c:numRef>
          </c:val>
          <c:extLst>
            <c:ext xmlns:c16="http://schemas.microsoft.com/office/drawing/2014/chart" uri="{C3380CC4-5D6E-409C-BE32-E72D297353CC}">
              <c16:uniqueId val="{0000000E-DED0-44AB-94C3-DEAC043B51D9}"/>
            </c:ext>
          </c:extLst>
        </c:ser>
        <c:dLbls>
          <c:showLegendKey val="0"/>
          <c:showVal val="0"/>
          <c:showCatName val="0"/>
          <c:showSerName val="0"/>
          <c:showPercent val="0"/>
          <c:showBubbleSize val="0"/>
        </c:dLbls>
        <c:gapWidth val="150"/>
        <c:axId val="74442624"/>
        <c:axId val="74444160"/>
      </c:barChart>
      <c:catAx>
        <c:axId val="74442624"/>
        <c:scaling>
          <c:orientation val="minMax"/>
        </c:scaling>
        <c:delete val="0"/>
        <c:axPos val="b"/>
        <c:numFmt formatCode="General" sourceLinked="0"/>
        <c:majorTickMark val="out"/>
        <c:minorTickMark val="none"/>
        <c:tickLblPos val="nextTo"/>
        <c:txPr>
          <a:bodyPr/>
          <a:lstStyle/>
          <a:p>
            <a:pPr>
              <a:defRPr sz="1050">
                <a:latin typeface="Calibri" pitchFamily="34" charset="0"/>
                <a:cs typeface="Calibri" pitchFamily="34" charset="0"/>
              </a:defRPr>
            </a:pPr>
            <a:endParaRPr lang="en-US"/>
          </a:p>
        </c:txPr>
        <c:crossAx val="74444160"/>
        <c:crosses val="autoZero"/>
        <c:auto val="1"/>
        <c:lblAlgn val="ctr"/>
        <c:lblOffset val="100"/>
        <c:noMultiLvlLbl val="0"/>
      </c:catAx>
      <c:valAx>
        <c:axId val="74444160"/>
        <c:scaling>
          <c:orientation val="minMax"/>
          <c:min val="0"/>
        </c:scaling>
        <c:delete val="1"/>
        <c:axPos val="l"/>
        <c:numFmt formatCode="General" sourceLinked="1"/>
        <c:majorTickMark val="out"/>
        <c:minorTickMark val="none"/>
        <c:tickLblPos val="none"/>
        <c:crossAx val="74442624"/>
        <c:crosses val="autoZero"/>
        <c:crossBetween val="between"/>
        <c:majorUnit val="1"/>
      </c:valAx>
    </c:plotArea>
    <c:plotVisOnly val="1"/>
    <c:dispBlanksAs val="gap"/>
    <c:showDLblsOverMax val="0"/>
  </c:chart>
  <c:spPr>
    <a:ln>
      <a:noFill/>
    </a:ln>
  </c:spPr>
  <c:txPr>
    <a:bodyPr/>
    <a:lstStyle/>
    <a:p>
      <a:pPr>
        <a:defRPr>
          <a:latin typeface="+mn-lt"/>
        </a:defRPr>
      </a:pPr>
      <a:endParaRPr lang="en-US"/>
    </a:p>
  </c:txPr>
  <c:externalData r:id="rId2">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0"/>
    </mc:Choice>
    <mc:Fallback>
      <c:style val="10"/>
    </mc:Fallback>
  </mc:AlternateContent>
  <c:clrMapOvr bg1="lt1" tx1="dk1" bg2="lt2" tx2="dk2" accent1="accent1" accent2="accent2" accent3="accent3" accent4="accent4" accent5="accent5" accent6="accent6" hlink="hlink" folHlink="folHlink"/>
  <c:chart>
    <c:autoTitleDeleted val="0"/>
    <c:view3D>
      <c:rotX val="30"/>
      <c:rotY val="0"/>
      <c:rAngAx val="0"/>
    </c:view3D>
    <c:floor>
      <c:thickness val="0"/>
    </c:floor>
    <c:sideWall>
      <c:thickness val="0"/>
    </c:sideWall>
    <c:backWall>
      <c:thickness val="0"/>
    </c:backWall>
    <c:plotArea>
      <c:layout>
        <c:manualLayout>
          <c:layoutTarget val="inner"/>
          <c:xMode val="edge"/>
          <c:yMode val="edge"/>
          <c:x val="8.0043859649122806E-2"/>
          <c:y val="0.44225224002171964"/>
          <c:w val="0.80921052631579005"/>
          <c:h val="0.4703733369535702"/>
        </c:manualLayout>
      </c:layout>
      <c:pie3DChart>
        <c:varyColors val="1"/>
        <c:ser>
          <c:idx val="0"/>
          <c:order val="0"/>
          <c:dPt>
            <c:idx val="0"/>
            <c:bubble3D val="0"/>
            <c:spPr>
              <a:solidFill>
                <a:srgbClr val="009592"/>
              </a:solidFill>
            </c:spPr>
            <c:extLst>
              <c:ext xmlns:c16="http://schemas.microsoft.com/office/drawing/2014/chart" uri="{C3380CC4-5D6E-409C-BE32-E72D297353CC}">
                <c16:uniqueId val="{00000000-BE6F-4C1F-BC06-1CAF6A597372}"/>
              </c:ext>
            </c:extLst>
          </c:dPt>
          <c:dPt>
            <c:idx val="2"/>
            <c:bubble3D val="0"/>
            <c:spPr>
              <a:solidFill>
                <a:srgbClr val="CC9B00"/>
              </a:solidFill>
            </c:spPr>
            <c:extLst>
              <c:ext xmlns:c16="http://schemas.microsoft.com/office/drawing/2014/chart" uri="{C3380CC4-5D6E-409C-BE32-E72D297353CC}">
                <c16:uniqueId val="{00000001-BE6F-4C1F-BC06-1CAF6A597372}"/>
              </c:ext>
            </c:extLst>
          </c:dPt>
          <c:dPt>
            <c:idx val="3"/>
            <c:bubble3D val="0"/>
            <c:spPr>
              <a:solidFill>
                <a:srgbClr val="FFFFFF">
                  <a:lumMod val="50000"/>
                </a:srgbClr>
              </a:solidFill>
            </c:spPr>
            <c:extLst>
              <c:ext xmlns:c16="http://schemas.microsoft.com/office/drawing/2014/chart" uri="{C3380CC4-5D6E-409C-BE32-E72D297353CC}">
                <c16:uniqueId val="{00000002-BE6F-4C1F-BC06-1CAF6A597372}"/>
              </c:ext>
            </c:extLst>
          </c:dPt>
          <c:dPt>
            <c:idx val="4"/>
            <c:bubble3D val="0"/>
            <c:spPr>
              <a:solidFill>
                <a:srgbClr val="FFFFFF">
                  <a:lumMod val="65000"/>
                </a:srgbClr>
              </a:solidFill>
            </c:spPr>
            <c:extLst>
              <c:ext xmlns:c16="http://schemas.microsoft.com/office/drawing/2014/chart" uri="{C3380CC4-5D6E-409C-BE32-E72D297353CC}">
                <c16:uniqueId val="{00000003-BE6F-4C1F-BC06-1CAF6A597372}"/>
              </c:ext>
            </c:extLst>
          </c:dPt>
          <c:dPt>
            <c:idx val="5"/>
            <c:bubble3D val="0"/>
            <c:spPr>
              <a:solidFill>
                <a:srgbClr val="FFFFFF">
                  <a:lumMod val="85000"/>
                </a:srgbClr>
              </a:solidFill>
            </c:spPr>
            <c:extLst>
              <c:ext xmlns:c16="http://schemas.microsoft.com/office/drawing/2014/chart" uri="{C3380CC4-5D6E-409C-BE32-E72D297353CC}">
                <c16:uniqueId val="{00000004-BE6F-4C1F-BC06-1CAF6A597372}"/>
              </c:ext>
            </c:extLst>
          </c:dPt>
          <c:dLbls>
            <c:dLbl>
              <c:idx val="3"/>
              <c:spPr/>
              <c:txPr>
                <a:bodyPr/>
                <a:lstStyle/>
                <a:p>
                  <a:pPr>
                    <a:defRPr lang="en-IN" sz="1000" b="0">
                      <a:solidFill>
                        <a:schemeClr val="tx1"/>
                      </a:solidFill>
                      <a:latin typeface="Calibri" pitchFamily="34" charset="0"/>
                      <a:cs typeface="Calibri" pitchFamily="34" charset="0"/>
                    </a:defRPr>
                  </a:pPr>
                  <a:endParaRPr lang="en-US"/>
                </a:p>
              </c:txPr>
              <c:showLegendKey val="0"/>
              <c:showVal val="1"/>
              <c:showCatName val="0"/>
              <c:showSerName val="0"/>
              <c:showPercent val="0"/>
              <c:showBubbleSize val="0"/>
              <c:extLst>
                <c:ext xmlns:c16="http://schemas.microsoft.com/office/drawing/2014/chart" uri="{C3380CC4-5D6E-409C-BE32-E72D297353CC}">
                  <c16:uniqueId val="{00000002-BE6F-4C1F-BC06-1CAF6A597372}"/>
                </c:ext>
              </c:extLst>
            </c:dLbl>
            <c:dLbl>
              <c:idx val="4"/>
              <c:spPr/>
              <c:txPr>
                <a:bodyPr/>
                <a:lstStyle/>
                <a:p>
                  <a:pPr>
                    <a:defRPr lang="en-IN" sz="1000" b="0">
                      <a:solidFill>
                        <a:schemeClr val="tx1"/>
                      </a:solidFill>
                      <a:latin typeface="Calibri" pitchFamily="34" charset="0"/>
                      <a:cs typeface="Calibri" pitchFamily="34" charset="0"/>
                    </a:defRPr>
                  </a:pPr>
                  <a:endParaRPr lang="en-US"/>
                </a:p>
              </c:txPr>
              <c:showLegendKey val="0"/>
              <c:showVal val="1"/>
              <c:showCatName val="0"/>
              <c:showSerName val="0"/>
              <c:showPercent val="0"/>
              <c:showBubbleSize val="0"/>
              <c:extLst>
                <c:ext xmlns:c16="http://schemas.microsoft.com/office/drawing/2014/chart" uri="{C3380CC4-5D6E-409C-BE32-E72D297353CC}">
                  <c16:uniqueId val="{00000003-BE6F-4C1F-BC06-1CAF6A597372}"/>
                </c:ext>
              </c:extLst>
            </c:dLbl>
            <c:dLbl>
              <c:idx val="5"/>
              <c:layout>
                <c:manualLayout>
                  <c:x val="4.6966431827600845E-2"/>
                  <c:y val="8.4685462704259681E-2"/>
                </c:manualLayout>
              </c:layout>
              <c:spPr/>
              <c:txPr>
                <a:bodyPr/>
                <a:lstStyle/>
                <a:p>
                  <a:pPr>
                    <a:defRPr lang="en-IN" sz="1000" b="0">
                      <a:solidFill>
                        <a:schemeClr val="tx1"/>
                      </a:solidFill>
                      <a:latin typeface="Calibri" pitchFamily="34" charset="0"/>
                      <a:cs typeface="Calibri" pitchFamily="34" charset="0"/>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BE6F-4C1F-BC06-1CAF6A597372}"/>
                </c:ext>
              </c:extLst>
            </c:dLbl>
            <c:spPr>
              <a:noFill/>
              <a:ln>
                <a:noFill/>
              </a:ln>
              <a:effectLst/>
            </c:spPr>
            <c:txPr>
              <a:bodyPr/>
              <a:lstStyle/>
              <a:p>
                <a:pPr>
                  <a:defRPr lang="en-IN" sz="1000" b="0">
                    <a:solidFill>
                      <a:schemeClr val="bg1"/>
                    </a:solidFill>
                    <a:latin typeface="Calibri" pitchFamily="34" charset="0"/>
                    <a:cs typeface="Calibri" pitchFamily="34" charset="0"/>
                  </a:defRPr>
                </a:pPr>
                <a:endParaRPr lang="en-US"/>
              </a:p>
            </c:txPr>
            <c:showLegendKey val="0"/>
            <c:showVal val="1"/>
            <c:showCatName val="0"/>
            <c:showSerName val="0"/>
            <c:showPercent val="0"/>
            <c:showBubbleSize val="0"/>
            <c:showLeaderLines val="1"/>
            <c:extLst>
              <c:ext xmlns:c15="http://schemas.microsoft.com/office/drawing/2012/chart" uri="{CE6537A1-D6FC-4f65-9D91-7224C49458BB}"/>
            </c:extLst>
          </c:dLbls>
          <c:cat>
            <c:strRef>
              <c:f>Sheet3!$C$95:$C$100</c:f>
              <c:strCache>
                <c:ptCount val="6"/>
                <c:pt idx="0">
                  <c:v>Better Opportunity</c:v>
                </c:pt>
                <c:pt idx="1">
                  <c:v>Supervision Related</c:v>
                </c:pt>
                <c:pt idx="2">
                  <c:v>Work Environment</c:v>
                </c:pt>
                <c:pt idx="3">
                  <c:v>Personal Reasons</c:v>
                </c:pt>
                <c:pt idx="4">
                  <c:v>Change of Career</c:v>
                </c:pt>
                <c:pt idx="5">
                  <c:v>Change of Location</c:v>
                </c:pt>
              </c:strCache>
            </c:strRef>
          </c:cat>
          <c:val>
            <c:numRef>
              <c:f>Sheet3!$F$95:$F$100</c:f>
              <c:numCache>
                <c:formatCode>0%</c:formatCode>
                <c:ptCount val="6"/>
                <c:pt idx="0">
                  <c:v>0.38351254480287145</c:v>
                </c:pt>
                <c:pt idx="1">
                  <c:v>0.15770609318996626</c:v>
                </c:pt>
                <c:pt idx="2">
                  <c:v>0.14336917562724011</c:v>
                </c:pt>
                <c:pt idx="3">
                  <c:v>0.11827956989247294</c:v>
                </c:pt>
                <c:pt idx="4">
                  <c:v>0.13261648745519822</c:v>
                </c:pt>
                <c:pt idx="5">
                  <c:v>6.4516129032258132E-2</c:v>
                </c:pt>
              </c:numCache>
            </c:numRef>
          </c:val>
          <c:extLst>
            <c:ext xmlns:c16="http://schemas.microsoft.com/office/drawing/2014/chart" uri="{C3380CC4-5D6E-409C-BE32-E72D297353CC}">
              <c16:uniqueId val="{00000005-BE6F-4C1F-BC06-1CAF6A597372}"/>
            </c:ext>
          </c:extLst>
        </c:ser>
        <c:dLbls>
          <c:showLegendKey val="0"/>
          <c:showVal val="0"/>
          <c:showCatName val="0"/>
          <c:showSerName val="0"/>
          <c:showPercent val="0"/>
          <c:showBubbleSize val="0"/>
          <c:showLeaderLines val="1"/>
        </c:dLbls>
      </c:pie3DChart>
    </c:plotArea>
    <c:legend>
      <c:legendPos val="t"/>
      <c:overlay val="0"/>
      <c:txPr>
        <a:bodyPr/>
        <a:lstStyle/>
        <a:p>
          <a:pPr>
            <a:defRPr lang="en-IN">
              <a:latin typeface="Calibri" pitchFamily="34" charset="0"/>
              <a:cs typeface="Calibri" pitchFamily="34" charset="0"/>
            </a:defRPr>
          </a:pPr>
          <a:endParaRPr lang="en-US"/>
        </a:p>
      </c:txPr>
    </c:legend>
    <c:plotVisOnly val="1"/>
    <c:dispBlanksAs val="zero"/>
    <c:showDLblsOverMax val="0"/>
  </c:chart>
  <c:externalData r:id="rId2">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0"/>
    </mc:Choice>
    <mc:Fallback>
      <c:style val="10"/>
    </mc:Fallback>
  </mc:AlternateContent>
  <c:clrMapOvr bg1="lt1" tx1="dk1" bg2="lt2" tx2="dk2" accent1="accent1" accent2="accent2" accent3="accent3" accent4="accent4" accent5="accent5" accent6="accent6" hlink="hlink" folHlink="folHlink"/>
  <c:chart>
    <c:autoTitleDeleted val="0"/>
    <c:view3D>
      <c:rotX val="30"/>
      <c:rotY val="0"/>
      <c:rAngAx val="0"/>
    </c:view3D>
    <c:floor>
      <c:thickness val="0"/>
    </c:floor>
    <c:sideWall>
      <c:thickness val="0"/>
    </c:sideWall>
    <c:backWall>
      <c:thickness val="0"/>
    </c:backWall>
    <c:plotArea>
      <c:layout>
        <c:manualLayout>
          <c:layoutTarget val="inner"/>
          <c:xMode val="edge"/>
          <c:yMode val="edge"/>
          <c:x val="8.0043859649122806E-2"/>
          <c:y val="0.44225224002171964"/>
          <c:w val="0.80921052631579005"/>
          <c:h val="0.4703733369535702"/>
        </c:manualLayout>
      </c:layout>
      <c:pie3DChart>
        <c:varyColors val="1"/>
        <c:ser>
          <c:idx val="0"/>
          <c:order val="0"/>
          <c:dPt>
            <c:idx val="0"/>
            <c:bubble3D val="0"/>
            <c:spPr>
              <a:solidFill>
                <a:srgbClr val="009592"/>
              </a:solidFill>
            </c:spPr>
            <c:extLst>
              <c:ext xmlns:c16="http://schemas.microsoft.com/office/drawing/2014/chart" uri="{C3380CC4-5D6E-409C-BE32-E72D297353CC}">
                <c16:uniqueId val="{00000000-3FDF-4D24-A497-541F6660768B}"/>
              </c:ext>
            </c:extLst>
          </c:dPt>
          <c:dPt>
            <c:idx val="2"/>
            <c:bubble3D val="0"/>
            <c:spPr>
              <a:solidFill>
                <a:srgbClr val="CC9B00"/>
              </a:solidFill>
            </c:spPr>
            <c:extLst>
              <c:ext xmlns:c16="http://schemas.microsoft.com/office/drawing/2014/chart" uri="{C3380CC4-5D6E-409C-BE32-E72D297353CC}">
                <c16:uniqueId val="{00000001-3FDF-4D24-A497-541F6660768B}"/>
              </c:ext>
            </c:extLst>
          </c:dPt>
          <c:dPt>
            <c:idx val="3"/>
            <c:bubble3D val="0"/>
            <c:spPr>
              <a:solidFill>
                <a:srgbClr val="FFFFFF">
                  <a:lumMod val="50000"/>
                </a:srgbClr>
              </a:solidFill>
            </c:spPr>
            <c:extLst>
              <c:ext xmlns:c16="http://schemas.microsoft.com/office/drawing/2014/chart" uri="{C3380CC4-5D6E-409C-BE32-E72D297353CC}">
                <c16:uniqueId val="{00000002-3FDF-4D24-A497-541F6660768B}"/>
              </c:ext>
            </c:extLst>
          </c:dPt>
          <c:dPt>
            <c:idx val="4"/>
            <c:bubble3D val="0"/>
            <c:spPr>
              <a:solidFill>
                <a:srgbClr val="FFFFFF">
                  <a:lumMod val="65000"/>
                </a:srgbClr>
              </a:solidFill>
            </c:spPr>
            <c:extLst>
              <c:ext xmlns:c16="http://schemas.microsoft.com/office/drawing/2014/chart" uri="{C3380CC4-5D6E-409C-BE32-E72D297353CC}">
                <c16:uniqueId val="{00000003-3FDF-4D24-A497-541F6660768B}"/>
              </c:ext>
            </c:extLst>
          </c:dPt>
          <c:dPt>
            <c:idx val="5"/>
            <c:bubble3D val="0"/>
            <c:spPr>
              <a:solidFill>
                <a:srgbClr val="FFFFFF">
                  <a:lumMod val="85000"/>
                </a:srgbClr>
              </a:solidFill>
            </c:spPr>
            <c:extLst>
              <c:ext xmlns:c16="http://schemas.microsoft.com/office/drawing/2014/chart" uri="{C3380CC4-5D6E-409C-BE32-E72D297353CC}">
                <c16:uniqueId val="{00000004-3FDF-4D24-A497-541F6660768B}"/>
              </c:ext>
            </c:extLst>
          </c:dPt>
          <c:dLbls>
            <c:dLbl>
              <c:idx val="3"/>
              <c:spPr/>
              <c:txPr>
                <a:bodyPr/>
                <a:lstStyle/>
                <a:p>
                  <a:pPr>
                    <a:defRPr lang="en-IN" sz="1000" b="0">
                      <a:solidFill>
                        <a:schemeClr val="tx1"/>
                      </a:solidFill>
                      <a:latin typeface="Calibri" pitchFamily="34" charset="0"/>
                      <a:cs typeface="Calibri" pitchFamily="34" charset="0"/>
                    </a:defRPr>
                  </a:pPr>
                  <a:endParaRPr lang="en-US"/>
                </a:p>
              </c:txPr>
              <c:showLegendKey val="0"/>
              <c:showVal val="1"/>
              <c:showCatName val="0"/>
              <c:showSerName val="0"/>
              <c:showPercent val="0"/>
              <c:showBubbleSize val="0"/>
              <c:extLst>
                <c:ext xmlns:c16="http://schemas.microsoft.com/office/drawing/2014/chart" uri="{C3380CC4-5D6E-409C-BE32-E72D297353CC}">
                  <c16:uniqueId val="{00000002-3FDF-4D24-A497-541F6660768B}"/>
                </c:ext>
              </c:extLst>
            </c:dLbl>
            <c:dLbl>
              <c:idx val="4"/>
              <c:spPr/>
              <c:txPr>
                <a:bodyPr/>
                <a:lstStyle/>
                <a:p>
                  <a:pPr>
                    <a:defRPr lang="en-IN" sz="1000" b="0">
                      <a:solidFill>
                        <a:schemeClr val="tx1"/>
                      </a:solidFill>
                      <a:latin typeface="Calibri" pitchFamily="34" charset="0"/>
                      <a:cs typeface="Calibri" pitchFamily="34" charset="0"/>
                    </a:defRPr>
                  </a:pPr>
                  <a:endParaRPr lang="en-US"/>
                </a:p>
              </c:txPr>
              <c:showLegendKey val="0"/>
              <c:showVal val="1"/>
              <c:showCatName val="0"/>
              <c:showSerName val="0"/>
              <c:showPercent val="0"/>
              <c:showBubbleSize val="0"/>
              <c:extLst>
                <c:ext xmlns:c16="http://schemas.microsoft.com/office/drawing/2014/chart" uri="{C3380CC4-5D6E-409C-BE32-E72D297353CC}">
                  <c16:uniqueId val="{00000003-3FDF-4D24-A497-541F6660768B}"/>
                </c:ext>
              </c:extLst>
            </c:dLbl>
            <c:dLbl>
              <c:idx val="5"/>
              <c:layout>
                <c:manualLayout>
                  <c:x val="4.6966431827600949E-2"/>
                  <c:y val="8.4685462704259765E-2"/>
                </c:manualLayout>
              </c:layout>
              <c:spPr/>
              <c:txPr>
                <a:bodyPr/>
                <a:lstStyle/>
                <a:p>
                  <a:pPr>
                    <a:defRPr lang="en-IN" sz="1000" b="0">
                      <a:solidFill>
                        <a:schemeClr val="tx1"/>
                      </a:solidFill>
                      <a:latin typeface="Calibri" pitchFamily="34" charset="0"/>
                      <a:cs typeface="Calibri" pitchFamily="34" charset="0"/>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3FDF-4D24-A497-541F6660768B}"/>
                </c:ext>
              </c:extLst>
            </c:dLbl>
            <c:spPr>
              <a:noFill/>
              <a:ln>
                <a:noFill/>
              </a:ln>
              <a:effectLst/>
            </c:spPr>
            <c:txPr>
              <a:bodyPr/>
              <a:lstStyle/>
              <a:p>
                <a:pPr>
                  <a:defRPr lang="en-IN" sz="1000" b="0">
                    <a:solidFill>
                      <a:schemeClr val="bg1"/>
                    </a:solidFill>
                    <a:latin typeface="Calibri" pitchFamily="34" charset="0"/>
                    <a:cs typeface="Calibri" pitchFamily="34" charset="0"/>
                  </a:defRPr>
                </a:pPr>
                <a:endParaRPr lang="en-US"/>
              </a:p>
            </c:txPr>
            <c:showLegendKey val="0"/>
            <c:showVal val="1"/>
            <c:showCatName val="0"/>
            <c:showSerName val="0"/>
            <c:showPercent val="0"/>
            <c:showBubbleSize val="0"/>
            <c:showLeaderLines val="1"/>
            <c:extLst>
              <c:ext xmlns:c15="http://schemas.microsoft.com/office/drawing/2012/chart" uri="{CE6537A1-D6FC-4f65-9D91-7224C49458BB}"/>
            </c:extLst>
          </c:dLbls>
          <c:cat>
            <c:strRef>
              <c:f>Sheet3!$C$95:$C$100</c:f>
              <c:strCache>
                <c:ptCount val="6"/>
                <c:pt idx="0">
                  <c:v>Better Opportunity</c:v>
                </c:pt>
                <c:pt idx="1">
                  <c:v>Supervision Related</c:v>
                </c:pt>
                <c:pt idx="2">
                  <c:v>Work Environment</c:v>
                </c:pt>
                <c:pt idx="3">
                  <c:v>Personal Reasons</c:v>
                </c:pt>
                <c:pt idx="4">
                  <c:v>Change of Career</c:v>
                </c:pt>
                <c:pt idx="5">
                  <c:v>Change of Location</c:v>
                </c:pt>
              </c:strCache>
            </c:strRef>
          </c:cat>
          <c:val>
            <c:numRef>
              <c:f>Sheet3!$F$95:$F$100</c:f>
              <c:numCache>
                <c:formatCode>0%</c:formatCode>
                <c:ptCount val="6"/>
                <c:pt idx="0">
                  <c:v>0.38351254480287145</c:v>
                </c:pt>
                <c:pt idx="1">
                  <c:v>0.15770609318996626</c:v>
                </c:pt>
                <c:pt idx="2">
                  <c:v>0.14336917562724011</c:v>
                </c:pt>
                <c:pt idx="3">
                  <c:v>0.11827956989247294</c:v>
                </c:pt>
                <c:pt idx="4">
                  <c:v>0.13261648745519922</c:v>
                </c:pt>
                <c:pt idx="5">
                  <c:v>6.4516129032258132E-2</c:v>
                </c:pt>
              </c:numCache>
            </c:numRef>
          </c:val>
          <c:extLst>
            <c:ext xmlns:c16="http://schemas.microsoft.com/office/drawing/2014/chart" uri="{C3380CC4-5D6E-409C-BE32-E72D297353CC}">
              <c16:uniqueId val="{00000005-3FDF-4D24-A497-541F6660768B}"/>
            </c:ext>
          </c:extLst>
        </c:ser>
        <c:dLbls>
          <c:showLegendKey val="0"/>
          <c:showVal val="0"/>
          <c:showCatName val="0"/>
          <c:showSerName val="0"/>
          <c:showPercent val="0"/>
          <c:showBubbleSize val="0"/>
          <c:showLeaderLines val="1"/>
        </c:dLbls>
      </c:pie3DChart>
    </c:plotArea>
    <c:legend>
      <c:legendPos val="t"/>
      <c:overlay val="0"/>
      <c:txPr>
        <a:bodyPr/>
        <a:lstStyle/>
        <a:p>
          <a:pPr>
            <a:defRPr lang="en-IN">
              <a:latin typeface="Calibri" pitchFamily="34" charset="0"/>
              <a:cs typeface="Calibri" pitchFamily="34" charset="0"/>
            </a:defRPr>
          </a:pPr>
          <a:endParaRPr lang="en-US"/>
        </a:p>
      </c:txPr>
    </c:legend>
    <c:plotVisOnly val="1"/>
    <c:dispBlanksAs val="zero"/>
    <c:showDLblsOverMax val="0"/>
  </c:chart>
  <c:externalData r:id="rId2">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view3D>
      <c:rotX val="15"/>
      <c:rotY val="20"/>
      <c:rAngAx val="1"/>
    </c:view3D>
    <c:floor>
      <c:thickness val="0"/>
      <c:spPr>
        <a:ln>
          <a:noFill/>
        </a:ln>
      </c:spPr>
    </c:floor>
    <c:sideWall>
      <c:thickness val="0"/>
    </c:sideWall>
    <c:backWall>
      <c:thickness val="0"/>
    </c:backWall>
    <c:plotArea>
      <c:layout>
        <c:manualLayout>
          <c:layoutTarget val="inner"/>
          <c:xMode val="edge"/>
          <c:yMode val="edge"/>
          <c:x val="0.39671062992126044"/>
          <c:y val="0.108108108108108"/>
          <c:w val="0.57273381452318706"/>
          <c:h val="0.84234234234234162"/>
        </c:manualLayout>
      </c:layout>
      <c:bar3DChart>
        <c:barDir val="bar"/>
        <c:grouping val="clustered"/>
        <c:varyColors val="0"/>
        <c:ser>
          <c:idx val="0"/>
          <c:order val="0"/>
          <c:spPr>
            <a:solidFill>
              <a:srgbClr val="458D92"/>
            </a:solidFill>
          </c:spPr>
          <c:invertIfNegative val="0"/>
          <c:dLbls>
            <c:dLbl>
              <c:idx val="0"/>
              <c:layout>
                <c:manualLayout>
                  <c:x val="1.1111111111111101E-2"/>
                  <c:y val="-2.777777777777784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666-472C-9089-FD6170F0FA8F}"/>
                </c:ext>
              </c:extLst>
            </c:dLbl>
            <c:dLbl>
              <c:idx val="1"/>
              <c:layout>
                <c:manualLayout>
                  <c:x val="1.3888888888888914E-2"/>
                  <c:y val="-1.8518518518518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666-472C-9089-FD6170F0FA8F}"/>
                </c:ext>
              </c:extLst>
            </c:dLbl>
            <c:dLbl>
              <c:idx val="2"/>
              <c:layout>
                <c:manualLayout>
                  <c:x val="1.1111111111111101E-2"/>
                  <c:y val="-9.259259259259262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666-472C-9089-FD6170F0FA8F}"/>
                </c:ext>
              </c:extLst>
            </c:dLbl>
            <c:dLbl>
              <c:idx val="3"/>
              <c:layout>
                <c:manualLayout>
                  <c:x val="8.3333333333333523E-3"/>
                  <c:y val="-4.629629629629664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66-472C-9089-FD6170F0FA8F}"/>
                </c:ext>
              </c:extLst>
            </c:dLbl>
            <c:spPr>
              <a:noFill/>
              <a:ln>
                <a:noFill/>
              </a:ln>
              <a:effectLst/>
            </c:spPr>
            <c:txPr>
              <a:bodyPr/>
              <a:lstStyle/>
              <a:p>
                <a:pPr>
                  <a:defRPr lang="en-IN" sz="1100" b="0">
                    <a:latin typeface="Calibri" pitchFamily="34" charset="0"/>
                    <a:cs typeface="Calibri"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Sheet1!$V$264:$V$267</c:f>
              <c:strCache>
                <c:ptCount val="4"/>
                <c:pt idx="0">
                  <c:v>Low advancement opportunity</c:v>
                </c:pt>
                <c:pt idx="1">
                  <c:v>Supervision related</c:v>
                </c:pt>
                <c:pt idx="2">
                  <c:v>Work environment</c:v>
                </c:pt>
                <c:pt idx="3">
                  <c:v>Functional allocation / postings</c:v>
                </c:pt>
              </c:strCache>
            </c:strRef>
          </c:cat>
          <c:val>
            <c:numRef>
              <c:f>Sheet1!$W$264:$W$267</c:f>
              <c:numCache>
                <c:formatCode>0%</c:formatCode>
                <c:ptCount val="4"/>
                <c:pt idx="0">
                  <c:v>0.35800000000000021</c:v>
                </c:pt>
                <c:pt idx="1">
                  <c:v>0.27700000000000002</c:v>
                </c:pt>
                <c:pt idx="2">
                  <c:v>0.252</c:v>
                </c:pt>
                <c:pt idx="3">
                  <c:v>0.113</c:v>
                </c:pt>
              </c:numCache>
            </c:numRef>
          </c:val>
          <c:extLst>
            <c:ext xmlns:c16="http://schemas.microsoft.com/office/drawing/2014/chart" uri="{C3380CC4-5D6E-409C-BE32-E72D297353CC}">
              <c16:uniqueId val="{00000004-4666-472C-9089-FD6170F0FA8F}"/>
            </c:ext>
          </c:extLst>
        </c:ser>
        <c:dLbls>
          <c:showLegendKey val="0"/>
          <c:showVal val="0"/>
          <c:showCatName val="0"/>
          <c:showSerName val="0"/>
          <c:showPercent val="0"/>
          <c:showBubbleSize val="0"/>
        </c:dLbls>
        <c:gapWidth val="150"/>
        <c:shape val="box"/>
        <c:axId val="71468160"/>
        <c:axId val="71469696"/>
        <c:axId val="0"/>
      </c:bar3DChart>
      <c:catAx>
        <c:axId val="71468160"/>
        <c:scaling>
          <c:orientation val="minMax"/>
        </c:scaling>
        <c:delete val="0"/>
        <c:axPos val="l"/>
        <c:numFmt formatCode="General" sourceLinked="0"/>
        <c:majorTickMark val="out"/>
        <c:minorTickMark val="none"/>
        <c:tickLblPos val="nextTo"/>
        <c:txPr>
          <a:bodyPr/>
          <a:lstStyle/>
          <a:p>
            <a:pPr>
              <a:defRPr lang="en-IN">
                <a:latin typeface="Calibri" pitchFamily="34" charset="0"/>
                <a:cs typeface="Calibri" pitchFamily="34" charset="0"/>
              </a:defRPr>
            </a:pPr>
            <a:endParaRPr lang="en-US"/>
          </a:p>
        </c:txPr>
        <c:crossAx val="71469696"/>
        <c:crosses val="autoZero"/>
        <c:auto val="1"/>
        <c:lblAlgn val="ctr"/>
        <c:lblOffset val="100"/>
        <c:noMultiLvlLbl val="0"/>
      </c:catAx>
      <c:valAx>
        <c:axId val="71469696"/>
        <c:scaling>
          <c:orientation val="minMax"/>
        </c:scaling>
        <c:delete val="1"/>
        <c:axPos val="b"/>
        <c:numFmt formatCode="0%" sourceLinked="1"/>
        <c:majorTickMark val="out"/>
        <c:minorTickMark val="none"/>
        <c:tickLblPos val="none"/>
        <c:crossAx val="71468160"/>
        <c:crosses val="autoZero"/>
        <c:crossBetween val="between"/>
      </c:valAx>
    </c:plotArea>
    <c:plotVisOnly val="1"/>
    <c:dispBlanksAs val="gap"/>
    <c:showDLblsOverMax val="0"/>
  </c:chart>
  <c:spPr>
    <a:ln>
      <a:noFill/>
    </a:ln>
  </c:spPr>
  <c:externalData r:id="rId2">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view3D>
      <c:rotX val="15"/>
      <c:rotY val="20"/>
      <c:rAngAx val="1"/>
    </c:view3D>
    <c:floor>
      <c:thickness val="0"/>
      <c:spPr>
        <a:noFill/>
        <a:ln>
          <a:noFill/>
        </a:ln>
      </c:spPr>
    </c:floor>
    <c:sideWall>
      <c:thickness val="0"/>
    </c:sideWall>
    <c:backWall>
      <c:thickness val="0"/>
    </c:backWall>
    <c:plotArea>
      <c:layout>
        <c:manualLayout>
          <c:layoutTarget val="inner"/>
          <c:xMode val="edge"/>
          <c:yMode val="edge"/>
          <c:x val="0.31648840769903852"/>
          <c:y val="0.103797698364627"/>
          <c:w val="0.65295603674540759"/>
          <c:h val="0.88290598290598299"/>
        </c:manualLayout>
      </c:layout>
      <c:bar3DChart>
        <c:barDir val="bar"/>
        <c:grouping val="clustered"/>
        <c:varyColors val="0"/>
        <c:ser>
          <c:idx val="0"/>
          <c:order val="0"/>
          <c:spPr>
            <a:solidFill>
              <a:srgbClr val="17375E"/>
            </a:solidFill>
          </c:spPr>
          <c:invertIfNegative val="0"/>
          <c:dLbls>
            <c:dLbl>
              <c:idx val="0"/>
              <c:layout>
                <c:manualLayout>
                  <c:x val="2.2222222222222202E-2"/>
                  <c:y val="-2.777777777777784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FA36-472B-9691-FCB9EF5C3EBF}"/>
                </c:ext>
              </c:extLst>
            </c:dLbl>
            <c:dLbl>
              <c:idx val="1"/>
              <c:layout>
                <c:manualLayout>
                  <c:x val="2.2222222222222202E-2"/>
                  <c:y val="-1.8518518518518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FA36-472B-9691-FCB9EF5C3EBF}"/>
                </c:ext>
              </c:extLst>
            </c:dLbl>
            <c:dLbl>
              <c:idx val="2"/>
              <c:layout>
                <c:manualLayout>
                  <c:x val="1.6666666666666715E-2"/>
                  <c:y val="-9.259259259259305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FA36-472B-9691-FCB9EF5C3EBF}"/>
                </c:ext>
              </c:extLst>
            </c:dLbl>
            <c:dLbl>
              <c:idx val="3"/>
              <c:layout>
                <c:manualLayout>
                  <c:x val="1.1111111111111101E-2"/>
                  <c:y val="-2.777777777777784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FA36-472B-9691-FCB9EF5C3EBF}"/>
                </c:ext>
              </c:extLst>
            </c:dLbl>
            <c:spPr>
              <a:noFill/>
              <a:ln>
                <a:noFill/>
              </a:ln>
              <a:effectLst/>
            </c:spPr>
            <c:txPr>
              <a:bodyPr/>
              <a:lstStyle/>
              <a:p>
                <a:pPr>
                  <a:defRPr lang="en-IN" sz="1100" b="0">
                    <a:latin typeface="Calibri" pitchFamily="34" charset="0"/>
                    <a:cs typeface="Calibri"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Sheet1!$V$270:$V$273</c:f>
              <c:strCache>
                <c:ptCount val="4"/>
                <c:pt idx="0">
                  <c:v>Growth / Compensation</c:v>
                </c:pt>
                <c:pt idx="1">
                  <c:v>Personal reasons</c:v>
                </c:pt>
                <c:pt idx="2">
                  <c:v>Change of career</c:v>
                </c:pt>
                <c:pt idx="3">
                  <c:v>Change of location</c:v>
                </c:pt>
              </c:strCache>
            </c:strRef>
          </c:cat>
          <c:val>
            <c:numRef>
              <c:f>Sheet1!$W$270:$W$273</c:f>
              <c:numCache>
                <c:formatCode>0%</c:formatCode>
                <c:ptCount val="4"/>
                <c:pt idx="0">
                  <c:v>0.41666666666666735</c:v>
                </c:pt>
                <c:pt idx="1">
                  <c:v>0.27500000000000002</c:v>
                </c:pt>
                <c:pt idx="2">
                  <c:v>0.20833333333333318</c:v>
                </c:pt>
                <c:pt idx="3">
                  <c:v>0.1</c:v>
                </c:pt>
              </c:numCache>
            </c:numRef>
          </c:val>
          <c:extLst>
            <c:ext xmlns:c16="http://schemas.microsoft.com/office/drawing/2014/chart" uri="{C3380CC4-5D6E-409C-BE32-E72D297353CC}">
              <c16:uniqueId val="{00000004-FA36-472B-9691-FCB9EF5C3EBF}"/>
            </c:ext>
          </c:extLst>
        </c:ser>
        <c:dLbls>
          <c:showLegendKey val="0"/>
          <c:showVal val="0"/>
          <c:showCatName val="0"/>
          <c:showSerName val="0"/>
          <c:showPercent val="0"/>
          <c:showBubbleSize val="0"/>
        </c:dLbls>
        <c:gapWidth val="150"/>
        <c:shape val="box"/>
        <c:axId val="71489792"/>
        <c:axId val="81727488"/>
        <c:axId val="0"/>
      </c:bar3DChart>
      <c:catAx>
        <c:axId val="71489792"/>
        <c:scaling>
          <c:orientation val="minMax"/>
        </c:scaling>
        <c:delete val="0"/>
        <c:axPos val="l"/>
        <c:numFmt formatCode="General" sourceLinked="0"/>
        <c:majorTickMark val="out"/>
        <c:minorTickMark val="none"/>
        <c:tickLblPos val="nextTo"/>
        <c:txPr>
          <a:bodyPr/>
          <a:lstStyle/>
          <a:p>
            <a:pPr>
              <a:defRPr lang="en-IN">
                <a:latin typeface="Calibri" pitchFamily="34" charset="0"/>
                <a:cs typeface="Calibri" pitchFamily="34" charset="0"/>
              </a:defRPr>
            </a:pPr>
            <a:endParaRPr lang="en-US"/>
          </a:p>
        </c:txPr>
        <c:crossAx val="81727488"/>
        <c:crosses val="autoZero"/>
        <c:auto val="1"/>
        <c:lblAlgn val="ctr"/>
        <c:lblOffset val="100"/>
        <c:noMultiLvlLbl val="0"/>
      </c:catAx>
      <c:valAx>
        <c:axId val="81727488"/>
        <c:scaling>
          <c:orientation val="minMax"/>
        </c:scaling>
        <c:delete val="1"/>
        <c:axPos val="b"/>
        <c:numFmt formatCode="0%" sourceLinked="1"/>
        <c:majorTickMark val="out"/>
        <c:minorTickMark val="none"/>
        <c:tickLblPos val="none"/>
        <c:crossAx val="71489792"/>
        <c:crosses val="autoZero"/>
        <c:crossBetween val="between"/>
      </c:valAx>
    </c:plotArea>
    <c:plotVisOnly val="1"/>
    <c:dispBlanksAs val="gap"/>
    <c:showDLblsOverMax val="0"/>
  </c:chart>
  <c:spPr>
    <a:ln>
      <a:noFill/>
    </a:ln>
  </c:spPr>
  <c:externalData r:id="rId2">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27"/>
    </mc:Choice>
    <mc:Fallback>
      <c:style val="27"/>
    </mc:Fallback>
  </mc:AlternateContent>
  <c:clrMapOvr bg1="lt1" tx1="dk1" bg2="lt2" tx2="dk2" accent1="accent1" accent2="accent2" accent3="accent3" accent4="accent4" accent5="accent5" accent6="accent6" hlink="hlink" folHlink="folHlink"/>
  <c:chart>
    <c:autoTitleDeleted val="0"/>
    <c:view3D>
      <c:rotX val="15"/>
      <c:rotY val="20"/>
      <c:rAngAx val="1"/>
    </c:view3D>
    <c:floor>
      <c:thickness val="0"/>
      <c:spPr>
        <a:ln>
          <a:noFill/>
        </a:ln>
      </c:spPr>
    </c:floor>
    <c:sideWall>
      <c:thickness val="0"/>
    </c:sideWall>
    <c:backWall>
      <c:thickness val="0"/>
    </c:backWall>
    <c:plotArea>
      <c:layout/>
      <c:bar3DChart>
        <c:barDir val="bar"/>
        <c:grouping val="clustered"/>
        <c:varyColors val="0"/>
        <c:ser>
          <c:idx val="0"/>
          <c:order val="0"/>
          <c:spPr>
            <a:solidFill>
              <a:schemeClr val="accent1"/>
            </a:solidFill>
          </c:spPr>
          <c:invertIfNegative val="0"/>
          <c:dPt>
            <c:idx val="0"/>
            <c:invertIfNegative val="0"/>
            <c:bubble3D val="0"/>
            <c:spPr>
              <a:solidFill>
                <a:srgbClr val="17375E"/>
              </a:solidFill>
            </c:spPr>
            <c:extLst>
              <c:ext xmlns:c16="http://schemas.microsoft.com/office/drawing/2014/chart" uri="{C3380CC4-5D6E-409C-BE32-E72D297353CC}">
                <c16:uniqueId val="{00000000-1433-4954-98A9-9569DA3ECBCF}"/>
              </c:ext>
            </c:extLst>
          </c:dPt>
          <c:dPt>
            <c:idx val="1"/>
            <c:invertIfNegative val="0"/>
            <c:bubble3D val="0"/>
            <c:spPr>
              <a:solidFill>
                <a:srgbClr val="DAEDEF">
                  <a:lumMod val="50000"/>
                </a:srgbClr>
              </a:solidFill>
            </c:spPr>
            <c:extLst>
              <c:ext xmlns:c16="http://schemas.microsoft.com/office/drawing/2014/chart" uri="{C3380CC4-5D6E-409C-BE32-E72D297353CC}">
                <c16:uniqueId val="{00000001-1433-4954-98A9-9569DA3ECBCF}"/>
              </c:ext>
            </c:extLst>
          </c:dPt>
          <c:dLbls>
            <c:dLbl>
              <c:idx val="0"/>
              <c:layout>
                <c:manualLayout>
                  <c:x val="-0.25277777777777821"/>
                  <c:y val="-4.6299941673958282E-3"/>
                </c:manualLayout>
              </c:layout>
              <c:spPr/>
              <c:txPr>
                <a:bodyPr/>
                <a:lstStyle/>
                <a:p>
                  <a:pPr>
                    <a:defRPr lang="en-IN" sz="1200" b="0">
                      <a:solidFill>
                        <a:schemeClr val="bg1"/>
                      </a:solidFill>
                      <a:latin typeface="Calibri" pitchFamily="34" charset="0"/>
                      <a:cs typeface="Calibri" pitchFamily="34" charset="0"/>
                    </a:defRPr>
                  </a:pPr>
                  <a:endParaRPr lang="en-US"/>
                </a:p>
              </c:txPr>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0-1433-4954-98A9-9569DA3ECBCF}"/>
                </c:ext>
              </c:extLst>
            </c:dLbl>
            <c:dLbl>
              <c:idx val="1"/>
              <c:layout>
                <c:manualLayout>
                  <c:x val="-0.180555555555556"/>
                  <c:y val="-1.3888888888889015E-2"/>
                </c:manualLayout>
              </c:layout>
              <c:spPr/>
              <c:txPr>
                <a:bodyPr/>
                <a:lstStyle/>
                <a:p>
                  <a:pPr>
                    <a:defRPr lang="en-IN" sz="1200" b="0">
                      <a:solidFill>
                        <a:schemeClr val="bg1"/>
                      </a:solidFill>
                      <a:latin typeface="Calibri" pitchFamily="34" charset="0"/>
                      <a:cs typeface="Calibri" pitchFamily="34" charset="0"/>
                    </a:defRPr>
                  </a:pPr>
                  <a:endParaRPr lang="en-US"/>
                </a:p>
              </c:txPr>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33-4954-98A9-9569DA3ECBCF}"/>
                </c:ext>
              </c:extLst>
            </c:dLbl>
            <c:spPr>
              <a:noFill/>
              <a:ln>
                <a:noFill/>
              </a:ln>
              <a:effectLst/>
            </c:spPr>
            <c:txPr>
              <a:bodyPr/>
              <a:lstStyle/>
              <a:p>
                <a:pPr>
                  <a:defRPr lang="en-IN" sz="1200" b="1">
                    <a:solidFill>
                      <a:schemeClr val="bg1"/>
                    </a:solidFill>
                    <a:latin typeface="Calibri" pitchFamily="34" charset="0"/>
                    <a:cs typeface="Calibri" pitchFamily="34" charset="0"/>
                  </a:defRPr>
                </a:pPr>
                <a:endParaRPr lang="en-US"/>
              </a:p>
            </c:txPr>
            <c:showLegendKey val="0"/>
            <c:showVal val="1"/>
            <c:showCatName val="1"/>
            <c:showSerName val="0"/>
            <c:showPercent val="0"/>
            <c:showBubbleSize val="0"/>
            <c:showLeaderLines val="0"/>
            <c:extLst>
              <c:ext xmlns:c15="http://schemas.microsoft.com/office/drawing/2012/chart" uri="{CE6537A1-D6FC-4f65-9D91-7224C49458BB}">
                <c15:showLeaderLines val="0"/>
              </c:ext>
            </c:extLst>
          </c:dLbls>
          <c:cat>
            <c:strRef>
              <c:f>Sheet1!$F$1:$F$2</c:f>
              <c:strCache>
                <c:ptCount val="2"/>
                <c:pt idx="0">
                  <c:v>Pull</c:v>
                </c:pt>
                <c:pt idx="1">
                  <c:v>Push</c:v>
                </c:pt>
              </c:strCache>
            </c:strRef>
          </c:cat>
          <c:val>
            <c:numRef>
              <c:f>Sheet1!$G$1:$G$2</c:f>
              <c:numCache>
                <c:formatCode>0%</c:formatCode>
                <c:ptCount val="2"/>
                <c:pt idx="0">
                  <c:v>0.43000000000000022</c:v>
                </c:pt>
                <c:pt idx="1">
                  <c:v>0.5700000000000004</c:v>
                </c:pt>
              </c:numCache>
            </c:numRef>
          </c:val>
          <c:extLst>
            <c:ext xmlns:c16="http://schemas.microsoft.com/office/drawing/2014/chart" uri="{C3380CC4-5D6E-409C-BE32-E72D297353CC}">
              <c16:uniqueId val="{00000002-1433-4954-98A9-9569DA3ECBCF}"/>
            </c:ext>
          </c:extLst>
        </c:ser>
        <c:dLbls>
          <c:showLegendKey val="0"/>
          <c:showVal val="0"/>
          <c:showCatName val="0"/>
          <c:showSerName val="0"/>
          <c:showPercent val="0"/>
          <c:showBubbleSize val="0"/>
        </c:dLbls>
        <c:gapWidth val="150"/>
        <c:shape val="box"/>
        <c:axId val="81877248"/>
        <c:axId val="81883136"/>
        <c:axId val="0"/>
      </c:bar3DChart>
      <c:catAx>
        <c:axId val="81877248"/>
        <c:scaling>
          <c:orientation val="minMax"/>
        </c:scaling>
        <c:delete val="1"/>
        <c:axPos val="l"/>
        <c:numFmt formatCode="General" sourceLinked="0"/>
        <c:majorTickMark val="out"/>
        <c:minorTickMark val="none"/>
        <c:tickLblPos val="none"/>
        <c:crossAx val="81883136"/>
        <c:crosses val="autoZero"/>
        <c:auto val="1"/>
        <c:lblAlgn val="ctr"/>
        <c:lblOffset val="100"/>
        <c:noMultiLvlLbl val="0"/>
      </c:catAx>
      <c:valAx>
        <c:axId val="81883136"/>
        <c:scaling>
          <c:orientation val="minMax"/>
        </c:scaling>
        <c:delete val="1"/>
        <c:axPos val="b"/>
        <c:numFmt formatCode="0%" sourceLinked="1"/>
        <c:majorTickMark val="out"/>
        <c:minorTickMark val="none"/>
        <c:tickLblPos val="none"/>
        <c:crossAx val="81877248"/>
        <c:crosses val="autoZero"/>
        <c:crossBetween val="between"/>
      </c:valAx>
    </c:plotArea>
    <c:plotVisOnly val="1"/>
    <c:dispBlanksAs val="gap"/>
    <c:showDLblsOverMax val="0"/>
  </c:chart>
  <c:externalData r:id="rId2">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manualLayout>
          <c:layoutTarget val="inner"/>
          <c:xMode val="edge"/>
          <c:yMode val="edge"/>
          <c:x val="0.4802527559055122"/>
          <c:y val="1.57232704402516E-2"/>
          <c:w val="0.49808057742782252"/>
          <c:h val="0.9423480083857444"/>
        </c:manualLayout>
      </c:layout>
      <c:barChart>
        <c:barDir val="bar"/>
        <c:grouping val="clustered"/>
        <c:varyColors val="0"/>
        <c:ser>
          <c:idx val="0"/>
          <c:order val="0"/>
          <c:spPr>
            <a:solidFill>
              <a:srgbClr val="595959"/>
            </a:solidFill>
          </c:spPr>
          <c:invertIfNegative val="0"/>
          <c:dPt>
            <c:idx val="0"/>
            <c:invertIfNegative val="0"/>
            <c:bubble3D val="0"/>
            <c:spPr>
              <a:solidFill>
                <a:srgbClr val="009592"/>
              </a:solidFill>
            </c:spPr>
            <c:extLst>
              <c:ext xmlns:c16="http://schemas.microsoft.com/office/drawing/2014/chart" uri="{C3380CC4-5D6E-409C-BE32-E72D297353CC}">
                <c16:uniqueId val="{00000000-C01C-41E0-9EE3-7758EA02D3F9}"/>
              </c:ext>
            </c:extLst>
          </c:dPt>
          <c:dPt>
            <c:idx val="1"/>
            <c:invertIfNegative val="0"/>
            <c:bubble3D val="0"/>
            <c:spPr>
              <a:solidFill>
                <a:srgbClr val="009592"/>
              </a:solidFill>
            </c:spPr>
            <c:extLst>
              <c:ext xmlns:c16="http://schemas.microsoft.com/office/drawing/2014/chart" uri="{C3380CC4-5D6E-409C-BE32-E72D297353CC}">
                <c16:uniqueId val="{00000001-C01C-41E0-9EE3-7758EA02D3F9}"/>
              </c:ext>
            </c:extLst>
          </c:dPt>
          <c:dPt>
            <c:idx val="2"/>
            <c:invertIfNegative val="0"/>
            <c:bubble3D val="0"/>
            <c:spPr>
              <a:solidFill>
                <a:srgbClr val="009592"/>
              </a:solidFill>
            </c:spPr>
            <c:extLst>
              <c:ext xmlns:c16="http://schemas.microsoft.com/office/drawing/2014/chart" uri="{C3380CC4-5D6E-409C-BE32-E72D297353CC}">
                <c16:uniqueId val="{00000002-C01C-41E0-9EE3-7758EA02D3F9}"/>
              </c:ext>
            </c:extLst>
          </c:dPt>
          <c:dPt>
            <c:idx val="7"/>
            <c:invertIfNegative val="0"/>
            <c:bubble3D val="0"/>
            <c:spPr>
              <a:solidFill>
                <a:srgbClr val="CF9292"/>
              </a:solidFill>
            </c:spPr>
            <c:extLst>
              <c:ext xmlns:c16="http://schemas.microsoft.com/office/drawing/2014/chart" uri="{C3380CC4-5D6E-409C-BE32-E72D297353CC}">
                <c16:uniqueId val="{00000003-C01C-41E0-9EE3-7758EA02D3F9}"/>
              </c:ext>
            </c:extLst>
          </c:dPt>
          <c:dPt>
            <c:idx val="8"/>
            <c:invertIfNegative val="0"/>
            <c:bubble3D val="0"/>
            <c:spPr>
              <a:solidFill>
                <a:srgbClr val="CF9292"/>
              </a:solidFill>
            </c:spPr>
            <c:extLst>
              <c:ext xmlns:c16="http://schemas.microsoft.com/office/drawing/2014/chart" uri="{C3380CC4-5D6E-409C-BE32-E72D297353CC}">
                <c16:uniqueId val="{00000004-C01C-41E0-9EE3-7758EA02D3F9}"/>
              </c:ext>
            </c:extLst>
          </c:dPt>
          <c:dPt>
            <c:idx val="9"/>
            <c:invertIfNegative val="0"/>
            <c:bubble3D val="0"/>
            <c:spPr>
              <a:solidFill>
                <a:srgbClr val="CF9292"/>
              </a:solidFill>
            </c:spPr>
            <c:extLst>
              <c:ext xmlns:c16="http://schemas.microsoft.com/office/drawing/2014/chart" uri="{C3380CC4-5D6E-409C-BE32-E72D297353CC}">
                <c16:uniqueId val="{00000005-C01C-41E0-9EE3-7758EA02D3F9}"/>
              </c:ext>
            </c:extLst>
          </c:dPt>
          <c:dPt>
            <c:idx val="10"/>
            <c:invertIfNegative val="0"/>
            <c:bubble3D val="0"/>
            <c:spPr>
              <a:solidFill>
                <a:srgbClr val="CF9292"/>
              </a:solidFill>
            </c:spPr>
            <c:extLst>
              <c:ext xmlns:c16="http://schemas.microsoft.com/office/drawing/2014/chart" uri="{C3380CC4-5D6E-409C-BE32-E72D297353CC}">
                <c16:uniqueId val="{00000006-C01C-41E0-9EE3-7758EA02D3F9}"/>
              </c:ext>
            </c:extLst>
          </c:dPt>
          <c:dPt>
            <c:idx val="12"/>
            <c:invertIfNegative val="0"/>
            <c:bubble3D val="0"/>
            <c:spPr>
              <a:solidFill>
                <a:srgbClr val="17375E"/>
              </a:solidFill>
            </c:spPr>
            <c:extLst>
              <c:ext xmlns:c16="http://schemas.microsoft.com/office/drawing/2014/chart" uri="{C3380CC4-5D6E-409C-BE32-E72D297353CC}">
                <c16:uniqueId val="{00000007-C01C-41E0-9EE3-7758EA02D3F9}"/>
              </c:ext>
            </c:extLst>
          </c:dPt>
          <c:dPt>
            <c:idx val="13"/>
            <c:invertIfNegative val="0"/>
            <c:bubble3D val="0"/>
            <c:spPr>
              <a:solidFill>
                <a:srgbClr val="17375E"/>
              </a:solidFill>
            </c:spPr>
            <c:extLst>
              <c:ext xmlns:c16="http://schemas.microsoft.com/office/drawing/2014/chart" uri="{C3380CC4-5D6E-409C-BE32-E72D297353CC}">
                <c16:uniqueId val="{00000008-C01C-41E0-9EE3-7758EA02D3F9}"/>
              </c:ext>
            </c:extLst>
          </c:dPt>
          <c:dLbls>
            <c:spPr>
              <a:noFill/>
              <a:ln>
                <a:noFill/>
              </a:ln>
              <a:effectLst/>
            </c:spPr>
            <c:txPr>
              <a:bodyPr/>
              <a:lstStyle/>
              <a:p>
                <a:pPr>
                  <a:defRPr lang="en-IN"/>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Sheet1!$R$172:$R$185</c:f>
              <c:strCache>
                <c:ptCount val="14"/>
                <c:pt idx="0">
                  <c:v>Low advancement opportunity</c:v>
                </c:pt>
                <c:pt idx="1">
                  <c:v>Emoluments</c:v>
                </c:pt>
                <c:pt idx="2">
                  <c:v>Not satisfied with job role</c:v>
                </c:pt>
                <c:pt idx="4">
                  <c:v>Relationship with immediate superior</c:v>
                </c:pt>
                <c:pt idx="5">
                  <c:v>Dissatisfaction with management</c:v>
                </c:pt>
                <c:pt idx="7">
                  <c:v>Dissatisfaction with company systems, policies and processes</c:v>
                </c:pt>
                <c:pt idx="8">
                  <c:v>Work culture</c:v>
                </c:pt>
                <c:pt idx="9">
                  <c:v>Relationship with peers &amp; others</c:v>
                </c:pt>
                <c:pt idx="10">
                  <c:v>Work pressure</c:v>
                </c:pt>
                <c:pt idx="12">
                  <c:v>Dissatisfaction with function/department allocation</c:v>
                </c:pt>
                <c:pt idx="13">
                  <c:v>Location of posting</c:v>
                </c:pt>
              </c:strCache>
            </c:strRef>
          </c:cat>
          <c:val>
            <c:numRef>
              <c:f>Sheet1!$T$172:$T$185</c:f>
              <c:numCache>
                <c:formatCode>0%</c:formatCode>
                <c:ptCount val="14"/>
                <c:pt idx="0">
                  <c:v>0.138364779874214</c:v>
                </c:pt>
                <c:pt idx="1">
                  <c:v>0.1320754716981129</c:v>
                </c:pt>
                <c:pt idx="2">
                  <c:v>8.8050314465408827E-2</c:v>
                </c:pt>
                <c:pt idx="4">
                  <c:v>0.20125786163522011</c:v>
                </c:pt>
                <c:pt idx="5">
                  <c:v>7.5471698113207614E-2</c:v>
                </c:pt>
                <c:pt idx="7">
                  <c:v>0.17610062893081682</c:v>
                </c:pt>
                <c:pt idx="8">
                  <c:v>4.4025157232704407E-2</c:v>
                </c:pt>
                <c:pt idx="9">
                  <c:v>1.8867924528301903E-2</c:v>
                </c:pt>
                <c:pt idx="10">
                  <c:v>1.2578616352201194E-2</c:v>
                </c:pt>
                <c:pt idx="12">
                  <c:v>7.5471698113207614E-2</c:v>
                </c:pt>
                <c:pt idx="13">
                  <c:v>3.7735849056603946E-2</c:v>
                </c:pt>
              </c:numCache>
            </c:numRef>
          </c:val>
          <c:extLst>
            <c:ext xmlns:c16="http://schemas.microsoft.com/office/drawing/2014/chart" uri="{C3380CC4-5D6E-409C-BE32-E72D297353CC}">
              <c16:uniqueId val="{00000009-C01C-41E0-9EE3-7758EA02D3F9}"/>
            </c:ext>
          </c:extLst>
        </c:ser>
        <c:dLbls>
          <c:showLegendKey val="0"/>
          <c:showVal val="0"/>
          <c:showCatName val="0"/>
          <c:showSerName val="0"/>
          <c:showPercent val="0"/>
          <c:showBubbleSize val="0"/>
        </c:dLbls>
        <c:gapWidth val="150"/>
        <c:axId val="87228800"/>
        <c:axId val="87230336"/>
      </c:barChart>
      <c:catAx>
        <c:axId val="87228800"/>
        <c:scaling>
          <c:orientation val="minMax"/>
        </c:scaling>
        <c:delete val="0"/>
        <c:axPos val="l"/>
        <c:numFmt formatCode="General" sourceLinked="0"/>
        <c:majorTickMark val="out"/>
        <c:minorTickMark val="none"/>
        <c:tickLblPos val="nextTo"/>
        <c:txPr>
          <a:bodyPr/>
          <a:lstStyle/>
          <a:p>
            <a:pPr>
              <a:defRPr lang="en-IN"/>
            </a:pPr>
            <a:endParaRPr lang="en-US"/>
          </a:p>
        </c:txPr>
        <c:crossAx val="87230336"/>
        <c:crosses val="autoZero"/>
        <c:auto val="1"/>
        <c:lblAlgn val="ctr"/>
        <c:lblOffset val="100"/>
        <c:noMultiLvlLbl val="0"/>
      </c:catAx>
      <c:valAx>
        <c:axId val="87230336"/>
        <c:scaling>
          <c:orientation val="minMax"/>
        </c:scaling>
        <c:delete val="1"/>
        <c:axPos val="b"/>
        <c:numFmt formatCode="0%" sourceLinked="1"/>
        <c:majorTickMark val="out"/>
        <c:minorTickMark val="none"/>
        <c:tickLblPos val="none"/>
        <c:crossAx val="87228800"/>
        <c:crosses val="autoZero"/>
        <c:crossBetween val="between"/>
      </c:valAx>
    </c:plotArea>
    <c:plotVisOnly val="1"/>
    <c:dispBlanksAs val="gap"/>
    <c:showDLblsOverMax val="0"/>
  </c:chart>
  <c:txPr>
    <a:bodyPr/>
    <a:lstStyle/>
    <a:p>
      <a:pPr>
        <a:defRPr sz="1100">
          <a:latin typeface="Calibri" pitchFamily="34" charset="0"/>
          <a:cs typeface="Calibri" pitchFamily="34" charset="0"/>
        </a:defRPr>
      </a:pPr>
      <a:endParaRPr lang="en-US"/>
    </a:p>
  </c:txPr>
  <c:externalData r:id="rId2">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35191598583878037"/>
          <c:y val="3.2679726368159231E-2"/>
          <c:w val="0.62357418557974398"/>
          <c:h val="0.94008714596949861"/>
        </c:manualLayout>
      </c:layout>
      <c:barChart>
        <c:barDir val="bar"/>
        <c:grouping val="clustered"/>
        <c:varyColors val="0"/>
        <c:ser>
          <c:idx val="0"/>
          <c:order val="0"/>
          <c:spPr>
            <a:solidFill>
              <a:srgbClr val="CF9292"/>
            </a:solidFill>
          </c:spPr>
          <c:invertIfNegative val="0"/>
          <c:dPt>
            <c:idx val="3"/>
            <c:invertIfNegative val="0"/>
            <c:bubble3D val="0"/>
            <c:spPr>
              <a:solidFill>
                <a:schemeClr val="tx2">
                  <a:lumMod val="65000"/>
                  <a:lumOff val="35000"/>
                </a:schemeClr>
              </a:solidFill>
            </c:spPr>
            <c:extLst>
              <c:ext xmlns:c16="http://schemas.microsoft.com/office/drawing/2014/chart" uri="{C3380CC4-5D6E-409C-BE32-E72D297353CC}">
                <c16:uniqueId val="{00000000-434D-42E6-B3E8-6B23A43FB507}"/>
              </c:ext>
            </c:extLst>
          </c:dPt>
          <c:dPt>
            <c:idx val="4"/>
            <c:invertIfNegative val="0"/>
            <c:bubble3D val="0"/>
            <c:spPr>
              <a:solidFill>
                <a:schemeClr val="tx2">
                  <a:lumMod val="65000"/>
                  <a:lumOff val="35000"/>
                </a:schemeClr>
              </a:solidFill>
            </c:spPr>
            <c:extLst>
              <c:ext xmlns:c16="http://schemas.microsoft.com/office/drawing/2014/chart" uri="{C3380CC4-5D6E-409C-BE32-E72D297353CC}">
                <c16:uniqueId val="{00000001-434D-42E6-B3E8-6B23A43FB507}"/>
              </c:ext>
            </c:extLst>
          </c:dPt>
          <c:dPt>
            <c:idx val="5"/>
            <c:invertIfNegative val="0"/>
            <c:bubble3D val="0"/>
            <c:spPr>
              <a:solidFill>
                <a:schemeClr val="tx2">
                  <a:lumMod val="65000"/>
                  <a:lumOff val="35000"/>
                </a:schemeClr>
              </a:solidFill>
            </c:spPr>
            <c:extLst>
              <c:ext xmlns:c16="http://schemas.microsoft.com/office/drawing/2014/chart" uri="{C3380CC4-5D6E-409C-BE32-E72D297353CC}">
                <c16:uniqueId val="{00000002-434D-42E6-B3E8-6B23A43FB507}"/>
              </c:ext>
            </c:extLst>
          </c:dPt>
          <c:dPt>
            <c:idx val="7"/>
            <c:invertIfNegative val="0"/>
            <c:bubble3D val="0"/>
            <c:spPr>
              <a:solidFill>
                <a:schemeClr val="accent1">
                  <a:lumMod val="90000"/>
                </a:schemeClr>
              </a:solidFill>
            </c:spPr>
            <c:extLst>
              <c:ext xmlns:c16="http://schemas.microsoft.com/office/drawing/2014/chart" uri="{C3380CC4-5D6E-409C-BE32-E72D297353CC}">
                <c16:uniqueId val="{00000003-434D-42E6-B3E8-6B23A43FB507}"/>
              </c:ext>
            </c:extLst>
          </c:dPt>
          <c:dPt>
            <c:idx val="8"/>
            <c:invertIfNegative val="0"/>
            <c:bubble3D val="0"/>
            <c:spPr>
              <a:solidFill>
                <a:schemeClr val="accent1">
                  <a:lumMod val="90000"/>
                </a:schemeClr>
              </a:solidFill>
            </c:spPr>
            <c:extLst>
              <c:ext xmlns:c16="http://schemas.microsoft.com/office/drawing/2014/chart" uri="{C3380CC4-5D6E-409C-BE32-E72D297353CC}">
                <c16:uniqueId val="{00000004-434D-42E6-B3E8-6B23A43FB507}"/>
              </c:ext>
            </c:extLst>
          </c:dPt>
          <c:dPt>
            <c:idx val="10"/>
            <c:invertIfNegative val="0"/>
            <c:bubble3D val="0"/>
            <c:spPr>
              <a:solidFill>
                <a:srgbClr val="CC9C56"/>
              </a:solidFill>
            </c:spPr>
            <c:extLst>
              <c:ext xmlns:c16="http://schemas.microsoft.com/office/drawing/2014/chart" uri="{C3380CC4-5D6E-409C-BE32-E72D297353CC}">
                <c16:uniqueId val="{00000005-434D-42E6-B3E8-6B23A43FB507}"/>
              </c:ext>
            </c:extLst>
          </c:dPt>
          <c:dLbls>
            <c:spPr>
              <a:noFill/>
              <a:ln>
                <a:noFill/>
              </a:ln>
              <a:effectLst/>
            </c:spPr>
            <c:txPr>
              <a:bodyPr/>
              <a:lstStyle/>
              <a:p>
                <a:pPr>
                  <a:defRPr lang="en-IN" sz="1100">
                    <a:latin typeface="Calibri" pitchFamily="34" charset="0"/>
                    <a:cs typeface="Calibri"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Sheet1!$R$200:$R$210</c:f>
              <c:strCache>
                <c:ptCount val="11"/>
                <c:pt idx="0">
                  <c:v>Higher role &amp; compensation</c:v>
                </c:pt>
                <c:pt idx="1">
                  <c:v>Job enrichment</c:v>
                </c:pt>
                <c:pt idx="3">
                  <c:v>Family circumstances</c:v>
                </c:pt>
                <c:pt idx="4">
                  <c:v>Higher education</c:v>
                </c:pt>
                <c:pt idx="5">
                  <c:v>Health reasons / issues</c:v>
                </c:pt>
                <c:pt idx="7">
                  <c:v>To start a business</c:v>
                </c:pt>
                <c:pt idx="8">
                  <c:v>Choice Of industry</c:v>
                </c:pt>
                <c:pt idx="10">
                  <c:v>Change of location</c:v>
                </c:pt>
              </c:strCache>
            </c:strRef>
          </c:cat>
          <c:val>
            <c:numRef>
              <c:f>Sheet1!$T$200:$T$210</c:f>
              <c:numCache>
                <c:formatCode>0%</c:formatCode>
                <c:ptCount val="11"/>
                <c:pt idx="0">
                  <c:v>0.2583333333333328</c:v>
                </c:pt>
                <c:pt idx="1">
                  <c:v>0.15833333333333421</c:v>
                </c:pt>
                <c:pt idx="3">
                  <c:v>0.15833333333333421</c:v>
                </c:pt>
                <c:pt idx="4">
                  <c:v>8.3333333333333343E-2</c:v>
                </c:pt>
                <c:pt idx="5">
                  <c:v>3.3333333333333305E-2</c:v>
                </c:pt>
                <c:pt idx="7">
                  <c:v>0.15000000000000011</c:v>
                </c:pt>
                <c:pt idx="8">
                  <c:v>5.8333333333333445E-2</c:v>
                </c:pt>
                <c:pt idx="10">
                  <c:v>0.1</c:v>
                </c:pt>
              </c:numCache>
            </c:numRef>
          </c:val>
          <c:extLst>
            <c:ext xmlns:c16="http://schemas.microsoft.com/office/drawing/2014/chart" uri="{C3380CC4-5D6E-409C-BE32-E72D297353CC}">
              <c16:uniqueId val="{00000006-434D-42E6-B3E8-6B23A43FB507}"/>
            </c:ext>
          </c:extLst>
        </c:ser>
        <c:dLbls>
          <c:showLegendKey val="0"/>
          <c:showVal val="0"/>
          <c:showCatName val="0"/>
          <c:showSerName val="0"/>
          <c:showPercent val="0"/>
          <c:showBubbleSize val="0"/>
        </c:dLbls>
        <c:gapWidth val="150"/>
        <c:axId val="87171456"/>
        <c:axId val="87172992"/>
      </c:barChart>
      <c:catAx>
        <c:axId val="87171456"/>
        <c:scaling>
          <c:orientation val="minMax"/>
        </c:scaling>
        <c:delete val="0"/>
        <c:axPos val="l"/>
        <c:numFmt formatCode="General" sourceLinked="0"/>
        <c:majorTickMark val="out"/>
        <c:minorTickMark val="none"/>
        <c:tickLblPos val="nextTo"/>
        <c:txPr>
          <a:bodyPr/>
          <a:lstStyle/>
          <a:p>
            <a:pPr>
              <a:defRPr lang="en-IN" sz="1100">
                <a:latin typeface="Calibri" pitchFamily="34" charset="0"/>
                <a:cs typeface="Calibri" pitchFamily="34" charset="0"/>
              </a:defRPr>
            </a:pPr>
            <a:endParaRPr lang="en-US"/>
          </a:p>
        </c:txPr>
        <c:crossAx val="87172992"/>
        <c:crosses val="autoZero"/>
        <c:auto val="1"/>
        <c:lblAlgn val="ctr"/>
        <c:lblOffset val="100"/>
        <c:noMultiLvlLbl val="0"/>
      </c:catAx>
      <c:valAx>
        <c:axId val="87172992"/>
        <c:scaling>
          <c:orientation val="minMax"/>
        </c:scaling>
        <c:delete val="1"/>
        <c:axPos val="b"/>
        <c:numFmt formatCode="0%" sourceLinked="1"/>
        <c:majorTickMark val="out"/>
        <c:minorTickMark val="none"/>
        <c:tickLblPos val="none"/>
        <c:crossAx val="87171456"/>
        <c:crosses val="autoZero"/>
        <c:crossBetween val="between"/>
      </c:valAx>
    </c:plotArea>
    <c:plotVisOnly val="1"/>
    <c:dispBlanksAs val="gap"/>
    <c:showDLblsOverMax val="0"/>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areaChart>
        <c:grouping val="standard"/>
        <c:varyColors val="0"/>
        <c:ser>
          <c:idx val="0"/>
          <c:order val="0"/>
          <c:spPr>
            <a:solidFill>
              <a:srgbClr val="990000">
                <a:tint val="66000"/>
                <a:satMod val="160000"/>
              </a:srgbClr>
            </a:solidFill>
          </c:spPr>
          <c:dLbls>
            <c:dLbl>
              <c:idx val="0"/>
              <c:layout>
                <c:manualLayout>
                  <c:x val="4.4444444444444502E-2"/>
                  <c:y val="-0.3750000000000022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BF81-4C6C-AB0B-399BFBF6FABA}"/>
                </c:ext>
              </c:extLst>
            </c:dLbl>
            <c:dLbl>
              <c:idx val="1"/>
              <c:layout>
                <c:manualLayout>
                  <c:x val="2.5000000000000012E-2"/>
                  <c:y val="-0.268518518518518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F81-4C6C-AB0B-399BFBF6FABA}"/>
                </c:ext>
              </c:extLst>
            </c:dLbl>
            <c:spPr>
              <a:noFill/>
              <a:ln>
                <a:noFill/>
              </a:ln>
              <a:effectLst/>
            </c:spPr>
            <c:txPr>
              <a:bodyPr/>
              <a:lstStyle/>
              <a:p>
                <a:pPr>
                  <a:defRPr lang="en-IN"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Sheet6!$E$31:$F$31</c:f>
              <c:strCache>
                <c:ptCount val="2"/>
                <c:pt idx="0">
                  <c:v>Total Impact</c:v>
                </c:pt>
                <c:pt idx="1">
                  <c:v>Impact, exclude "Supervision Related" factor</c:v>
                </c:pt>
              </c:strCache>
            </c:strRef>
          </c:cat>
          <c:val>
            <c:numRef>
              <c:f>Sheet6!$E$32:$F$32</c:f>
              <c:numCache>
                <c:formatCode>0.000</c:formatCode>
                <c:ptCount val="2"/>
                <c:pt idx="0" formatCode="General">
                  <c:v>0.66200000000000359</c:v>
                </c:pt>
                <c:pt idx="1">
                  <c:v>0.44</c:v>
                </c:pt>
              </c:numCache>
            </c:numRef>
          </c:val>
          <c:extLst>
            <c:ext xmlns:c16="http://schemas.microsoft.com/office/drawing/2014/chart" uri="{C3380CC4-5D6E-409C-BE32-E72D297353CC}">
              <c16:uniqueId val="{00000002-BF81-4C6C-AB0B-399BFBF6FABA}"/>
            </c:ext>
          </c:extLst>
        </c:ser>
        <c:dLbls>
          <c:showLegendKey val="0"/>
          <c:showVal val="0"/>
          <c:showCatName val="0"/>
          <c:showSerName val="0"/>
          <c:showPercent val="0"/>
          <c:showBubbleSize val="0"/>
        </c:dLbls>
        <c:axId val="87221760"/>
        <c:axId val="87223296"/>
      </c:areaChart>
      <c:catAx>
        <c:axId val="87221760"/>
        <c:scaling>
          <c:orientation val="minMax"/>
        </c:scaling>
        <c:delete val="0"/>
        <c:axPos val="b"/>
        <c:numFmt formatCode="General" sourceLinked="0"/>
        <c:majorTickMark val="out"/>
        <c:minorTickMark val="none"/>
        <c:tickLblPos val="nextTo"/>
        <c:txPr>
          <a:bodyPr/>
          <a:lstStyle/>
          <a:p>
            <a:pPr>
              <a:defRPr lang="en-IN" sz="1000"/>
            </a:pPr>
            <a:endParaRPr lang="en-US"/>
          </a:p>
        </c:txPr>
        <c:crossAx val="87223296"/>
        <c:crosses val="autoZero"/>
        <c:auto val="1"/>
        <c:lblAlgn val="ctr"/>
        <c:lblOffset val="100"/>
        <c:noMultiLvlLbl val="0"/>
      </c:catAx>
      <c:valAx>
        <c:axId val="87223296"/>
        <c:scaling>
          <c:orientation val="minMax"/>
        </c:scaling>
        <c:delete val="1"/>
        <c:axPos val="l"/>
        <c:numFmt formatCode="General" sourceLinked="1"/>
        <c:majorTickMark val="out"/>
        <c:minorTickMark val="none"/>
        <c:tickLblPos val="none"/>
        <c:crossAx val="87221760"/>
        <c:crosses val="autoZero"/>
        <c:crossBetween val="midCat"/>
      </c:valAx>
    </c:plotArea>
    <c:plotVisOnly val="1"/>
    <c:dispBlanksAs val="zero"/>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areaChart>
        <c:grouping val="standard"/>
        <c:varyColors val="0"/>
        <c:ser>
          <c:idx val="0"/>
          <c:order val="0"/>
          <c:spPr>
            <a:solidFill>
              <a:srgbClr val="BBE0E3"/>
            </a:solidFill>
          </c:spPr>
          <c:dLbls>
            <c:dLbl>
              <c:idx val="0"/>
              <c:layout>
                <c:manualLayout>
                  <c:x val="4.4444444444444502E-2"/>
                  <c:y val="-0.384259259259260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D4B-436E-A105-09DB594EDEAF}"/>
                </c:ext>
              </c:extLst>
            </c:dLbl>
            <c:dLbl>
              <c:idx val="1"/>
              <c:layout>
                <c:manualLayout>
                  <c:x val="-1.6666666666666715E-2"/>
                  <c:y val="-0.162037037037038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D4B-436E-A105-09DB594EDEAF}"/>
                </c:ext>
              </c:extLst>
            </c:dLbl>
            <c:dLbl>
              <c:idx val="2"/>
              <c:layout>
                <c:manualLayout>
                  <c:x val="2.7777777777778048E-3"/>
                  <c:y val="-0.13425925925925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D4B-436E-A105-09DB594EDEAF}"/>
                </c:ext>
              </c:extLst>
            </c:dLbl>
            <c:dLbl>
              <c:idx val="3"/>
              <c:layout>
                <c:manualLayout>
                  <c:x val="2.7777777777778048E-3"/>
                  <c:y val="-0.236111111111111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D4B-436E-A105-09DB594EDEAF}"/>
                </c:ext>
              </c:extLst>
            </c:dLbl>
            <c:dLbl>
              <c:idx val="4"/>
              <c:layout>
                <c:manualLayout>
                  <c:x val="-3.3333333333333208E-2"/>
                  <c:y val="-0.263888888888891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D4B-436E-A105-09DB594EDEAF}"/>
                </c:ext>
              </c:extLst>
            </c:dLbl>
            <c:spPr>
              <a:noFill/>
              <a:ln>
                <a:noFill/>
              </a:ln>
              <a:effectLst/>
            </c:spPr>
            <c:txPr>
              <a:bodyPr/>
              <a:lstStyle/>
              <a:p>
                <a:pPr>
                  <a:defRPr lang="en-IN"/>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trendline>
            <c:spPr>
              <a:ln w="19050" cmpd="sng">
                <a:solidFill>
                  <a:srgbClr val="FF0000"/>
                </a:solidFill>
                <a:prstDash val="sysDot"/>
              </a:ln>
            </c:spPr>
            <c:trendlineType val="poly"/>
            <c:order val="2"/>
            <c:dispRSqr val="0"/>
            <c:dispEq val="0"/>
          </c:trendline>
          <c:cat>
            <c:strRef>
              <c:f>Sheet6!$D$57:$H$57</c:f>
              <c:strCache>
                <c:ptCount val="5"/>
                <c:pt idx="0">
                  <c:v>Total Impact</c:v>
                </c:pt>
                <c:pt idx="1">
                  <c:v>South</c:v>
                </c:pt>
                <c:pt idx="2">
                  <c:v>East</c:v>
                </c:pt>
                <c:pt idx="3">
                  <c:v>West</c:v>
                </c:pt>
                <c:pt idx="4">
                  <c:v>North</c:v>
                </c:pt>
              </c:strCache>
            </c:strRef>
          </c:cat>
          <c:val>
            <c:numRef>
              <c:f>Sheet6!$D$58:$H$58</c:f>
              <c:numCache>
                <c:formatCode>General</c:formatCode>
                <c:ptCount val="5"/>
                <c:pt idx="0">
                  <c:v>0.66200000000000259</c:v>
                </c:pt>
                <c:pt idx="1">
                  <c:v>0.38600000000000123</c:v>
                </c:pt>
                <c:pt idx="2">
                  <c:v>0.33400000000000135</c:v>
                </c:pt>
                <c:pt idx="3">
                  <c:v>0.50800000000000001</c:v>
                </c:pt>
                <c:pt idx="4">
                  <c:v>0.61700000000000144</c:v>
                </c:pt>
              </c:numCache>
            </c:numRef>
          </c:val>
          <c:extLst>
            <c:ext xmlns:c16="http://schemas.microsoft.com/office/drawing/2014/chart" uri="{C3380CC4-5D6E-409C-BE32-E72D297353CC}">
              <c16:uniqueId val="{00000006-DD4B-436E-A105-09DB594EDEAF}"/>
            </c:ext>
          </c:extLst>
        </c:ser>
        <c:dLbls>
          <c:showLegendKey val="0"/>
          <c:showVal val="0"/>
          <c:showCatName val="0"/>
          <c:showSerName val="0"/>
          <c:showPercent val="0"/>
          <c:showBubbleSize val="0"/>
        </c:dLbls>
        <c:axId val="87375232"/>
        <c:axId val="87385216"/>
      </c:areaChart>
      <c:catAx>
        <c:axId val="87375232"/>
        <c:scaling>
          <c:orientation val="minMax"/>
        </c:scaling>
        <c:delete val="0"/>
        <c:axPos val="b"/>
        <c:majorGridlines>
          <c:spPr>
            <a:ln w="12700" cmpd="sng">
              <a:solidFill>
                <a:srgbClr val="000000">
                  <a:alpha val="75000"/>
                </a:srgbClr>
              </a:solidFill>
              <a:prstDash val="sysDash"/>
              <a:headEnd type="none"/>
              <a:tailEnd type="none"/>
            </a:ln>
          </c:spPr>
        </c:majorGridlines>
        <c:numFmt formatCode="General" sourceLinked="0"/>
        <c:majorTickMark val="out"/>
        <c:minorTickMark val="none"/>
        <c:tickLblPos val="nextTo"/>
        <c:txPr>
          <a:bodyPr/>
          <a:lstStyle/>
          <a:p>
            <a:pPr>
              <a:defRPr lang="en-IN"/>
            </a:pPr>
            <a:endParaRPr lang="en-US"/>
          </a:p>
        </c:txPr>
        <c:crossAx val="87385216"/>
        <c:crosses val="autoZero"/>
        <c:auto val="1"/>
        <c:lblAlgn val="ctr"/>
        <c:lblOffset val="100"/>
        <c:noMultiLvlLbl val="0"/>
      </c:catAx>
      <c:valAx>
        <c:axId val="87385216"/>
        <c:scaling>
          <c:orientation val="minMax"/>
        </c:scaling>
        <c:delete val="1"/>
        <c:axPos val="l"/>
        <c:numFmt formatCode="General" sourceLinked="1"/>
        <c:majorTickMark val="out"/>
        <c:minorTickMark val="none"/>
        <c:tickLblPos val="none"/>
        <c:crossAx val="87375232"/>
        <c:crosses val="autoZero"/>
        <c:crossBetween val="midCat"/>
      </c:valAx>
    </c:plotArea>
    <c:plotVisOnly val="1"/>
    <c:dispBlanksAs val="zero"/>
    <c:showDLblsOverMax val="0"/>
  </c:chart>
  <c:txPr>
    <a:bodyPr/>
    <a:lstStyle/>
    <a:p>
      <a:pPr>
        <a:defRPr sz="1000">
          <a:latin typeface="Calibri" pitchFamily="34" charset="0"/>
          <a:cs typeface="Calibri" pitchFamily="34" charset="0"/>
        </a:defRPr>
      </a:pPr>
      <a:endParaRPr lang="en-US"/>
    </a:p>
  </c:txPr>
  <c:externalData r:id="rId2">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areaChart>
        <c:grouping val="standard"/>
        <c:varyColors val="0"/>
        <c:ser>
          <c:idx val="0"/>
          <c:order val="0"/>
          <c:spPr>
            <a:solidFill>
              <a:srgbClr val="F0D5D4"/>
            </a:solidFill>
          </c:spPr>
          <c:dLbls>
            <c:dLbl>
              <c:idx val="0"/>
              <c:layout>
                <c:manualLayout>
                  <c:x val="4.1666666666666713E-2"/>
                  <c:y val="-0.3888888888888936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5D7-4349-AE81-6ED0ACBE2F2D}"/>
                </c:ext>
              </c:extLst>
            </c:dLbl>
            <c:dLbl>
              <c:idx val="1"/>
              <c:layout>
                <c:manualLayout>
                  <c:x val="5.555555555555548E-3"/>
                  <c:y val="-0.199074074074073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5D7-4349-AE81-6ED0ACBE2F2D}"/>
                </c:ext>
              </c:extLst>
            </c:dLbl>
            <c:dLbl>
              <c:idx val="2"/>
              <c:layout>
                <c:manualLayout>
                  <c:x val="8.3333333333333523E-3"/>
                  <c:y val="-0.1944444444444452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55D7-4349-AE81-6ED0ACBE2F2D}"/>
                </c:ext>
              </c:extLst>
            </c:dLbl>
            <c:dLbl>
              <c:idx val="3"/>
              <c:layout>
                <c:manualLayout>
                  <c:x val="-3.888888888888891E-2"/>
                  <c:y val="-0.2453703703703700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5D7-4349-AE81-6ED0ACBE2F2D}"/>
                </c:ext>
              </c:extLst>
            </c:dLbl>
            <c:spPr>
              <a:noFill/>
              <a:ln>
                <a:noFill/>
              </a:ln>
              <a:effectLst/>
            </c:spPr>
            <c:txPr>
              <a:bodyPr/>
              <a:lstStyle/>
              <a:p>
                <a:pPr>
                  <a:defRPr lang="en-IN" sz="10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trendline>
            <c:spPr>
              <a:ln w="19050" cap="rnd" cmpd="sng">
                <a:solidFill>
                  <a:srgbClr val="FF0000"/>
                </a:solidFill>
                <a:prstDash val="sysDot"/>
              </a:ln>
            </c:spPr>
            <c:trendlineType val="poly"/>
            <c:order val="2"/>
            <c:dispRSqr val="0"/>
            <c:dispEq val="0"/>
          </c:trendline>
          <c:cat>
            <c:strRef>
              <c:f>Sheet6!$D$54:$G$54</c:f>
              <c:strCache>
                <c:ptCount val="4"/>
                <c:pt idx="0">
                  <c:v>Total Impact</c:v>
                </c:pt>
                <c:pt idx="1">
                  <c:v>Field Force</c:v>
                </c:pt>
                <c:pt idx="2">
                  <c:v>Field Management</c:v>
                </c:pt>
                <c:pt idx="3">
                  <c:v>HO</c:v>
                </c:pt>
              </c:strCache>
            </c:strRef>
          </c:cat>
          <c:val>
            <c:numRef>
              <c:f>Sheet6!$D$55:$G$55</c:f>
              <c:numCache>
                <c:formatCode>General</c:formatCode>
                <c:ptCount val="4"/>
                <c:pt idx="0">
                  <c:v>0.66200000000000259</c:v>
                </c:pt>
                <c:pt idx="1">
                  <c:v>0.43300000000000022</c:v>
                </c:pt>
                <c:pt idx="2">
                  <c:v>0.4730000000000002</c:v>
                </c:pt>
                <c:pt idx="3">
                  <c:v>0.56800000000000039</c:v>
                </c:pt>
              </c:numCache>
            </c:numRef>
          </c:val>
          <c:extLst>
            <c:ext xmlns:c16="http://schemas.microsoft.com/office/drawing/2014/chart" uri="{C3380CC4-5D6E-409C-BE32-E72D297353CC}">
              <c16:uniqueId val="{00000005-55D7-4349-AE81-6ED0ACBE2F2D}"/>
            </c:ext>
          </c:extLst>
        </c:ser>
        <c:dLbls>
          <c:showLegendKey val="0"/>
          <c:showVal val="0"/>
          <c:showCatName val="0"/>
          <c:showSerName val="0"/>
          <c:showPercent val="0"/>
          <c:showBubbleSize val="0"/>
        </c:dLbls>
        <c:axId val="87417984"/>
        <c:axId val="87419520"/>
      </c:areaChart>
      <c:catAx>
        <c:axId val="87417984"/>
        <c:scaling>
          <c:orientation val="minMax"/>
        </c:scaling>
        <c:delete val="0"/>
        <c:axPos val="b"/>
        <c:majorGridlines>
          <c:spPr>
            <a:ln w="12700" cmpd="sng">
              <a:solidFill>
                <a:srgbClr val="000000">
                  <a:alpha val="75000"/>
                </a:srgbClr>
              </a:solidFill>
              <a:prstDash val="sysDash"/>
            </a:ln>
          </c:spPr>
        </c:majorGridlines>
        <c:numFmt formatCode="General" sourceLinked="0"/>
        <c:majorTickMark val="out"/>
        <c:minorTickMark val="none"/>
        <c:tickLblPos val="nextTo"/>
        <c:txPr>
          <a:bodyPr/>
          <a:lstStyle/>
          <a:p>
            <a:pPr>
              <a:defRPr lang="en-IN" sz="1000"/>
            </a:pPr>
            <a:endParaRPr lang="en-US"/>
          </a:p>
        </c:txPr>
        <c:crossAx val="87419520"/>
        <c:crosses val="autoZero"/>
        <c:auto val="1"/>
        <c:lblAlgn val="ctr"/>
        <c:lblOffset val="100"/>
        <c:noMultiLvlLbl val="0"/>
      </c:catAx>
      <c:valAx>
        <c:axId val="87419520"/>
        <c:scaling>
          <c:orientation val="minMax"/>
        </c:scaling>
        <c:delete val="1"/>
        <c:axPos val="l"/>
        <c:numFmt formatCode="General" sourceLinked="1"/>
        <c:majorTickMark val="out"/>
        <c:minorTickMark val="none"/>
        <c:tickLblPos val="none"/>
        <c:crossAx val="87417984"/>
        <c:crosses val="autoZero"/>
        <c:crossBetween val="midCat"/>
      </c:valAx>
    </c:plotArea>
    <c:plotVisOnly val="1"/>
    <c:dispBlanksAs val="zero"/>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areaChart>
        <c:grouping val="standard"/>
        <c:varyColors val="0"/>
        <c:ser>
          <c:idx val="0"/>
          <c:order val="0"/>
          <c:spPr>
            <a:solidFill>
              <a:schemeClr val="bg1">
                <a:lumMod val="65000"/>
              </a:schemeClr>
            </a:solidFill>
          </c:spPr>
          <c:dLbls>
            <c:dLbl>
              <c:idx val="0"/>
              <c:layout>
                <c:manualLayout>
                  <c:x val="4.7222222222222325E-2"/>
                  <c:y val="-0.384259259259260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464-47EB-9EDE-21A1725077AE}"/>
                </c:ext>
              </c:extLst>
            </c:dLbl>
            <c:dLbl>
              <c:idx val="1"/>
              <c:layout>
                <c:manualLayout>
                  <c:x val="0"/>
                  <c:y val="-0.1759259259259260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464-47EB-9EDE-21A1725077AE}"/>
                </c:ext>
              </c:extLst>
            </c:dLbl>
            <c:dLbl>
              <c:idx val="2"/>
              <c:layout>
                <c:manualLayout>
                  <c:x val="-4.7222222222222325E-2"/>
                  <c:y val="-0.1527777777777780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464-47EB-9EDE-21A1725077AE}"/>
                </c:ext>
              </c:extLst>
            </c:dLbl>
            <c:spPr>
              <a:noFill/>
              <a:ln>
                <a:noFill/>
              </a:ln>
              <a:effectLst/>
            </c:spPr>
            <c:txPr>
              <a:bodyPr/>
              <a:lstStyle/>
              <a:p>
                <a:pPr>
                  <a:defRPr lang="en-IN" sz="105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trendline>
            <c:spPr>
              <a:ln w="19050" cmpd="sng">
                <a:solidFill>
                  <a:srgbClr val="FF0000"/>
                </a:solidFill>
                <a:prstDash val="sysDot"/>
              </a:ln>
            </c:spPr>
            <c:trendlineType val="poly"/>
            <c:order val="2"/>
            <c:dispRSqr val="0"/>
            <c:dispEq val="0"/>
          </c:trendline>
          <c:cat>
            <c:strRef>
              <c:f>Sheet6!$D$63:$F$63</c:f>
              <c:strCache>
                <c:ptCount val="3"/>
                <c:pt idx="0">
                  <c:v>Total Impact</c:v>
                </c:pt>
                <c:pt idx="1">
                  <c:v>20-30 yrs</c:v>
                </c:pt>
                <c:pt idx="2">
                  <c:v>31-40 yrs</c:v>
                </c:pt>
              </c:strCache>
            </c:strRef>
          </c:cat>
          <c:val>
            <c:numRef>
              <c:f>Sheet6!$D$64:$F$64</c:f>
              <c:numCache>
                <c:formatCode>General</c:formatCode>
                <c:ptCount val="3"/>
                <c:pt idx="0">
                  <c:v>0.66200000000000259</c:v>
                </c:pt>
                <c:pt idx="1">
                  <c:v>0.443</c:v>
                </c:pt>
                <c:pt idx="2">
                  <c:v>0.38500000000000123</c:v>
                </c:pt>
              </c:numCache>
            </c:numRef>
          </c:val>
          <c:extLst>
            <c:ext xmlns:c16="http://schemas.microsoft.com/office/drawing/2014/chart" uri="{C3380CC4-5D6E-409C-BE32-E72D297353CC}">
              <c16:uniqueId val="{00000004-E464-47EB-9EDE-21A1725077AE}"/>
            </c:ext>
          </c:extLst>
        </c:ser>
        <c:dLbls>
          <c:showLegendKey val="0"/>
          <c:showVal val="0"/>
          <c:showCatName val="0"/>
          <c:showSerName val="0"/>
          <c:showPercent val="0"/>
          <c:showBubbleSize val="0"/>
        </c:dLbls>
        <c:axId val="87505536"/>
        <c:axId val="87515520"/>
      </c:areaChart>
      <c:catAx>
        <c:axId val="87505536"/>
        <c:scaling>
          <c:orientation val="minMax"/>
        </c:scaling>
        <c:delete val="0"/>
        <c:axPos val="b"/>
        <c:majorGridlines>
          <c:spPr>
            <a:ln w="12700" cmpd="sng">
              <a:solidFill>
                <a:schemeClr val="tx1">
                  <a:alpha val="76000"/>
                </a:schemeClr>
              </a:solidFill>
              <a:prstDash val="sysDash"/>
              <a:tailEnd type="none"/>
            </a:ln>
          </c:spPr>
        </c:majorGridlines>
        <c:numFmt formatCode="General" sourceLinked="0"/>
        <c:majorTickMark val="out"/>
        <c:minorTickMark val="none"/>
        <c:tickLblPos val="nextTo"/>
        <c:txPr>
          <a:bodyPr/>
          <a:lstStyle/>
          <a:p>
            <a:pPr>
              <a:defRPr lang="en-IN" sz="1000"/>
            </a:pPr>
            <a:endParaRPr lang="en-US"/>
          </a:p>
        </c:txPr>
        <c:crossAx val="87515520"/>
        <c:crosses val="autoZero"/>
        <c:auto val="1"/>
        <c:lblAlgn val="ctr"/>
        <c:lblOffset val="100"/>
        <c:noMultiLvlLbl val="0"/>
      </c:catAx>
      <c:valAx>
        <c:axId val="87515520"/>
        <c:scaling>
          <c:orientation val="minMax"/>
        </c:scaling>
        <c:delete val="1"/>
        <c:axPos val="l"/>
        <c:numFmt formatCode="General" sourceLinked="1"/>
        <c:majorTickMark val="out"/>
        <c:minorTickMark val="none"/>
        <c:tickLblPos val="none"/>
        <c:crossAx val="87505536"/>
        <c:crosses val="autoZero"/>
        <c:crossBetween val="midCat"/>
      </c:valAx>
    </c:plotArea>
    <c:plotVisOnly val="1"/>
    <c:dispBlanksAs val="zero"/>
    <c:showDLblsOverMax val="0"/>
  </c:chart>
  <c:txPr>
    <a:bodyPr/>
    <a:lstStyle/>
    <a:p>
      <a:pPr>
        <a:defRPr>
          <a:latin typeface="Calibri" pitchFamily="34" charset="0"/>
          <a:cs typeface="Calibri" pitchFamily="34" charset="0"/>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areaChart>
        <c:grouping val="standard"/>
        <c:varyColors val="0"/>
        <c:ser>
          <c:idx val="0"/>
          <c:order val="0"/>
          <c:spPr>
            <a:solidFill>
              <a:srgbClr val="009592"/>
            </a:solidFill>
            <a:ln>
              <a:noFill/>
            </a:ln>
          </c:spPr>
          <c:dLbls>
            <c:dLbl>
              <c:idx val="0"/>
              <c:layout>
                <c:manualLayout>
                  <c:x val="4.7222222222222325E-2"/>
                  <c:y val="-0.3981481481481480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B35-45A7-8AFB-BBB9C5C498D2}"/>
                </c:ext>
              </c:extLst>
            </c:dLbl>
            <c:dLbl>
              <c:idx val="1"/>
              <c:layout>
                <c:manualLayout>
                  <c:x val="5.555555555555548E-3"/>
                  <c:y val="-0.199074074074073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B35-45A7-8AFB-BBB9C5C498D2}"/>
                </c:ext>
              </c:extLst>
            </c:dLbl>
            <c:dLbl>
              <c:idx val="2"/>
              <c:layout>
                <c:manualLayout>
                  <c:x val="-3.6111111111111219E-2"/>
                  <c:y val="-0.208333333333334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B35-45A7-8AFB-BBB9C5C498D2}"/>
                </c:ext>
              </c:extLst>
            </c:dLbl>
            <c:spPr>
              <a:noFill/>
              <a:ln>
                <a:noFill/>
              </a:ln>
              <a:effectLst/>
            </c:spPr>
            <c:txPr>
              <a:bodyPr/>
              <a:lstStyle/>
              <a:p>
                <a:pPr>
                  <a:defRPr lang="en-IN" sz="105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trendline>
            <c:spPr>
              <a:ln w="19050" cmpd="sng">
                <a:solidFill>
                  <a:srgbClr val="FF0000"/>
                </a:solidFill>
                <a:prstDash val="sysDot"/>
              </a:ln>
            </c:spPr>
            <c:trendlineType val="poly"/>
            <c:order val="2"/>
            <c:dispRSqr val="0"/>
            <c:dispEq val="0"/>
          </c:trendline>
          <c:cat>
            <c:strRef>
              <c:f>Sheet6!$D$51:$F$51</c:f>
              <c:strCache>
                <c:ptCount val="3"/>
                <c:pt idx="0">
                  <c:v>Total Impact</c:v>
                </c:pt>
                <c:pt idx="1">
                  <c:v>Male</c:v>
                </c:pt>
                <c:pt idx="2">
                  <c:v>Female</c:v>
                </c:pt>
              </c:strCache>
            </c:strRef>
          </c:cat>
          <c:val>
            <c:numRef>
              <c:f>Sheet6!$D$52:$F$52</c:f>
              <c:numCache>
                <c:formatCode>General</c:formatCode>
                <c:ptCount val="3"/>
                <c:pt idx="0">
                  <c:v>0.66200000000000259</c:v>
                </c:pt>
                <c:pt idx="1">
                  <c:v>0.442</c:v>
                </c:pt>
                <c:pt idx="2">
                  <c:v>0.51900000000000002</c:v>
                </c:pt>
              </c:numCache>
            </c:numRef>
          </c:val>
          <c:extLst>
            <c:ext xmlns:c16="http://schemas.microsoft.com/office/drawing/2014/chart" uri="{C3380CC4-5D6E-409C-BE32-E72D297353CC}">
              <c16:uniqueId val="{00000004-4B35-45A7-8AFB-BBB9C5C498D2}"/>
            </c:ext>
          </c:extLst>
        </c:ser>
        <c:dLbls>
          <c:showLegendKey val="0"/>
          <c:showVal val="0"/>
          <c:showCatName val="0"/>
          <c:showSerName val="0"/>
          <c:showPercent val="0"/>
          <c:showBubbleSize val="0"/>
        </c:dLbls>
        <c:axId val="87564672"/>
        <c:axId val="87566208"/>
      </c:areaChart>
      <c:catAx>
        <c:axId val="87564672"/>
        <c:scaling>
          <c:orientation val="minMax"/>
        </c:scaling>
        <c:delete val="0"/>
        <c:axPos val="b"/>
        <c:majorGridlines>
          <c:spPr>
            <a:ln w="12700" cmpd="sng">
              <a:solidFill>
                <a:srgbClr val="000000">
                  <a:alpha val="75000"/>
                </a:srgbClr>
              </a:solidFill>
              <a:prstDash val="sysDash"/>
            </a:ln>
          </c:spPr>
        </c:majorGridlines>
        <c:numFmt formatCode="General" sourceLinked="0"/>
        <c:majorTickMark val="out"/>
        <c:minorTickMark val="none"/>
        <c:tickLblPos val="nextTo"/>
        <c:txPr>
          <a:bodyPr/>
          <a:lstStyle/>
          <a:p>
            <a:pPr>
              <a:defRPr lang="en-IN" sz="1050"/>
            </a:pPr>
            <a:endParaRPr lang="en-US"/>
          </a:p>
        </c:txPr>
        <c:crossAx val="87566208"/>
        <c:crosses val="autoZero"/>
        <c:auto val="1"/>
        <c:lblAlgn val="ctr"/>
        <c:lblOffset val="100"/>
        <c:noMultiLvlLbl val="0"/>
      </c:catAx>
      <c:valAx>
        <c:axId val="87566208"/>
        <c:scaling>
          <c:orientation val="minMax"/>
        </c:scaling>
        <c:delete val="1"/>
        <c:axPos val="l"/>
        <c:numFmt formatCode="General" sourceLinked="1"/>
        <c:majorTickMark val="out"/>
        <c:minorTickMark val="none"/>
        <c:tickLblPos val="none"/>
        <c:crossAx val="87564672"/>
        <c:crosses val="autoZero"/>
        <c:crossBetween val="midCat"/>
      </c:valAx>
    </c:plotArea>
    <c:plotVisOnly val="1"/>
    <c:dispBlanksAs val="zero"/>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areaChart>
        <c:grouping val="standard"/>
        <c:varyColors val="0"/>
        <c:ser>
          <c:idx val="0"/>
          <c:order val="0"/>
          <c:spPr>
            <a:solidFill>
              <a:srgbClr val="A50021">
                <a:tint val="66000"/>
                <a:satMod val="160000"/>
              </a:srgbClr>
            </a:solidFill>
          </c:spPr>
          <c:dLbls>
            <c:dLbl>
              <c:idx val="0"/>
              <c:layout>
                <c:manualLayout>
                  <c:x val="0.05"/>
                  <c:y val="-0.361111111111110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422-406E-BABA-CE1AC3709A35}"/>
                </c:ext>
              </c:extLst>
            </c:dLbl>
            <c:dLbl>
              <c:idx val="1"/>
              <c:layout>
                <c:manualLayout>
                  <c:x val="3.6110892388451415E-2"/>
                  <c:y val="-0.22685185185185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422-406E-BABA-CE1AC3709A35}"/>
                </c:ext>
              </c:extLst>
            </c:dLbl>
            <c:spPr>
              <a:noFill/>
              <a:ln>
                <a:noFill/>
              </a:ln>
              <a:effectLst/>
            </c:spPr>
            <c:txPr>
              <a:bodyPr/>
              <a:lstStyle/>
              <a:p>
                <a:pPr>
                  <a:defRPr lang="en-IN"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Sheet3!$O$131:$P$131</c:f>
              <c:strCache>
                <c:ptCount val="2"/>
                <c:pt idx="0">
                  <c:v>Total Impact</c:v>
                </c:pt>
                <c:pt idx="1">
                  <c:v>Impact exclude TOP high concern sub-factors</c:v>
                </c:pt>
              </c:strCache>
            </c:strRef>
          </c:cat>
          <c:val>
            <c:numRef>
              <c:f>Sheet3!$O$132:$P$132</c:f>
              <c:numCache>
                <c:formatCode>General</c:formatCode>
                <c:ptCount val="2"/>
                <c:pt idx="0">
                  <c:v>0.92400000000000004</c:v>
                </c:pt>
                <c:pt idx="1">
                  <c:v>0.76300000000000345</c:v>
                </c:pt>
              </c:numCache>
            </c:numRef>
          </c:val>
          <c:extLst>
            <c:ext xmlns:c16="http://schemas.microsoft.com/office/drawing/2014/chart" uri="{C3380CC4-5D6E-409C-BE32-E72D297353CC}">
              <c16:uniqueId val="{00000002-7422-406E-BABA-CE1AC3709A35}"/>
            </c:ext>
          </c:extLst>
        </c:ser>
        <c:dLbls>
          <c:showLegendKey val="0"/>
          <c:showVal val="0"/>
          <c:showCatName val="0"/>
          <c:showSerName val="0"/>
          <c:showPercent val="0"/>
          <c:showBubbleSize val="0"/>
        </c:dLbls>
        <c:axId val="88245376"/>
        <c:axId val="88246912"/>
      </c:areaChart>
      <c:catAx>
        <c:axId val="88245376"/>
        <c:scaling>
          <c:orientation val="minMax"/>
        </c:scaling>
        <c:delete val="0"/>
        <c:axPos val="b"/>
        <c:numFmt formatCode="General" sourceLinked="0"/>
        <c:majorTickMark val="out"/>
        <c:minorTickMark val="none"/>
        <c:tickLblPos val="nextTo"/>
        <c:txPr>
          <a:bodyPr/>
          <a:lstStyle/>
          <a:p>
            <a:pPr>
              <a:defRPr lang="en-IN" sz="1000"/>
            </a:pPr>
            <a:endParaRPr lang="en-US"/>
          </a:p>
        </c:txPr>
        <c:crossAx val="88246912"/>
        <c:crosses val="autoZero"/>
        <c:auto val="1"/>
        <c:lblAlgn val="ctr"/>
        <c:lblOffset val="100"/>
        <c:noMultiLvlLbl val="0"/>
      </c:catAx>
      <c:valAx>
        <c:axId val="88246912"/>
        <c:scaling>
          <c:orientation val="minMax"/>
          <c:max val="1"/>
          <c:min val="0.5"/>
        </c:scaling>
        <c:delete val="1"/>
        <c:axPos val="l"/>
        <c:numFmt formatCode="#,##0.000" sourceLinked="0"/>
        <c:majorTickMark val="out"/>
        <c:minorTickMark val="none"/>
        <c:tickLblPos val="none"/>
        <c:crossAx val="88245376"/>
        <c:crosses val="autoZero"/>
        <c:crossBetween val="midCat"/>
        <c:majorUnit val="0.05"/>
      </c:valAx>
    </c:plotArea>
    <c:plotVisOnly val="1"/>
    <c:dispBlanksAs val="zero"/>
    <c:showDLblsOverMax val="0"/>
  </c:chart>
  <c:spPr>
    <a:ln>
      <a:noFill/>
    </a:ln>
  </c:spPr>
  <c:txPr>
    <a:bodyPr/>
    <a:lstStyle/>
    <a:p>
      <a:pPr>
        <a:defRPr>
          <a:latin typeface="Calibri" pitchFamily="34" charset="0"/>
          <a:cs typeface="Calibri" pitchFamily="34" charset="0"/>
        </a:defRPr>
      </a:pPr>
      <a:endParaRPr lang="en-US"/>
    </a:p>
  </c:txPr>
  <c:externalData r:id="rId2">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areaChart>
        <c:grouping val="standard"/>
        <c:varyColors val="0"/>
        <c:ser>
          <c:idx val="0"/>
          <c:order val="0"/>
          <c:spPr>
            <a:solidFill>
              <a:srgbClr val="FFFFFF">
                <a:lumMod val="85000"/>
              </a:srgbClr>
            </a:solidFill>
          </c:spPr>
          <c:dLbls>
            <c:dLbl>
              <c:idx val="0"/>
              <c:layout>
                <c:manualLayout>
                  <c:x val="3.3333333333333305E-2"/>
                  <c:y val="-0.3935185185185192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F3D6-454A-A87E-B847C314D835}"/>
                </c:ext>
              </c:extLst>
            </c:dLbl>
            <c:dLbl>
              <c:idx val="1"/>
              <c:layout>
                <c:manualLayout>
                  <c:x val="5.555555555555548E-3"/>
                  <c:y val="-0.263888888888892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F3D6-454A-A87E-B847C314D835}"/>
                </c:ext>
              </c:extLst>
            </c:dLbl>
            <c:dLbl>
              <c:idx val="2"/>
              <c:layout>
                <c:manualLayout>
                  <c:x val="8.3333333333333523E-3"/>
                  <c:y val="-0.2175925925925942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F3D6-454A-A87E-B847C314D835}"/>
                </c:ext>
              </c:extLst>
            </c:dLbl>
            <c:dLbl>
              <c:idx val="3"/>
              <c:layout>
                <c:manualLayout>
                  <c:x val="1.7283950617284018E-2"/>
                  <c:y val="-0.245884773662550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F3D6-454A-A87E-B847C314D835}"/>
                </c:ext>
              </c:extLst>
            </c:dLbl>
            <c:dLbl>
              <c:idx val="4"/>
              <c:layout>
                <c:manualLayout>
                  <c:x val="-3.888888888888891E-2"/>
                  <c:y val="-0.2824074074074072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F3D6-454A-A87E-B847C314D835}"/>
                </c:ext>
              </c:extLst>
            </c:dLbl>
            <c:spPr>
              <a:noFill/>
              <a:ln>
                <a:noFill/>
              </a:ln>
              <a:effectLst/>
            </c:spPr>
            <c:txPr>
              <a:bodyPr/>
              <a:lstStyle/>
              <a:p>
                <a:pPr>
                  <a:defRPr lang="en-IN"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trendline>
            <c:spPr>
              <a:ln w="19050">
                <a:solidFill>
                  <a:srgbClr val="FF0000"/>
                </a:solidFill>
                <a:prstDash val="sysDot"/>
              </a:ln>
            </c:spPr>
            <c:trendlineType val="poly"/>
            <c:order val="2"/>
            <c:dispRSqr val="0"/>
            <c:dispEq val="0"/>
          </c:trendline>
          <c:cat>
            <c:strRef>
              <c:f>Original!$I$1:$M$1</c:f>
              <c:strCache>
                <c:ptCount val="5"/>
                <c:pt idx="0">
                  <c:v>Total Impact</c:v>
                </c:pt>
                <c:pt idx="1">
                  <c:v>South</c:v>
                </c:pt>
                <c:pt idx="2">
                  <c:v>East</c:v>
                </c:pt>
                <c:pt idx="3">
                  <c:v>West</c:v>
                </c:pt>
                <c:pt idx="4">
                  <c:v>North</c:v>
                </c:pt>
              </c:strCache>
            </c:strRef>
          </c:cat>
          <c:val>
            <c:numRef>
              <c:f>Original!$I$2:$M$2</c:f>
              <c:numCache>
                <c:formatCode>General</c:formatCode>
                <c:ptCount val="5"/>
                <c:pt idx="0" formatCode="####.000">
                  <c:v>0.92400000000000004</c:v>
                </c:pt>
                <c:pt idx="1">
                  <c:v>0.78800000000000003</c:v>
                </c:pt>
                <c:pt idx="2">
                  <c:v>0.68200000000000005</c:v>
                </c:pt>
                <c:pt idx="3">
                  <c:v>0.78700000000000003</c:v>
                </c:pt>
                <c:pt idx="4">
                  <c:v>0.83500000000000141</c:v>
                </c:pt>
              </c:numCache>
            </c:numRef>
          </c:val>
          <c:extLst>
            <c:ext xmlns:c16="http://schemas.microsoft.com/office/drawing/2014/chart" uri="{C3380CC4-5D6E-409C-BE32-E72D297353CC}">
              <c16:uniqueId val="{00000006-F3D6-454A-A87E-B847C314D835}"/>
            </c:ext>
          </c:extLst>
        </c:ser>
        <c:dLbls>
          <c:showLegendKey val="0"/>
          <c:showVal val="0"/>
          <c:showCatName val="0"/>
          <c:showSerName val="0"/>
          <c:showPercent val="0"/>
          <c:showBubbleSize val="0"/>
        </c:dLbls>
        <c:axId val="87927808"/>
        <c:axId val="87941888"/>
      </c:areaChart>
      <c:catAx>
        <c:axId val="87927808"/>
        <c:scaling>
          <c:orientation val="minMax"/>
        </c:scaling>
        <c:delete val="0"/>
        <c:axPos val="b"/>
        <c:majorGridlines>
          <c:spPr>
            <a:ln w="19050">
              <a:solidFill>
                <a:srgbClr val="002060"/>
              </a:solidFill>
              <a:prstDash val="sysDot"/>
            </a:ln>
          </c:spPr>
        </c:majorGridlines>
        <c:numFmt formatCode="General" sourceLinked="0"/>
        <c:majorTickMark val="out"/>
        <c:minorTickMark val="none"/>
        <c:tickLblPos val="nextTo"/>
        <c:spPr>
          <a:ln>
            <a:solidFill>
              <a:schemeClr val="tx2">
                <a:lumMod val="60000"/>
                <a:lumOff val="40000"/>
              </a:schemeClr>
            </a:solidFill>
          </a:ln>
        </c:spPr>
        <c:txPr>
          <a:bodyPr/>
          <a:lstStyle/>
          <a:p>
            <a:pPr>
              <a:defRPr lang="en-IN" sz="1000"/>
            </a:pPr>
            <a:endParaRPr lang="en-US"/>
          </a:p>
        </c:txPr>
        <c:crossAx val="87941888"/>
        <c:crosses val="autoZero"/>
        <c:auto val="1"/>
        <c:lblAlgn val="ctr"/>
        <c:lblOffset val="100"/>
        <c:noMultiLvlLbl val="0"/>
      </c:catAx>
      <c:valAx>
        <c:axId val="87941888"/>
        <c:scaling>
          <c:orientation val="minMax"/>
        </c:scaling>
        <c:delete val="1"/>
        <c:axPos val="l"/>
        <c:numFmt formatCode="####.000" sourceLinked="1"/>
        <c:majorTickMark val="out"/>
        <c:minorTickMark val="none"/>
        <c:tickLblPos val="none"/>
        <c:crossAx val="87927808"/>
        <c:crosses val="autoZero"/>
        <c:crossBetween val="midCat"/>
      </c:valAx>
    </c:plotArea>
    <c:plotVisOnly val="1"/>
    <c:dispBlanksAs val="zero"/>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areaChart>
        <c:grouping val="standard"/>
        <c:varyColors val="0"/>
        <c:ser>
          <c:idx val="0"/>
          <c:order val="0"/>
          <c:spPr>
            <a:solidFill>
              <a:srgbClr val="93CDCA"/>
            </a:solidFill>
          </c:spPr>
          <c:dLbls>
            <c:dLbl>
              <c:idx val="0"/>
              <c:layout>
                <c:manualLayout>
                  <c:x val="3.888888888888891E-2"/>
                  <c:y val="-0.3981481481481480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B97C-4342-97B8-91CD86254119}"/>
                </c:ext>
              </c:extLst>
            </c:dLbl>
            <c:dLbl>
              <c:idx val="1"/>
              <c:layout>
                <c:manualLayout>
                  <c:x val="2.7775590551180731E-3"/>
                  <c:y val="-0.268518518518518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97C-4342-97B8-91CD86254119}"/>
                </c:ext>
              </c:extLst>
            </c:dLbl>
            <c:dLbl>
              <c:idx val="2"/>
              <c:layout>
                <c:manualLayout>
                  <c:x val="-4.1666666666666713E-2"/>
                  <c:y val="-0.22685185185185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B97C-4342-97B8-91CD86254119}"/>
                </c:ext>
              </c:extLst>
            </c:dLbl>
            <c:spPr>
              <a:noFill/>
              <a:ln>
                <a:noFill/>
              </a:ln>
              <a:effectLst/>
            </c:spPr>
            <c:txPr>
              <a:bodyPr/>
              <a:lstStyle/>
              <a:p>
                <a:pPr>
                  <a:defRPr lang="en-IN" sz="10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trendline>
            <c:spPr>
              <a:ln w="19050">
                <a:solidFill>
                  <a:srgbClr val="FF0000"/>
                </a:solidFill>
                <a:prstDash val="sysDot"/>
              </a:ln>
            </c:spPr>
            <c:trendlineType val="poly"/>
            <c:order val="2"/>
            <c:dispRSqr val="0"/>
            <c:dispEq val="0"/>
          </c:trendline>
          <c:cat>
            <c:strRef>
              <c:f>Original!$I$10:$K$10</c:f>
              <c:strCache>
                <c:ptCount val="3"/>
                <c:pt idx="0">
                  <c:v>Total Impact</c:v>
                </c:pt>
                <c:pt idx="1">
                  <c:v>Field Force</c:v>
                </c:pt>
                <c:pt idx="2">
                  <c:v>Field Management</c:v>
                </c:pt>
              </c:strCache>
            </c:strRef>
          </c:cat>
          <c:val>
            <c:numRef>
              <c:f>Original!$I$11:$K$11</c:f>
              <c:numCache>
                <c:formatCode>General</c:formatCode>
                <c:ptCount val="3"/>
                <c:pt idx="0" formatCode="####.000">
                  <c:v>0.92400000000000004</c:v>
                </c:pt>
                <c:pt idx="1">
                  <c:v>0.79200000000000004</c:v>
                </c:pt>
                <c:pt idx="2">
                  <c:v>0.68800000000000039</c:v>
                </c:pt>
              </c:numCache>
            </c:numRef>
          </c:val>
          <c:extLst>
            <c:ext xmlns:c16="http://schemas.microsoft.com/office/drawing/2014/chart" uri="{C3380CC4-5D6E-409C-BE32-E72D297353CC}">
              <c16:uniqueId val="{00000004-B97C-4342-97B8-91CD86254119}"/>
            </c:ext>
          </c:extLst>
        </c:ser>
        <c:dLbls>
          <c:showLegendKey val="0"/>
          <c:showVal val="0"/>
          <c:showCatName val="0"/>
          <c:showSerName val="0"/>
          <c:showPercent val="0"/>
          <c:showBubbleSize val="0"/>
        </c:dLbls>
        <c:axId val="89367296"/>
        <c:axId val="89368832"/>
      </c:areaChart>
      <c:catAx>
        <c:axId val="89367296"/>
        <c:scaling>
          <c:orientation val="minMax"/>
        </c:scaling>
        <c:delete val="0"/>
        <c:axPos val="b"/>
        <c:majorGridlines>
          <c:spPr>
            <a:ln w="19050">
              <a:solidFill>
                <a:srgbClr val="000000"/>
              </a:solidFill>
              <a:prstDash val="sysDot"/>
            </a:ln>
          </c:spPr>
        </c:majorGridlines>
        <c:numFmt formatCode="General" sourceLinked="0"/>
        <c:majorTickMark val="out"/>
        <c:minorTickMark val="none"/>
        <c:tickLblPos val="nextTo"/>
        <c:spPr>
          <a:ln w="28575"/>
        </c:spPr>
        <c:txPr>
          <a:bodyPr/>
          <a:lstStyle/>
          <a:p>
            <a:pPr>
              <a:defRPr lang="en-IN" sz="1000"/>
            </a:pPr>
            <a:endParaRPr lang="en-US"/>
          </a:p>
        </c:txPr>
        <c:crossAx val="89368832"/>
        <c:crosses val="autoZero"/>
        <c:auto val="1"/>
        <c:lblAlgn val="ctr"/>
        <c:lblOffset val="100"/>
        <c:noMultiLvlLbl val="0"/>
      </c:catAx>
      <c:valAx>
        <c:axId val="89368832"/>
        <c:scaling>
          <c:orientation val="minMax"/>
        </c:scaling>
        <c:delete val="1"/>
        <c:axPos val="l"/>
        <c:numFmt formatCode="####.000" sourceLinked="1"/>
        <c:majorTickMark val="out"/>
        <c:minorTickMark val="none"/>
        <c:tickLblPos val="none"/>
        <c:crossAx val="89367296"/>
        <c:crosses val="autoZero"/>
        <c:crossBetween val="midCat"/>
      </c:valAx>
    </c:plotArea>
    <c:plotVisOnly val="1"/>
    <c:dispBlanksAs val="zero"/>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areaChart>
        <c:grouping val="standard"/>
        <c:varyColors val="0"/>
        <c:ser>
          <c:idx val="0"/>
          <c:order val="0"/>
          <c:spPr>
            <a:solidFill>
              <a:srgbClr val="F0D5D4"/>
            </a:solidFill>
            <a:ln>
              <a:solidFill>
                <a:srgbClr val="F0D5D4"/>
              </a:solidFill>
            </a:ln>
          </c:spPr>
          <c:dLbls>
            <c:dLbl>
              <c:idx val="0"/>
              <c:layout>
                <c:manualLayout>
                  <c:x val="3.055555555555561E-2"/>
                  <c:y val="-0.4032921810699602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6EBE-4DAD-B5AF-25A4D6DF39E6}"/>
                </c:ext>
              </c:extLst>
            </c:dLbl>
            <c:dLbl>
              <c:idx val="1"/>
              <c:layout>
                <c:manualLayout>
                  <c:x val="-2.7777777777778156E-3"/>
                  <c:y val="-0.2824074074074072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EBE-4DAD-B5AF-25A4D6DF39E6}"/>
                </c:ext>
              </c:extLst>
            </c:dLbl>
            <c:dLbl>
              <c:idx val="2"/>
              <c:layout>
                <c:manualLayout>
                  <c:x val="5.555555555555548E-3"/>
                  <c:y val="-0.2175925925925942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6EBE-4DAD-B5AF-25A4D6DF39E6}"/>
                </c:ext>
              </c:extLst>
            </c:dLbl>
            <c:dLbl>
              <c:idx val="3"/>
              <c:layout>
                <c:manualLayout>
                  <c:x val="-5.00000000000001E-2"/>
                  <c:y val="-0.1759259259259260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EBE-4DAD-B5AF-25A4D6DF39E6}"/>
                </c:ext>
              </c:extLst>
            </c:dLbl>
            <c:spPr>
              <a:noFill/>
              <a:ln>
                <a:noFill/>
              </a:ln>
              <a:effectLst/>
            </c:spPr>
            <c:txPr>
              <a:bodyPr/>
              <a:lstStyle/>
              <a:p>
                <a:pPr>
                  <a:defRPr lang="en-IN" sz="1000" b="0">
                    <a:solidFill>
                      <a:schemeClr val="accent1">
                        <a:lumMod val="10000"/>
                      </a:schemeClr>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trendline>
            <c:spPr>
              <a:ln w="19050">
                <a:solidFill>
                  <a:srgbClr val="FF0000"/>
                </a:solidFill>
                <a:prstDash val="sysDot"/>
              </a:ln>
            </c:spPr>
            <c:trendlineType val="poly"/>
            <c:order val="2"/>
            <c:dispRSqr val="0"/>
            <c:dispEq val="0"/>
          </c:trendline>
          <c:cat>
            <c:strRef>
              <c:f>Original!$I$16:$L$16</c:f>
              <c:strCache>
                <c:ptCount val="4"/>
                <c:pt idx="0">
                  <c:v>Total Impact</c:v>
                </c:pt>
                <c:pt idx="1">
                  <c:v>High Performers</c:v>
                </c:pt>
                <c:pt idx="2">
                  <c:v>Good Performer</c:v>
                </c:pt>
                <c:pt idx="3">
                  <c:v>Poor Performers</c:v>
                </c:pt>
              </c:strCache>
            </c:strRef>
          </c:cat>
          <c:val>
            <c:numRef>
              <c:f>Original!$I$17:$L$17</c:f>
              <c:numCache>
                <c:formatCode>General</c:formatCode>
                <c:ptCount val="4"/>
                <c:pt idx="0" formatCode="####.000">
                  <c:v>0.92400000000000004</c:v>
                </c:pt>
                <c:pt idx="1">
                  <c:v>0.83800000000000141</c:v>
                </c:pt>
                <c:pt idx="2">
                  <c:v>0.79700000000000004</c:v>
                </c:pt>
                <c:pt idx="3">
                  <c:v>0.61700000000000343</c:v>
                </c:pt>
              </c:numCache>
            </c:numRef>
          </c:val>
          <c:extLst>
            <c:ext xmlns:c16="http://schemas.microsoft.com/office/drawing/2014/chart" uri="{C3380CC4-5D6E-409C-BE32-E72D297353CC}">
              <c16:uniqueId val="{00000005-6EBE-4DAD-B5AF-25A4D6DF39E6}"/>
            </c:ext>
          </c:extLst>
        </c:ser>
        <c:dLbls>
          <c:showLegendKey val="0"/>
          <c:showVal val="0"/>
          <c:showCatName val="0"/>
          <c:showSerName val="0"/>
          <c:showPercent val="0"/>
          <c:showBubbleSize val="0"/>
        </c:dLbls>
        <c:axId val="89565440"/>
        <c:axId val="89583616"/>
      </c:areaChart>
      <c:catAx>
        <c:axId val="89565440"/>
        <c:scaling>
          <c:orientation val="minMax"/>
        </c:scaling>
        <c:delete val="0"/>
        <c:axPos val="b"/>
        <c:majorGridlines>
          <c:spPr>
            <a:ln w="19050">
              <a:solidFill>
                <a:srgbClr val="000000"/>
              </a:solidFill>
              <a:prstDash val="sysDot"/>
            </a:ln>
          </c:spPr>
        </c:majorGridlines>
        <c:numFmt formatCode="General" sourceLinked="0"/>
        <c:majorTickMark val="out"/>
        <c:minorTickMark val="none"/>
        <c:tickLblPos val="nextTo"/>
        <c:txPr>
          <a:bodyPr/>
          <a:lstStyle/>
          <a:p>
            <a:pPr>
              <a:defRPr lang="en-IN" sz="1000"/>
            </a:pPr>
            <a:endParaRPr lang="en-US"/>
          </a:p>
        </c:txPr>
        <c:crossAx val="89583616"/>
        <c:crosses val="autoZero"/>
        <c:auto val="1"/>
        <c:lblAlgn val="ctr"/>
        <c:lblOffset val="100"/>
        <c:noMultiLvlLbl val="0"/>
      </c:catAx>
      <c:valAx>
        <c:axId val="89583616"/>
        <c:scaling>
          <c:orientation val="minMax"/>
        </c:scaling>
        <c:delete val="1"/>
        <c:axPos val="l"/>
        <c:numFmt formatCode="####.000" sourceLinked="1"/>
        <c:majorTickMark val="out"/>
        <c:minorTickMark val="none"/>
        <c:tickLblPos val="none"/>
        <c:crossAx val="89565440"/>
        <c:crosses val="autoZero"/>
        <c:crossBetween val="midCat"/>
      </c:valAx>
    </c:plotArea>
    <c:plotVisOnly val="1"/>
    <c:dispBlanksAs val="zero"/>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areaChart>
        <c:grouping val="standard"/>
        <c:varyColors val="0"/>
        <c:ser>
          <c:idx val="0"/>
          <c:order val="0"/>
          <c:spPr>
            <a:solidFill>
              <a:srgbClr val="A50021">
                <a:tint val="66000"/>
                <a:satMod val="160000"/>
              </a:srgbClr>
            </a:solidFill>
          </c:spPr>
          <c:dLbls>
            <c:dLbl>
              <c:idx val="0"/>
              <c:layout>
                <c:manualLayout>
                  <c:x val="3.2539682539682514E-2"/>
                  <c:y val="-0.30231481481481554"/>
                </c:manualLayout>
              </c:layout>
              <c:spPr/>
              <c:txPr>
                <a:bodyPr/>
                <a:lstStyle/>
                <a:p>
                  <a:pPr>
                    <a:defRPr lang="en-IN" sz="1000" b="0"/>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C2B-4B9A-A1E8-4F4FB85691C8}"/>
                </c:ext>
              </c:extLst>
            </c:dLbl>
            <c:dLbl>
              <c:idx val="1"/>
              <c:layout>
                <c:manualLayout>
                  <c:x val="3.6111111111111219E-2"/>
                  <c:y val="-0.16666666666666691"/>
                </c:manualLayout>
              </c:layout>
              <c:spPr/>
              <c:txPr>
                <a:bodyPr/>
                <a:lstStyle/>
                <a:p>
                  <a:pPr>
                    <a:defRPr lang="en-IN" sz="1000" b="0"/>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C2B-4B9A-A1E8-4F4FB85691C8}"/>
                </c:ext>
              </c:extLst>
            </c:dLbl>
            <c:spPr>
              <a:noFill/>
              <a:ln>
                <a:noFill/>
              </a:ln>
              <a:effectLst/>
            </c:spPr>
            <c:txPr>
              <a:bodyPr/>
              <a:lstStyle/>
              <a:p>
                <a:pPr>
                  <a:defRPr lang="en-IN" sz="1000" b="1"/>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Sheet3!$O$133:$P$133</c:f>
              <c:strCache>
                <c:ptCount val="2"/>
                <c:pt idx="0">
                  <c:v>Total Impact</c:v>
                </c:pt>
                <c:pt idx="1">
                  <c:v>Impact exclude TOP high concern sub-factors</c:v>
                </c:pt>
              </c:strCache>
            </c:strRef>
          </c:cat>
          <c:val>
            <c:numRef>
              <c:f>Sheet3!$O$134:$P$134</c:f>
              <c:numCache>
                <c:formatCode>General</c:formatCode>
                <c:ptCount val="2"/>
                <c:pt idx="0">
                  <c:v>0.9470000000000004</c:v>
                </c:pt>
                <c:pt idx="1">
                  <c:v>0.85700000000000143</c:v>
                </c:pt>
              </c:numCache>
            </c:numRef>
          </c:val>
          <c:extLst>
            <c:ext xmlns:c16="http://schemas.microsoft.com/office/drawing/2014/chart" uri="{C3380CC4-5D6E-409C-BE32-E72D297353CC}">
              <c16:uniqueId val="{00000002-9C2B-4B9A-A1E8-4F4FB85691C8}"/>
            </c:ext>
          </c:extLst>
        </c:ser>
        <c:dLbls>
          <c:showLegendKey val="0"/>
          <c:showVal val="0"/>
          <c:showCatName val="0"/>
          <c:showSerName val="0"/>
          <c:showPercent val="0"/>
          <c:showBubbleSize val="0"/>
        </c:dLbls>
        <c:axId val="89497600"/>
        <c:axId val="89499136"/>
      </c:areaChart>
      <c:catAx>
        <c:axId val="89497600"/>
        <c:scaling>
          <c:orientation val="minMax"/>
        </c:scaling>
        <c:delete val="0"/>
        <c:axPos val="b"/>
        <c:numFmt formatCode="General" sourceLinked="0"/>
        <c:majorTickMark val="out"/>
        <c:minorTickMark val="none"/>
        <c:tickLblPos val="nextTo"/>
        <c:txPr>
          <a:bodyPr/>
          <a:lstStyle/>
          <a:p>
            <a:pPr>
              <a:defRPr lang="en-IN" sz="1000"/>
            </a:pPr>
            <a:endParaRPr lang="en-US"/>
          </a:p>
        </c:txPr>
        <c:crossAx val="89499136"/>
        <c:crosses val="autoZero"/>
        <c:auto val="1"/>
        <c:lblAlgn val="ctr"/>
        <c:lblOffset val="100"/>
        <c:noMultiLvlLbl val="0"/>
      </c:catAx>
      <c:valAx>
        <c:axId val="89499136"/>
        <c:scaling>
          <c:orientation val="minMax"/>
        </c:scaling>
        <c:delete val="1"/>
        <c:axPos val="l"/>
        <c:numFmt formatCode="General" sourceLinked="1"/>
        <c:majorTickMark val="out"/>
        <c:minorTickMark val="none"/>
        <c:tickLblPos val="none"/>
        <c:crossAx val="89497600"/>
        <c:crosses val="autoZero"/>
        <c:crossBetween val="midCat"/>
      </c:valAx>
    </c:plotArea>
    <c:plotVisOnly val="1"/>
    <c:dispBlanksAs val="zero"/>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areaChart>
        <c:grouping val="standard"/>
        <c:varyColors val="0"/>
        <c:ser>
          <c:idx val="0"/>
          <c:order val="0"/>
          <c:spPr>
            <a:solidFill>
              <a:srgbClr val="93CDCA"/>
            </a:solidFill>
            <a:ln w="19050">
              <a:prstDash val="sysDot"/>
            </a:ln>
          </c:spPr>
          <c:dLbls>
            <c:dLbl>
              <c:idx val="0"/>
              <c:layout>
                <c:manualLayout>
                  <c:x val="4.1666666666666713E-2"/>
                  <c:y val="-0.39351851851851921"/>
                </c:manualLayout>
              </c:layout>
              <c:spPr/>
              <c:txPr>
                <a:bodyPr/>
                <a:lstStyle/>
                <a:p>
                  <a:pPr>
                    <a:defRPr lang="en-IN" sz="1000" b="0">
                      <a:solidFill>
                        <a:schemeClr val="tx1"/>
                      </a:solidFil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3A4-44A9-A6C5-BAC68008AA4F}"/>
                </c:ext>
              </c:extLst>
            </c:dLbl>
            <c:dLbl>
              <c:idx val="1"/>
              <c:layout>
                <c:manualLayout>
                  <c:x val="2.7777777777778555E-3"/>
                  <c:y val="-0.203703703703704"/>
                </c:manualLayout>
              </c:layout>
              <c:spPr/>
              <c:txPr>
                <a:bodyPr/>
                <a:lstStyle/>
                <a:p>
                  <a:pPr>
                    <a:defRPr lang="en-IN" sz="1000" b="0">
                      <a:solidFill>
                        <a:schemeClr val="tx1"/>
                      </a:solidFil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3A4-44A9-A6C5-BAC68008AA4F}"/>
                </c:ext>
              </c:extLst>
            </c:dLbl>
            <c:dLbl>
              <c:idx val="2"/>
              <c:layout>
                <c:manualLayout>
                  <c:x val="-4.1666666666666713E-2"/>
                  <c:y val="-0.25462962962963021"/>
                </c:manualLayout>
              </c:layout>
              <c:spPr/>
              <c:txPr>
                <a:bodyPr/>
                <a:lstStyle/>
                <a:p>
                  <a:pPr>
                    <a:defRPr lang="en-IN" sz="1000" b="0">
                      <a:solidFill>
                        <a:schemeClr val="tx1"/>
                      </a:solidFil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3A4-44A9-A6C5-BAC68008AA4F}"/>
                </c:ext>
              </c:extLst>
            </c:dLbl>
            <c:spPr>
              <a:noFill/>
              <a:ln>
                <a:noFill/>
              </a:ln>
              <a:effectLst/>
            </c:spPr>
            <c:txPr>
              <a:bodyPr/>
              <a:lstStyle/>
              <a:p>
                <a:pPr>
                  <a:defRPr lang="en-IN" sz="1000" b="0">
                    <a:solidFill>
                      <a:schemeClr val="bg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trendline>
            <c:spPr>
              <a:ln w="19050">
                <a:solidFill>
                  <a:srgbClr val="FF0000"/>
                </a:solidFill>
                <a:prstDash val="sysDot"/>
              </a:ln>
            </c:spPr>
            <c:trendlineType val="poly"/>
            <c:order val="2"/>
            <c:dispRSqr val="0"/>
            <c:dispEq val="0"/>
          </c:trendline>
          <c:cat>
            <c:strRef>
              <c:f>Sheet6!$K$84:$M$84</c:f>
              <c:strCache>
                <c:ptCount val="3"/>
                <c:pt idx="0">
                  <c:v>Total Impact</c:v>
                </c:pt>
                <c:pt idx="1">
                  <c:v>High Performers</c:v>
                </c:pt>
                <c:pt idx="2">
                  <c:v>Good Performers</c:v>
                </c:pt>
              </c:strCache>
            </c:strRef>
          </c:cat>
          <c:val>
            <c:numRef>
              <c:f>Sheet6!$K$85:$M$85</c:f>
              <c:numCache>
                <c:formatCode>General</c:formatCode>
                <c:ptCount val="3"/>
                <c:pt idx="0">
                  <c:v>0.9470000000000004</c:v>
                </c:pt>
                <c:pt idx="1">
                  <c:v>0.62600000000000244</c:v>
                </c:pt>
                <c:pt idx="2">
                  <c:v>0.8250000000000014</c:v>
                </c:pt>
              </c:numCache>
            </c:numRef>
          </c:val>
          <c:extLst>
            <c:ext xmlns:c16="http://schemas.microsoft.com/office/drawing/2014/chart" uri="{C3380CC4-5D6E-409C-BE32-E72D297353CC}">
              <c16:uniqueId val="{00000004-43A4-44A9-A6C5-BAC68008AA4F}"/>
            </c:ext>
          </c:extLst>
        </c:ser>
        <c:dLbls>
          <c:showLegendKey val="0"/>
          <c:showVal val="0"/>
          <c:showCatName val="0"/>
          <c:showSerName val="0"/>
          <c:showPercent val="0"/>
          <c:showBubbleSize val="0"/>
        </c:dLbls>
        <c:axId val="89672704"/>
        <c:axId val="89678592"/>
      </c:areaChart>
      <c:catAx>
        <c:axId val="89672704"/>
        <c:scaling>
          <c:orientation val="minMax"/>
        </c:scaling>
        <c:delete val="0"/>
        <c:axPos val="b"/>
        <c:majorGridlines>
          <c:spPr>
            <a:ln w="19050">
              <a:solidFill>
                <a:srgbClr val="000000"/>
              </a:solidFill>
              <a:prstDash val="sysDot"/>
            </a:ln>
          </c:spPr>
        </c:majorGridlines>
        <c:numFmt formatCode="General" sourceLinked="0"/>
        <c:majorTickMark val="out"/>
        <c:minorTickMark val="none"/>
        <c:tickLblPos val="nextTo"/>
        <c:txPr>
          <a:bodyPr/>
          <a:lstStyle/>
          <a:p>
            <a:pPr>
              <a:defRPr lang="en-IN" sz="1000"/>
            </a:pPr>
            <a:endParaRPr lang="en-US"/>
          </a:p>
        </c:txPr>
        <c:crossAx val="89678592"/>
        <c:crosses val="autoZero"/>
        <c:auto val="1"/>
        <c:lblAlgn val="ctr"/>
        <c:lblOffset val="100"/>
        <c:noMultiLvlLbl val="0"/>
      </c:catAx>
      <c:valAx>
        <c:axId val="89678592"/>
        <c:scaling>
          <c:orientation val="minMax"/>
        </c:scaling>
        <c:delete val="1"/>
        <c:axPos val="l"/>
        <c:numFmt formatCode="General" sourceLinked="1"/>
        <c:majorTickMark val="out"/>
        <c:minorTickMark val="none"/>
        <c:tickLblPos val="none"/>
        <c:crossAx val="89672704"/>
        <c:crosses val="autoZero"/>
        <c:crossBetween val="midCat"/>
      </c:valAx>
    </c:plotArea>
    <c:plotVisOnly val="1"/>
    <c:dispBlanksAs val="zero"/>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areaChart>
        <c:grouping val="standard"/>
        <c:varyColors val="0"/>
        <c:ser>
          <c:idx val="0"/>
          <c:order val="0"/>
          <c:spPr>
            <a:solidFill>
              <a:srgbClr val="FFFFFF">
                <a:lumMod val="85000"/>
              </a:srgbClr>
            </a:solidFill>
            <a:ln w="19050">
              <a:prstDash val="sysDot"/>
            </a:ln>
          </c:spPr>
          <c:dLbls>
            <c:dLbl>
              <c:idx val="0"/>
              <c:layout>
                <c:manualLayout>
                  <c:x val="4.1666666666666713E-2"/>
                  <c:y val="-0.3888888888888946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C42-45CB-B4CB-24A7D0CF5C8A}"/>
                </c:ext>
              </c:extLst>
            </c:dLbl>
            <c:dLbl>
              <c:idx val="1"/>
              <c:layout>
                <c:manualLayout>
                  <c:x val="0"/>
                  <c:y val="-0.20370370370370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C42-45CB-B4CB-24A7D0CF5C8A}"/>
                </c:ext>
              </c:extLst>
            </c:dLbl>
            <c:dLbl>
              <c:idx val="2"/>
              <c:layout>
                <c:manualLayout>
                  <c:x val="-5.555555555555548E-3"/>
                  <c:y val="-0.2314814814814832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C42-45CB-B4CB-24A7D0CF5C8A}"/>
                </c:ext>
              </c:extLst>
            </c:dLbl>
            <c:dLbl>
              <c:idx val="3"/>
              <c:layout>
                <c:manualLayout>
                  <c:x val="2.7777777777778247E-3"/>
                  <c:y val="-8.796296296296354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C42-45CB-B4CB-24A7D0CF5C8A}"/>
                </c:ext>
              </c:extLst>
            </c:dLbl>
            <c:dLbl>
              <c:idx val="4"/>
              <c:layout>
                <c:manualLayout>
                  <c:x val="-3.8888888888888806E-2"/>
                  <c:y val="-0.1527777777777780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4C42-45CB-B4CB-24A7D0CF5C8A}"/>
                </c:ext>
              </c:extLst>
            </c:dLbl>
            <c:spPr>
              <a:noFill/>
              <a:ln>
                <a:noFill/>
              </a:ln>
              <a:effectLst/>
            </c:spPr>
            <c:txPr>
              <a:bodyPr/>
              <a:lstStyle/>
              <a:p>
                <a:pPr>
                  <a:defRPr lang="en-IN"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trendline>
            <c:spPr>
              <a:ln w="19050">
                <a:solidFill>
                  <a:srgbClr val="FF0000"/>
                </a:solidFill>
                <a:prstDash val="sysDot"/>
              </a:ln>
            </c:spPr>
            <c:trendlineType val="poly"/>
            <c:order val="2"/>
            <c:dispRSqr val="0"/>
            <c:dispEq val="0"/>
          </c:trendline>
          <c:cat>
            <c:strRef>
              <c:f>Original!$H$35:$L$35</c:f>
              <c:strCache>
                <c:ptCount val="5"/>
                <c:pt idx="0">
                  <c:v>Total Impact</c:v>
                </c:pt>
                <c:pt idx="1">
                  <c:v>South</c:v>
                </c:pt>
                <c:pt idx="2">
                  <c:v>East</c:v>
                </c:pt>
                <c:pt idx="3">
                  <c:v>West</c:v>
                </c:pt>
                <c:pt idx="4">
                  <c:v>North</c:v>
                </c:pt>
              </c:strCache>
            </c:strRef>
          </c:cat>
          <c:val>
            <c:numRef>
              <c:f>Original!$H$36:$L$36</c:f>
              <c:numCache>
                <c:formatCode>General</c:formatCode>
                <c:ptCount val="5"/>
                <c:pt idx="0">
                  <c:v>0.9470000000000004</c:v>
                </c:pt>
                <c:pt idx="1">
                  <c:v>0.88600000000000001</c:v>
                </c:pt>
                <c:pt idx="2">
                  <c:v>0.91600000000000004</c:v>
                </c:pt>
                <c:pt idx="3">
                  <c:v>0.83400000000000141</c:v>
                </c:pt>
                <c:pt idx="4">
                  <c:v>0.89400000000000002</c:v>
                </c:pt>
              </c:numCache>
            </c:numRef>
          </c:val>
          <c:extLst>
            <c:ext xmlns:c16="http://schemas.microsoft.com/office/drawing/2014/chart" uri="{C3380CC4-5D6E-409C-BE32-E72D297353CC}">
              <c16:uniqueId val="{00000006-4C42-45CB-B4CB-24A7D0CF5C8A}"/>
            </c:ext>
          </c:extLst>
        </c:ser>
        <c:dLbls>
          <c:showLegendKey val="0"/>
          <c:showVal val="0"/>
          <c:showCatName val="0"/>
          <c:showSerName val="0"/>
          <c:showPercent val="0"/>
          <c:showBubbleSize val="0"/>
        </c:dLbls>
        <c:axId val="89711360"/>
        <c:axId val="89712896"/>
      </c:areaChart>
      <c:catAx>
        <c:axId val="89711360"/>
        <c:scaling>
          <c:orientation val="minMax"/>
        </c:scaling>
        <c:delete val="0"/>
        <c:axPos val="b"/>
        <c:majorGridlines>
          <c:spPr>
            <a:ln w="19050">
              <a:solidFill>
                <a:srgbClr val="000000"/>
              </a:solidFill>
              <a:prstDash val="sysDot"/>
            </a:ln>
          </c:spPr>
        </c:majorGridlines>
        <c:numFmt formatCode="General" sourceLinked="0"/>
        <c:majorTickMark val="out"/>
        <c:minorTickMark val="none"/>
        <c:tickLblPos val="nextTo"/>
        <c:txPr>
          <a:bodyPr/>
          <a:lstStyle/>
          <a:p>
            <a:pPr>
              <a:defRPr lang="en-IN" sz="1000"/>
            </a:pPr>
            <a:endParaRPr lang="en-US"/>
          </a:p>
        </c:txPr>
        <c:crossAx val="89712896"/>
        <c:crosses val="autoZero"/>
        <c:auto val="1"/>
        <c:lblAlgn val="ctr"/>
        <c:lblOffset val="100"/>
        <c:noMultiLvlLbl val="0"/>
      </c:catAx>
      <c:valAx>
        <c:axId val="89712896"/>
        <c:scaling>
          <c:orientation val="minMax"/>
        </c:scaling>
        <c:delete val="1"/>
        <c:axPos val="l"/>
        <c:numFmt formatCode="General" sourceLinked="1"/>
        <c:majorTickMark val="out"/>
        <c:minorTickMark val="none"/>
        <c:tickLblPos val="none"/>
        <c:crossAx val="89711360"/>
        <c:crosses val="autoZero"/>
        <c:crossBetween val="midCat"/>
      </c:valAx>
    </c:plotArea>
    <c:plotVisOnly val="1"/>
    <c:dispBlanksAs val="zero"/>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manualLayout>
          <c:layoutTarget val="inner"/>
          <c:xMode val="edge"/>
          <c:yMode val="edge"/>
          <c:x val="0.16263055555555586"/>
          <c:y val="0.117592592592593"/>
          <c:w val="0.7314577160493837"/>
          <c:h val="0.73503703703703704"/>
        </c:manualLayout>
      </c:layout>
      <c:areaChart>
        <c:grouping val="standard"/>
        <c:varyColors val="0"/>
        <c:ser>
          <c:idx val="0"/>
          <c:order val="0"/>
          <c:spPr>
            <a:solidFill>
              <a:srgbClr val="F0D5D4"/>
            </a:solidFill>
          </c:spPr>
          <c:dLbls>
            <c:dLbl>
              <c:idx val="0"/>
              <c:layout>
                <c:manualLayout>
                  <c:x val="4.4444444444444502E-2"/>
                  <c:y val="-0.36574074074074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ED5-496F-BC35-D277D93819EE}"/>
                </c:ext>
              </c:extLst>
            </c:dLbl>
            <c:dLbl>
              <c:idx val="1"/>
              <c:layout>
                <c:manualLayout>
                  <c:x val="4.7222222222222325E-2"/>
                  <c:y val="-0.32407407407407851"/>
                </c:manualLayout>
              </c:layout>
              <c:tx>
                <c:rich>
                  <a:bodyPr/>
                  <a:lstStyle/>
                  <a:p>
                    <a:r>
                      <a:rPr lang="en-US" sz="1000" b="0"/>
                      <a:t>0</a:t>
                    </a:r>
                    <a:r>
                      <a:rPr lang="en-US"/>
                      <a:t>.920</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5ED5-496F-BC35-D277D93819EE}"/>
                </c:ext>
              </c:extLst>
            </c:dLbl>
            <c:dLbl>
              <c:idx val="2"/>
              <c:layout>
                <c:manualLayout>
                  <c:x val="-4.166666666666681E-2"/>
                  <c:y val="-0.208333333333334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5ED5-496F-BC35-D277D93819EE}"/>
                </c:ext>
              </c:extLst>
            </c:dLbl>
            <c:spPr>
              <a:noFill/>
              <a:ln>
                <a:noFill/>
              </a:ln>
              <a:effectLst/>
            </c:spPr>
            <c:txPr>
              <a:bodyPr/>
              <a:lstStyle/>
              <a:p>
                <a:pPr>
                  <a:defRPr lang="en-IN"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trendline>
            <c:spPr>
              <a:ln w="19050">
                <a:solidFill>
                  <a:srgbClr val="FF0000"/>
                </a:solidFill>
                <a:prstDash val="sysDot"/>
              </a:ln>
            </c:spPr>
            <c:trendlineType val="log"/>
            <c:dispRSqr val="0"/>
            <c:dispEq val="0"/>
          </c:trendline>
          <c:cat>
            <c:strRef>
              <c:f>Original!$H$57:$J$57</c:f>
              <c:strCache>
                <c:ptCount val="3"/>
                <c:pt idx="0">
                  <c:v>Total Impact</c:v>
                </c:pt>
                <c:pt idx="1">
                  <c:v>20 - 30 yrs</c:v>
                </c:pt>
                <c:pt idx="2">
                  <c:v>31 - 40 yrs</c:v>
                </c:pt>
              </c:strCache>
            </c:strRef>
          </c:cat>
          <c:val>
            <c:numRef>
              <c:f>Original!$H$58:$J$58</c:f>
              <c:numCache>
                <c:formatCode>General</c:formatCode>
                <c:ptCount val="3"/>
                <c:pt idx="0">
                  <c:v>0.9470000000000004</c:v>
                </c:pt>
                <c:pt idx="1">
                  <c:v>0.92</c:v>
                </c:pt>
                <c:pt idx="2">
                  <c:v>0.72800000000000142</c:v>
                </c:pt>
              </c:numCache>
            </c:numRef>
          </c:val>
          <c:extLst>
            <c:ext xmlns:c16="http://schemas.microsoft.com/office/drawing/2014/chart" uri="{C3380CC4-5D6E-409C-BE32-E72D297353CC}">
              <c16:uniqueId val="{00000004-5ED5-496F-BC35-D277D93819EE}"/>
            </c:ext>
          </c:extLst>
        </c:ser>
        <c:dLbls>
          <c:showLegendKey val="0"/>
          <c:showVal val="0"/>
          <c:showCatName val="0"/>
          <c:showSerName val="0"/>
          <c:showPercent val="0"/>
          <c:showBubbleSize val="0"/>
        </c:dLbls>
        <c:axId val="89757952"/>
        <c:axId val="89829376"/>
      </c:areaChart>
      <c:catAx>
        <c:axId val="89757952"/>
        <c:scaling>
          <c:orientation val="minMax"/>
        </c:scaling>
        <c:delete val="0"/>
        <c:axPos val="b"/>
        <c:majorGridlines>
          <c:spPr>
            <a:ln w="19050">
              <a:solidFill>
                <a:srgbClr val="000000"/>
              </a:solidFill>
              <a:prstDash val="sysDot"/>
            </a:ln>
          </c:spPr>
        </c:majorGridlines>
        <c:numFmt formatCode="General" sourceLinked="0"/>
        <c:majorTickMark val="out"/>
        <c:minorTickMark val="none"/>
        <c:tickLblPos val="nextTo"/>
        <c:txPr>
          <a:bodyPr/>
          <a:lstStyle/>
          <a:p>
            <a:pPr>
              <a:defRPr lang="en-IN" sz="1000"/>
            </a:pPr>
            <a:endParaRPr lang="en-US"/>
          </a:p>
        </c:txPr>
        <c:crossAx val="89829376"/>
        <c:crosses val="autoZero"/>
        <c:auto val="1"/>
        <c:lblAlgn val="ctr"/>
        <c:lblOffset val="100"/>
        <c:noMultiLvlLbl val="0"/>
      </c:catAx>
      <c:valAx>
        <c:axId val="89829376"/>
        <c:scaling>
          <c:orientation val="minMax"/>
        </c:scaling>
        <c:delete val="1"/>
        <c:axPos val="l"/>
        <c:numFmt formatCode="#,##0.00" sourceLinked="0"/>
        <c:majorTickMark val="out"/>
        <c:minorTickMark val="none"/>
        <c:tickLblPos val="none"/>
        <c:crossAx val="89757952"/>
        <c:crosses val="autoZero"/>
        <c:crossBetween val="midCat"/>
      </c:valAx>
      <c:spPr>
        <a:ln w="19050">
          <a:prstDash val="sysDot"/>
        </a:ln>
      </c:spPr>
    </c:plotArea>
    <c:plotVisOnly val="1"/>
    <c:dispBlanksAs val="zero"/>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view3D>
      <c:rotX val="15"/>
      <c:rotY val="20"/>
      <c:rAngAx val="1"/>
    </c:view3D>
    <c:floor>
      <c:thickness val="0"/>
      <c:spPr>
        <a:ln>
          <a:noFill/>
        </a:ln>
      </c:spPr>
    </c:floor>
    <c:sideWall>
      <c:thickness val="0"/>
    </c:sideWall>
    <c:backWall>
      <c:thickness val="0"/>
    </c:backWall>
    <c:plotArea>
      <c:layout/>
      <c:bar3DChart>
        <c:barDir val="bar"/>
        <c:grouping val="clustered"/>
        <c:varyColors val="0"/>
        <c:ser>
          <c:idx val="0"/>
          <c:order val="0"/>
          <c:tx>
            <c:strRef>
              <c:f>Original!$F$46</c:f>
              <c:strCache>
                <c:ptCount val="1"/>
                <c:pt idx="0">
                  <c:v>2015</c:v>
                </c:pt>
              </c:strCache>
            </c:strRef>
          </c:tx>
          <c:spPr>
            <a:solidFill>
              <a:srgbClr val="808080"/>
            </a:solidFill>
          </c:spPr>
          <c:invertIfNegative val="0"/>
          <c:dLbls>
            <c:dLbl>
              <c:idx val="0"/>
              <c:layout>
                <c:manualLayout>
                  <c:x val="3.3068783068783088E-2"/>
                  <c:y val="-4.629629629629664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903-40DC-AC18-EA4E4B576C42}"/>
                </c:ext>
              </c:extLst>
            </c:dLbl>
            <c:dLbl>
              <c:idx val="1"/>
              <c:layout>
                <c:manualLayout>
                  <c:x val="2.3148148148148088E-2"/>
                  <c:y val="-1.388888888888901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903-40DC-AC18-EA4E4B576C42}"/>
                </c:ext>
              </c:extLst>
            </c:dLbl>
            <c:spPr>
              <a:noFill/>
              <a:ln>
                <a:noFill/>
              </a:ln>
              <a:effectLst/>
            </c:spPr>
            <c:txPr>
              <a:bodyPr/>
              <a:lstStyle/>
              <a:p>
                <a:pPr>
                  <a:defRPr lang="en-IN" sz="10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Original!$E$47:$E$48</c:f>
              <c:strCache>
                <c:ptCount val="2"/>
                <c:pt idx="0">
                  <c:v>Push</c:v>
                </c:pt>
                <c:pt idx="1">
                  <c:v>Pull</c:v>
                </c:pt>
              </c:strCache>
            </c:strRef>
          </c:cat>
          <c:val>
            <c:numRef>
              <c:f>Original!$F$47:$F$48</c:f>
              <c:numCache>
                <c:formatCode>0%</c:formatCode>
                <c:ptCount val="2"/>
                <c:pt idx="0">
                  <c:v>0.5700000000000004</c:v>
                </c:pt>
                <c:pt idx="1">
                  <c:v>0.43000000000000022</c:v>
                </c:pt>
              </c:numCache>
            </c:numRef>
          </c:val>
          <c:extLst>
            <c:ext xmlns:c16="http://schemas.microsoft.com/office/drawing/2014/chart" uri="{C3380CC4-5D6E-409C-BE32-E72D297353CC}">
              <c16:uniqueId val="{00000002-C903-40DC-AC18-EA4E4B576C42}"/>
            </c:ext>
          </c:extLst>
        </c:ser>
        <c:ser>
          <c:idx val="1"/>
          <c:order val="1"/>
          <c:tx>
            <c:strRef>
              <c:f>Original!$G$46</c:f>
              <c:strCache>
                <c:ptCount val="1"/>
                <c:pt idx="0">
                  <c:v>2014</c:v>
                </c:pt>
              </c:strCache>
            </c:strRef>
          </c:tx>
          <c:spPr>
            <a:gradFill flip="none" rotWithShape="1">
              <a:gsLst>
                <a:gs pos="0">
                  <a:srgbClr val="A50021">
                    <a:tint val="66000"/>
                    <a:satMod val="160000"/>
                  </a:srgbClr>
                </a:gs>
                <a:gs pos="50000">
                  <a:srgbClr val="A50021">
                    <a:tint val="44500"/>
                    <a:satMod val="160000"/>
                  </a:srgbClr>
                </a:gs>
                <a:gs pos="100000">
                  <a:srgbClr val="A50021">
                    <a:tint val="23500"/>
                    <a:satMod val="160000"/>
                  </a:srgbClr>
                </a:gs>
              </a:gsLst>
              <a:lin ang="2700000" scaled="1"/>
              <a:tileRect/>
            </a:gradFill>
          </c:spPr>
          <c:invertIfNegative val="0"/>
          <c:dPt>
            <c:idx val="0"/>
            <c:invertIfNegative val="0"/>
            <c:bubble3D val="0"/>
            <c:spPr>
              <a:solidFill>
                <a:srgbClr val="A50021">
                  <a:tint val="66000"/>
                  <a:satMod val="160000"/>
                </a:srgbClr>
              </a:solidFill>
            </c:spPr>
            <c:extLst>
              <c:ext xmlns:c16="http://schemas.microsoft.com/office/drawing/2014/chart" uri="{C3380CC4-5D6E-409C-BE32-E72D297353CC}">
                <c16:uniqueId val="{00000003-C903-40DC-AC18-EA4E4B576C42}"/>
              </c:ext>
            </c:extLst>
          </c:dPt>
          <c:dPt>
            <c:idx val="1"/>
            <c:invertIfNegative val="0"/>
            <c:bubble3D val="0"/>
            <c:spPr>
              <a:solidFill>
                <a:srgbClr val="A50021">
                  <a:tint val="66000"/>
                  <a:satMod val="160000"/>
                </a:srgbClr>
              </a:solidFill>
            </c:spPr>
            <c:extLst>
              <c:ext xmlns:c16="http://schemas.microsoft.com/office/drawing/2014/chart" uri="{C3380CC4-5D6E-409C-BE32-E72D297353CC}">
                <c16:uniqueId val="{00000004-C903-40DC-AC18-EA4E4B576C42}"/>
              </c:ext>
            </c:extLst>
          </c:dPt>
          <c:dLbls>
            <c:dLbl>
              <c:idx val="0"/>
              <c:layout>
                <c:manualLayout>
                  <c:x val="3.3068783068783088E-2"/>
                  <c:y val="-1.388888888888901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903-40DC-AC18-EA4E4B576C42}"/>
                </c:ext>
              </c:extLst>
            </c:dLbl>
            <c:dLbl>
              <c:idx val="1"/>
              <c:layout>
                <c:manualLayout>
                  <c:x val="1.984126984126991E-2"/>
                  <c:y val="-2.314814814814808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903-40DC-AC18-EA4E4B576C42}"/>
                </c:ext>
              </c:extLst>
            </c:dLbl>
            <c:spPr>
              <a:noFill/>
              <a:ln>
                <a:noFill/>
              </a:ln>
              <a:effectLst/>
            </c:spPr>
            <c:txPr>
              <a:bodyPr/>
              <a:lstStyle/>
              <a:p>
                <a:pPr>
                  <a:defRPr lang="en-IN" sz="10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Original!$E$47:$E$48</c:f>
              <c:strCache>
                <c:ptCount val="2"/>
                <c:pt idx="0">
                  <c:v>Push</c:v>
                </c:pt>
                <c:pt idx="1">
                  <c:v>Pull</c:v>
                </c:pt>
              </c:strCache>
            </c:strRef>
          </c:cat>
          <c:val>
            <c:numRef>
              <c:f>Original!$G$47:$G$48</c:f>
              <c:numCache>
                <c:formatCode>0%</c:formatCode>
                <c:ptCount val="2"/>
                <c:pt idx="0">
                  <c:v>0.74000000000000243</c:v>
                </c:pt>
                <c:pt idx="1">
                  <c:v>0.26</c:v>
                </c:pt>
              </c:numCache>
            </c:numRef>
          </c:val>
          <c:extLst>
            <c:ext xmlns:c16="http://schemas.microsoft.com/office/drawing/2014/chart" uri="{C3380CC4-5D6E-409C-BE32-E72D297353CC}">
              <c16:uniqueId val="{00000005-C903-40DC-AC18-EA4E4B576C42}"/>
            </c:ext>
          </c:extLst>
        </c:ser>
        <c:dLbls>
          <c:showLegendKey val="0"/>
          <c:showVal val="0"/>
          <c:showCatName val="0"/>
          <c:showSerName val="0"/>
          <c:showPercent val="0"/>
          <c:showBubbleSize val="0"/>
        </c:dLbls>
        <c:gapWidth val="150"/>
        <c:shape val="box"/>
        <c:axId val="91371392"/>
        <c:axId val="91372928"/>
        <c:axId val="0"/>
      </c:bar3DChart>
      <c:catAx>
        <c:axId val="91371392"/>
        <c:scaling>
          <c:orientation val="minMax"/>
        </c:scaling>
        <c:delete val="0"/>
        <c:axPos val="l"/>
        <c:numFmt formatCode="General" sourceLinked="1"/>
        <c:majorTickMark val="out"/>
        <c:minorTickMark val="none"/>
        <c:tickLblPos val="nextTo"/>
        <c:txPr>
          <a:bodyPr/>
          <a:lstStyle/>
          <a:p>
            <a:pPr>
              <a:defRPr lang="en-IN" sz="1200"/>
            </a:pPr>
            <a:endParaRPr lang="en-US"/>
          </a:p>
        </c:txPr>
        <c:crossAx val="91372928"/>
        <c:crosses val="autoZero"/>
        <c:auto val="1"/>
        <c:lblAlgn val="ctr"/>
        <c:lblOffset val="100"/>
        <c:noMultiLvlLbl val="0"/>
      </c:catAx>
      <c:valAx>
        <c:axId val="91372928"/>
        <c:scaling>
          <c:orientation val="minMax"/>
        </c:scaling>
        <c:delete val="1"/>
        <c:axPos val="b"/>
        <c:numFmt formatCode="0%" sourceLinked="1"/>
        <c:majorTickMark val="out"/>
        <c:minorTickMark val="none"/>
        <c:tickLblPos val="none"/>
        <c:crossAx val="91371392"/>
        <c:crosses val="autoZero"/>
        <c:crossBetween val="between"/>
      </c:valAx>
    </c:plotArea>
    <c:legend>
      <c:legendPos val="b"/>
      <c:overlay val="0"/>
      <c:txPr>
        <a:bodyPr/>
        <a:lstStyle/>
        <a:p>
          <a:pPr>
            <a:defRPr lang="en-IN"/>
          </a:pPr>
          <a:endParaRPr lang="en-US"/>
        </a:p>
      </c:txPr>
    </c:legend>
    <c:plotVisOnly val="1"/>
    <c:dispBlanksAs val="gap"/>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manualLayout>
          <c:layoutTarget val="inner"/>
          <c:xMode val="edge"/>
          <c:yMode val="edge"/>
          <c:x val="0.49962817147856536"/>
          <c:y val="2.4179587505265606E-2"/>
          <c:w val="0.505016637264604"/>
          <c:h val="0.94341563786008342"/>
        </c:manualLayout>
      </c:layout>
      <c:barChart>
        <c:barDir val="bar"/>
        <c:grouping val="clustered"/>
        <c:varyColors val="0"/>
        <c:ser>
          <c:idx val="0"/>
          <c:order val="0"/>
          <c:spPr>
            <a:solidFill>
              <a:schemeClr val="bg1">
                <a:lumMod val="50000"/>
              </a:schemeClr>
            </a:solidFill>
          </c:spPr>
          <c:invertIfNegative val="0"/>
          <c:dPt>
            <c:idx val="0"/>
            <c:invertIfNegative val="0"/>
            <c:bubble3D val="0"/>
            <c:spPr>
              <a:solidFill>
                <a:srgbClr val="009592"/>
              </a:solidFill>
            </c:spPr>
            <c:extLst>
              <c:ext xmlns:c16="http://schemas.microsoft.com/office/drawing/2014/chart" uri="{C3380CC4-5D6E-409C-BE32-E72D297353CC}">
                <c16:uniqueId val="{00000000-EFDA-46CA-B232-BB1CC0D0C1FD}"/>
              </c:ext>
            </c:extLst>
          </c:dPt>
          <c:dPt>
            <c:idx val="1"/>
            <c:invertIfNegative val="0"/>
            <c:bubble3D val="0"/>
            <c:spPr>
              <a:solidFill>
                <a:srgbClr val="009592"/>
              </a:solidFill>
            </c:spPr>
            <c:extLst>
              <c:ext xmlns:c16="http://schemas.microsoft.com/office/drawing/2014/chart" uri="{C3380CC4-5D6E-409C-BE32-E72D297353CC}">
                <c16:uniqueId val="{00000001-EFDA-46CA-B232-BB1CC0D0C1FD}"/>
              </c:ext>
            </c:extLst>
          </c:dPt>
          <c:dPt>
            <c:idx val="2"/>
            <c:invertIfNegative val="0"/>
            <c:bubble3D val="0"/>
            <c:spPr>
              <a:solidFill>
                <a:srgbClr val="009592"/>
              </a:solidFill>
            </c:spPr>
            <c:extLst>
              <c:ext xmlns:c16="http://schemas.microsoft.com/office/drawing/2014/chart" uri="{C3380CC4-5D6E-409C-BE32-E72D297353CC}">
                <c16:uniqueId val="{00000002-EFDA-46CA-B232-BB1CC0D0C1FD}"/>
              </c:ext>
            </c:extLst>
          </c:dPt>
          <c:dPt>
            <c:idx val="3"/>
            <c:invertIfNegative val="0"/>
            <c:bubble3D val="0"/>
            <c:spPr>
              <a:solidFill>
                <a:srgbClr val="009592"/>
              </a:solidFill>
            </c:spPr>
            <c:extLst>
              <c:ext xmlns:c16="http://schemas.microsoft.com/office/drawing/2014/chart" uri="{C3380CC4-5D6E-409C-BE32-E72D297353CC}">
                <c16:uniqueId val="{00000003-EFDA-46CA-B232-BB1CC0D0C1FD}"/>
              </c:ext>
            </c:extLst>
          </c:dPt>
          <c:dPt>
            <c:idx val="4"/>
            <c:invertIfNegative val="0"/>
            <c:bubble3D val="0"/>
            <c:spPr>
              <a:solidFill>
                <a:srgbClr val="009592"/>
              </a:solidFill>
            </c:spPr>
            <c:extLst>
              <c:ext xmlns:c16="http://schemas.microsoft.com/office/drawing/2014/chart" uri="{C3380CC4-5D6E-409C-BE32-E72D297353CC}">
                <c16:uniqueId val="{00000004-EFDA-46CA-B232-BB1CC0D0C1FD}"/>
              </c:ext>
            </c:extLst>
          </c:dPt>
          <c:dPt>
            <c:idx val="5"/>
            <c:invertIfNegative val="0"/>
            <c:bubble3D val="0"/>
            <c:spPr>
              <a:solidFill>
                <a:srgbClr val="009592"/>
              </a:solidFill>
            </c:spPr>
            <c:extLst>
              <c:ext xmlns:c16="http://schemas.microsoft.com/office/drawing/2014/chart" uri="{C3380CC4-5D6E-409C-BE32-E72D297353CC}">
                <c16:uniqueId val="{00000005-EFDA-46CA-B232-BB1CC0D0C1FD}"/>
              </c:ext>
            </c:extLst>
          </c:dPt>
          <c:dLbls>
            <c:spPr>
              <a:noFill/>
              <a:ln>
                <a:noFill/>
              </a:ln>
              <a:effectLst/>
            </c:spPr>
            <c:txPr>
              <a:bodyPr/>
              <a:lstStyle/>
              <a:p>
                <a:pPr>
                  <a:defRPr lang="en-IN" sz="11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Original!$H$196:$H$214</c:f>
              <c:strCache>
                <c:ptCount val="19"/>
                <c:pt idx="0">
                  <c:v>Emoluments</c:v>
                </c:pt>
                <c:pt idx="1">
                  <c:v>Location of posting</c:v>
                </c:pt>
                <c:pt idx="2">
                  <c:v>Dissatisfaction with management</c:v>
                </c:pt>
                <c:pt idx="3">
                  <c:v>Low advancement opportunities</c:v>
                </c:pt>
                <c:pt idx="4">
                  <c:v>Family circumstances</c:v>
                </c:pt>
                <c:pt idx="5">
                  <c:v>Change of Industry</c:v>
                </c:pt>
                <c:pt idx="6">
                  <c:v>Relationship with peers &amp; others</c:v>
                </c:pt>
                <c:pt idx="7">
                  <c:v>Dissatisfaction with function / department allocation.</c:v>
                </c:pt>
                <c:pt idx="8">
                  <c:v>Work pressure</c:v>
                </c:pt>
                <c:pt idx="9">
                  <c:v>Relationship with immediate superior</c:v>
                </c:pt>
                <c:pt idx="10">
                  <c:v>Health reasons / issues</c:v>
                </c:pt>
                <c:pt idx="11">
                  <c:v>Job enrichment</c:v>
                </c:pt>
                <c:pt idx="12">
                  <c:v>Not satisfied with job role</c:v>
                </c:pt>
                <c:pt idx="13">
                  <c:v>Work culture</c:v>
                </c:pt>
                <c:pt idx="14">
                  <c:v>Dissatisfaction with company systems, policies and processes</c:v>
                </c:pt>
                <c:pt idx="15">
                  <c:v>Change of location</c:v>
                </c:pt>
                <c:pt idx="16">
                  <c:v>Higher education</c:v>
                </c:pt>
                <c:pt idx="17">
                  <c:v>To start a business</c:v>
                </c:pt>
                <c:pt idx="18">
                  <c:v>Higher role &amp; compensation</c:v>
                </c:pt>
              </c:strCache>
            </c:strRef>
          </c:cat>
          <c:val>
            <c:numRef>
              <c:f>Original!$I$196:$I$214</c:f>
              <c:numCache>
                <c:formatCode>###0%</c:formatCode>
                <c:ptCount val="19"/>
                <c:pt idx="0">
                  <c:v>-6.7588325652841813E-2</c:v>
                </c:pt>
                <c:pt idx="1">
                  <c:v>-6.2528237101292197E-2</c:v>
                </c:pt>
                <c:pt idx="2">
                  <c:v>-6.2031264118550734E-2</c:v>
                </c:pt>
                <c:pt idx="3">
                  <c:v>-5.1399054245354105E-2</c:v>
                </c:pt>
                <c:pt idx="4">
                  <c:v>-3.6941658383783611E-2</c:v>
                </c:pt>
                <c:pt idx="5">
                  <c:v>-1.6927200987922105E-2</c:v>
                </c:pt>
                <c:pt idx="6">
                  <c:v>-1.8523538447637222E-3</c:v>
                </c:pt>
                <c:pt idx="7">
                  <c:v>9.9394596548296678E-4</c:v>
                </c:pt>
                <c:pt idx="8">
                  <c:v>7.1684587813620158E-3</c:v>
                </c:pt>
                <c:pt idx="9">
                  <c:v>9.6533236950694223E-3</c:v>
                </c:pt>
                <c:pt idx="10">
                  <c:v>1.4336917562723992E-2</c:v>
                </c:pt>
                <c:pt idx="11">
                  <c:v>1.7680190355712219E-2</c:v>
                </c:pt>
                <c:pt idx="12">
                  <c:v>2.0767446763651706E-2</c:v>
                </c:pt>
                <c:pt idx="13">
                  <c:v>2.0887925062498112E-2</c:v>
                </c:pt>
                <c:pt idx="14">
                  <c:v>2.4728170838227807E-2</c:v>
                </c:pt>
                <c:pt idx="15">
                  <c:v>2.6204029999096403E-2</c:v>
                </c:pt>
                <c:pt idx="16">
                  <c:v>3.5842293906810117E-2</c:v>
                </c:pt>
                <c:pt idx="17">
                  <c:v>4.3507725670913495E-2</c:v>
                </c:pt>
                <c:pt idx="18">
                  <c:v>7.7497665732959922E-2</c:v>
                </c:pt>
              </c:numCache>
            </c:numRef>
          </c:val>
          <c:extLst>
            <c:ext xmlns:c16="http://schemas.microsoft.com/office/drawing/2014/chart" uri="{C3380CC4-5D6E-409C-BE32-E72D297353CC}">
              <c16:uniqueId val="{00000006-EFDA-46CA-B232-BB1CC0D0C1FD}"/>
            </c:ext>
          </c:extLst>
        </c:ser>
        <c:dLbls>
          <c:showLegendKey val="0"/>
          <c:showVal val="0"/>
          <c:showCatName val="0"/>
          <c:showSerName val="0"/>
          <c:showPercent val="0"/>
          <c:showBubbleSize val="0"/>
        </c:dLbls>
        <c:gapWidth val="150"/>
        <c:axId val="90992000"/>
        <c:axId val="91403392"/>
      </c:barChart>
      <c:catAx>
        <c:axId val="90992000"/>
        <c:scaling>
          <c:orientation val="minMax"/>
        </c:scaling>
        <c:delete val="0"/>
        <c:axPos val="l"/>
        <c:numFmt formatCode="General" sourceLinked="0"/>
        <c:majorTickMark val="out"/>
        <c:minorTickMark val="none"/>
        <c:tickLblPos val="low"/>
        <c:txPr>
          <a:bodyPr/>
          <a:lstStyle/>
          <a:p>
            <a:pPr>
              <a:defRPr lang="en-IN" sz="1100"/>
            </a:pPr>
            <a:endParaRPr lang="en-US"/>
          </a:p>
        </c:txPr>
        <c:crossAx val="91403392"/>
        <c:crosses val="autoZero"/>
        <c:auto val="1"/>
        <c:lblAlgn val="ctr"/>
        <c:lblOffset val="100"/>
        <c:noMultiLvlLbl val="0"/>
      </c:catAx>
      <c:valAx>
        <c:axId val="91403392"/>
        <c:scaling>
          <c:orientation val="minMax"/>
        </c:scaling>
        <c:delete val="1"/>
        <c:axPos val="b"/>
        <c:numFmt formatCode="###0%" sourceLinked="1"/>
        <c:majorTickMark val="out"/>
        <c:minorTickMark val="none"/>
        <c:tickLblPos val="none"/>
        <c:crossAx val="90992000"/>
        <c:crosses val="autoZero"/>
        <c:crossBetween val="between"/>
      </c:valAx>
    </c:plotArea>
    <c:plotVisOnly val="1"/>
    <c:dispBlanksAs val="gap"/>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view3D>
      <c:rotX val="15"/>
      <c:rotY val="20"/>
      <c:rAngAx val="1"/>
    </c:view3D>
    <c:floor>
      <c:thickness val="0"/>
      <c:spPr>
        <a:ln>
          <a:noFill/>
        </a:ln>
      </c:spPr>
    </c:floor>
    <c:sideWall>
      <c:thickness val="0"/>
    </c:sideWall>
    <c:backWall>
      <c:thickness val="0"/>
    </c:backWall>
    <c:plotArea>
      <c:layout/>
      <c:bar3DChart>
        <c:barDir val="col"/>
        <c:grouping val="clustered"/>
        <c:varyColors val="0"/>
        <c:ser>
          <c:idx val="0"/>
          <c:order val="0"/>
          <c:tx>
            <c:strRef>
              <c:f>Original!$F$151</c:f>
              <c:strCache>
                <c:ptCount val="1"/>
                <c:pt idx="0">
                  <c:v>2014</c:v>
                </c:pt>
              </c:strCache>
            </c:strRef>
          </c:tx>
          <c:spPr>
            <a:solidFill>
              <a:srgbClr val="009592"/>
            </a:solidFill>
          </c:spPr>
          <c:invertIfNegative val="0"/>
          <c:dLbls>
            <c:dLbl>
              <c:idx val="0"/>
              <c:layout>
                <c:manualLayout>
                  <c:x val="9.259259259259342E-3"/>
                  <c:y val="-6.944444444444464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F384-4D11-9C1D-B35EC4C0B1A6}"/>
                </c:ext>
              </c:extLst>
            </c:dLbl>
            <c:spPr>
              <a:noFill/>
              <a:ln>
                <a:noFill/>
              </a:ln>
              <a:effectLst/>
            </c:spPr>
            <c:txPr>
              <a:bodyPr/>
              <a:lstStyle/>
              <a:p>
                <a:pPr>
                  <a:defRPr lang="en-IN" sz="10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Original!$E$152:$E$154</c:f>
              <c:strCache>
                <c:ptCount val="3"/>
                <c:pt idx="0">
                  <c:v>Supervision Related</c:v>
                </c:pt>
                <c:pt idx="1">
                  <c:v>Better / Advancement Opportunity</c:v>
                </c:pt>
                <c:pt idx="2">
                  <c:v>Work Environment</c:v>
                </c:pt>
              </c:strCache>
            </c:strRef>
          </c:cat>
          <c:val>
            <c:numRef>
              <c:f>Original!$F$152:$F$154</c:f>
              <c:numCache>
                <c:formatCode>0%</c:formatCode>
                <c:ptCount val="3"/>
                <c:pt idx="0">
                  <c:v>0.58000000000000007</c:v>
                </c:pt>
                <c:pt idx="1">
                  <c:v>0.46</c:v>
                </c:pt>
                <c:pt idx="2">
                  <c:v>0.27</c:v>
                </c:pt>
              </c:numCache>
            </c:numRef>
          </c:val>
          <c:extLst>
            <c:ext xmlns:c16="http://schemas.microsoft.com/office/drawing/2014/chart" uri="{C3380CC4-5D6E-409C-BE32-E72D297353CC}">
              <c16:uniqueId val="{00000001-F384-4D11-9C1D-B35EC4C0B1A6}"/>
            </c:ext>
          </c:extLst>
        </c:ser>
        <c:ser>
          <c:idx val="1"/>
          <c:order val="1"/>
          <c:tx>
            <c:strRef>
              <c:f>Original!$G$151</c:f>
              <c:strCache>
                <c:ptCount val="1"/>
                <c:pt idx="0">
                  <c:v>2015</c:v>
                </c:pt>
              </c:strCache>
            </c:strRef>
          </c:tx>
          <c:spPr>
            <a:solidFill>
              <a:srgbClr val="F0D5D4"/>
            </a:solidFill>
          </c:spPr>
          <c:invertIfNegative val="0"/>
          <c:dLbls>
            <c:dLbl>
              <c:idx val="0"/>
              <c:layout>
                <c:manualLayout>
                  <c:x val="2.2222222222222202E-2"/>
                  <c:y val="-2.777777777777803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F384-4D11-9C1D-B35EC4C0B1A6}"/>
                </c:ext>
              </c:extLst>
            </c:dLbl>
            <c:dLbl>
              <c:idx val="1"/>
              <c:layout>
                <c:manualLayout>
                  <c:x val="2.2222222222222202E-2"/>
                  <c:y val="-1.851851851851861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F384-4D11-9C1D-B35EC4C0B1A6}"/>
                </c:ext>
              </c:extLst>
            </c:dLbl>
            <c:dLbl>
              <c:idx val="2"/>
              <c:layout>
                <c:manualLayout>
                  <c:x val="3.6111111111111219E-2"/>
                  <c:y val="-1.851851851851861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F384-4D11-9C1D-B35EC4C0B1A6}"/>
                </c:ext>
              </c:extLst>
            </c:dLbl>
            <c:spPr>
              <a:noFill/>
              <a:ln>
                <a:noFill/>
              </a:ln>
              <a:effectLst/>
            </c:spPr>
            <c:txPr>
              <a:bodyPr/>
              <a:lstStyle/>
              <a:p>
                <a:pPr>
                  <a:defRPr lang="en-IN" sz="10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Original!$E$152:$E$154</c:f>
              <c:strCache>
                <c:ptCount val="3"/>
                <c:pt idx="0">
                  <c:v>Supervision Related</c:v>
                </c:pt>
                <c:pt idx="1">
                  <c:v>Better / Advancement Opportunity</c:v>
                </c:pt>
                <c:pt idx="2">
                  <c:v>Work Environment</c:v>
                </c:pt>
              </c:strCache>
            </c:strRef>
          </c:cat>
          <c:val>
            <c:numRef>
              <c:f>Original!$G$152:$G$154</c:f>
              <c:numCache>
                <c:formatCode>0%</c:formatCode>
                <c:ptCount val="3"/>
                <c:pt idx="0">
                  <c:v>0.15000000000000011</c:v>
                </c:pt>
                <c:pt idx="1">
                  <c:v>0.44</c:v>
                </c:pt>
                <c:pt idx="2">
                  <c:v>0.33000000000000135</c:v>
                </c:pt>
              </c:numCache>
            </c:numRef>
          </c:val>
          <c:extLst>
            <c:ext xmlns:c16="http://schemas.microsoft.com/office/drawing/2014/chart" uri="{C3380CC4-5D6E-409C-BE32-E72D297353CC}">
              <c16:uniqueId val="{00000005-F384-4D11-9C1D-B35EC4C0B1A6}"/>
            </c:ext>
          </c:extLst>
        </c:ser>
        <c:dLbls>
          <c:showLegendKey val="0"/>
          <c:showVal val="0"/>
          <c:showCatName val="0"/>
          <c:showSerName val="0"/>
          <c:showPercent val="0"/>
          <c:showBubbleSize val="0"/>
        </c:dLbls>
        <c:gapWidth val="150"/>
        <c:shape val="box"/>
        <c:axId val="91396352"/>
        <c:axId val="91787264"/>
        <c:axId val="0"/>
      </c:bar3DChart>
      <c:catAx>
        <c:axId val="91396352"/>
        <c:scaling>
          <c:orientation val="minMax"/>
        </c:scaling>
        <c:delete val="0"/>
        <c:axPos val="b"/>
        <c:numFmt formatCode="General" sourceLinked="0"/>
        <c:majorTickMark val="out"/>
        <c:minorTickMark val="none"/>
        <c:tickLblPos val="nextTo"/>
        <c:txPr>
          <a:bodyPr/>
          <a:lstStyle/>
          <a:p>
            <a:pPr>
              <a:defRPr lang="en-IN" sz="1000"/>
            </a:pPr>
            <a:endParaRPr lang="en-US"/>
          </a:p>
        </c:txPr>
        <c:crossAx val="91787264"/>
        <c:crosses val="autoZero"/>
        <c:auto val="1"/>
        <c:lblAlgn val="ctr"/>
        <c:lblOffset val="100"/>
        <c:noMultiLvlLbl val="0"/>
      </c:catAx>
      <c:valAx>
        <c:axId val="91787264"/>
        <c:scaling>
          <c:orientation val="minMax"/>
        </c:scaling>
        <c:delete val="1"/>
        <c:axPos val="l"/>
        <c:numFmt formatCode="0%" sourceLinked="1"/>
        <c:majorTickMark val="out"/>
        <c:minorTickMark val="none"/>
        <c:tickLblPos val="none"/>
        <c:crossAx val="91396352"/>
        <c:crosses val="autoZero"/>
        <c:crossBetween val="between"/>
      </c:valAx>
    </c:plotArea>
    <c:legend>
      <c:legendPos val="r"/>
      <c:overlay val="0"/>
      <c:txPr>
        <a:bodyPr/>
        <a:lstStyle/>
        <a:p>
          <a:pPr>
            <a:defRPr lang="en-IN"/>
          </a:pPr>
          <a:endParaRPr lang="en-US"/>
        </a:p>
      </c:txPr>
    </c:legend>
    <c:plotVisOnly val="1"/>
    <c:dispBlanksAs val="gap"/>
    <c:showDLblsOverMax val="0"/>
  </c:chart>
  <c:txPr>
    <a:bodyPr/>
    <a:lstStyle/>
    <a:p>
      <a:pPr>
        <a:defRPr>
          <a:latin typeface="Calibri" pitchFamily="34" charset="0"/>
          <a:cs typeface="Calibri" pitchFamily="34" charset="0"/>
        </a:defRPr>
      </a:pPr>
      <a:endParaRPr lang="en-US"/>
    </a:p>
  </c:txPr>
  <c:externalData r:id="rId2">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view3D>
      <c:rotX val="15"/>
      <c:rotY val="20"/>
      <c:rAngAx val="1"/>
    </c:view3D>
    <c:floor>
      <c:thickness val="0"/>
      <c:spPr>
        <a:ln>
          <a:noFill/>
        </a:ln>
      </c:spPr>
    </c:floor>
    <c:sideWall>
      <c:thickness val="0"/>
    </c:sideWall>
    <c:backWall>
      <c:thickness val="0"/>
    </c:backWall>
    <c:plotArea>
      <c:layout/>
      <c:bar3DChart>
        <c:barDir val="col"/>
        <c:grouping val="clustered"/>
        <c:varyColors val="0"/>
        <c:ser>
          <c:idx val="0"/>
          <c:order val="0"/>
          <c:tx>
            <c:strRef>
              <c:f>Sheet1!$U$277</c:f>
              <c:strCache>
                <c:ptCount val="1"/>
                <c:pt idx="0">
                  <c:v>2014</c:v>
                </c:pt>
              </c:strCache>
            </c:strRef>
          </c:tx>
          <c:spPr>
            <a:solidFill>
              <a:srgbClr val="333399"/>
            </a:solidFill>
          </c:spPr>
          <c:invertIfNegative val="0"/>
          <c:dLbls>
            <c:dLbl>
              <c:idx val="0"/>
              <c:layout>
                <c:manualLayout>
                  <c:x val="1.1111111111111101E-2"/>
                  <c:y val="-2.777777777777794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BD0-4311-AC6A-3EA2DA49E2E6}"/>
                </c:ext>
              </c:extLst>
            </c:dLbl>
            <c:dLbl>
              <c:idx val="1"/>
              <c:layout>
                <c:manualLayout>
                  <c:x val="8.3333333333333523E-3"/>
                  <c:y val="-4.629620516185476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BD0-4311-AC6A-3EA2DA49E2E6}"/>
                </c:ext>
              </c:extLst>
            </c:dLbl>
            <c:spPr>
              <a:noFill/>
              <a:ln>
                <a:noFill/>
              </a:ln>
              <a:effectLst/>
            </c:spPr>
            <c:txPr>
              <a:bodyPr/>
              <a:lstStyle/>
              <a:p>
                <a:pPr>
                  <a:defRPr lang="en-IN"/>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Sheet1!$T$278:$T$279</c:f>
              <c:strCache>
                <c:ptCount val="2"/>
                <c:pt idx="0">
                  <c:v>Joined Pharma Industry</c:v>
                </c:pt>
                <c:pt idx="1">
                  <c:v>Joined Other Industry</c:v>
                </c:pt>
              </c:strCache>
            </c:strRef>
          </c:cat>
          <c:val>
            <c:numRef>
              <c:f>Sheet1!$U$278:$U$279</c:f>
              <c:numCache>
                <c:formatCode>0%</c:formatCode>
                <c:ptCount val="2"/>
                <c:pt idx="0">
                  <c:v>0.9</c:v>
                </c:pt>
                <c:pt idx="1">
                  <c:v>0.1</c:v>
                </c:pt>
              </c:numCache>
            </c:numRef>
          </c:val>
          <c:extLst>
            <c:ext xmlns:c16="http://schemas.microsoft.com/office/drawing/2014/chart" uri="{C3380CC4-5D6E-409C-BE32-E72D297353CC}">
              <c16:uniqueId val="{00000002-4BD0-4311-AC6A-3EA2DA49E2E6}"/>
            </c:ext>
          </c:extLst>
        </c:ser>
        <c:ser>
          <c:idx val="1"/>
          <c:order val="1"/>
          <c:tx>
            <c:strRef>
              <c:f>Sheet1!$V$277</c:f>
              <c:strCache>
                <c:ptCount val="1"/>
                <c:pt idx="0">
                  <c:v>2015</c:v>
                </c:pt>
              </c:strCache>
            </c:strRef>
          </c:tx>
          <c:spPr>
            <a:solidFill>
              <a:srgbClr val="FFFFFF">
                <a:lumMod val="75000"/>
              </a:srgbClr>
            </a:solidFill>
          </c:spPr>
          <c:invertIfNegative val="0"/>
          <c:dLbls>
            <c:dLbl>
              <c:idx val="0"/>
              <c:layout>
                <c:manualLayout>
                  <c:x val="1.7813051146384505E-2"/>
                  <c:y val="-3.125E-2"/>
                </c:manualLayout>
              </c:layout>
              <c:tx>
                <c:rich>
                  <a:bodyPr/>
                  <a:lstStyle/>
                  <a:p>
                    <a:r>
                      <a:rPr lang="en-US" dirty="0"/>
                      <a:t>59%</a:t>
                    </a:r>
                    <a:r>
                      <a:rPr lang="en-US" dirty="0">
                        <a:solidFill>
                          <a:srgbClr val="FF0000"/>
                        </a:solidFill>
                      </a:rPr>
                      <a: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4BD0-4311-AC6A-3EA2DA49E2E6}"/>
                </c:ext>
              </c:extLst>
            </c:dLbl>
            <c:dLbl>
              <c:idx val="1"/>
              <c:layout>
                <c:manualLayout>
                  <c:x val="2.2222222222222202E-2"/>
                  <c:y val="-3.2407407407407531E-2"/>
                </c:manualLayout>
              </c:layout>
              <c:tx>
                <c:rich>
                  <a:bodyPr/>
                  <a:lstStyle/>
                  <a:p>
                    <a:r>
                      <a:rPr lang="en-US" dirty="0"/>
                      <a:t>41%</a:t>
                    </a:r>
                    <a:r>
                      <a:rPr lang="en-US" dirty="0">
                        <a:solidFill>
                          <a:srgbClr val="FF0000"/>
                        </a:solidFill>
                      </a:rPr>
                      <a: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4BD0-4311-AC6A-3EA2DA49E2E6}"/>
                </c:ext>
              </c:extLst>
            </c:dLbl>
            <c:spPr>
              <a:noFill/>
              <a:ln>
                <a:noFill/>
              </a:ln>
              <a:effectLst/>
            </c:spPr>
            <c:txPr>
              <a:bodyPr/>
              <a:lstStyle/>
              <a:p>
                <a:pPr>
                  <a:defRPr lang="en-IN"/>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Sheet1!$T$278:$T$279</c:f>
              <c:strCache>
                <c:ptCount val="2"/>
                <c:pt idx="0">
                  <c:v>Joined Pharma Industry</c:v>
                </c:pt>
                <c:pt idx="1">
                  <c:v>Joined Other Industry</c:v>
                </c:pt>
              </c:strCache>
            </c:strRef>
          </c:cat>
          <c:val>
            <c:numRef>
              <c:f>Sheet1!$V$278:$V$279</c:f>
              <c:numCache>
                <c:formatCode>0%</c:formatCode>
                <c:ptCount val="2"/>
                <c:pt idx="0">
                  <c:v>0.59</c:v>
                </c:pt>
                <c:pt idx="1">
                  <c:v>0.4100000000000002</c:v>
                </c:pt>
              </c:numCache>
            </c:numRef>
          </c:val>
          <c:extLst>
            <c:ext xmlns:c16="http://schemas.microsoft.com/office/drawing/2014/chart" uri="{C3380CC4-5D6E-409C-BE32-E72D297353CC}">
              <c16:uniqueId val="{00000005-4BD0-4311-AC6A-3EA2DA49E2E6}"/>
            </c:ext>
          </c:extLst>
        </c:ser>
        <c:dLbls>
          <c:showLegendKey val="0"/>
          <c:showVal val="0"/>
          <c:showCatName val="0"/>
          <c:showSerName val="0"/>
          <c:showPercent val="0"/>
          <c:showBubbleSize val="0"/>
        </c:dLbls>
        <c:gapWidth val="150"/>
        <c:shape val="box"/>
        <c:axId val="91334912"/>
        <c:axId val="91635712"/>
        <c:axId val="0"/>
      </c:bar3DChart>
      <c:catAx>
        <c:axId val="91334912"/>
        <c:scaling>
          <c:orientation val="minMax"/>
        </c:scaling>
        <c:delete val="0"/>
        <c:axPos val="b"/>
        <c:numFmt formatCode="General" sourceLinked="1"/>
        <c:majorTickMark val="out"/>
        <c:minorTickMark val="none"/>
        <c:tickLblPos val="nextTo"/>
        <c:txPr>
          <a:bodyPr/>
          <a:lstStyle/>
          <a:p>
            <a:pPr>
              <a:defRPr lang="en-IN"/>
            </a:pPr>
            <a:endParaRPr lang="en-US"/>
          </a:p>
        </c:txPr>
        <c:crossAx val="91635712"/>
        <c:crosses val="autoZero"/>
        <c:auto val="1"/>
        <c:lblAlgn val="ctr"/>
        <c:lblOffset val="100"/>
        <c:noMultiLvlLbl val="0"/>
      </c:catAx>
      <c:valAx>
        <c:axId val="91635712"/>
        <c:scaling>
          <c:orientation val="minMax"/>
        </c:scaling>
        <c:delete val="1"/>
        <c:axPos val="l"/>
        <c:numFmt formatCode="0%" sourceLinked="1"/>
        <c:majorTickMark val="out"/>
        <c:minorTickMark val="none"/>
        <c:tickLblPos val="none"/>
        <c:crossAx val="91334912"/>
        <c:crosses val="autoZero"/>
        <c:crossBetween val="between"/>
      </c:valAx>
    </c:plotArea>
    <c:legend>
      <c:legendPos val="r"/>
      <c:overlay val="0"/>
      <c:txPr>
        <a:bodyPr/>
        <a:lstStyle/>
        <a:p>
          <a:pPr>
            <a:defRPr lang="en-IN"/>
          </a:pPr>
          <a:endParaRPr lang="en-US"/>
        </a:p>
      </c:txPr>
    </c:legend>
    <c:plotVisOnly val="1"/>
    <c:dispBlanksAs val="gap"/>
    <c:showDLblsOverMax val="0"/>
  </c:chart>
  <c:txPr>
    <a:bodyPr/>
    <a:lstStyle/>
    <a:p>
      <a:pPr>
        <a:defRPr sz="1100">
          <a:latin typeface="Calibri" pitchFamily="34" charset="0"/>
          <a:cs typeface="Calibri" pitchFamily="34" charset="0"/>
        </a:defRPr>
      </a:pPr>
      <a:endParaRPr lang="en-US"/>
    </a:p>
  </c:txPr>
  <c:externalData r:id="rId2">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1"/>
    </mc:Choice>
    <mc:Fallback>
      <c:style val="31"/>
    </mc:Fallback>
  </mc:AlternateContent>
  <c:chart>
    <c:autoTitleDeleted val="0"/>
    <c:plotArea>
      <c:layout/>
      <c:pieChart>
        <c:varyColors val="1"/>
        <c:ser>
          <c:idx val="0"/>
          <c:order val="0"/>
          <c:dPt>
            <c:idx val="0"/>
            <c:bubble3D val="0"/>
            <c:spPr>
              <a:solidFill>
                <a:schemeClr val="bg1">
                  <a:lumMod val="75000"/>
                </a:schemeClr>
              </a:solidFill>
              <a:ln>
                <a:solidFill>
                  <a:schemeClr val="bg1">
                    <a:lumMod val="85000"/>
                  </a:schemeClr>
                </a:solidFill>
              </a:ln>
            </c:spPr>
            <c:extLst>
              <c:ext xmlns:c16="http://schemas.microsoft.com/office/drawing/2014/chart" uri="{C3380CC4-5D6E-409C-BE32-E72D297353CC}">
                <c16:uniqueId val="{00000000-0954-4E9A-912C-3D0E54BD9049}"/>
              </c:ext>
            </c:extLst>
          </c:dPt>
          <c:dPt>
            <c:idx val="1"/>
            <c:bubble3D val="0"/>
            <c:spPr>
              <a:solidFill>
                <a:srgbClr val="17375E"/>
              </a:solidFill>
            </c:spPr>
            <c:extLst>
              <c:ext xmlns:c16="http://schemas.microsoft.com/office/drawing/2014/chart" uri="{C3380CC4-5D6E-409C-BE32-E72D297353CC}">
                <c16:uniqueId val="{00000001-0954-4E9A-912C-3D0E54BD9049}"/>
              </c:ext>
            </c:extLst>
          </c:dPt>
          <c:dPt>
            <c:idx val="2"/>
            <c:bubble3D val="0"/>
            <c:spPr>
              <a:gradFill flip="none" rotWithShape="1">
                <a:gsLst>
                  <a:gs pos="0">
                    <a:srgbClr val="009592">
                      <a:shade val="30000"/>
                      <a:satMod val="115000"/>
                    </a:srgbClr>
                  </a:gs>
                  <a:gs pos="50000">
                    <a:srgbClr val="009592">
                      <a:shade val="67500"/>
                      <a:satMod val="115000"/>
                    </a:srgbClr>
                  </a:gs>
                  <a:gs pos="100000">
                    <a:srgbClr val="009592">
                      <a:shade val="100000"/>
                      <a:satMod val="115000"/>
                    </a:srgbClr>
                  </a:gs>
                </a:gsLst>
                <a:lin ang="2700000" scaled="1"/>
                <a:tileRect/>
              </a:gradFill>
            </c:spPr>
            <c:extLst>
              <c:ext xmlns:c16="http://schemas.microsoft.com/office/drawing/2014/chart" uri="{C3380CC4-5D6E-409C-BE32-E72D297353CC}">
                <c16:uniqueId val="{00000002-0954-4E9A-912C-3D0E54BD9049}"/>
              </c:ext>
            </c:extLst>
          </c:dPt>
          <c:dLbls>
            <c:dLbl>
              <c:idx val="0"/>
              <c:tx>
                <c:rich>
                  <a:bodyPr/>
                  <a:lstStyle/>
                  <a:p>
                    <a:r>
                      <a:rPr lang="en-US" sz="1200" b="0" dirty="0">
                        <a:latin typeface="Calibri" pitchFamily="34" charset="0"/>
                        <a:cs typeface="Calibri" pitchFamily="34" charset="0"/>
                      </a:rPr>
                      <a:t>Y</a:t>
                    </a:r>
                    <a:r>
                      <a:rPr lang="en-US" sz="1000" dirty="0">
                        <a:latin typeface="Calibri" pitchFamily="34" charset="0"/>
                        <a:cs typeface="Calibri" pitchFamily="34" charset="0"/>
                      </a:rPr>
                      <a:t>es</a:t>
                    </a:r>
                  </a:p>
                  <a:p>
                    <a:r>
                      <a:rPr lang="en-US" sz="1000" dirty="0">
                        <a:latin typeface="Calibri" pitchFamily="34" charset="0"/>
                        <a:cs typeface="Calibri" pitchFamily="34" charset="0"/>
                      </a:rPr>
                      <a:t> 20%</a:t>
                    </a:r>
                  </a:p>
                </c:rich>
              </c:tx>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954-4E9A-912C-3D0E54BD9049}"/>
                </c:ext>
              </c:extLst>
            </c:dLbl>
            <c:dLbl>
              <c:idx val="1"/>
              <c:tx>
                <c:rich>
                  <a:bodyPr/>
                  <a:lstStyle/>
                  <a:p>
                    <a:pPr>
                      <a:defRPr lang="en-IN" sz="1200" b="0">
                        <a:solidFill>
                          <a:schemeClr val="bg1"/>
                        </a:solidFill>
                        <a:latin typeface="Calibri" pitchFamily="34" charset="0"/>
                        <a:cs typeface="Calibri" pitchFamily="34" charset="0"/>
                      </a:defRPr>
                    </a:pPr>
                    <a:r>
                      <a:rPr lang="en-US" sz="1200" b="0">
                        <a:solidFill>
                          <a:schemeClr val="bg1"/>
                        </a:solidFill>
                        <a:latin typeface="Calibri" pitchFamily="34" charset="0"/>
                        <a:cs typeface="Calibri" pitchFamily="34" charset="0"/>
                      </a:rPr>
                      <a:t>N</a:t>
                    </a:r>
                    <a:r>
                      <a:rPr lang="en-US" sz="1000">
                        <a:solidFill>
                          <a:schemeClr val="bg1"/>
                        </a:solidFill>
                        <a:latin typeface="Calibri" pitchFamily="34" charset="0"/>
                        <a:cs typeface="Calibri" pitchFamily="34" charset="0"/>
                      </a:rPr>
                      <a:t>o </a:t>
                    </a:r>
                  </a:p>
                  <a:p>
                    <a:pPr>
                      <a:defRPr lang="en-IN" sz="1200" b="0">
                        <a:solidFill>
                          <a:schemeClr val="bg1"/>
                        </a:solidFill>
                        <a:latin typeface="Calibri" pitchFamily="34" charset="0"/>
                        <a:cs typeface="Calibri" pitchFamily="34" charset="0"/>
                      </a:defRPr>
                    </a:pPr>
                    <a:r>
                      <a:rPr lang="en-US" sz="1000">
                        <a:solidFill>
                          <a:schemeClr val="bg1"/>
                        </a:solidFill>
                        <a:latin typeface="Calibri" pitchFamily="34" charset="0"/>
                        <a:cs typeface="Calibri" pitchFamily="34" charset="0"/>
                      </a:rPr>
                      <a:t> 75%</a:t>
                    </a:r>
                  </a:p>
                </c:rich>
              </c:tx>
              <c:sp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954-4E9A-912C-3D0E54BD9049}"/>
                </c:ext>
              </c:extLst>
            </c:dLbl>
            <c:dLbl>
              <c:idx val="2"/>
              <c:tx>
                <c:rich>
                  <a:bodyPr/>
                  <a:lstStyle/>
                  <a:p>
                    <a:r>
                      <a:rPr lang="en-US" sz="1200" b="0" dirty="0">
                        <a:latin typeface="Calibri" pitchFamily="34" charset="0"/>
                        <a:cs typeface="Calibri" pitchFamily="34" charset="0"/>
                      </a:rPr>
                      <a:t>M</a:t>
                    </a:r>
                    <a:r>
                      <a:rPr lang="en-US" sz="1200" dirty="0">
                        <a:latin typeface="Calibri" pitchFamily="34" charset="0"/>
                        <a:cs typeface="Calibri" pitchFamily="34" charset="0"/>
                      </a:rPr>
                      <a:t>ay be</a:t>
                    </a:r>
                  </a:p>
                  <a:p>
                    <a:r>
                      <a:rPr lang="en-US" sz="1000" dirty="0">
                        <a:latin typeface="Calibri" pitchFamily="34" charset="0"/>
                        <a:cs typeface="Calibri" pitchFamily="34" charset="0"/>
                      </a:rPr>
                      <a:t> 5%</a:t>
                    </a:r>
                  </a:p>
                </c:rich>
              </c:tx>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954-4E9A-912C-3D0E54BD9049}"/>
                </c:ext>
              </c:extLst>
            </c:dLbl>
            <c:spPr>
              <a:noFill/>
              <a:ln>
                <a:noFill/>
              </a:ln>
              <a:effectLst/>
            </c:spPr>
            <c:txPr>
              <a:bodyPr/>
              <a:lstStyle/>
              <a:p>
                <a:pPr>
                  <a:defRPr lang="en-IN" sz="1200" b="0">
                    <a:latin typeface="Calibri" pitchFamily="34" charset="0"/>
                    <a:cs typeface="Calibri" pitchFamily="34" charset="0"/>
                  </a:defRPr>
                </a:pPr>
                <a:endParaRPr lang="en-US"/>
              </a:p>
            </c:txPr>
            <c:dLblPos val="bestFit"/>
            <c:showLegendKey val="0"/>
            <c:showVal val="1"/>
            <c:showCatName val="1"/>
            <c:showSerName val="0"/>
            <c:showPercent val="0"/>
            <c:showBubbleSize val="0"/>
            <c:showLeaderLines val="1"/>
            <c:extLst>
              <c:ext xmlns:c15="http://schemas.microsoft.com/office/drawing/2012/chart" uri="{CE6537A1-D6FC-4f65-9D91-7224C49458BB}"/>
            </c:extLst>
          </c:dLbls>
          <c:cat>
            <c:strRef>
              <c:f>'TOP 3 Factor (ori) '!$C$180:$E$180</c:f>
              <c:strCache>
                <c:ptCount val="3"/>
                <c:pt idx="0">
                  <c:v>Yes</c:v>
                </c:pt>
                <c:pt idx="1">
                  <c:v>No</c:v>
                </c:pt>
                <c:pt idx="2">
                  <c:v>May be</c:v>
                </c:pt>
              </c:strCache>
            </c:strRef>
          </c:cat>
          <c:val>
            <c:numRef>
              <c:f>'TOP 3 Factor (ori) '!$C$186:$E$186</c:f>
              <c:numCache>
                <c:formatCode>###0%</c:formatCode>
                <c:ptCount val="3"/>
                <c:pt idx="0">
                  <c:v>0.2</c:v>
                </c:pt>
                <c:pt idx="1">
                  <c:v>0.75000000000000344</c:v>
                </c:pt>
                <c:pt idx="2">
                  <c:v>0.05</c:v>
                </c:pt>
              </c:numCache>
            </c:numRef>
          </c:val>
          <c:extLst>
            <c:ext xmlns:c16="http://schemas.microsoft.com/office/drawing/2014/chart" uri="{C3380CC4-5D6E-409C-BE32-E72D297353CC}">
              <c16:uniqueId val="{00000003-0954-4E9A-912C-3D0E54BD9049}"/>
            </c:ext>
          </c:extLst>
        </c:ser>
        <c:dLbls>
          <c:showLegendKey val="0"/>
          <c:showVal val="0"/>
          <c:showCatName val="0"/>
          <c:showSerName val="0"/>
          <c:showPercent val="0"/>
          <c:showBubbleSize val="0"/>
          <c:showLeaderLines val="1"/>
        </c:dLbls>
        <c:firstSliceAng val="0"/>
      </c:pieChart>
    </c:plotArea>
    <c:plotVisOnly val="1"/>
    <c:dispBlanksAs val="zero"/>
    <c:showDLblsOverMax val="0"/>
  </c:chart>
  <c:txPr>
    <a:bodyPr/>
    <a:lstStyle/>
    <a:p>
      <a:pPr>
        <a:defRPr sz="1800"/>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23"/>
    </mc:Choice>
    <mc:Fallback>
      <c:style val="23"/>
    </mc:Fallback>
  </mc:AlternateContent>
  <c:chart>
    <c:autoTitleDeleted val="0"/>
    <c:plotArea>
      <c:layout/>
      <c:pieChart>
        <c:varyColors val="1"/>
        <c:ser>
          <c:idx val="0"/>
          <c:order val="0"/>
          <c:dPt>
            <c:idx val="0"/>
            <c:bubble3D val="0"/>
            <c:spPr>
              <a:solidFill>
                <a:srgbClr val="17375E"/>
              </a:solidFill>
            </c:spPr>
            <c:extLst>
              <c:ext xmlns:c16="http://schemas.microsoft.com/office/drawing/2014/chart" uri="{C3380CC4-5D6E-409C-BE32-E72D297353CC}">
                <c16:uniqueId val="{00000000-4173-4D73-B0F7-8A30EC2B1CBF}"/>
              </c:ext>
            </c:extLst>
          </c:dPt>
          <c:dPt>
            <c:idx val="1"/>
            <c:bubble3D val="0"/>
            <c:spPr>
              <a:gradFill flip="none" rotWithShape="1">
                <a:gsLst>
                  <a:gs pos="0">
                    <a:srgbClr val="009592">
                      <a:shade val="30000"/>
                      <a:satMod val="115000"/>
                    </a:srgbClr>
                  </a:gs>
                  <a:gs pos="50000">
                    <a:srgbClr val="009592">
                      <a:shade val="67500"/>
                      <a:satMod val="115000"/>
                    </a:srgbClr>
                  </a:gs>
                  <a:gs pos="100000">
                    <a:srgbClr val="009592">
                      <a:shade val="100000"/>
                      <a:satMod val="115000"/>
                    </a:srgbClr>
                  </a:gs>
                </a:gsLst>
                <a:lin ang="2700000" scaled="1"/>
                <a:tileRect/>
              </a:gradFill>
            </c:spPr>
            <c:extLst>
              <c:ext xmlns:c16="http://schemas.microsoft.com/office/drawing/2014/chart" uri="{C3380CC4-5D6E-409C-BE32-E72D297353CC}">
                <c16:uniqueId val="{00000001-4173-4D73-B0F7-8A30EC2B1CBF}"/>
              </c:ext>
            </c:extLst>
          </c:dPt>
          <c:dPt>
            <c:idx val="2"/>
            <c:bubble3D val="0"/>
            <c:spPr>
              <a:solidFill>
                <a:schemeClr val="bg1">
                  <a:lumMod val="75000"/>
                </a:schemeClr>
              </a:solidFill>
            </c:spPr>
            <c:extLst>
              <c:ext xmlns:c16="http://schemas.microsoft.com/office/drawing/2014/chart" uri="{C3380CC4-5D6E-409C-BE32-E72D297353CC}">
                <c16:uniqueId val="{00000002-4173-4D73-B0F7-8A30EC2B1CBF}"/>
              </c:ext>
            </c:extLst>
          </c:dPt>
          <c:dLbls>
            <c:dLbl>
              <c:idx val="0"/>
              <c:tx>
                <c:rich>
                  <a:bodyPr/>
                  <a:lstStyle/>
                  <a:p>
                    <a:pPr>
                      <a:defRPr lang="en-IN" sz="1200" b="0">
                        <a:solidFill>
                          <a:schemeClr val="bg1"/>
                        </a:solidFill>
                        <a:latin typeface="Calibri" pitchFamily="34" charset="0"/>
                        <a:cs typeface="Calibri" pitchFamily="34" charset="0"/>
                      </a:defRPr>
                    </a:pPr>
                    <a:r>
                      <a:rPr lang="en-US" sz="1200" b="0">
                        <a:solidFill>
                          <a:schemeClr val="bg1"/>
                        </a:solidFill>
                        <a:latin typeface="Calibri" pitchFamily="34" charset="0"/>
                        <a:cs typeface="Calibri" pitchFamily="34" charset="0"/>
                      </a:rPr>
                      <a:t>A</a:t>
                    </a:r>
                    <a:r>
                      <a:rPr lang="en-US" sz="1000" b="0">
                        <a:solidFill>
                          <a:schemeClr val="bg1"/>
                        </a:solidFill>
                        <a:latin typeface="Calibri" pitchFamily="34" charset="0"/>
                        <a:cs typeface="Calibri" pitchFamily="34" charset="0"/>
                      </a:rPr>
                      <a:t>bdicating &amp; critical, </a:t>
                    </a:r>
                  </a:p>
                  <a:p>
                    <a:pPr>
                      <a:defRPr lang="en-IN" sz="1200" b="0">
                        <a:solidFill>
                          <a:schemeClr val="bg1"/>
                        </a:solidFill>
                        <a:latin typeface="Calibri" pitchFamily="34" charset="0"/>
                        <a:cs typeface="Calibri" pitchFamily="34" charset="0"/>
                      </a:defRPr>
                    </a:pPr>
                    <a:r>
                      <a:rPr lang="en-US" sz="1000" b="0">
                        <a:solidFill>
                          <a:schemeClr val="bg1"/>
                        </a:solidFill>
                        <a:latin typeface="Calibri" pitchFamily="34" charset="0"/>
                        <a:cs typeface="Calibri" pitchFamily="34" charset="0"/>
                      </a:rPr>
                      <a:t>52%</a:t>
                    </a:r>
                  </a:p>
                </c:rich>
              </c:tx>
              <c:spPr/>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4173-4D73-B0F7-8A30EC2B1CBF}"/>
                </c:ext>
              </c:extLst>
            </c:dLbl>
            <c:dLbl>
              <c:idx val="1"/>
              <c:tx>
                <c:rich>
                  <a:bodyPr/>
                  <a:lstStyle/>
                  <a:p>
                    <a:r>
                      <a:rPr lang="en-US" sz="1200">
                        <a:latin typeface="Calibri" pitchFamily="34" charset="0"/>
                        <a:cs typeface="Calibri" pitchFamily="34" charset="0"/>
                      </a:rPr>
                      <a:t>C</a:t>
                    </a:r>
                    <a:r>
                      <a:rPr lang="en-US" sz="1000">
                        <a:latin typeface="Calibri" pitchFamily="34" charset="0"/>
                        <a:cs typeface="Calibri" pitchFamily="34" charset="0"/>
                      </a:rPr>
                      <a:t>oaching and Facilitating, </a:t>
                    </a:r>
                  </a:p>
                  <a:p>
                    <a:r>
                      <a:rPr lang="en-US" sz="1000">
                        <a:latin typeface="Calibri" pitchFamily="34" charset="0"/>
                        <a:cs typeface="Calibri" pitchFamily="34" charset="0"/>
                      </a:rPr>
                      <a:t>23%</a:t>
                    </a:r>
                  </a:p>
                </c:rich>
              </c:tx>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4173-4D73-B0F7-8A30EC2B1CBF}"/>
                </c:ext>
              </c:extLst>
            </c:dLbl>
            <c:dLbl>
              <c:idx val="2"/>
              <c:tx>
                <c:rich>
                  <a:bodyPr/>
                  <a:lstStyle/>
                  <a:p>
                    <a:pPr>
                      <a:defRPr lang="en-IN" sz="1200" b="0">
                        <a:latin typeface="Calibri" pitchFamily="34" charset="0"/>
                        <a:cs typeface="Calibri" pitchFamily="34" charset="0"/>
                      </a:defRPr>
                    </a:pPr>
                    <a:r>
                      <a:rPr lang="en-US" sz="1200" b="0">
                        <a:solidFill>
                          <a:schemeClr val="tx1"/>
                        </a:solidFill>
                        <a:latin typeface="Calibri" pitchFamily="34" charset="0"/>
                        <a:cs typeface="Calibri" pitchFamily="34" charset="0"/>
                      </a:rPr>
                      <a:t>D</a:t>
                    </a:r>
                    <a:r>
                      <a:rPr lang="en-US" sz="1000" b="0">
                        <a:solidFill>
                          <a:schemeClr val="tx1"/>
                        </a:solidFill>
                        <a:latin typeface="Calibri" pitchFamily="34" charset="0"/>
                        <a:cs typeface="Calibri" pitchFamily="34" charset="0"/>
                      </a:rPr>
                      <a:t>irective and purposeful,</a:t>
                    </a:r>
                  </a:p>
                  <a:p>
                    <a:pPr>
                      <a:defRPr lang="en-IN" sz="1200" b="0">
                        <a:latin typeface="Calibri" pitchFamily="34" charset="0"/>
                        <a:cs typeface="Calibri" pitchFamily="34" charset="0"/>
                      </a:defRPr>
                    </a:pPr>
                    <a:r>
                      <a:rPr lang="en-US" sz="1000" b="0">
                        <a:solidFill>
                          <a:schemeClr val="tx1"/>
                        </a:solidFill>
                        <a:latin typeface="Calibri" pitchFamily="34" charset="0"/>
                        <a:cs typeface="Calibri" pitchFamily="34" charset="0"/>
                      </a:rPr>
                      <a:t> 25%</a:t>
                    </a:r>
                  </a:p>
                </c:rich>
              </c:tx>
              <c:spPr/>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4173-4D73-B0F7-8A30EC2B1CBF}"/>
                </c:ext>
              </c:extLst>
            </c:dLbl>
            <c:spPr>
              <a:noFill/>
              <a:ln>
                <a:noFill/>
              </a:ln>
              <a:effectLst/>
            </c:spPr>
            <c:txPr>
              <a:bodyPr/>
              <a:lstStyle/>
              <a:p>
                <a:pPr>
                  <a:defRPr lang="en-IN" sz="1200">
                    <a:latin typeface="Calibri" pitchFamily="34" charset="0"/>
                    <a:cs typeface="Calibri" pitchFamily="34" charset="0"/>
                  </a:defRPr>
                </a:pPr>
                <a:endParaRPr lang="en-US"/>
              </a:p>
            </c:txPr>
            <c:showLegendKey val="0"/>
            <c:showVal val="1"/>
            <c:showCatName val="1"/>
            <c:showSerName val="0"/>
            <c:showPercent val="0"/>
            <c:showBubbleSize val="0"/>
            <c:showLeaderLines val="1"/>
            <c:extLst>
              <c:ext xmlns:c15="http://schemas.microsoft.com/office/drawing/2012/chart" uri="{CE6537A1-D6FC-4f65-9D91-7224C49458BB}"/>
            </c:extLst>
          </c:dLbls>
          <c:cat>
            <c:strRef>
              <c:f>Sheet6!$H$57:$J$57</c:f>
              <c:strCache>
                <c:ptCount val="3"/>
                <c:pt idx="0">
                  <c:v>Abdicating &amp; critical</c:v>
                </c:pt>
                <c:pt idx="1">
                  <c:v>Coaching and Facilitating</c:v>
                </c:pt>
                <c:pt idx="2">
                  <c:v>Directive and purposeful</c:v>
                </c:pt>
              </c:strCache>
            </c:strRef>
          </c:cat>
          <c:val>
            <c:numRef>
              <c:f>Sheet6!$H$62:$J$62</c:f>
              <c:numCache>
                <c:formatCode>###0%</c:formatCode>
                <c:ptCount val="3"/>
                <c:pt idx="0">
                  <c:v>0.52272727272727304</c:v>
                </c:pt>
                <c:pt idx="1">
                  <c:v>0.2272727272727269</c:v>
                </c:pt>
                <c:pt idx="2">
                  <c:v>0.25</c:v>
                </c:pt>
              </c:numCache>
            </c:numRef>
          </c:val>
          <c:extLst>
            <c:ext xmlns:c16="http://schemas.microsoft.com/office/drawing/2014/chart" uri="{C3380CC4-5D6E-409C-BE32-E72D297353CC}">
              <c16:uniqueId val="{00000003-4173-4D73-B0F7-8A30EC2B1CBF}"/>
            </c:ext>
          </c:extLst>
        </c:ser>
        <c:dLbls>
          <c:showLegendKey val="0"/>
          <c:showVal val="0"/>
          <c:showCatName val="0"/>
          <c:showSerName val="0"/>
          <c:showPercent val="0"/>
          <c:showBubbleSize val="0"/>
          <c:showLeaderLines val="1"/>
        </c:dLbls>
        <c:firstSliceAng val="0"/>
      </c:pieChart>
    </c:plotArea>
    <c:plotVisOnly val="1"/>
    <c:dispBlanksAs val="zero"/>
    <c:showDLblsOverMax val="0"/>
  </c:chart>
  <c:txPr>
    <a:bodyPr/>
    <a:lstStyle/>
    <a:p>
      <a:pPr>
        <a:defRPr sz="1800"/>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9"/>
    </mc:Choice>
    <mc:Fallback>
      <c:style val="19"/>
    </mc:Fallback>
  </mc:AlternateContent>
  <c:chart>
    <c:autoTitleDeleted val="0"/>
    <c:view3D>
      <c:rotX val="15"/>
      <c:rotY val="20"/>
      <c:rAngAx val="1"/>
    </c:view3D>
    <c:floor>
      <c:thickness val="0"/>
    </c:floor>
    <c:sideWall>
      <c:thickness val="0"/>
    </c:sideWall>
    <c:backWall>
      <c:thickness val="0"/>
    </c:backWall>
    <c:plotArea>
      <c:layout/>
      <c:bar3DChart>
        <c:barDir val="col"/>
        <c:grouping val="clustered"/>
        <c:varyColors val="0"/>
        <c:ser>
          <c:idx val="0"/>
          <c:order val="0"/>
          <c:tx>
            <c:strRef>
              <c:f>Sheet4!$D$21</c:f>
              <c:strCache>
                <c:ptCount val="1"/>
                <c:pt idx="0">
                  <c:v>Best Practice</c:v>
                </c:pt>
              </c:strCache>
            </c:strRef>
          </c:tx>
          <c:spPr>
            <a:solidFill>
              <a:srgbClr val="A50021">
                <a:tint val="66000"/>
                <a:satMod val="160000"/>
              </a:srgbClr>
            </a:solidFill>
          </c:spPr>
          <c:invertIfNegative val="0"/>
          <c:dLbls>
            <c:spPr>
              <a:noFill/>
              <a:ln>
                <a:noFill/>
              </a:ln>
              <a:effectLst/>
            </c:spPr>
            <c:txPr>
              <a:bodyPr/>
              <a:lstStyle/>
              <a:p>
                <a:pPr>
                  <a:defRPr lang="en-IN" sz="1000">
                    <a:latin typeface="Calibri" pitchFamily="34" charset="0"/>
                    <a:cs typeface="Calibri"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Sheet4!$C$22:$C$26</c:f>
              <c:strCache>
                <c:ptCount val="5"/>
                <c:pt idx="0">
                  <c:v>Confidence</c:v>
                </c:pt>
                <c:pt idx="1">
                  <c:v>Innovation</c:v>
                </c:pt>
                <c:pt idx="2">
                  <c:v>Integrity</c:v>
                </c:pt>
                <c:pt idx="3">
                  <c:v>Respect</c:v>
                </c:pt>
                <c:pt idx="4">
                  <c:v>Solidarity</c:v>
                </c:pt>
              </c:strCache>
            </c:strRef>
          </c:cat>
          <c:val>
            <c:numRef>
              <c:f>Sheet4!$D$22:$D$26</c:f>
              <c:numCache>
                <c:formatCode>0%</c:formatCode>
                <c:ptCount val="5"/>
                <c:pt idx="0">
                  <c:v>0.1612903225806451</c:v>
                </c:pt>
                <c:pt idx="1">
                  <c:v>0.40869565217391279</c:v>
                </c:pt>
                <c:pt idx="2">
                  <c:v>0.5</c:v>
                </c:pt>
                <c:pt idx="3">
                  <c:v>0.7055214723926394</c:v>
                </c:pt>
                <c:pt idx="4">
                  <c:v>0.48571428571428837</c:v>
                </c:pt>
              </c:numCache>
            </c:numRef>
          </c:val>
          <c:extLst>
            <c:ext xmlns:c16="http://schemas.microsoft.com/office/drawing/2014/chart" uri="{C3380CC4-5D6E-409C-BE32-E72D297353CC}">
              <c16:uniqueId val="{00000000-7DF8-45A5-B884-90C11DDFC5E5}"/>
            </c:ext>
          </c:extLst>
        </c:ser>
        <c:ser>
          <c:idx val="1"/>
          <c:order val="1"/>
          <c:tx>
            <c:strRef>
              <c:f>Sheet4!$E$21</c:f>
              <c:strCache>
                <c:ptCount val="1"/>
                <c:pt idx="0">
                  <c:v>Least Practice</c:v>
                </c:pt>
              </c:strCache>
            </c:strRef>
          </c:tx>
          <c:spPr>
            <a:solidFill>
              <a:srgbClr val="17375E"/>
            </a:solidFill>
          </c:spPr>
          <c:invertIfNegative val="0"/>
          <c:dLbls>
            <c:dLbl>
              <c:idx val="2"/>
              <c:layout>
                <c:manualLayout>
                  <c:x val="1.6666666666666715E-2"/>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DF8-45A5-B884-90C11DDFC5E5}"/>
                </c:ext>
              </c:extLst>
            </c:dLbl>
            <c:dLbl>
              <c:idx val="3"/>
              <c:layout>
                <c:manualLayout>
                  <c:x val="2.7777777777778144E-2"/>
                  <c:y val="4.2437781360068053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DF8-45A5-B884-90C11DDFC5E5}"/>
                </c:ext>
              </c:extLst>
            </c:dLbl>
            <c:dLbl>
              <c:idx val="4"/>
              <c:layout>
                <c:manualLayout>
                  <c:x val="1.9444444444444403E-2"/>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DF8-45A5-B884-90C11DDFC5E5}"/>
                </c:ext>
              </c:extLst>
            </c:dLbl>
            <c:spPr>
              <a:noFill/>
              <a:ln>
                <a:noFill/>
              </a:ln>
              <a:effectLst/>
            </c:spPr>
            <c:txPr>
              <a:bodyPr/>
              <a:lstStyle/>
              <a:p>
                <a:pPr>
                  <a:defRPr lang="en-IN" sz="1000">
                    <a:latin typeface="Calibri" pitchFamily="34" charset="0"/>
                    <a:cs typeface="Calibri"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Sheet4!$C$22:$C$26</c:f>
              <c:strCache>
                <c:ptCount val="5"/>
                <c:pt idx="0">
                  <c:v>Confidence</c:v>
                </c:pt>
                <c:pt idx="1">
                  <c:v>Innovation</c:v>
                </c:pt>
                <c:pt idx="2">
                  <c:v>Integrity</c:v>
                </c:pt>
                <c:pt idx="3">
                  <c:v>Respect</c:v>
                </c:pt>
                <c:pt idx="4">
                  <c:v>Solidarity</c:v>
                </c:pt>
              </c:strCache>
            </c:strRef>
          </c:cat>
          <c:val>
            <c:numRef>
              <c:f>Sheet4!$E$22:$E$26</c:f>
              <c:numCache>
                <c:formatCode>0%</c:formatCode>
                <c:ptCount val="5"/>
                <c:pt idx="0">
                  <c:v>0.83870967741936275</c:v>
                </c:pt>
                <c:pt idx="1">
                  <c:v>0.59130434782608343</c:v>
                </c:pt>
                <c:pt idx="2">
                  <c:v>0.5</c:v>
                </c:pt>
                <c:pt idx="3">
                  <c:v>0.29447852760736437</c:v>
                </c:pt>
                <c:pt idx="4">
                  <c:v>0.51428571428571401</c:v>
                </c:pt>
              </c:numCache>
            </c:numRef>
          </c:val>
          <c:extLst>
            <c:ext xmlns:c16="http://schemas.microsoft.com/office/drawing/2014/chart" uri="{C3380CC4-5D6E-409C-BE32-E72D297353CC}">
              <c16:uniqueId val="{00000004-7DF8-45A5-B884-90C11DDFC5E5}"/>
            </c:ext>
          </c:extLst>
        </c:ser>
        <c:dLbls>
          <c:showLegendKey val="0"/>
          <c:showVal val="0"/>
          <c:showCatName val="0"/>
          <c:showSerName val="0"/>
          <c:showPercent val="0"/>
          <c:showBubbleSize val="0"/>
        </c:dLbls>
        <c:gapWidth val="150"/>
        <c:shape val="box"/>
        <c:axId val="91839104"/>
        <c:axId val="91844992"/>
        <c:axId val="0"/>
      </c:bar3DChart>
      <c:catAx>
        <c:axId val="91839104"/>
        <c:scaling>
          <c:orientation val="minMax"/>
        </c:scaling>
        <c:delete val="0"/>
        <c:axPos val="b"/>
        <c:numFmt formatCode="General" sourceLinked="0"/>
        <c:majorTickMark val="out"/>
        <c:minorTickMark val="none"/>
        <c:tickLblPos val="nextTo"/>
        <c:txPr>
          <a:bodyPr/>
          <a:lstStyle/>
          <a:p>
            <a:pPr>
              <a:defRPr lang="en-IN" sz="1000">
                <a:latin typeface="Calibri" pitchFamily="34" charset="0"/>
                <a:cs typeface="Calibri" pitchFamily="34" charset="0"/>
              </a:defRPr>
            </a:pPr>
            <a:endParaRPr lang="en-US"/>
          </a:p>
        </c:txPr>
        <c:crossAx val="91844992"/>
        <c:crosses val="autoZero"/>
        <c:auto val="1"/>
        <c:lblAlgn val="ctr"/>
        <c:lblOffset val="100"/>
        <c:noMultiLvlLbl val="0"/>
      </c:catAx>
      <c:valAx>
        <c:axId val="91844992"/>
        <c:scaling>
          <c:orientation val="minMax"/>
        </c:scaling>
        <c:delete val="1"/>
        <c:axPos val="l"/>
        <c:numFmt formatCode="0%" sourceLinked="1"/>
        <c:majorTickMark val="out"/>
        <c:minorTickMark val="none"/>
        <c:tickLblPos val="none"/>
        <c:crossAx val="9183910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D6C03C0-1232-4CFD-931B-3B18239C715D}" type="doc">
      <dgm:prSet loTypeId="urn:microsoft.com/office/officeart/2005/8/layout/pyramid1" loCatId="pyramid" qsTypeId="urn:microsoft.com/office/officeart/2005/8/quickstyle/3d4" qsCatId="3D" csTypeId="urn:microsoft.com/office/officeart/2005/8/colors/colorful2" csCatId="colorful" phldr="1"/>
      <dgm:spPr/>
    </dgm:pt>
    <dgm:pt modelId="{C8C25CB6-3499-4FF7-82D7-E99ED093DAB8}">
      <dgm:prSet phldrT="[Text]" custT="1"/>
      <dgm:spPr>
        <a:xfrm>
          <a:off x="1711574" y="0"/>
          <a:ext cx="1703903" cy="1158875"/>
        </a:xfrm>
        <a:prstGeom prst="trapezoid">
          <a:avLst>
            <a:gd name="adj" fmla="val 73957"/>
          </a:avLst>
        </a:prstGeom>
        <a:solidFill>
          <a:srgbClr val="C0504D">
            <a:hueOff val="0"/>
            <a:satOff val="0"/>
            <a:lumOff val="0"/>
            <a:alphaOff val="0"/>
          </a:srgbClr>
        </a:solidFill>
        <a:ln>
          <a:noFill/>
        </a:ln>
        <a:effectLst/>
        <a:scene3d>
          <a:camera prst="orthographicFront"/>
          <a:lightRig rig="chilly" dir="t"/>
        </a:scene3d>
        <a:sp3d prstMaterial="translucentPowder">
          <a:bevelT w="127000" h="25400" prst="softRound"/>
        </a:sp3d>
      </dgm:spPr>
      <dgm:t>
        <a:bodyPr anchor="ctr"/>
        <a:lstStyle/>
        <a:p>
          <a:pPr algn="ctr"/>
          <a:r>
            <a:rPr lang="en-US" sz="1200" b="0" i="0" u="none" dirty="0">
              <a:solidFill>
                <a:sysClr val="windowText" lastClr="000000">
                  <a:hueOff val="0"/>
                  <a:satOff val="0"/>
                  <a:lumOff val="0"/>
                  <a:alphaOff val="0"/>
                </a:sysClr>
              </a:solidFill>
              <a:latin typeface="Calibri"/>
              <a:ea typeface="+mn-ea"/>
              <a:cs typeface="Calibri"/>
            </a:rPr>
            <a:t>High </a:t>
          </a:r>
        </a:p>
        <a:p>
          <a:pPr algn="ctr"/>
          <a:r>
            <a:rPr lang="en-US" sz="1200" b="0" i="0" u="none" dirty="0">
              <a:solidFill>
                <a:sysClr val="windowText" lastClr="000000">
                  <a:hueOff val="0"/>
                  <a:satOff val="0"/>
                  <a:lumOff val="0"/>
                  <a:alphaOff val="0"/>
                </a:sysClr>
              </a:solidFill>
              <a:latin typeface="Calibri"/>
              <a:ea typeface="+mn-ea"/>
              <a:cs typeface="Calibri"/>
            </a:rPr>
            <a:t>Concern </a:t>
          </a:r>
        </a:p>
        <a:p>
          <a:pPr algn="ctr"/>
          <a:r>
            <a:rPr lang="en-US" sz="1200" b="0" i="0" u="none" dirty="0">
              <a:solidFill>
                <a:sysClr val="windowText" lastClr="000000">
                  <a:hueOff val="0"/>
                  <a:satOff val="0"/>
                  <a:lumOff val="0"/>
                  <a:alphaOff val="0"/>
                </a:sysClr>
              </a:solidFill>
              <a:latin typeface="Calibri"/>
              <a:ea typeface="+mn-ea"/>
              <a:cs typeface="Calibri"/>
            </a:rPr>
            <a:t>Area - 1</a:t>
          </a:r>
        </a:p>
      </dgm:t>
    </dgm:pt>
    <dgm:pt modelId="{7FAD7233-D0D1-459E-AF73-8D9F8F8F8BF4}" type="parTrans" cxnId="{79B95BB8-3749-468F-A39B-DE72AC380BB6}">
      <dgm:prSet/>
      <dgm:spPr/>
      <dgm:t>
        <a:bodyPr/>
        <a:lstStyle/>
        <a:p>
          <a:endParaRPr lang="en-US"/>
        </a:p>
      </dgm:t>
    </dgm:pt>
    <dgm:pt modelId="{F866A24A-62B7-4B05-A319-689CCA4D5330}" type="sibTrans" cxnId="{79B95BB8-3749-468F-A39B-DE72AC380BB6}">
      <dgm:prSet/>
      <dgm:spPr/>
      <dgm:t>
        <a:bodyPr/>
        <a:lstStyle/>
        <a:p>
          <a:endParaRPr lang="en-US"/>
        </a:p>
      </dgm:t>
    </dgm:pt>
    <dgm:pt modelId="{1CF6F07C-5E94-4496-8FD9-709B591493D3}">
      <dgm:prSet phldrT="[Text]" custT="1"/>
      <dgm:spPr>
        <a:xfrm>
          <a:off x="857068" y="1158875"/>
          <a:ext cx="3428274" cy="1158875"/>
        </a:xfrm>
        <a:prstGeom prst="trapezoid">
          <a:avLst>
            <a:gd name="adj" fmla="val 73957"/>
          </a:avLst>
        </a:prstGeom>
        <a:solidFill>
          <a:srgbClr val="DF918C"/>
        </a:solidFill>
        <a:ln>
          <a:noFill/>
        </a:ln>
        <a:effectLst/>
        <a:scene3d>
          <a:camera prst="orthographicFront"/>
          <a:lightRig rig="chilly" dir="t"/>
        </a:scene3d>
        <a:sp3d prstMaterial="translucentPowder">
          <a:bevelT w="127000" h="25400" prst="softRound"/>
        </a:sp3d>
      </dgm:spPr>
      <dgm:t>
        <a:bodyPr/>
        <a:lstStyle/>
        <a:p>
          <a:pPr algn="ctr"/>
          <a:r>
            <a:rPr lang="en-US" sz="1200" dirty="0">
              <a:solidFill>
                <a:sysClr val="windowText" lastClr="000000">
                  <a:hueOff val="0"/>
                  <a:satOff val="0"/>
                  <a:lumOff val="0"/>
                  <a:alphaOff val="0"/>
                </a:sysClr>
              </a:solidFill>
              <a:latin typeface="Calibri"/>
              <a:ea typeface="+mn-ea"/>
              <a:cs typeface="+mn-cs"/>
            </a:rPr>
            <a:t>High Concern Area - 2</a:t>
          </a:r>
        </a:p>
      </dgm:t>
    </dgm:pt>
    <dgm:pt modelId="{3561DD93-B1D7-4221-B233-D0F0CB8E5677}" type="parTrans" cxnId="{76FEBA6D-B72C-4399-ABA7-027A336FD1E8}">
      <dgm:prSet/>
      <dgm:spPr/>
      <dgm:t>
        <a:bodyPr/>
        <a:lstStyle/>
        <a:p>
          <a:endParaRPr lang="en-US"/>
        </a:p>
      </dgm:t>
    </dgm:pt>
    <dgm:pt modelId="{FEB96126-156B-41D2-A8E9-953F7E7EBF40}" type="sibTrans" cxnId="{76FEBA6D-B72C-4399-ABA7-027A336FD1E8}">
      <dgm:prSet/>
      <dgm:spPr/>
      <dgm:t>
        <a:bodyPr/>
        <a:lstStyle/>
        <a:p>
          <a:endParaRPr lang="en-US"/>
        </a:p>
      </dgm:t>
    </dgm:pt>
    <dgm:pt modelId="{EF3FFCB3-D758-41B5-834C-3D5062D90F66}">
      <dgm:prSet phldrT="[Text]" custT="1"/>
      <dgm:spPr>
        <a:xfrm>
          <a:off x="857068" y="1158875"/>
          <a:ext cx="3428274" cy="1158875"/>
        </a:xfrm>
        <a:solidFill>
          <a:srgbClr val="F0D5D4"/>
        </a:solidFill>
        <a:ln>
          <a:noFill/>
        </a:ln>
        <a:effectLst/>
        <a:scene3d>
          <a:camera prst="orthographicFront"/>
          <a:lightRig rig="chilly" dir="t"/>
        </a:scene3d>
        <a:sp3d prstMaterial="translucentPowder">
          <a:bevelT w="127000" h="25400" prst="softRound"/>
        </a:sp3d>
      </dgm:spPr>
      <dgm:t>
        <a:bodyPr/>
        <a:lstStyle/>
        <a:p>
          <a:r>
            <a:rPr lang="en-US" sz="1200" dirty="0">
              <a:solidFill>
                <a:sysClr val="windowText" lastClr="000000">
                  <a:hueOff val="0"/>
                  <a:satOff val="0"/>
                  <a:lumOff val="0"/>
                  <a:alphaOff val="0"/>
                </a:sysClr>
              </a:solidFill>
              <a:latin typeface="Calibri"/>
              <a:ea typeface="+mn-ea"/>
              <a:cs typeface="+mn-cs"/>
            </a:rPr>
            <a:t>High Concern Area - 3</a:t>
          </a:r>
        </a:p>
      </dgm:t>
    </dgm:pt>
    <dgm:pt modelId="{A9ADAF11-3BFD-4281-9288-BE945684D849}" type="parTrans" cxnId="{4FC6BD72-017E-4898-BAF6-7F2191BD103D}">
      <dgm:prSet/>
      <dgm:spPr/>
      <dgm:t>
        <a:bodyPr/>
        <a:lstStyle/>
        <a:p>
          <a:endParaRPr lang="en-US"/>
        </a:p>
      </dgm:t>
    </dgm:pt>
    <dgm:pt modelId="{E49671E7-036F-4758-8278-D53A91D59FA4}" type="sibTrans" cxnId="{4FC6BD72-017E-4898-BAF6-7F2191BD103D}">
      <dgm:prSet/>
      <dgm:spPr/>
      <dgm:t>
        <a:bodyPr/>
        <a:lstStyle/>
        <a:p>
          <a:endParaRPr lang="en-US"/>
        </a:p>
      </dgm:t>
    </dgm:pt>
    <dgm:pt modelId="{3D850BD4-9491-47E1-97ED-53CA5FF9D8B7}" type="pres">
      <dgm:prSet presAssocID="{2D6C03C0-1232-4CFD-931B-3B18239C715D}" presName="Name0" presStyleCnt="0">
        <dgm:presLayoutVars>
          <dgm:dir/>
          <dgm:animLvl val="lvl"/>
          <dgm:resizeHandles val="exact"/>
        </dgm:presLayoutVars>
      </dgm:prSet>
      <dgm:spPr/>
    </dgm:pt>
    <dgm:pt modelId="{3B6DB7A2-3F26-4928-A59F-A4C2EE6911C7}" type="pres">
      <dgm:prSet presAssocID="{C8C25CB6-3499-4FF7-82D7-E99ED093DAB8}" presName="Name8" presStyleCnt="0"/>
      <dgm:spPr/>
    </dgm:pt>
    <dgm:pt modelId="{313B5814-BDB3-4A1D-9954-00F8918735A7}" type="pres">
      <dgm:prSet presAssocID="{C8C25CB6-3499-4FF7-82D7-E99ED093DAB8}" presName="level" presStyleLbl="node1" presStyleIdx="0" presStyleCnt="3" custScaleX="99403" custLinFactNeighborX="-448">
        <dgm:presLayoutVars>
          <dgm:chMax val="1"/>
          <dgm:bulletEnabled val="1"/>
        </dgm:presLayoutVars>
      </dgm:prSet>
      <dgm:spPr/>
    </dgm:pt>
    <dgm:pt modelId="{1142B418-B662-4E17-9F63-72CC6806D971}" type="pres">
      <dgm:prSet presAssocID="{C8C25CB6-3499-4FF7-82D7-E99ED093DAB8}" presName="levelTx" presStyleLbl="revTx" presStyleIdx="0" presStyleCnt="0">
        <dgm:presLayoutVars>
          <dgm:chMax val="1"/>
          <dgm:bulletEnabled val="1"/>
        </dgm:presLayoutVars>
      </dgm:prSet>
      <dgm:spPr/>
    </dgm:pt>
    <dgm:pt modelId="{E0EA891D-02CE-4A29-91B4-3F8648056E8F}" type="pres">
      <dgm:prSet presAssocID="{1CF6F07C-5E94-4496-8FD9-709B591493D3}" presName="Name8" presStyleCnt="0"/>
      <dgm:spPr/>
    </dgm:pt>
    <dgm:pt modelId="{8461950F-C7BB-414A-9DA7-905B7378D664}" type="pres">
      <dgm:prSet presAssocID="{1CF6F07C-5E94-4496-8FD9-709B591493D3}" presName="level" presStyleLbl="node1" presStyleIdx="1" presStyleCnt="3">
        <dgm:presLayoutVars>
          <dgm:chMax val="1"/>
          <dgm:bulletEnabled val="1"/>
        </dgm:presLayoutVars>
      </dgm:prSet>
      <dgm:spPr/>
    </dgm:pt>
    <dgm:pt modelId="{528F5C26-4717-46D1-AEB2-966661F1C2AE}" type="pres">
      <dgm:prSet presAssocID="{1CF6F07C-5E94-4496-8FD9-709B591493D3}" presName="levelTx" presStyleLbl="revTx" presStyleIdx="0" presStyleCnt="0">
        <dgm:presLayoutVars>
          <dgm:chMax val="1"/>
          <dgm:bulletEnabled val="1"/>
        </dgm:presLayoutVars>
      </dgm:prSet>
      <dgm:spPr/>
    </dgm:pt>
    <dgm:pt modelId="{FF584FC6-B67E-467F-945B-383D31FA62FB}" type="pres">
      <dgm:prSet presAssocID="{EF3FFCB3-D758-41B5-834C-3D5062D90F66}" presName="Name8" presStyleCnt="0"/>
      <dgm:spPr/>
    </dgm:pt>
    <dgm:pt modelId="{A2E48611-FF4B-4829-9134-EBE16871E005}" type="pres">
      <dgm:prSet presAssocID="{EF3FFCB3-D758-41B5-834C-3D5062D90F66}" presName="level" presStyleLbl="node1" presStyleIdx="2" presStyleCnt="3" custLinFactNeighborX="1482" custLinFactNeighborY="10411">
        <dgm:presLayoutVars>
          <dgm:chMax val="1"/>
          <dgm:bulletEnabled val="1"/>
        </dgm:presLayoutVars>
      </dgm:prSet>
      <dgm:spPr>
        <a:prstGeom prst="trapezoid">
          <a:avLst>
            <a:gd name="adj" fmla="val 73957"/>
          </a:avLst>
        </a:prstGeom>
      </dgm:spPr>
    </dgm:pt>
    <dgm:pt modelId="{4A48FE4E-FFFF-4BA8-8F70-E642ABB9CBD9}" type="pres">
      <dgm:prSet presAssocID="{EF3FFCB3-D758-41B5-834C-3D5062D90F66}" presName="levelTx" presStyleLbl="revTx" presStyleIdx="0" presStyleCnt="0">
        <dgm:presLayoutVars>
          <dgm:chMax val="1"/>
          <dgm:bulletEnabled val="1"/>
        </dgm:presLayoutVars>
      </dgm:prSet>
      <dgm:spPr/>
    </dgm:pt>
  </dgm:ptLst>
  <dgm:cxnLst>
    <dgm:cxn modelId="{F0374104-C26D-418C-A301-CC1EDF118D0F}" type="presOf" srcId="{1CF6F07C-5E94-4496-8FD9-709B591493D3}" destId="{528F5C26-4717-46D1-AEB2-966661F1C2AE}" srcOrd="1" destOrd="0" presId="urn:microsoft.com/office/officeart/2005/8/layout/pyramid1"/>
    <dgm:cxn modelId="{95950824-02EF-4815-9F19-8A8D3A726534}" type="presOf" srcId="{C8C25CB6-3499-4FF7-82D7-E99ED093DAB8}" destId="{313B5814-BDB3-4A1D-9954-00F8918735A7}" srcOrd="0" destOrd="0" presId="urn:microsoft.com/office/officeart/2005/8/layout/pyramid1"/>
    <dgm:cxn modelId="{E7732460-7C1E-45E0-956D-F44EAC3A43E3}" type="presOf" srcId="{EF3FFCB3-D758-41B5-834C-3D5062D90F66}" destId="{4A48FE4E-FFFF-4BA8-8F70-E642ABB9CBD9}" srcOrd="1" destOrd="0" presId="urn:microsoft.com/office/officeart/2005/8/layout/pyramid1"/>
    <dgm:cxn modelId="{76FEBA6D-B72C-4399-ABA7-027A336FD1E8}" srcId="{2D6C03C0-1232-4CFD-931B-3B18239C715D}" destId="{1CF6F07C-5E94-4496-8FD9-709B591493D3}" srcOrd="1" destOrd="0" parTransId="{3561DD93-B1D7-4221-B233-D0F0CB8E5677}" sibTransId="{FEB96126-156B-41D2-A8E9-953F7E7EBF40}"/>
    <dgm:cxn modelId="{74245271-0EE6-4A71-9040-8F887044CA0E}" type="presOf" srcId="{EF3FFCB3-D758-41B5-834C-3D5062D90F66}" destId="{A2E48611-FF4B-4829-9134-EBE16871E005}" srcOrd="0" destOrd="0" presId="urn:microsoft.com/office/officeart/2005/8/layout/pyramid1"/>
    <dgm:cxn modelId="{4FC6BD72-017E-4898-BAF6-7F2191BD103D}" srcId="{2D6C03C0-1232-4CFD-931B-3B18239C715D}" destId="{EF3FFCB3-D758-41B5-834C-3D5062D90F66}" srcOrd="2" destOrd="0" parTransId="{A9ADAF11-3BFD-4281-9288-BE945684D849}" sibTransId="{E49671E7-036F-4758-8278-D53A91D59FA4}"/>
    <dgm:cxn modelId="{79B95BB8-3749-468F-A39B-DE72AC380BB6}" srcId="{2D6C03C0-1232-4CFD-931B-3B18239C715D}" destId="{C8C25CB6-3499-4FF7-82D7-E99ED093DAB8}" srcOrd="0" destOrd="0" parTransId="{7FAD7233-D0D1-459E-AF73-8D9F8F8F8BF4}" sibTransId="{F866A24A-62B7-4B05-A319-689CCA4D5330}"/>
    <dgm:cxn modelId="{D3D000DA-B0D9-4827-BC94-95A927A3AFBF}" type="presOf" srcId="{C8C25CB6-3499-4FF7-82D7-E99ED093DAB8}" destId="{1142B418-B662-4E17-9F63-72CC6806D971}" srcOrd="1" destOrd="0" presId="urn:microsoft.com/office/officeart/2005/8/layout/pyramid1"/>
    <dgm:cxn modelId="{EE6851ED-241A-4D94-99C6-29F862AAD317}" type="presOf" srcId="{2D6C03C0-1232-4CFD-931B-3B18239C715D}" destId="{3D850BD4-9491-47E1-97ED-53CA5FF9D8B7}" srcOrd="0" destOrd="0" presId="urn:microsoft.com/office/officeart/2005/8/layout/pyramid1"/>
    <dgm:cxn modelId="{E48AB4F8-F31A-4884-80E1-87A0B8744C70}" type="presOf" srcId="{1CF6F07C-5E94-4496-8FD9-709B591493D3}" destId="{8461950F-C7BB-414A-9DA7-905B7378D664}" srcOrd="0" destOrd="0" presId="urn:microsoft.com/office/officeart/2005/8/layout/pyramid1"/>
    <dgm:cxn modelId="{47FF74A3-46FE-4A28-8E9D-C10D8004A7FD}" type="presParOf" srcId="{3D850BD4-9491-47E1-97ED-53CA5FF9D8B7}" destId="{3B6DB7A2-3F26-4928-A59F-A4C2EE6911C7}" srcOrd="0" destOrd="0" presId="urn:microsoft.com/office/officeart/2005/8/layout/pyramid1"/>
    <dgm:cxn modelId="{BD87A205-079C-4592-A699-C1E81E6AB512}" type="presParOf" srcId="{3B6DB7A2-3F26-4928-A59F-A4C2EE6911C7}" destId="{313B5814-BDB3-4A1D-9954-00F8918735A7}" srcOrd="0" destOrd="0" presId="urn:microsoft.com/office/officeart/2005/8/layout/pyramid1"/>
    <dgm:cxn modelId="{4250B44D-C8E3-442F-BD1A-2B618112EF95}" type="presParOf" srcId="{3B6DB7A2-3F26-4928-A59F-A4C2EE6911C7}" destId="{1142B418-B662-4E17-9F63-72CC6806D971}" srcOrd="1" destOrd="0" presId="urn:microsoft.com/office/officeart/2005/8/layout/pyramid1"/>
    <dgm:cxn modelId="{B3917EEE-69F8-432A-8E9C-316A5109D27E}" type="presParOf" srcId="{3D850BD4-9491-47E1-97ED-53CA5FF9D8B7}" destId="{E0EA891D-02CE-4A29-91B4-3F8648056E8F}" srcOrd="1" destOrd="0" presId="urn:microsoft.com/office/officeart/2005/8/layout/pyramid1"/>
    <dgm:cxn modelId="{89CCC6B5-8562-4F44-B62C-DEBF26A88C2C}" type="presParOf" srcId="{E0EA891D-02CE-4A29-91B4-3F8648056E8F}" destId="{8461950F-C7BB-414A-9DA7-905B7378D664}" srcOrd="0" destOrd="0" presId="urn:microsoft.com/office/officeart/2005/8/layout/pyramid1"/>
    <dgm:cxn modelId="{86703C12-F9C4-4069-AE0D-A45A48BDC699}" type="presParOf" srcId="{E0EA891D-02CE-4A29-91B4-3F8648056E8F}" destId="{528F5C26-4717-46D1-AEB2-966661F1C2AE}" srcOrd="1" destOrd="0" presId="urn:microsoft.com/office/officeart/2005/8/layout/pyramid1"/>
    <dgm:cxn modelId="{9863256D-9C5E-4F6D-8B71-F6382A28F740}" type="presParOf" srcId="{3D850BD4-9491-47E1-97ED-53CA5FF9D8B7}" destId="{FF584FC6-B67E-467F-945B-383D31FA62FB}" srcOrd="2" destOrd="0" presId="urn:microsoft.com/office/officeart/2005/8/layout/pyramid1"/>
    <dgm:cxn modelId="{ED45F529-3680-44FC-857B-D1D858700B49}" type="presParOf" srcId="{FF584FC6-B67E-467F-945B-383D31FA62FB}" destId="{A2E48611-FF4B-4829-9134-EBE16871E005}" srcOrd="0" destOrd="0" presId="urn:microsoft.com/office/officeart/2005/8/layout/pyramid1"/>
    <dgm:cxn modelId="{451998C5-C310-4F21-ACCE-88A5728BC2AF}" type="presParOf" srcId="{FF584FC6-B67E-467F-945B-383D31FA62FB}" destId="{4A48FE4E-FFFF-4BA8-8F70-E642ABB9CBD9}"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D6C03C0-1232-4CFD-931B-3B18239C715D}" type="doc">
      <dgm:prSet loTypeId="urn:microsoft.com/office/officeart/2005/8/layout/pyramid1" loCatId="pyramid" qsTypeId="urn:microsoft.com/office/officeart/2005/8/quickstyle/3d4" qsCatId="3D" csTypeId="urn:microsoft.com/office/officeart/2005/8/colors/colorful2" csCatId="colorful" phldr="1"/>
      <dgm:spPr/>
    </dgm:pt>
    <dgm:pt modelId="{C8C25CB6-3499-4FF7-82D7-E99ED093DAB8}">
      <dgm:prSet phldrT="[Text]" custT="1"/>
      <dgm:spPr>
        <a:xfrm>
          <a:off x="1711574" y="0"/>
          <a:ext cx="1703903" cy="1158875"/>
        </a:xfrm>
        <a:solidFill>
          <a:srgbClr val="C0504D">
            <a:hueOff val="0"/>
            <a:satOff val="0"/>
            <a:lumOff val="0"/>
            <a:alphaOff val="0"/>
          </a:srgbClr>
        </a:solidFill>
        <a:ln>
          <a:noFill/>
        </a:ln>
        <a:effectLst/>
        <a:scene3d>
          <a:camera prst="orthographicFront"/>
          <a:lightRig rig="chilly" dir="t"/>
        </a:scene3d>
        <a:sp3d prstMaterial="translucentPowder">
          <a:bevelT w="127000" h="25400" prst="softRound"/>
        </a:sp3d>
      </dgm:spPr>
      <dgm:t>
        <a:bodyPr anchor="ctr"/>
        <a:lstStyle/>
        <a:p>
          <a:pPr algn="ctr"/>
          <a:r>
            <a:rPr lang="en-US" sz="1200" b="0" i="0" u="none" dirty="0">
              <a:solidFill>
                <a:sysClr val="windowText" lastClr="000000">
                  <a:hueOff val="0"/>
                  <a:satOff val="0"/>
                  <a:lumOff val="0"/>
                  <a:alphaOff val="0"/>
                </a:sysClr>
              </a:solidFill>
              <a:latin typeface="Calibri"/>
              <a:ea typeface="+mn-ea"/>
              <a:cs typeface="Calibri"/>
            </a:rPr>
            <a:t>High </a:t>
          </a:r>
        </a:p>
        <a:p>
          <a:pPr algn="ctr"/>
          <a:r>
            <a:rPr lang="en-US" sz="1200" b="0" i="0" u="none" dirty="0">
              <a:solidFill>
                <a:sysClr val="windowText" lastClr="000000">
                  <a:hueOff val="0"/>
                  <a:satOff val="0"/>
                  <a:lumOff val="0"/>
                  <a:alphaOff val="0"/>
                </a:sysClr>
              </a:solidFill>
              <a:latin typeface="Calibri"/>
              <a:ea typeface="+mn-ea"/>
              <a:cs typeface="Calibri"/>
            </a:rPr>
            <a:t>Concern </a:t>
          </a:r>
        </a:p>
        <a:p>
          <a:pPr algn="ctr"/>
          <a:r>
            <a:rPr lang="en-US" sz="1200" b="0" i="0" u="none" dirty="0">
              <a:solidFill>
                <a:sysClr val="windowText" lastClr="000000">
                  <a:hueOff val="0"/>
                  <a:satOff val="0"/>
                  <a:lumOff val="0"/>
                  <a:alphaOff val="0"/>
                </a:sysClr>
              </a:solidFill>
              <a:latin typeface="Calibri"/>
              <a:ea typeface="+mn-ea"/>
              <a:cs typeface="Calibri"/>
            </a:rPr>
            <a:t>Area</a:t>
          </a:r>
        </a:p>
      </dgm:t>
    </dgm:pt>
    <dgm:pt modelId="{7FAD7233-D0D1-459E-AF73-8D9F8F8F8BF4}" type="parTrans" cxnId="{79B95BB8-3749-468F-A39B-DE72AC380BB6}">
      <dgm:prSet/>
      <dgm:spPr/>
      <dgm:t>
        <a:bodyPr/>
        <a:lstStyle/>
        <a:p>
          <a:endParaRPr lang="en-US"/>
        </a:p>
      </dgm:t>
    </dgm:pt>
    <dgm:pt modelId="{F866A24A-62B7-4B05-A319-689CCA4D5330}" type="sibTrans" cxnId="{79B95BB8-3749-468F-A39B-DE72AC380BB6}">
      <dgm:prSet/>
      <dgm:spPr/>
      <dgm:t>
        <a:bodyPr/>
        <a:lstStyle/>
        <a:p>
          <a:endParaRPr lang="en-US"/>
        </a:p>
      </dgm:t>
    </dgm:pt>
    <dgm:pt modelId="{1CF6F07C-5E94-4496-8FD9-709B591493D3}">
      <dgm:prSet phldrT="[Text]" custT="1"/>
      <dgm:spPr>
        <a:xfrm>
          <a:off x="857068" y="1158875"/>
          <a:ext cx="3428274" cy="1158875"/>
        </a:xfrm>
        <a:solidFill>
          <a:srgbClr val="C0504D">
            <a:hueOff val="2340759"/>
            <a:satOff val="-2919"/>
            <a:lumOff val="686"/>
            <a:alphaOff val="0"/>
          </a:srgbClr>
        </a:solidFill>
        <a:ln>
          <a:noFill/>
        </a:ln>
        <a:effectLst/>
        <a:scene3d>
          <a:camera prst="orthographicFront"/>
          <a:lightRig rig="chilly" dir="t"/>
        </a:scene3d>
        <a:sp3d prstMaterial="translucentPowder">
          <a:bevelT w="127000" h="25400" prst="softRound"/>
        </a:sp3d>
      </dgm:spPr>
      <dgm:t>
        <a:bodyPr/>
        <a:lstStyle/>
        <a:p>
          <a:pPr algn="ctr"/>
          <a:r>
            <a:rPr lang="en-US" sz="1200" dirty="0">
              <a:solidFill>
                <a:sysClr val="windowText" lastClr="000000">
                  <a:hueOff val="0"/>
                  <a:satOff val="0"/>
                  <a:lumOff val="0"/>
                  <a:alphaOff val="0"/>
                </a:sysClr>
              </a:solidFill>
              <a:latin typeface="Calibri"/>
              <a:ea typeface="+mn-ea"/>
              <a:cs typeface="+mn-cs"/>
            </a:rPr>
            <a:t>Reasonable</a:t>
          </a:r>
          <a:r>
            <a:rPr lang="en-US" sz="1400" dirty="0">
              <a:solidFill>
                <a:sysClr val="windowText" lastClr="000000">
                  <a:hueOff val="0"/>
                  <a:satOff val="0"/>
                  <a:lumOff val="0"/>
                  <a:alphaOff val="0"/>
                </a:sysClr>
              </a:solidFill>
              <a:latin typeface="Calibri"/>
              <a:ea typeface="+mn-ea"/>
              <a:cs typeface="+mn-cs"/>
            </a:rPr>
            <a:t> </a:t>
          </a:r>
          <a:r>
            <a:rPr lang="en-US" sz="1200" dirty="0">
              <a:solidFill>
                <a:sysClr val="windowText" lastClr="000000">
                  <a:hueOff val="0"/>
                  <a:satOff val="0"/>
                  <a:lumOff val="0"/>
                  <a:alphaOff val="0"/>
                </a:sysClr>
              </a:solidFill>
              <a:latin typeface="Calibri"/>
              <a:ea typeface="+mn-ea"/>
              <a:cs typeface="+mn-cs"/>
            </a:rPr>
            <a:t>/</a:t>
          </a:r>
          <a:r>
            <a:rPr lang="en-US" sz="1400" dirty="0">
              <a:solidFill>
                <a:sysClr val="windowText" lastClr="000000">
                  <a:hueOff val="0"/>
                  <a:satOff val="0"/>
                  <a:lumOff val="0"/>
                  <a:alphaOff val="0"/>
                </a:sysClr>
              </a:solidFill>
              <a:latin typeface="Calibri"/>
              <a:ea typeface="+mn-ea"/>
              <a:cs typeface="+mn-cs"/>
            </a:rPr>
            <a:t> </a:t>
          </a:r>
          <a:r>
            <a:rPr lang="en-US" sz="1200" dirty="0">
              <a:solidFill>
                <a:sysClr val="windowText" lastClr="000000">
                  <a:hueOff val="0"/>
                  <a:satOff val="0"/>
                  <a:lumOff val="0"/>
                  <a:alphaOff val="0"/>
                </a:sysClr>
              </a:solidFill>
              <a:latin typeface="Calibri"/>
              <a:ea typeface="+mn-ea"/>
              <a:cs typeface="+mn-cs"/>
            </a:rPr>
            <a:t>Average Area</a:t>
          </a:r>
        </a:p>
      </dgm:t>
    </dgm:pt>
    <dgm:pt modelId="{3561DD93-B1D7-4221-B233-D0F0CB8E5677}" type="parTrans" cxnId="{76FEBA6D-B72C-4399-ABA7-027A336FD1E8}">
      <dgm:prSet/>
      <dgm:spPr/>
      <dgm:t>
        <a:bodyPr/>
        <a:lstStyle/>
        <a:p>
          <a:endParaRPr lang="en-US"/>
        </a:p>
      </dgm:t>
    </dgm:pt>
    <dgm:pt modelId="{FEB96126-156B-41D2-A8E9-953F7E7EBF40}" type="sibTrans" cxnId="{76FEBA6D-B72C-4399-ABA7-027A336FD1E8}">
      <dgm:prSet/>
      <dgm:spPr/>
      <dgm:t>
        <a:bodyPr/>
        <a:lstStyle/>
        <a:p>
          <a:endParaRPr lang="en-US"/>
        </a:p>
      </dgm:t>
    </dgm:pt>
    <dgm:pt modelId="{067FE094-D779-4A2E-B915-628B37F98EA6}">
      <dgm:prSet phldrT="[Text]" custT="1"/>
      <dgm:spPr>
        <a:xfrm>
          <a:off x="0" y="2317751"/>
          <a:ext cx="5142412" cy="1158875"/>
        </a:xfrm>
        <a:gradFill flip="none" rotWithShape="0">
          <a:gsLst>
            <a:gs pos="0">
              <a:srgbClr val="009592">
                <a:shade val="30000"/>
                <a:satMod val="115000"/>
              </a:srgbClr>
            </a:gs>
            <a:gs pos="50000">
              <a:srgbClr val="009592">
                <a:shade val="67500"/>
                <a:satMod val="115000"/>
              </a:srgbClr>
            </a:gs>
            <a:gs pos="100000">
              <a:srgbClr val="009592">
                <a:shade val="100000"/>
                <a:satMod val="115000"/>
              </a:srgbClr>
            </a:gs>
          </a:gsLst>
          <a:lin ang="2700000" scaled="1"/>
          <a:tileRect/>
        </a:gradFill>
        <a:ln>
          <a:noFill/>
        </a:ln>
        <a:effectLst/>
        <a:scene3d>
          <a:camera prst="orthographicFront"/>
          <a:lightRig rig="chilly" dir="t"/>
        </a:scene3d>
        <a:sp3d prstMaterial="translucentPowder">
          <a:bevelT w="127000" h="25400" prst="softRound"/>
        </a:sp3d>
      </dgm:spPr>
      <dgm:t>
        <a:bodyPr/>
        <a:lstStyle/>
        <a:p>
          <a:pPr algn="ctr"/>
          <a:endParaRPr lang="en-US" sz="1200" dirty="0">
            <a:solidFill>
              <a:sysClr val="windowText" lastClr="000000">
                <a:hueOff val="0"/>
                <a:satOff val="0"/>
                <a:lumOff val="0"/>
                <a:alphaOff val="0"/>
              </a:sysClr>
            </a:solidFill>
            <a:latin typeface="Calibri"/>
            <a:ea typeface="+mn-ea"/>
            <a:cs typeface="+mn-cs"/>
          </a:endParaRPr>
        </a:p>
        <a:p>
          <a:pPr algn="ctr"/>
          <a:r>
            <a:rPr lang="en-US" sz="1200" dirty="0">
              <a:solidFill>
                <a:sysClr val="windowText" lastClr="000000">
                  <a:hueOff val="0"/>
                  <a:satOff val="0"/>
                  <a:lumOff val="0"/>
                  <a:alphaOff val="0"/>
                </a:sysClr>
              </a:solidFill>
              <a:latin typeface="Calibri"/>
              <a:ea typeface="+mn-ea"/>
              <a:cs typeface="+mn-cs"/>
            </a:rPr>
            <a:t>Low Concern Area</a:t>
          </a:r>
        </a:p>
      </dgm:t>
    </dgm:pt>
    <dgm:pt modelId="{6A8668BA-9D4F-492B-8628-6256EDE6F7EA}" type="parTrans" cxnId="{6A02C070-95DE-4F25-AD74-F4668A5B8BFD}">
      <dgm:prSet/>
      <dgm:spPr/>
      <dgm:t>
        <a:bodyPr/>
        <a:lstStyle/>
        <a:p>
          <a:endParaRPr lang="en-US"/>
        </a:p>
      </dgm:t>
    </dgm:pt>
    <dgm:pt modelId="{B09958F9-C03E-4364-BCF1-D8012A357B37}" type="sibTrans" cxnId="{6A02C070-95DE-4F25-AD74-F4668A5B8BFD}">
      <dgm:prSet/>
      <dgm:spPr/>
      <dgm:t>
        <a:bodyPr/>
        <a:lstStyle/>
        <a:p>
          <a:endParaRPr lang="en-US"/>
        </a:p>
      </dgm:t>
    </dgm:pt>
    <dgm:pt modelId="{3D850BD4-9491-47E1-97ED-53CA5FF9D8B7}" type="pres">
      <dgm:prSet presAssocID="{2D6C03C0-1232-4CFD-931B-3B18239C715D}" presName="Name0" presStyleCnt="0">
        <dgm:presLayoutVars>
          <dgm:dir/>
          <dgm:animLvl val="lvl"/>
          <dgm:resizeHandles val="exact"/>
        </dgm:presLayoutVars>
      </dgm:prSet>
      <dgm:spPr/>
    </dgm:pt>
    <dgm:pt modelId="{3B6DB7A2-3F26-4928-A59F-A4C2EE6911C7}" type="pres">
      <dgm:prSet presAssocID="{C8C25CB6-3499-4FF7-82D7-E99ED093DAB8}" presName="Name8" presStyleCnt="0"/>
      <dgm:spPr/>
    </dgm:pt>
    <dgm:pt modelId="{313B5814-BDB3-4A1D-9954-00F8918735A7}" type="pres">
      <dgm:prSet presAssocID="{C8C25CB6-3499-4FF7-82D7-E99ED093DAB8}" presName="level" presStyleLbl="node1" presStyleIdx="0" presStyleCnt="3" custScaleX="99403" custLinFactNeighborX="-448">
        <dgm:presLayoutVars>
          <dgm:chMax val="1"/>
          <dgm:bulletEnabled val="1"/>
        </dgm:presLayoutVars>
      </dgm:prSet>
      <dgm:spPr>
        <a:prstGeom prst="trapezoid">
          <a:avLst>
            <a:gd name="adj" fmla="val 73957"/>
          </a:avLst>
        </a:prstGeom>
      </dgm:spPr>
    </dgm:pt>
    <dgm:pt modelId="{1142B418-B662-4E17-9F63-72CC6806D971}" type="pres">
      <dgm:prSet presAssocID="{C8C25CB6-3499-4FF7-82D7-E99ED093DAB8}" presName="levelTx" presStyleLbl="revTx" presStyleIdx="0" presStyleCnt="0">
        <dgm:presLayoutVars>
          <dgm:chMax val="1"/>
          <dgm:bulletEnabled val="1"/>
        </dgm:presLayoutVars>
      </dgm:prSet>
      <dgm:spPr/>
    </dgm:pt>
    <dgm:pt modelId="{E0EA891D-02CE-4A29-91B4-3F8648056E8F}" type="pres">
      <dgm:prSet presAssocID="{1CF6F07C-5E94-4496-8FD9-709B591493D3}" presName="Name8" presStyleCnt="0"/>
      <dgm:spPr/>
    </dgm:pt>
    <dgm:pt modelId="{8461950F-C7BB-414A-9DA7-905B7378D664}" type="pres">
      <dgm:prSet presAssocID="{1CF6F07C-5E94-4496-8FD9-709B591493D3}" presName="level" presStyleLbl="node1" presStyleIdx="1" presStyleCnt="3">
        <dgm:presLayoutVars>
          <dgm:chMax val="1"/>
          <dgm:bulletEnabled val="1"/>
        </dgm:presLayoutVars>
      </dgm:prSet>
      <dgm:spPr>
        <a:prstGeom prst="trapezoid">
          <a:avLst>
            <a:gd name="adj" fmla="val 73957"/>
          </a:avLst>
        </a:prstGeom>
      </dgm:spPr>
    </dgm:pt>
    <dgm:pt modelId="{528F5C26-4717-46D1-AEB2-966661F1C2AE}" type="pres">
      <dgm:prSet presAssocID="{1CF6F07C-5E94-4496-8FD9-709B591493D3}" presName="levelTx" presStyleLbl="revTx" presStyleIdx="0" presStyleCnt="0">
        <dgm:presLayoutVars>
          <dgm:chMax val="1"/>
          <dgm:bulletEnabled val="1"/>
        </dgm:presLayoutVars>
      </dgm:prSet>
      <dgm:spPr/>
    </dgm:pt>
    <dgm:pt modelId="{0B48EDA6-5FA7-4802-9AF2-3AC1D951F6F3}" type="pres">
      <dgm:prSet presAssocID="{067FE094-D779-4A2E-B915-628B37F98EA6}" presName="Name8" presStyleCnt="0"/>
      <dgm:spPr/>
    </dgm:pt>
    <dgm:pt modelId="{A9D77F58-E5C1-4CD8-B564-313F983B6F55}" type="pres">
      <dgm:prSet presAssocID="{067FE094-D779-4A2E-B915-628B37F98EA6}" presName="level" presStyleLbl="node1" presStyleIdx="2" presStyleCnt="3" custLinFactNeighborY="-9315">
        <dgm:presLayoutVars>
          <dgm:chMax val="1"/>
          <dgm:bulletEnabled val="1"/>
        </dgm:presLayoutVars>
      </dgm:prSet>
      <dgm:spPr>
        <a:prstGeom prst="trapezoid">
          <a:avLst>
            <a:gd name="adj" fmla="val 73957"/>
          </a:avLst>
        </a:prstGeom>
      </dgm:spPr>
    </dgm:pt>
    <dgm:pt modelId="{FCEBE774-6C71-4131-9906-8D5193F4420B}" type="pres">
      <dgm:prSet presAssocID="{067FE094-D779-4A2E-B915-628B37F98EA6}" presName="levelTx" presStyleLbl="revTx" presStyleIdx="0" presStyleCnt="0">
        <dgm:presLayoutVars>
          <dgm:chMax val="1"/>
          <dgm:bulletEnabled val="1"/>
        </dgm:presLayoutVars>
      </dgm:prSet>
      <dgm:spPr/>
    </dgm:pt>
  </dgm:ptLst>
  <dgm:cxnLst>
    <dgm:cxn modelId="{E794B20C-2851-42BF-BA5A-D925BBE11611}" type="presOf" srcId="{2D6C03C0-1232-4CFD-931B-3B18239C715D}" destId="{3D850BD4-9491-47E1-97ED-53CA5FF9D8B7}" srcOrd="0" destOrd="0" presId="urn:microsoft.com/office/officeart/2005/8/layout/pyramid1"/>
    <dgm:cxn modelId="{DBBEFD11-23D9-434C-BD13-3DC4624C9B16}" type="presOf" srcId="{C8C25CB6-3499-4FF7-82D7-E99ED093DAB8}" destId="{1142B418-B662-4E17-9F63-72CC6806D971}" srcOrd="1" destOrd="0" presId="urn:microsoft.com/office/officeart/2005/8/layout/pyramid1"/>
    <dgm:cxn modelId="{D1AF332E-28B5-4153-AD48-E5A0DCF6A3AD}" type="presOf" srcId="{067FE094-D779-4A2E-B915-628B37F98EA6}" destId="{A9D77F58-E5C1-4CD8-B564-313F983B6F55}" srcOrd="0" destOrd="0" presId="urn:microsoft.com/office/officeart/2005/8/layout/pyramid1"/>
    <dgm:cxn modelId="{76FEBA6D-B72C-4399-ABA7-027A336FD1E8}" srcId="{2D6C03C0-1232-4CFD-931B-3B18239C715D}" destId="{1CF6F07C-5E94-4496-8FD9-709B591493D3}" srcOrd="1" destOrd="0" parTransId="{3561DD93-B1D7-4221-B233-D0F0CB8E5677}" sibTransId="{FEB96126-156B-41D2-A8E9-953F7E7EBF40}"/>
    <dgm:cxn modelId="{6A02C070-95DE-4F25-AD74-F4668A5B8BFD}" srcId="{2D6C03C0-1232-4CFD-931B-3B18239C715D}" destId="{067FE094-D779-4A2E-B915-628B37F98EA6}" srcOrd="2" destOrd="0" parTransId="{6A8668BA-9D4F-492B-8628-6256EDE6F7EA}" sibTransId="{B09958F9-C03E-4364-BCF1-D8012A357B37}"/>
    <dgm:cxn modelId="{45317FA8-65DF-4381-953B-7631A50C016F}" type="presOf" srcId="{1CF6F07C-5E94-4496-8FD9-709B591493D3}" destId="{528F5C26-4717-46D1-AEB2-966661F1C2AE}" srcOrd="1" destOrd="0" presId="urn:microsoft.com/office/officeart/2005/8/layout/pyramid1"/>
    <dgm:cxn modelId="{70C98FA8-1A93-4A3F-BB77-68BC598F8726}" type="presOf" srcId="{1CF6F07C-5E94-4496-8FD9-709B591493D3}" destId="{8461950F-C7BB-414A-9DA7-905B7378D664}" srcOrd="0" destOrd="0" presId="urn:microsoft.com/office/officeart/2005/8/layout/pyramid1"/>
    <dgm:cxn modelId="{79B95BB8-3749-468F-A39B-DE72AC380BB6}" srcId="{2D6C03C0-1232-4CFD-931B-3B18239C715D}" destId="{C8C25CB6-3499-4FF7-82D7-E99ED093DAB8}" srcOrd="0" destOrd="0" parTransId="{7FAD7233-D0D1-459E-AF73-8D9F8F8F8BF4}" sibTransId="{F866A24A-62B7-4B05-A319-689CCA4D5330}"/>
    <dgm:cxn modelId="{D0755BD5-0628-4529-A439-5506E2E9BD3A}" type="presOf" srcId="{067FE094-D779-4A2E-B915-628B37F98EA6}" destId="{FCEBE774-6C71-4131-9906-8D5193F4420B}" srcOrd="1" destOrd="0" presId="urn:microsoft.com/office/officeart/2005/8/layout/pyramid1"/>
    <dgm:cxn modelId="{AC87AFDF-1F5C-46B3-A376-F78A72298310}" type="presOf" srcId="{C8C25CB6-3499-4FF7-82D7-E99ED093DAB8}" destId="{313B5814-BDB3-4A1D-9954-00F8918735A7}" srcOrd="0" destOrd="0" presId="urn:microsoft.com/office/officeart/2005/8/layout/pyramid1"/>
    <dgm:cxn modelId="{15661D54-7868-4A4E-94C6-4533AEBD1B9D}" type="presParOf" srcId="{3D850BD4-9491-47E1-97ED-53CA5FF9D8B7}" destId="{3B6DB7A2-3F26-4928-A59F-A4C2EE6911C7}" srcOrd="0" destOrd="0" presId="urn:microsoft.com/office/officeart/2005/8/layout/pyramid1"/>
    <dgm:cxn modelId="{CE94AB24-0EAB-47D4-91D3-8B652484F285}" type="presParOf" srcId="{3B6DB7A2-3F26-4928-A59F-A4C2EE6911C7}" destId="{313B5814-BDB3-4A1D-9954-00F8918735A7}" srcOrd="0" destOrd="0" presId="urn:microsoft.com/office/officeart/2005/8/layout/pyramid1"/>
    <dgm:cxn modelId="{2E9B1536-0EEA-4B3A-80ED-31F65D192D57}" type="presParOf" srcId="{3B6DB7A2-3F26-4928-A59F-A4C2EE6911C7}" destId="{1142B418-B662-4E17-9F63-72CC6806D971}" srcOrd="1" destOrd="0" presId="urn:microsoft.com/office/officeart/2005/8/layout/pyramid1"/>
    <dgm:cxn modelId="{B65A0729-7C1E-4842-B1F9-83CAD8E496B8}" type="presParOf" srcId="{3D850BD4-9491-47E1-97ED-53CA5FF9D8B7}" destId="{E0EA891D-02CE-4A29-91B4-3F8648056E8F}" srcOrd="1" destOrd="0" presId="urn:microsoft.com/office/officeart/2005/8/layout/pyramid1"/>
    <dgm:cxn modelId="{3976C544-3A0E-438E-8054-E2B1F2D32D5A}" type="presParOf" srcId="{E0EA891D-02CE-4A29-91B4-3F8648056E8F}" destId="{8461950F-C7BB-414A-9DA7-905B7378D664}" srcOrd="0" destOrd="0" presId="urn:microsoft.com/office/officeart/2005/8/layout/pyramid1"/>
    <dgm:cxn modelId="{4760E245-0E19-4AFD-9D8B-76C1CA05B3E9}" type="presParOf" srcId="{E0EA891D-02CE-4A29-91B4-3F8648056E8F}" destId="{528F5C26-4717-46D1-AEB2-966661F1C2AE}" srcOrd="1" destOrd="0" presId="urn:microsoft.com/office/officeart/2005/8/layout/pyramid1"/>
    <dgm:cxn modelId="{1A1D3671-6E9F-4E8F-8B40-0BBAA41203AD}" type="presParOf" srcId="{3D850BD4-9491-47E1-97ED-53CA5FF9D8B7}" destId="{0B48EDA6-5FA7-4802-9AF2-3AC1D951F6F3}" srcOrd="2" destOrd="0" presId="urn:microsoft.com/office/officeart/2005/8/layout/pyramid1"/>
    <dgm:cxn modelId="{60B2E1AE-B47B-48B2-943F-546DD47766C8}" type="presParOf" srcId="{0B48EDA6-5FA7-4802-9AF2-3AC1D951F6F3}" destId="{A9D77F58-E5C1-4CD8-B564-313F983B6F55}" srcOrd="0" destOrd="0" presId="urn:microsoft.com/office/officeart/2005/8/layout/pyramid1"/>
    <dgm:cxn modelId="{0A7EB239-033E-4A41-A426-244E480E6782}" type="presParOf" srcId="{0B48EDA6-5FA7-4802-9AF2-3AC1D951F6F3}" destId="{FCEBE774-6C71-4131-9906-8D5193F4420B}"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D6C03C0-1232-4CFD-931B-3B18239C715D}" type="doc">
      <dgm:prSet loTypeId="urn:microsoft.com/office/officeart/2005/8/layout/pyramid1" loCatId="pyramid" qsTypeId="urn:microsoft.com/office/officeart/2005/8/quickstyle/3d4" qsCatId="3D" csTypeId="urn:microsoft.com/office/officeart/2005/8/colors/colorful2" csCatId="colorful" phldr="1"/>
      <dgm:spPr/>
    </dgm:pt>
    <dgm:pt modelId="{C8C25CB6-3499-4FF7-82D7-E99ED093DAB8}">
      <dgm:prSet phldrT="[Text]" custT="1"/>
      <dgm:spPr>
        <a:xfrm>
          <a:off x="1711574" y="0"/>
          <a:ext cx="1703903" cy="1158875"/>
        </a:xfrm>
        <a:solidFill>
          <a:srgbClr val="C0504D">
            <a:hueOff val="0"/>
            <a:satOff val="0"/>
            <a:lumOff val="0"/>
            <a:alphaOff val="0"/>
          </a:srgbClr>
        </a:solidFill>
        <a:ln>
          <a:noFill/>
        </a:ln>
        <a:effectLst/>
        <a:scene3d>
          <a:camera prst="orthographicFront"/>
          <a:lightRig rig="chilly" dir="t"/>
        </a:scene3d>
        <a:sp3d prstMaterial="translucentPowder">
          <a:bevelT w="127000" h="25400" prst="softRound"/>
        </a:sp3d>
      </dgm:spPr>
      <dgm:t>
        <a:bodyPr anchor="ctr"/>
        <a:lstStyle/>
        <a:p>
          <a:pPr algn="ctr"/>
          <a:r>
            <a:rPr lang="en-US" sz="1200" b="0" i="0" u="none" dirty="0">
              <a:solidFill>
                <a:sysClr val="windowText" lastClr="000000">
                  <a:hueOff val="0"/>
                  <a:satOff val="0"/>
                  <a:lumOff val="0"/>
                  <a:alphaOff val="0"/>
                </a:sysClr>
              </a:solidFill>
              <a:latin typeface="Calibri"/>
              <a:ea typeface="+mn-ea"/>
              <a:cs typeface="Calibri"/>
            </a:rPr>
            <a:t>High </a:t>
          </a:r>
        </a:p>
        <a:p>
          <a:pPr algn="ctr"/>
          <a:r>
            <a:rPr lang="en-US" sz="1200" b="0" i="0" u="none" dirty="0">
              <a:solidFill>
                <a:sysClr val="windowText" lastClr="000000">
                  <a:hueOff val="0"/>
                  <a:satOff val="0"/>
                  <a:lumOff val="0"/>
                  <a:alphaOff val="0"/>
                </a:sysClr>
              </a:solidFill>
              <a:latin typeface="Calibri"/>
              <a:ea typeface="+mn-ea"/>
              <a:cs typeface="Calibri"/>
            </a:rPr>
            <a:t>Concern </a:t>
          </a:r>
        </a:p>
        <a:p>
          <a:pPr algn="ctr"/>
          <a:r>
            <a:rPr lang="en-US" sz="1200" b="0" i="0" u="none" dirty="0">
              <a:solidFill>
                <a:sysClr val="windowText" lastClr="000000">
                  <a:hueOff val="0"/>
                  <a:satOff val="0"/>
                  <a:lumOff val="0"/>
                  <a:alphaOff val="0"/>
                </a:sysClr>
              </a:solidFill>
              <a:latin typeface="Calibri"/>
              <a:ea typeface="+mn-ea"/>
              <a:cs typeface="Calibri"/>
            </a:rPr>
            <a:t>Area</a:t>
          </a:r>
        </a:p>
      </dgm:t>
    </dgm:pt>
    <dgm:pt modelId="{7FAD7233-D0D1-459E-AF73-8D9F8F8F8BF4}" type="parTrans" cxnId="{79B95BB8-3749-468F-A39B-DE72AC380BB6}">
      <dgm:prSet/>
      <dgm:spPr/>
      <dgm:t>
        <a:bodyPr/>
        <a:lstStyle/>
        <a:p>
          <a:endParaRPr lang="en-US"/>
        </a:p>
      </dgm:t>
    </dgm:pt>
    <dgm:pt modelId="{F866A24A-62B7-4B05-A319-689CCA4D5330}" type="sibTrans" cxnId="{79B95BB8-3749-468F-A39B-DE72AC380BB6}">
      <dgm:prSet/>
      <dgm:spPr/>
      <dgm:t>
        <a:bodyPr/>
        <a:lstStyle/>
        <a:p>
          <a:endParaRPr lang="en-US"/>
        </a:p>
      </dgm:t>
    </dgm:pt>
    <dgm:pt modelId="{1CF6F07C-5E94-4496-8FD9-709B591493D3}">
      <dgm:prSet phldrT="[Text]" custT="1"/>
      <dgm:spPr>
        <a:xfrm>
          <a:off x="857068" y="1158875"/>
          <a:ext cx="3428274" cy="1158875"/>
        </a:xfrm>
        <a:solidFill>
          <a:srgbClr val="C0504D">
            <a:hueOff val="2340759"/>
            <a:satOff val="-2919"/>
            <a:lumOff val="686"/>
            <a:alphaOff val="0"/>
          </a:srgbClr>
        </a:solidFill>
        <a:ln>
          <a:noFill/>
        </a:ln>
        <a:effectLst/>
        <a:scene3d>
          <a:camera prst="orthographicFront"/>
          <a:lightRig rig="chilly" dir="t"/>
        </a:scene3d>
        <a:sp3d prstMaterial="translucentPowder">
          <a:bevelT w="127000" h="25400" prst="softRound"/>
        </a:sp3d>
      </dgm:spPr>
      <dgm:t>
        <a:bodyPr/>
        <a:lstStyle/>
        <a:p>
          <a:pPr algn="ctr"/>
          <a:r>
            <a:rPr lang="en-US" sz="1200" dirty="0">
              <a:solidFill>
                <a:sysClr val="windowText" lastClr="000000">
                  <a:hueOff val="0"/>
                  <a:satOff val="0"/>
                  <a:lumOff val="0"/>
                  <a:alphaOff val="0"/>
                </a:sysClr>
              </a:solidFill>
              <a:latin typeface="Calibri"/>
              <a:ea typeface="+mn-ea"/>
              <a:cs typeface="+mn-cs"/>
            </a:rPr>
            <a:t>Reasonable / Average Area</a:t>
          </a:r>
        </a:p>
      </dgm:t>
    </dgm:pt>
    <dgm:pt modelId="{3561DD93-B1D7-4221-B233-D0F0CB8E5677}" type="parTrans" cxnId="{76FEBA6D-B72C-4399-ABA7-027A336FD1E8}">
      <dgm:prSet/>
      <dgm:spPr/>
      <dgm:t>
        <a:bodyPr/>
        <a:lstStyle/>
        <a:p>
          <a:endParaRPr lang="en-US"/>
        </a:p>
      </dgm:t>
    </dgm:pt>
    <dgm:pt modelId="{FEB96126-156B-41D2-A8E9-953F7E7EBF40}" type="sibTrans" cxnId="{76FEBA6D-B72C-4399-ABA7-027A336FD1E8}">
      <dgm:prSet/>
      <dgm:spPr/>
      <dgm:t>
        <a:bodyPr/>
        <a:lstStyle/>
        <a:p>
          <a:endParaRPr lang="en-US"/>
        </a:p>
      </dgm:t>
    </dgm:pt>
    <dgm:pt modelId="{067FE094-D779-4A2E-B915-628B37F98EA6}">
      <dgm:prSet phldrT="[Text]" custT="1"/>
      <dgm:spPr>
        <a:xfrm>
          <a:off x="0" y="2317751"/>
          <a:ext cx="5142412" cy="1158875"/>
        </a:xfrm>
        <a:gradFill flip="none" rotWithShape="0">
          <a:gsLst>
            <a:gs pos="0">
              <a:srgbClr val="009592">
                <a:shade val="30000"/>
                <a:satMod val="115000"/>
              </a:srgbClr>
            </a:gs>
            <a:gs pos="50000">
              <a:srgbClr val="009592">
                <a:shade val="67500"/>
                <a:satMod val="115000"/>
              </a:srgbClr>
            </a:gs>
            <a:gs pos="100000">
              <a:srgbClr val="009592">
                <a:shade val="100000"/>
                <a:satMod val="115000"/>
              </a:srgbClr>
            </a:gs>
          </a:gsLst>
          <a:lin ang="2700000" scaled="1"/>
          <a:tileRect/>
        </a:gradFill>
        <a:ln>
          <a:noFill/>
        </a:ln>
        <a:effectLst/>
        <a:scene3d>
          <a:camera prst="orthographicFront"/>
          <a:lightRig rig="chilly" dir="t"/>
        </a:scene3d>
        <a:sp3d prstMaterial="translucentPowder">
          <a:bevelT w="127000" h="25400" prst="softRound"/>
        </a:sp3d>
      </dgm:spPr>
      <dgm:t>
        <a:bodyPr/>
        <a:lstStyle/>
        <a:p>
          <a:pPr algn="ctr"/>
          <a:endParaRPr lang="en-US" sz="1400" dirty="0">
            <a:solidFill>
              <a:sysClr val="windowText" lastClr="000000">
                <a:hueOff val="0"/>
                <a:satOff val="0"/>
                <a:lumOff val="0"/>
                <a:alphaOff val="0"/>
              </a:sysClr>
            </a:solidFill>
            <a:latin typeface="Calibri"/>
            <a:ea typeface="+mn-ea"/>
            <a:cs typeface="+mn-cs"/>
          </a:endParaRPr>
        </a:p>
        <a:p>
          <a:pPr algn="ctr"/>
          <a:r>
            <a:rPr lang="en-US" sz="1200" dirty="0">
              <a:solidFill>
                <a:sysClr val="windowText" lastClr="000000">
                  <a:hueOff val="0"/>
                  <a:satOff val="0"/>
                  <a:lumOff val="0"/>
                  <a:alphaOff val="0"/>
                </a:sysClr>
              </a:solidFill>
              <a:latin typeface="Calibri"/>
              <a:ea typeface="+mn-ea"/>
              <a:cs typeface="+mn-cs"/>
            </a:rPr>
            <a:t>Low Concern Area</a:t>
          </a:r>
        </a:p>
      </dgm:t>
    </dgm:pt>
    <dgm:pt modelId="{6A8668BA-9D4F-492B-8628-6256EDE6F7EA}" type="parTrans" cxnId="{6A02C070-95DE-4F25-AD74-F4668A5B8BFD}">
      <dgm:prSet/>
      <dgm:spPr/>
      <dgm:t>
        <a:bodyPr/>
        <a:lstStyle/>
        <a:p>
          <a:endParaRPr lang="en-US"/>
        </a:p>
      </dgm:t>
    </dgm:pt>
    <dgm:pt modelId="{B09958F9-C03E-4364-BCF1-D8012A357B37}" type="sibTrans" cxnId="{6A02C070-95DE-4F25-AD74-F4668A5B8BFD}">
      <dgm:prSet/>
      <dgm:spPr/>
      <dgm:t>
        <a:bodyPr/>
        <a:lstStyle/>
        <a:p>
          <a:endParaRPr lang="en-US"/>
        </a:p>
      </dgm:t>
    </dgm:pt>
    <dgm:pt modelId="{3D850BD4-9491-47E1-97ED-53CA5FF9D8B7}" type="pres">
      <dgm:prSet presAssocID="{2D6C03C0-1232-4CFD-931B-3B18239C715D}" presName="Name0" presStyleCnt="0">
        <dgm:presLayoutVars>
          <dgm:dir/>
          <dgm:animLvl val="lvl"/>
          <dgm:resizeHandles val="exact"/>
        </dgm:presLayoutVars>
      </dgm:prSet>
      <dgm:spPr/>
    </dgm:pt>
    <dgm:pt modelId="{3B6DB7A2-3F26-4928-A59F-A4C2EE6911C7}" type="pres">
      <dgm:prSet presAssocID="{C8C25CB6-3499-4FF7-82D7-E99ED093DAB8}" presName="Name8" presStyleCnt="0"/>
      <dgm:spPr/>
    </dgm:pt>
    <dgm:pt modelId="{313B5814-BDB3-4A1D-9954-00F8918735A7}" type="pres">
      <dgm:prSet presAssocID="{C8C25CB6-3499-4FF7-82D7-E99ED093DAB8}" presName="level" presStyleLbl="node1" presStyleIdx="0" presStyleCnt="3" custScaleX="99403" custLinFactNeighborX="-448">
        <dgm:presLayoutVars>
          <dgm:chMax val="1"/>
          <dgm:bulletEnabled val="1"/>
        </dgm:presLayoutVars>
      </dgm:prSet>
      <dgm:spPr>
        <a:prstGeom prst="trapezoid">
          <a:avLst>
            <a:gd name="adj" fmla="val 73957"/>
          </a:avLst>
        </a:prstGeom>
      </dgm:spPr>
    </dgm:pt>
    <dgm:pt modelId="{1142B418-B662-4E17-9F63-72CC6806D971}" type="pres">
      <dgm:prSet presAssocID="{C8C25CB6-3499-4FF7-82D7-E99ED093DAB8}" presName="levelTx" presStyleLbl="revTx" presStyleIdx="0" presStyleCnt="0">
        <dgm:presLayoutVars>
          <dgm:chMax val="1"/>
          <dgm:bulletEnabled val="1"/>
        </dgm:presLayoutVars>
      </dgm:prSet>
      <dgm:spPr/>
    </dgm:pt>
    <dgm:pt modelId="{E0EA891D-02CE-4A29-91B4-3F8648056E8F}" type="pres">
      <dgm:prSet presAssocID="{1CF6F07C-5E94-4496-8FD9-709B591493D3}" presName="Name8" presStyleCnt="0"/>
      <dgm:spPr/>
    </dgm:pt>
    <dgm:pt modelId="{8461950F-C7BB-414A-9DA7-905B7378D664}" type="pres">
      <dgm:prSet presAssocID="{1CF6F07C-5E94-4496-8FD9-709B591493D3}" presName="level" presStyleLbl="node1" presStyleIdx="1" presStyleCnt="3">
        <dgm:presLayoutVars>
          <dgm:chMax val="1"/>
          <dgm:bulletEnabled val="1"/>
        </dgm:presLayoutVars>
      </dgm:prSet>
      <dgm:spPr>
        <a:prstGeom prst="trapezoid">
          <a:avLst>
            <a:gd name="adj" fmla="val 73957"/>
          </a:avLst>
        </a:prstGeom>
      </dgm:spPr>
    </dgm:pt>
    <dgm:pt modelId="{528F5C26-4717-46D1-AEB2-966661F1C2AE}" type="pres">
      <dgm:prSet presAssocID="{1CF6F07C-5E94-4496-8FD9-709B591493D3}" presName="levelTx" presStyleLbl="revTx" presStyleIdx="0" presStyleCnt="0">
        <dgm:presLayoutVars>
          <dgm:chMax val="1"/>
          <dgm:bulletEnabled val="1"/>
        </dgm:presLayoutVars>
      </dgm:prSet>
      <dgm:spPr/>
    </dgm:pt>
    <dgm:pt modelId="{0B48EDA6-5FA7-4802-9AF2-3AC1D951F6F3}" type="pres">
      <dgm:prSet presAssocID="{067FE094-D779-4A2E-B915-628B37F98EA6}" presName="Name8" presStyleCnt="0"/>
      <dgm:spPr/>
    </dgm:pt>
    <dgm:pt modelId="{A9D77F58-E5C1-4CD8-B564-313F983B6F55}" type="pres">
      <dgm:prSet presAssocID="{067FE094-D779-4A2E-B915-628B37F98EA6}" presName="level" presStyleLbl="node1" presStyleIdx="2" presStyleCnt="3">
        <dgm:presLayoutVars>
          <dgm:chMax val="1"/>
          <dgm:bulletEnabled val="1"/>
        </dgm:presLayoutVars>
      </dgm:prSet>
      <dgm:spPr>
        <a:prstGeom prst="trapezoid">
          <a:avLst>
            <a:gd name="adj" fmla="val 73957"/>
          </a:avLst>
        </a:prstGeom>
      </dgm:spPr>
    </dgm:pt>
    <dgm:pt modelId="{FCEBE774-6C71-4131-9906-8D5193F4420B}" type="pres">
      <dgm:prSet presAssocID="{067FE094-D779-4A2E-B915-628B37F98EA6}" presName="levelTx" presStyleLbl="revTx" presStyleIdx="0" presStyleCnt="0">
        <dgm:presLayoutVars>
          <dgm:chMax val="1"/>
          <dgm:bulletEnabled val="1"/>
        </dgm:presLayoutVars>
      </dgm:prSet>
      <dgm:spPr/>
    </dgm:pt>
  </dgm:ptLst>
  <dgm:cxnLst>
    <dgm:cxn modelId="{2206590B-5786-484E-8A18-C603885241A2}" type="presOf" srcId="{C8C25CB6-3499-4FF7-82D7-E99ED093DAB8}" destId="{313B5814-BDB3-4A1D-9954-00F8918735A7}" srcOrd="0" destOrd="0" presId="urn:microsoft.com/office/officeart/2005/8/layout/pyramid1"/>
    <dgm:cxn modelId="{F7DF5E5E-17E6-4C57-A4C3-C47F50448343}" type="presOf" srcId="{067FE094-D779-4A2E-B915-628B37F98EA6}" destId="{FCEBE774-6C71-4131-9906-8D5193F4420B}" srcOrd="1" destOrd="0" presId="urn:microsoft.com/office/officeart/2005/8/layout/pyramid1"/>
    <dgm:cxn modelId="{76FEBA6D-B72C-4399-ABA7-027A336FD1E8}" srcId="{2D6C03C0-1232-4CFD-931B-3B18239C715D}" destId="{1CF6F07C-5E94-4496-8FD9-709B591493D3}" srcOrd="1" destOrd="0" parTransId="{3561DD93-B1D7-4221-B233-D0F0CB8E5677}" sibTransId="{FEB96126-156B-41D2-A8E9-953F7E7EBF40}"/>
    <dgm:cxn modelId="{6A02C070-95DE-4F25-AD74-F4668A5B8BFD}" srcId="{2D6C03C0-1232-4CFD-931B-3B18239C715D}" destId="{067FE094-D779-4A2E-B915-628B37F98EA6}" srcOrd="2" destOrd="0" parTransId="{6A8668BA-9D4F-492B-8628-6256EDE6F7EA}" sibTransId="{B09958F9-C03E-4364-BCF1-D8012A357B37}"/>
    <dgm:cxn modelId="{901C3584-F383-4634-A8A7-96D5B8E9AFEB}" type="presOf" srcId="{2D6C03C0-1232-4CFD-931B-3B18239C715D}" destId="{3D850BD4-9491-47E1-97ED-53CA5FF9D8B7}" srcOrd="0" destOrd="0" presId="urn:microsoft.com/office/officeart/2005/8/layout/pyramid1"/>
    <dgm:cxn modelId="{ABF83A9C-6063-4FA0-81EE-29D07AB13859}" type="presOf" srcId="{1CF6F07C-5E94-4496-8FD9-709B591493D3}" destId="{8461950F-C7BB-414A-9DA7-905B7378D664}" srcOrd="0" destOrd="0" presId="urn:microsoft.com/office/officeart/2005/8/layout/pyramid1"/>
    <dgm:cxn modelId="{C3EA0AA5-6569-4FE8-8938-AE4896710D9E}" type="presOf" srcId="{1CF6F07C-5E94-4496-8FD9-709B591493D3}" destId="{528F5C26-4717-46D1-AEB2-966661F1C2AE}" srcOrd="1" destOrd="0" presId="urn:microsoft.com/office/officeart/2005/8/layout/pyramid1"/>
    <dgm:cxn modelId="{79B95BB8-3749-468F-A39B-DE72AC380BB6}" srcId="{2D6C03C0-1232-4CFD-931B-3B18239C715D}" destId="{C8C25CB6-3499-4FF7-82D7-E99ED093DAB8}" srcOrd="0" destOrd="0" parTransId="{7FAD7233-D0D1-459E-AF73-8D9F8F8F8BF4}" sibTransId="{F866A24A-62B7-4B05-A319-689CCA4D5330}"/>
    <dgm:cxn modelId="{BE9D88F8-E5DD-489D-A088-4F2E7FCEFFC5}" type="presOf" srcId="{C8C25CB6-3499-4FF7-82D7-E99ED093DAB8}" destId="{1142B418-B662-4E17-9F63-72CC6806D971}" srcOrd="1" destOrd="0" presId="urn:microsoft.com/office/officeart/2005/8/layout/pyramid1"/>
    <dgm:cxn modelId="{0518A6FF-7707-4686-92A1-D393AE8F77E6}" type="presOf" srcId="{067FE094-D779-4A2E-B915-628B37F98EA6}" destId="{A9D77F58-E5C1-4CD8-B564-313F983B6F55}" srcOrd="0" destOrd="0" presId="urn:microsoft.com/office/officeart/2005/8/layout/pyramid1"/>
    <dgm:cxn modelId="{5406ADF1-77CF-4467-979F-0F78F24AA3B5}" type="presParOf" srcId="{3D850BD4-9491-47E1-97ED-53CA5FF9D8B7}" destId="{3B6DB7A2-3F26-4928-A59F-A4C2EE6911C7}" srcOrd="0" destOrd="0" presId="urn:microsoft.com/office/officeart/2005/8/layout/pyramid1"/>
    <dgm:cxn modelId="{D86CF63F-6601-4612-B924-04E7AC477BAC}" type="presParOf" srcId="{3B6DB7A2-3F26-4928-A59F-A4C2EE6911C7}" destId="{313B5814-BDB3-4A1D-9954-00F8918735A7}" srcOrd="0" destOrd="0" presId="urn:microsoft.com/office/officeart/2005/8/layout/pyramid1"/>
    <dgm:cxn modelId="{DC7213DD-1087-40E2-9B13-64B37D5C1137}" type="presParOf" srcId="{3B6DB7A2-3F26-4928-A59F-A4C2EE6911C7}" destId="{1142B418-B662-4E17-9F63-72CC6806D971}" srcOrd="1" destOrd="0" presId="urn:microsoft.com/office/officeart/2005/8/layout/pyramid1"/>
    <dgm:cxn modelId="{645A2638-1923-429C-AFA5-BDF0C5556003}" type="presParOf" srcId="{3D850BD4-9491-47E1-97ED-53CA5FF9D8B7}" destId="{E0EA891D-02CE-4A29-91B4-3F8648056E8F}" srcOrd="1" destOrd="0" presId="urn:microsoft.com/office/officeart/2005/8/layout/pyramid1"/>
    <dgm:cxn modelId="{E891B6A5-EC53-4FD8-9549-9A521DC8C8A4}" type="presParOf" srcId="{E0EA891D-02CE-4A29-91B4-3F8648056E8F}" destId="{8461950F-C7BB-414A-9DA7-905B7378D664}" srcOrd="0" destOrd="0" presId="urn:microsoft.com/office/officeart/2005/8/layout/pyramid1"/>
    <dgm:cxn modelId="{560F1518-7C8B-4D2D-81AE-09E5B442F4A5}" type="presParOf" srcId="{E0EA891D-02CE-4A29-91B4-3F8648056E8F}" destId="{528F5C26-4717-46D1-AEB2-966661F1C2AE}" srcOrd="1" destOrd="0" presId="urn:microsoft.com/office/officeart/2005/8/layout/pyramid1"/>
    <dgm:cxn modelId="{98C51D6C-FD64-4C5C-8C94-C71FFA28DFD2}" type="presParOf" srcId="{3D850BD4-9491-47E1-97ED-53CA5FF9D8B7}" destId="{0B48EDA6-5FA7-4802-9AF2-3AC1D951F6F3}" srcOrd="2" destOrd="0" presId="urn:microsoft.com/office/officeart/2005/8/layout/pyramid1"/>
    <dgm:cxn modelId="{FB37222A-B1E5-45DA-9603-1A2CD39EA186}" type="presParOf" srcId="{0B48EDA6-5FA7-4802-9AF2-3AC1D951F6F3}" destId="{A9D77F58-E5C1-4CD8-B564-313F983B6F55}" srcOrd="0" destOrd="0" presId="urn:microsoft.com/office/officeart/2005/8/layout/pyramid1"/>
    <dgm:cxn modelId="{0D2D329D-347F-4F17-BE96-2518D4E3198F}" type="presParOf" srcId="{0B48EDA6-5FA7-4802-9AF2-3AC1D951F6F3}" destId="{FCEBE774-6C71-4131-9906-8D5193F4420B}"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D6C03C0-1232-4CFD-931B-3B18239C715D}" type="doc">
      <dgm:prSet loTypeId="urn:microsoft.com/office/officeart/2005/8/layout/pyramid1" loCatId="pyramid" qsTypeId="urn:microsoft.com/office/officeart/2005/8/quickstyle/3d4" qsCatId="3D" csTypeId="urn:microsoft.com/office/officeart/2005/8/colors/colorful2" csCatId="colorful" phldr="1"/>
      <dgm:spPr/>
    </dgm:pt>
    <dgm:pt modelId="{C8C25CB6-3499-4FF7-82D7-E99ED093DAB8}">
      <dgm:prSet phldrT="[Text]" custT="1"/>
      <dgm:spPr>
        <a:xfrm>
          <a:off x="1711574" y="0"/>
          <a:ext cx="1703903" cy="1158875"/>
        </a:xfrm>
        <a:solidFill>
          <a:srgbClr val="C0504D">
            <a:hueOff val="0"/>
            <a:satOff val="0"/>
            <a:lumOff val="0"/>
            <a:alphaOff val="0"/>
          </a:srgbClr>
        </a:solidFill>
        <a:ln>
          <a:noFill/>
        </a:ln>
        <a:effectLst/>
        <a:scene3d>
          <a:camera prst="orthographicFront"/>
          <a:lightRig rig="chilly" dir="t"/>
        </a:scene3d>
        <a:sp3d prstMaterial="translucentPowder">
          <a:bevelT w="127000" h="25400" prst="softRound"/>
        </a:sp3d>
      </dgm:spPr>
      <dgm:t>
        <a:bodyPr anchor="ctr"/>
        <a:lstStyle/>
        <a:p>
          <a:pPr algn="ctr"/>
          <a:endParaRPr lang="en-US" sz="1200" b="0" i="0" u="none" dirty="0">
            <a:solidFill>
              <a:sysClr val="windowText" lastClr="000000">
                <a:hueOff val="0"/>
                <a:satOff val="0"/>
                <a:lumOff val="0"/>
                <a:alphaOff val="0"/>
              </a:sysClr>
            </a:solidFill>
            <a:latin typeface="Calibri"/>
            <a:ea typeface="+mn-ea"/>
            <a:cs typeface="Calibri"/>
          </a:endParaRPr>
        </a:p>
        <a:p>
          <a:pPr algn="ctr"/>
          <a:endParaRPr lang="en-US" sz="1200" b="0" i="0" u="none" dirty="0">
            <a:solidFill>
              <a:sysClr val="windowText" lastClr="000000">
                <a:hueOff val="0"/>
                <a:satOff val="0"/>
                <a:lumOff val="0"/>
                <a:alphaOff val="0"/>
              </a:sysClr>
            </a:solidFill>
            <a:latin typeface="Calibri"/>
            <a:ea typeface="+mn-ea"/>
            <a:cs typeface="Calibri"/>
          </a:endParaRPr>
        </a:p>
        <a:p>
          <a:pPr algn="ctr"/>
          <a:r>
            <a:rPr lang="en-US" sz="1200" b="0" i="0" u="none" dirty="0">
              <a:solidFill>
                <a:sysClr val="windowText" lastClr="000000">
                  <a:hueOff val="0"/>
                  <a:satOff val="0"/>
                  <a:lumOff val="0"/>
                  <a:alphaOff val="0"/>
                </a:sysClr>
              </a:solidFill>
              <a:latin typeface="Calibri"/>
              <a:ea typeface="+mn-ea"/>
              <a:cs typeface="Calibri"/>
            </a:rPr>
            <a:t>High </a:t>
          </a:r>
        </a:p>
        <a:p>
          <a:pPr algn="ctr"/>
          <a:r>
            <a:rPr lang="en-US" sz="1200" b="0" i="0" u="none" dirty="0">
              <a:solidFill>
                <a:sysClr val="windowText" lastClr="000000">
                  <a:hueOff val="0"/>
                  <a:satOff val="0"/>
                  <a:lumOff val="0"/>
                  <a:alphaOff val="0"/>
                </a:sysClr>
              </a:solidFill>
              <a:latin typeface="Calibri"/>
              <a:ea typeface="+mn-ea"/>
              <a:cs typeface="Calibri"/>
            </a:rPr>
            <a:t>Concern </a:t>
          </a:r>
        </a:p>
        <a:p>
          <a:pPr algn="ctr"/>
          <a:r>
            <a:rPr lang="en-US" sz="1200" b="0" i="0" u="none" dirty="0">
              <a:solidFill>
                <a:sysClr val="windowText" lastClr="000000">
                  <a:hueOff val="0"/>
                  <a:satOff val="0"/>
                  <a:lumOff val="0"/>
                  <a:alphaOff val="0"/>
                </a:sysClr>
              </a:solidFill>
              <a:latin typeface="Calibri"/>
              <a:ea typeface="+mn-ea"/>
              <a:cs typeface="Calibri"/>
            </a:rPr>
            <a:t>Area </a:t>
          </a:r>
        </a:p>
        <a:p>
          <a:pPr algn="ctr"/>
          <a:r>
            <a:rPr lang="en-US" sz="1200" b="0" i="0" u="none" dirty="0">
              <a:solidFill>
                <a:sysClr val="windowText" lastClr="000000">
                  <a:hueOff val="0"/>
                  <a:satOff val="0"/>
                  <a:lumOff val="0"/>
                  <a:alphaOff val="0"/>
                </a:sysClr>
              </a:solidFill>
              <a:latin typeface="Calibri"/>
              <a:ea typeface="+mn-ea"/>
              <a:cs typeface="Calibri"/>
            </a:rPr>
            <a:t>(42.5%)</a:t>
          </a:r>
        </a:p>
        <a:p>
          <a:pPr algn="ctr"/>
          <a:endParaRPr lang="en-US" sz="1200" b="1" i="0" u="none" dirty="0">
            <a:solidFill>
              <a:srgbClr val="1F497D">
                <a:lumMod val="20000"/>
                <a:lumOff val="80000"/>
              </a:srgbClr>
            </a:solidFill>
            <a:latin typeface="Calibri"/>
            <a:ea typeface="+mn-ea"/>
            <a:cs typeface="Calibri"/>
          </a:endParaRPr>
        </a:p>
      </dgm:t>
    </dgm:pt>
    <dgm:pt modelId="{7FAD7233-D0D1-459E-AF73-8D9F8F8F8BF4}" type="parTrans" cxnId="{79B95BB8-3749-468F-A39B-DE72AC380BB6}">
      <dgm:prSet/>
      <dgm:spPr/>
      <dgm:t>
        <a:bodyPr/>
        <a:lstStyle/>
        <a:p>
          <a:endParaRPr lang="en-US"/>
        </a:p>
      </dgm:t>
    </dgm:pt>
    <dgm:pt modelId="{F866A24A-62B7-4B05-A319-689CCA4D5330}" type="sibTrans" cxnId="{79B95BB8-3749-468F-A39B-DE72AC380BB6}">
      <dgm:prSet/>
      <dgm:spPr/>
      <dgm:t>
        <a:bodyPr/>
        <a:lstStyle/>
        <a:p>
          <a:endParaRPr lang="en-US"/>
        </a:p>
      </dgm:t>
    </dgm:pt>
    <dgm:pt modelId="{1CF6F07C-5E94-4496-8FD9-709B591493D3}">
      <dgm:prSet phldrT="[Text]" custT="1"/>
      <dgm:spPr>
        <a:xfrm>
          <a:off x="857068" y="1158875"/>
          <a:ext cx="3428274" cy="1158875"/>
        </a:xfrm>
        <a:solidFill>
          <a:srgbClr val="C0504D">
            <a:hueOff val="2340759"/>
            <a:satOff val="-2919"/>
            <a:lumOff val="686"/>
            <a:alphaOff val="0"/>
          </a:srgbClr>
        </a:solidFill>
        <a:ln>
          <a:noFill/>
        </a:ln>
        <a:effectLst/>
        <a:scene3d>
          <a:camera prst="orthographicFront"/>
          <a:lightRig rig="chilly" dir="t"/>
        </a:scene3d>
        <a:sp3d prstMaterial="translucentPowder">
          <a:bevelT w="127000" h="25400" prst="softRound"/>
        </a:sp3d>
      </dgm:spPr>
      <dgm:t>
        <a:bodyPr/>
        <a:lstStyle/>
        <a:p>
          <a:pPr algn="ctr"/>
          <a:r>
            <a:rPr lang="en-US" sz="1200" dirty="0">
              <a:solidFill>
                <a:sysClr val="windowText" lastClr="000000">
                  <a:hueOff val="0"/>
                  <a:satOff val="0"/>
                  <a:lumOff val="0"/>
                  <a:alphaOff val="0"/>
                </a:sysClr>
              </a:solidFill>
              <a:latin typeface="Calibri"/>
              <a:ea typeface="+mn-ea"/>
              <a:cs typeface="+mn-cs"/>
            </a:rPr>
            <a:t>Reasonable / Average Area (31.7%)</a:t>
          </a:r>
        </a:p>
      </dgm:t>
    </dgm:pt>
    <dgm:pt modelId="{3561DD93-B1D7-4221-B233-D0F0CB8E5677}" type="parTrans" cxnId="{76FEBA6D-B72C-4399-ABA7-027A336FD1E8}">
      <dgm:prSet/>
      <dgm:spPr/>
      <dgm:t>
        <a:bodyPr/>
        <a:lstStyle/>
        <a:p>
          <a:endParaRPr lang="en-US"/>
        </a:p>
      </dgm:t>
    </dgm:pt>
    <dgm:pt modelId="{FEB96126-156B-41D2-A8E9-953F7E7EBF40}" type="sibTrans" cxnId="{76FEBA6D-B72C-4399-ABA7-027A336FD1E8}">
      <dgm:prSet/>
      <dgm:spPr/>
      <dgm:t>
        <a:bodyPr/>
        <a:lstStyle/>
        <a:p>
          <a:endParaRPr lang="en-US"/>
        </a:p>
      </dgm:t>
    </dgm:pt>
    <dgm:pt modelId="{067FE094-D779-4A2E-B915-628B37F98EA6}">
      <dgm:prSet phldrT="[Text]" custT="1"/>
      <dgm:spPr>
        <a:xfrm>
          <a:off x="0" y="2317751"/>
          <a:ext cx="5142412" cy="1158875"/>
        </a:xfrm>
        <a:gradFill flip="none" rotWithShape="0">
          <a:gsLst>
            <a:gs pos="0">
              <a:srgbClr val="009592">
                <a:shade val="30000"/>
                <a:satMod val="115000"/>
              </a:srgbClr>
            </a:gs>
            <a:gs pos="50000">
              <a:srgbClr val="009592">
                <a:shade val="67500"/>
                <a:satMod val="115000"/>
              </a:srgbClr>
            </a:gs>
            <a:gs pos="100000">
              <a:srgbClr val="009592">
                <a:shade val="100000"/>
                <a:satMod val="115000"/>
              </a:srgbClr>
            </a:gs>
          </a:gsLst>
          <a:lin ang="2700000" scaled="1"/>
          <a:tileRect/>
        </a:gradFill>
        <a:ln>
          <a:noFill/>
        </a:ln>
        <a:effectLst/>
        <a:scene3d>
          <a:camera prst="orthographicFront"/>
          <a:lightRig rig="chilly" dir="t"/>
        </a:scene3d>
        <a:sp3d prstMaterial="translucentPowder">
          <a:bevelT w="127000" h="25400" prst="softRound"/>
        </a:sp3d>
      </dgm:spPr>
      <dgm:t>
        <a:bodyPr/>
        <a:lstStyle/>
        <a:p>
          <a:pPr algn="ctr"/>
          <a:endParaRPr lang="en-US" sz="1400" dirty="0">
            <a:solidFill>
              <a:sysClr val="windowText" lastClr="000000">
                <a:hueOff val="0"/>
                <a:satOff val="0"/>
                <a:lumOff val="0"/>
                <a:alphaOff val="0"/>
              </a:sysClr>
            </a:solidFill>
            <a:latin typeface="Calibri"/>
            <a:ea typeface="+mn-ea"/>
            <a:cs typeface="+mn-cs"/>
          </a:endParaRPr>
        </a:p>
        <a:p>
          <a:pPr algn="ctr"/>
          <a:r>
            <a:rPr lang="en-US" sz="1200" dirty="0">
              <a:solidFill>
                <a:sysClr val="windowText" lastClr="000000">
                  <a:hueOff val="0"/>
                  <a:satOff val="0"/>
                  <a:lumOff val="0"/>
                  <a:alphaOff val="0"/>
                </a:sysClr>
              </a:solidFill>
              <a:latin typeface="Calibri"/>
              <a:ea typeface="+mn-ea"/>
              <a:cs typeface="+mn-cs"/>
            </a:rPr>
            <a:t>Low Concern Area (25.8%)</a:t>
          </a:r>
        </a:p>
      </dgm:t>
    </dgm:pt>
    <dgm:pt modelId="{6A8668BA-9D4F-492B-8628-6256EDE6F7EA}" type="parTrans" cxnId="{6A02C070-95DE-4F25-AD74-F4668A5B8BFD}">
      <dgm:prSet/>
      <dgm:spPr/>
      <dgm:t>
        <a:bodyPr/>
        <a:lstStyle/>
        <a:p>
          <a:endParaRPr lang="en-US"/>
        </a:p>
      </dgm:t>
    </dgm:pt>
    <dgm:pt modelId="{B09958F9-C03E-4364-BCF1-D8012A357B37}" type="sibTrans" cxnId="{6A02C070-95DE-4F25-AD74-F4668A5B8BFD}">
      <dgm:prSet/>
      <dgm:spPr/>
      <dgm:t>
        <a:bodyPr/>
        <a:lstStyle/>
        <a:p>
          <a:endParaRPr lang="en-US"/>
        </a:p>
      </dgm:t>
    </dgm:pt>
    <dgm:pt modelId="{3D850BD4-9491-47E1-97ED-53CA5FF9D8B7}" type="pres">
      <dgm:prSet presAssocID="{2D6C03C0-1232-4CFD-931B-3B18239C715D}" presName="Name0" presStyleCnt="0">
        <dgm:presLayoutVars>
          <dgm:dir/>
          <dgm:animLvl val="lvl"/>
          <dgm:resizeHandles val="exact"/>
        </dgm:presLayoutVars>
      </dgm:prSet>
      <dgm:spPr/>
    </dgm:pt>
    <dgm:pt modelId="{3B6DB7A2-3F26-4928-A59F-A4C2EE6911C7}" type="pres">
      <dgm:prSet presAssocID="{C8C25CB6-3499-4FF7-82D7-E99ED093DAB8}" presName="Name8" presStyleCnt="0"/>
      <dgm:spPr/>
    </dgm:pt>
    <dgm:pt modelId="{313B5814-BDB3-4A1D-9954-00F8918735A7}" type="pres">
      <dgm:prSet presAssocID="{C8C25CB6-3499-4FF7-82D7-E99ED093DAB8}" presName="level" presStyleLbl="node1" presStyleIdx="0" presStyleCnt="3" custScaleX="99403" custLinFactNeighborX="-448">
        <dgm:presLayoutVars>
          <dgm:chMax val="1"/>
          <dgm:bulletEnabled val="1"/>
        </dgm:presLayoutVars>
      </dgm:prSet>
      <dgm:spPr>
        <a:prstGeom prst="trapezoid">
          <a:avLst>
            <a:gd name="adj" fmla="val 73957"/>
          </a:avLst>
        </a:prstGeom>
      </dgm:spPr>
    </dgm:pt>
    <dgm:pt modelId="{1142B418-B662-4E17-9F63-72CC6806D971}" type="pres">
      <dgm:prSet presAssocID="{C8C25CB6-3499-4FF7-82D7-E99ED093DAB8}" presName="levelTx" presStyleLbl="revTx" presStyleIdx="0" presStyleCnt="0">
        <dgm:presLayoutVars>
          <dgm:chMax val="1"/>
          <dgm:bulletEnabled val="1"/>
        </dgm:presLayoutVars>
      </dgm:prSet>
      <dgm:spPr/>
    </dgm:pt>
    <dgm:pt modelId="{E0EA891D-02CE-4A29-91B4-3F8648056E8F}" type="pres">
      <dgm:prSet presAssocID="{1CF6F07C-5E94-4496-8FD9-709B591493D3}" presName="Name8" presStyleCnt="0"/>
      <dgm:spPr/>
    </dgm:pt>
    <dgm:pt modelId="{8461950F-C7BB-414A-9DA7-905B7378D664}" type="pres">
      <dgm:prSet presAssocID="{1CF6F07C-5E94-4496-8FD9-709B591493D3}" presName="level" presStyleLbl="node1" presStyleIdx="1" presStyleCnt="3">
        <dgm:presLayoutVars>
          <dgm:chMax val="1"/>
          <dgm:bulletEnabled val="1"/>
        </dgm:presLayoutVars>
      </dgm:prSet>
      <dgm:spPr>
        <a:prstGeom prst="trapezoid">
          <a:avLst>
            <a:gd name="adj" fmla="val 73957"/>
          </a:avLst>
        </a:prstGeom>
      </dgm:spPr>
    </dgm:pt>
    <dgm:pt modelId="{528F5C26-4717-46D1-AEB2-966661F1C2AE}" type="pres">
      <dgm:prSet presAssocID="{1CF6F07C-5E94-4496-8FD9-709B591493D3}" presName="levelTx" presStyleLbl="revTx" presStyleIdx="0" presStyleCnt="0">
        <dgm:presLayoutVars>
          <dgm:chMax val="1"/>
          <dgm:bulletEnabled val="1"/>
        </dgm:presLayoutVars>
      </dgm:prSet>
      <dgm:spPr/>
    </dgm:pt>
    <dgm:pt modelId="{0B48EDA6-5FA7-4802-9AF2-3AC1D951F6F3}" type="pres">
      <dgm:prSet presAssocID="{067FE094-D779-4A2E-B915-628B37F98EA6}" presName="Name8" presStyleCnt="0"/>
      <dgm:spPr/>
    </dgm:pt>
    <dgm:pt modelId="{A9D77F58-E5C1-4CD8-B564-313F983B6F55}" type="pres">
      <dgm:prSet presAssocID="{067FE094-D779-4A2E-B915-628B37F98EA6}" presName="level" presStyleLbl="node1" presStyleIdx="2" presStyleCnt="3">
        <dgm:presLayoutVars>
          <dgm:chMax val="1"/>
          <dgm:bulletEnabled val="1"/>
        </dgm:presLayoutVars>
      </dgm:prSet>
      <dgm:spPr>
        <a:prstGeom prst="trapezoid">
          <a:avLst>
            <a:gd name="adj" fmla="val 73957"/>
          </a:avLst>
        </a:prstGeom>
      </dgm:spPr>
    </dgm:pt>
    <dgm:pt modelId="{FCEBE774-6C71-4131-9906-8D5193F4420B}" type="pres">
      <dgm:prSet presAssocID="{067FE094-D779-4A2E-B915-628B37F98EA6}" presName="levelTx" presStyleLbl="revTx" presStyleIdx="0" presStyleCnt="0">
        <dgm:presLayoutVars>
          <dgm:chMax val="1"/>
          <dgm:bulletEnabled val="1"/>
        </dgm:presLayoutVars>
      </dgm:prSet>
      <dgm:spPr/>
    </dgm:pt>
  </dgm:ptLst>
  <dgm:cxnLst>
    <dgm:cxn modelId="{DE909139-9EE8-4599-BD63-C3580B8B8736}" type="presOf" srcId="{067FE094-D779-4A2E-B915-628B37F98EA6}" destId="{FCEBE774-6C71-4131-9906-8D5193F4420B}" srcOrd="1" destOrd="0" presId="urn:microsoft.com/office/officeart/2005/8/layout/pyramid1"/>
    <dgm:cxn modelId="{76FEBA6D-B72C-4399-ABA7-027A336FD1E8}" srcId="{2D6C03C0-1232-4CFD-931B-3B18239C715D}" destId="{1CF6F07C-5E94-4496-8FD9-709B591493D3}" srcOrd="1" destOrd="0" parTransId="{3561DD93-B1D7-4221-B233-D0F0CB8E5677}" sibTransId="{FEB96126-156B-41D2-A8E9-953F7E7EBF40}"/>
    <dgm:cxn modelId="{6A02C070-95DE-4F25-AD74-F4668A5B8BFD}" srcId="{2D6C03C0-1232-4CFD-931B-3B18239C715D}" destId="{067FE094-D779-4A2E-B915-628B37F98EA6}" srcOrd="2" destOrd="0" parTransId="{6A8668BA-9D4F-492B-8628-6256EDE6F7EA}" sibTransId="{B09958F9-C03E-4364-BCF1-D8012A357B37}"/>
    <dgm:cxn modelId="{F5F6DC7F-4ABA-498B-B008-4131BA954F39}" type="presOf" srcId="{C8C25CB6-3499-4FF7-82D7-E99ED093DAB8}" destId="{1142B418-B662-4E17-9F63-72CC6806D971}" srcOrd="1" destOrd="0" presId="urn:microsoft.com/office/officeart/2005/8/layout/pyramid1"/>
    <dgm:cxn modelId="{693A3080-AA81-4E31-B451-53F45DD50C53}" type="presOf" srcId="{067FE094-D779-4A2E-B915-628B37F98EA6}" destId="{A9D77F58-E5C1-4CD8-B564-313F983B6F55}" srcOrd="0" destOrd="0" presId="urn:microsoft.com/office/officeart/2005/8/layout/pyramid1"/>
    <dgm:cxn modelId="{C1740985-117C-4644-9410-EEB0BF7A9134}" type="presOf" srcId="{1CF6F07C-5E94-4496-8FD9-709B591493D3}" destId="{528F5C26-4717-46D1-AEB2-966661F1C2AE}" srcOrd="1" destOrd="0" presId="urn:microsoft.com/office/officeart/2005/8/layout/pyramid1"/>
    <dgm:cxn modelId="{EF7B8298-8B3B-4174-BE03-BE58872A08A3}" type="presOf" srcId="{C8C25CB6-3499-4FF7-82D7-E99ED093DAB8}" destId="{313B5814-BDB3-4A1D-9954-00F8918735A7}" srcOrd="0" destOrd="0" presId="urn:microsoft.com/office/officeart/2005/8/layout/pyramid1"/>
    <dgm:cxn modelId="{9FF79CA5-75E2-430E-80C5-91D013D544B2}" type="presOf" srcId="{1CF6F07C-5E94-4496-8FD9-709B591493D3}" destId="{8461950F-C7BB-414A-9DA7-905B7378D664}" srcOrd="0" destOrd="0" presId="urn:microsoft.com/office/officeart/2005/8/layout/pyramid1"/>
    <dgm:cxn modelId="{D7C44BB6-97F6-45C6-AD82-DCEFDD654989}" type="presOf" srcId="{2D6C03C0-1232-4CFD-931B-3B18239C715D}" destId="{3D850BD4-9491-47E1-97ED-53CA5FF9D8B7}" srcOrd="0" destOrd="0" presId="urn:microsoft.com/office/officeart/2005/8/layout/pyramid1"/>
    <dgm:cxn modelId="{79B95BB8-3749-468F-A39B-DE72AC380BB6}" srcId="{2D6C03C0-1232-4CFD-931B-3B18239C715D}" destId="{C8C25CB6-3499-4FF7-82D7-E99ED093DAB8}" srcOrd="0" destOrd="0" parTransId="{7FAD7233-D0D1-459E-AF73-8D9F8F8F8BF4}" sibTransId="{F866A24A-62B7-4B05-A319-689CCA4D5330}"/>
    <dgm:cxn modelId="{4D37D726-E0DE-4F98-B11B-AF727CC326C8}" type="presParOf" srcId="{3D850BD4-9491-47E1-97ED-53CA5FF9D8B7}" destId="{3B6DB7A2-3F26-4928-A59F-A4C2EE6911C7}" srcOrd="0" destOrd="0" presId="urn:microsoft.com/office/officeart/2005/8/layout/pyramid1"/>
    <dgm:cxn modelId="{E6A1B5CA-5C8F-4647-A42A-82D40EAE56B3}" type="presParOf" srcId="{3B6DB7A2-3F26-4928-A59F-A4C2EE6911C7}" destId="{313B5814-BDB3-4A1D-9954-00F8918735A7}" srcOrd="0" destOrd="0" presId="urn:microsoft.com/office/officeart/2005/8/layout/pyramid1"/>
    <dgm:cxn modelId="{47E5BECD-0383-425D-B3EF-B888712733CF}" type="presParOf" srcId="{3B6DB7A2-3F26-4928-A59F-A4C2EE6911C7}" destId="{1142B418-B662-4E17-9F63-72CC6806D971}" srcOrd="1" destOrd="0" presId="urn:microsoft.com/office/officeart/2005/8/layout/pyramid1"/>
    <dgm:cxn modelId="{40FCED77-0260-4B45-AAF5-D27128E1A134}" type="presParOf" srcId="{3D850BD4-9491-47E1-97ED-53CA5FF9D8B7}" destId="{E0EA891D-02CE-4A29-91B4-3F8648056E8F}" srcOrd="1" destOrd="0" presId="urn:microsoft.com/office/officeart/2005/8/layout/pyramid1"/>
    <dgm:cxn modelId="{57676BA4-A487-4FED-B299-BF93C870BCA8}" type="presParOf" srcId="{E0EA891D-02CE-4A29-91B4-3F8648056E8F}" destId="{8461950F-C7BB-414A-9DA7-905B7378D664}" srcOrd="0" destOrd="0" presId="urn:microsoft.com/office/officeart/2005/8/layout/pyramid1"/>
    <dgm:cxn modelId="{46DB02DC-D35B-4BFC-B931-204E1FA6BEC1}" type="presParOf" srcId="{E0EA891D-02CE-4A29-91B4-3F8648056E8F}" destId="{528F5C26-4717-46D1-AEB2-966661F1C2AE}" srcOrd="1" destOrd="0" presId="urn:microsoft.com/office/officeart/2005/8/layout/pyramid1"/>
    <dgm:cxn modelId="{613A6C9D-EAB9-4BCA-BB6E-538A147BD278}" type="presParOf" srcId="{3D850BD4-9491-47E1-97ED-53CA5FF9D8B7}" destId="{0B48EDA6-5FA7-4802-9AF2-3AC1D951F6F3}" srcOrd="2" destOrd="0" presId="urn:microsoft.com/office/officeart/2005/8/layout/pyramid1"/>
    <dgm:cxn modelId="{454B0B1B-EF95-463B-B819-2FB30E4D29B1}" type="presParOf" srcId="{0B48EDA6-5FA7-4802-9AF2-3AC1D951F6F3}" destId="{A9D77F58-E5C1-4CD8-B564-313F983B6F55}" srcOrd="0" destOrd="0" presId="urn:microsoft.com/office/officeart/2005/8/layout/pyramid1"/>
    <dgm:cxn modelId="{FF023F95-2EAC-4EFD-9BDE-7463A4226449}" type="presParOf" srcId="{0B48EDA6-5FA7-4802-9AF2-3AC1D951F6F3}" destId="{FCEBE774-6C71-4131-9906-8D5193F4420B}"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CBFCBFE-4442-47DB-9D6D-8BDEEB8586CE}" type="doc">
      <dgm:prSet loTypeId="urn:microsoft.com/office/officeart/2005/8/layout/venn1" loCatId="relationship" qsTypeId="urn:microsoft.com/office/officeart/2005/8/quickstyle/simple1" qsCatId="simple" csTypeId="urn:microsoft.com/office/officeart/2005/8/colors/accent1_2" csCatId="accent1" phldr="1"/>
      <dgm:spPr/>
    </dgm:pt>
    <dgm:pt modelId="{347EE7BE-7907-4C87-9EA3-B55CC08EB180}">
      <dgm:prSet phldrT="[Text]" custT="1"/>
      <dgm:spPr>
        <a:solidFill>
          <a:srgbClr val="A50021">
            <a:tint val="66000"/>
            <a:satMod val="160000"/>
          </a:srgbClr>
        </a:solidFill>
      </dgm:spPr>
      <dgm:t>
        <a:bodyPr/>
        <a:lstStyle/>
        <a:p>
          <a:pPr algn="l"/>
          <a:r>
            <a:rPr lang="en-US" sz="1200" b="1" dirty="0">
              <a:latin typeface="Calibri" pitchFamily="34" charset="0"/>
              <a:cs typeface="Calibri" pitchFamily="34" charset="0"/>
            </a:rPr>
            <a:t>Total Attrition 2014 </a:t>
          </a:r>
        </a:p>
        <a:p>
          <a:pPr algn="l"/>
          <a:r>
            <a:rPr lang="en-US" sz="1200" b="1" dirty="0">
              <a:latin typeface="Calibri" pitchFamily="34" charset="0"/>
              <a:cs typeface="Calibri" pitchFamily="34" charset="0"/>
            </a:rPr>
            <a:t> (238)</a:t>
          </a:r>
        </a:p>
      </dgm:t>
    </dgm:pt>
    <dgm:pt modelId="{2B74C0B3-34B8-4C83-8539-D931467CD3ED}" type="parTrans" cxnId="{61984861-C002-45EC-97C9-28DE737C4A51}">
      <dgm:prSet/>
      <dgm:spPr/>
      <dgm:t>
        <a:bodyPr/>
        <a:lstStyle/>
        <a:p>
          <a:endParaRPr lang="en-US">
            <a:latin typeface="Calibri" pitchFamily="34" charset="0"/>
            <a:cs typeface="Calibri" pitchFamily="34" charset="0"/>
          </a:endParaRPr>
        </a:p>
      </dgm:t>
    </dgm:pt>
    <dgm:pt modelId="{039E8F0E-251C-46A0-BA24-1647BE6D22AD}" type="sibTrans" cxnId="{61984861-C002-45EC-97C9-28DE737C4A51}">
      <dgm:prSet/>
      <dgm:spPr/>
      <dgm:t>
        <a:bodyPr/>
        <a:lstStyle/>
        <a:p>
          <a:endParaRPr lang="en-US">
            <a:latin typeface="Calibri" pitchFamily="34" charset="0"/>
            <a:cs typeface="Calibri" pitchFamily="34" charset="0"/>
          </a:endParaRPr>
        </a:p>
      </dgm:t>
    </dgm:pt>
    <dgm:pt modelId="{1F6D74E1-D33B-41D4-8526-15BEB85A5852}">
      <dgm:prSet phldrT="[Text]" custT="1"/>
      <dgm:spPr>
        <a:solidFill>
          <a:schemeClr val="tx1">
            <a:alpha val="50000"/>
          </a:schemeClr>
        </a:solidFill>
      </dgm:spPr>
      <dgm:t>
        <a:bodyPr/>
        <a:lstStyle/>
        <a:p>
          <a:pPr algn="r"/>
          <a:r>
            <a:rPr lang="en-US" sz="1200" b="1" dirty="0">
              <a:latin typeface="Calibri" pitchFamily="34" charset="0"/>
              <a:cs typeface="Calibri" pitchFamily="34" charset="0"/>
            </a:rPr>
            <a:t>  Total Attrition </a:t>
          </a:r>
        </a:p>
        <a:p>
          <a:pPr algn="r"/>
          <a:r>
            <a:rPr lang="en-US" sz="1200" b="1" dirty="0">
              <a:latin typeface="Calibri" pitchFamily="34" charset="0"/>
              <a:cs typeface="Calibri" pitchFamily="34" charset="0"/>
            </a:rPr>
            <a:t>2015</a:t>
          </a:r>
        </a:p>
        <a:p>
          <a:pPr algn="r"/>
          <a:r>
            <a:rPr lang="en-US" sz="1200" b="1" dirty="0">
              <a:latin typeface="Calibri" pitchFamily="34" charset="0"/>
              <a:cs typeface="Calibri" pitchFamily="34" charset="0"/>
            </a:rPr>
            <a:t>     </a:t>
          </a:r>
          <a:r>
            <a:rPr lang="en-US" sz="1200" b="1" dirty="0">
              <a:solidFill>
                <a:srgbClr val="FF0000"/>
              </a:solidFill>
              <a:latin typeface="Calibri" pitchFamily="34" charset="0"/>
              <a:cs typeface="Calibri" pitchFamily="34" charset="0"/>
            </a:rPr>
            <a:t>(279)</a:t>
          </a:r>
        </a:p>
      </dgm:t>
    </dgm:pt>
    <dgm:pt modelId="{11592876-CA5F-4A3B-9A91-EA5EDFE2E96D}" type="parTrans" cxnId="{A475BFD1-A617-4855-B936-8BACE70552FE}">
      <dgm:prSet/>
      <dgm:spPr/>
      <dgm:t>
        <a:bodyPr/>
        <a:lstStyle/>
        <a:p>
          <a:endParaRPr lang="en-US">
            <a:latin typeface="Calibri" pitchFamily="34" charset="0"/>
            <a:cs typeface="Calibri" pitchFamily="34" charset="0"/>
          </a:endParaRPr>
        </a:p>
      </dgm:t>
    </dgm:pt>
    <dgm:pt modelId="{1717B172-479D-4964-9BBA-171AF0EE270F}" type="sibTrans" cxnId="{A475BFD1-A617-4855-B936-8BACE70552FE}">
      <dgm:prSet/>
      <dgm:spPr/>
      <dgm:t>
        <a:bodyPr/>
        <a:lstStyle/>
        <a:p>
          <a:endParaRPr lang="en-US">
            <a:latin typeface="Calibri" pitchFamily="34" charset="0"/>
            <a:cs typeface="Calibri" pitchFamily="34" charset="0"/>
          </a:endParaRPr>
        </a:p>
      </dgm:t>
    </dgm:pt>
    <dgm:pt modelId="{46EA6B25-4242-45A7-B1C5-47F7F31C8E72}" type="pres">
      <dgm:prSet presAssocID="{9CBFCBFE-4442-47DB-9D6D-8BDEEB8586CE}" presName="compositeShape" presStyleCnt="0">
        <dgm:presLayoutVars>
          <dgm:chMax val="7"/>
          <dgm:dir/>
          <dgm:resizeHandles val="exact"/>
        </dgm:presLayoutVars>
      </dgm:prSet>
      <dgm:spPr/>
    </dgm:pt>
    <dgm:pt modelId="{1E4F3861-B6EC-4E37-BC62-75EC3487533C}" type="pres">
      <dgm:prSet presAssocID="{347EE7BE-7907-4C87-9EA3-B55CC08EB180}" presName="circ1" presStyleLbl="vennNode1" presStyleIdx="0" presStyleCnt="2" custScaleX="79279" custScaleY="79580" custLinFactNeighborX="-6872" custLinFactNeighborY="-5872"/>
      <dgm:spPr/>
    </dgm:pt>
    <dgm:pt modelId="{951B848E-CAD7-4A95-94F1-0C88938C494E}" type="pres">
      <dgm:prSet presAssocID="{347EE7BE-7907-4C87-9EA3-B55CC08EB180}" presName="circ1Tx" presStyleLbl="revTx" presStyleIdx="0" presStyleCnt="0">
        <dgm:presLayoutVars>
          <dgm:chMax val="0"/>
          <dgm:chPref val="0"/>
          <dgm:bulletEnabled val="1"/>
        </dgm:presLayoutVars>
      </dgm:prSet>
      <dgm:spPr/>
    </dgm:pt>
    <dgm:pt modelId="{B862F92D-60D7-47DE-9272-97ADA1FE59BF}" type="pres">
      <dgm:prSet presAssocID="{1F6D74E1-D33B-41D4-8526-15BEB85A5852}" presName="circ2" presStyleLbl="vennNode1" presStyleIdx="1" presStyleCnt="2" custScaleX="99577" custScaleY="97598" custLinFactNeighborX="-17209" custLinFactNeighborY="-6006"/>
      <dgm:spPr/>
    </dgm:pt>
    <dgm:pt modelId="{364F81B5-3B6D-4844-A357-78781569C042}" type="pres">
      <dgm:prSet presAssocID="{1F6D74E1-D33B-41D4-8526-15BEB85A5852}" presName="circ2Tx" presStyleLbl="revTx" presStyleIdx="0" presStyleCnt="0">
        <dgm:presLayoutVars>
          <dgm:chMax val="0"/>
          <dgm:chPref val="0"/>
          <dgm:bulletEnabled val="1"/>
        </dgm:presLayoutVars>
      </dgm:prSet>
      <dgm:spPr/>
    </dgm:pt>
  </dgm:ptLst>
  <dgm:cxnLst>
    <dgm:cxn modelId="{61984861-C002-45EC-97C9-28DE737C4A51}" srcId="{9CBFCBFE-4442-47DB-9D6D-8BDEEB8586CE}" destId="{347EE7BE-7907-4C87-9EA3-B55CC08EB180}" srcOrd="0" destOrd="0" parTransId="{2B74C0B3-34B8-4C83-8539-D931467CD3ED}" sibTransId="{039E8F0E-251C-46A0-BA24-1647BE6D22AD}"/>
    <dgm:cxn modelId="{6EE06250-C9FD-45A3-BEA8-6A4236D4F1C2}" type="presOf" srcId="{1F6D74E1-D33B-41D4-8526-15BEB85A5852}" destId="{B862F92D-60D7-47DE-9272-97ADA1FE59BF}" srcOrd="0" destOrd="0" presId="urn:microsoft.com/office/officeart/2005/8/layout/venn1"/>
    <dgm:cxn modelId="{02B2CC7F-3A88-4D28-888B-3C6189A5CEB1}" type="presOf" srcId="{347EE7BE-7907-4C87-9EA3-B55CC08EB180}" destId="{951B848E-CAD7-4A95-94F1-0C88938C494E}" srcOrd="1" destOrd="0" presId="urn:microsoft.com/office/officeart/2005/8/layout/venn1"/>
    <dgm:cxn modelId="{2ED150B1-BDC1-429A-9CA0-CA9851CD979D}" type="presOf" srcId="{347EE7BE-7907-4C87-9EA3-B55CC08EB180}" destId="{1E4F3861-B6EC-4E37-BC62-75EC3487533C}" srcOrd="0" destOrd="0" presId="urn:microsoft.com/office/officeart/2005/8/layout/venn1"/>
    <dgm:cxn modelId="{2DDE32BD-318F-44CC-A8A9-EE5B0C445D34}" type="presOf" srcId="{1F6D74E1-D33B-41D4-8526-15BEB85A5852}" destId="{364F81B5-3B6D-4844-A357-78781569C042}" srcOrd="1" destOrd="0" presId="urn:microsoft.com/office/officeart/2005/8/layout/venn1"/>
    <dgm:cxn modelId="{CC4349C3-CA22-439A-83AD-7672C83FF703}" type="presOf" srcId="{9CBFCBFE-4442-47DB-9D6D-8BDEEB8586CE}" destId="{46EA6B25-4242-45A7-B1C5-47F7F31C8E72}" srcOrd="0" destOrd="0" presId="urn:microsoft.com/office/officeart/2005/8/layout/venn1"/>
    <dgm:cxn modelId="{A475BFD1-A617-4855-B936-8BACE70552FE}" srcId="{9CBFCBFE-4442-47DB-9D6D-8BDEEB8586CE}" destId="{1F6D74E1-D33B-41D4-8526-15BEB85A5852}" srcOrd="1" destOrd="0" parTransId="{11592876-CA5F-4A3B-9A91-EA5EDFE2E96D}" sibTransId="{1717B172-479D-4964-9BBA-171AF0EE270F}"/>
    <dgm:cxn modelId="{0FDDDA9B-F09F-425D-BD4C-61F867DB7E68}" type="presParOf" srcId="{46EA6B25-4242-45A7-B1C5-47F7F31C8E72}" destId="{1E4F3861-B6EC-4E37-BC62-75EC3487533C}" srcOrd="0" destOrd="0" presId="urn:microsoft.com/office/officeart/2005/8/layout/venn1"/>
    <dgm:cxn modelId="{BB54E526-1848-47C3-9EEC-C4D1C4667EDA}" type="presParOf" srcId="{46EA6B25-4242-45A7-B1C5-47F7F31C8E72}" destId="{951B848E-CAD7-4A95-94F1-0C88938C494E}" srcOrd="1" destOrd="0" presId="urn:microsoft.com/office/officeart/2005/8/layout/venn1"/>
    <dgm:cxn modelId="{D0B35A34-7EFA-4371-A33A-890924183497}" type="presParOf" srcId="{46EA6B25-4242-45A7-B1C5-47F7F31C8E72}" destId="{B862F92D-60D7-47DE-9272-97ADA1FE59BF}" srcOrd="2" destOrd="0" presId="urn:microsoft.com/office/officeart/2005/8/layout/venn1"/>
    <dgm:cxn modelId="{2A967495-9E9E-477E-80CD-F0301291FEB6}" type="presParOf" srcId="{46EA6B25-4242-45A7-B1C5-47F7F31C8E72}" destId="{364F81B5-3B6D-4844-A357-78781569C042}" srcOrd="3"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3B5814-BDB3-4A1D-9954-00F8918735A7}">
      <dsp:nvSpPr>
        <dsp:cNvPr id="0" name=""/>
        <dsp:cNvSpPr/>
      </dsp:nvSpPr>
      <dsp:spPr>
        <a:xfrm>
          <a:off x="1711574" y="0"/>
          <a:ext cx="1703903" cy="1158875"/>
        </a:xfrm>
        <a:prstGeom prst="trapezoid">
          <a:avLst>
            <a:gd name="adj" fmla="val 73957"/>
          </a:avLst>
        </a:prstGeom>
        <a:solidFill>
          <a:srgbClr val="C0504D">
            <a:hueOff val="0"/>
            <a:satOff val="0"/>
            <a:lumOff val="0"/>
            <a:alphaOff val="0"/>
          </a:srgb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High </a:t>
          </a:r>
        </a:p>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Concern </a:t>
          </a:r>
        </a:p>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Area - 1</a:t>
          </a:r>
        </a:p>
      </dsp:txBody>
      <dsp:txXfrm>
        <a:off x="1711574" y="0"/>
        <a:ext cx="1703903" cy="1158875"/>
      </dsp:txXfrm>
    </dsp:sp>
    <dsp:sp modelId="{8461950F-C7BB-414A-9DA7-905B7378D664}">
      <dsp:nvSpPr>
        <dsp:cNvPr id="0" name=""/>
        <dsp:cNvSpPr/>
      </dsp:nvSpPr>
      <dsp:spPr>
        <a:xfrm>
          <a:off x="857068" y="1158875"/>
          <a:ext cx="3428274" cy="1158875"/>
        </a:xfrm>
        <a:prstGeom prst="trapezoid">
          <a:avLst>
            <a:gd name="adj" fmla="val 73957"/>
          </a:avLst>
        </a:prstGeom>
        <a:solidFill>
          <a:srgbClr val="DF918C"/>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ysClr val="windowText" lastClr="000000">
                  <a:hueOff val="0"/>
                  <a:satOff val="0"/>
                  <a:lumOff val="0"/>
                  <a:alphaOff val="0"/>
                </a:sysClr>
              </a:solidFill>
              <a:latin typeface="Calibri"/>
              <a:ea typeface="+mn-ea"/>
              <a:cs typeface="+mn-cs"/>
            </a:rPr>
            <a:t>High Concern Area - 2</a:t>
          </a:r>
        </a:p>
      </dsp:txBody>
      <dsp:txXfrm>
        <a:off x="1457016" y="1158875"/>
        <a:ext cx="2228378" cy="1158875"/>
      </dsp:txXfrm>
    </dsp:sp>
    <dsp:sp modelId="{A2E48611-FF4B-4829-9134-EBE16871E005}">
      <dsp:nvSpPr>
        <dsp:cNvPr id="0" name=""/>
        <dsp:cNvSpPr/>
      </dsp:nvSpPr>
      <dsp:spPr>
        <a:xfrm>
          <a:off x="0" y="2317751"/>
          <a:ext cx="5142412" cy="1158875"/>
        </a:xfrm>
        <a:prstGeom prst="trapezoid">
          <a:avLst>
            <a:gd name="adj" fmla="val 73957"/>
          </a:avLst>
        </a:prstGeom>
        <a:solidFill>
          <a:srgbClr val="F0D5D4"/>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ysClr val="windowText" lastClr="000000">
                  <a:hueOff val="0"/>
                  <a:satOff val="0"/>
                  <a:lumOff val="0"/>
                  <a:alphaOff val="0"/>
                </a:sysClr>
              </a:solidFill>
              <a:latin typeface="Calibri"/>
              <a:ea typeface="+mn-ea"/>
              <a:cs typeface="+mn-cs"/>
            </a:rPr>
            <a:t>High Concern Area - 3</a:t>
          </a:r>
        </a:p>
      </dsp:txBody>
      <dsp:txXfrm>
        <a:off x="899922" y="2317751"/>
        <a:ext cx="3342567" cy="115887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3B5814-BDB3-4A1D-9954-00F8918735A7}">
      <dsp:nvSpPr>
        <dsp:cNvPr id="0" name=""/>
        <dsp:cNvSpPr/>
      </dsp:nvSpPr>
      <dsp:spPr>
        <a:xfrm>
          <a:off x="1711574" y="0"/>
          <a:ext cx="1703903" cy="1158875"/>
        </a:xfrm>
        <a:prstGeom prst="trapezoid">
          <a:avLst>
            <a:gd name="adj" fmla="val 73957"/>
          </a:avLst>
        </a:prstGeom>
        <a:solidFill>
          <a:srgbClr val="C0504D">
            <a:hueOff val="0"/>
            <a:satOff val="0"/>
            <a:lumOff val="0"/>
            <a:alphaOff val="0"/>
          </a:srgb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High </a:t>
          </a:r>
        </a:p>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Concern </a:t>
          </a:r>
        </a:p>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Area</a:t>
          </a:r>
        </a:p>
      </dsp:txBody>
      <dsp:txXfrm>
        <a:off x="1711574" y="0"/>
        <a:ext cx="1703903" cy="1158875"/>
      </dsp:txXfrm>
    </dsp:sp>
    <dsp:sp modelId="{8461950F-C7BB-414A-9DA7-905B7378D664}">
      <dsp:nvSpPr>
        <dsp:cNvPr id="0" name=""/>
        <dsp:cNvSpPr/>
      </dsp:nvSpPr>
      <dsp:spPr>
        <a:xfrm>
          <a:off x="857068" y="1158875"/>
          <a:ext cx="3428274" cy="1158875"/>
        </a:xfrm>
        <a:prstGeom prst="trapezoid">
          <a:avLst>
            <a:gd name="adj" fmla="val 73957"/>
          </a:avLst>
        </a:prstGeom>
        <a:solidFill>
          <a:srgbClr val="C0504D">
            <a:hueOff val="2340759"/>
            <a:satOff val="-2919"/>
            <a:lumOff val="686"/>
            <a:alphaOff val="0"/>
          </a:srgb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ysClr val="windowText" lastClr="000000">
                  <a:hueOff val="0"/>
                  <a:satOff val="0"/>
                  <a:lumOff val="0"/>
                  <a:alphaOff val="0"/>
                </a:sysClr>
              </a:solidFill>
              <a:latin typeface="Calibri"/>
              <a:ea typeface="+mn-ea"/>
              <a:cs typeface="+mn-cs"/>
            </a:rPr>
            <a:t>Reasonable</a:t>
          </a:r>
          <a:r>
            <a:rPr lang="en-US" sz="1400" kern="1200" dirty="0">
              <a:solidFill>
                <a:sysClr val="windowText" lastClr="000000">
                  <a:hueOff val="0"/>
                  <a:satOff val="0"/>
                  <a:lumOff val="0"/>
                  <a:alphaOff val="0"/>
                </a:sysClr>
              </a:solidFill>
              <a:latin typeface="Calibri"/>
              <a:ea typeface="+mn-ea"/>
              <a:cs typeface="+mn-cs"/>
            </a:rPr>
            <a:t> </a:t>
          </a:r>
          <a:r>
            <a:rPr lang="en-US" sz="1200" kern="1200" dirty="0">
              <a:solidFill>
                <a:sysClr val="windowText" lastClr="000000">
                  <a:hueOff val="0"/>
                  <a:satOff val="0"/>
                  <a:lumOff val="0"/>
                  <a:alphaOff val="0"/>
                </a:sysClr>
              </a:solidFill>
              <a:latin typeface="Calibri"/>
              <a:ea typeface="+mn-ea"/>
              <a:cs typeface="+mn-cs"/>
            </a:rPr>
            <a:t>/</a:t>
          </a:r>
          <a:r>
            <a:rPr lang="en-US" sz="1400" kern="1200" dirty="0">
              <a:solidFill>
                <a:sysClr val="windowText" lastClr="000000">
                  <a:hueOff val="0"/>
                  <a:satOff val="0"/>
                  <a:lumOff val="0"/>
                  <a:alphaOff val="0"/>
                </a:sysClr>
              </a:solidFill>
              <a:latin typeface="Calibri"/>
              <a:ea typeface="+mn-ea"/>
              <a:cs typeface="+mn-cs"/>
            </a:rPr>
            <a:t> </a:t>
          </a:r>
          <a:r>
            <a:rPr lang="en-US" sz="1200" kern="1200" dirty="0">
              <a:solidFill>
                <a:sysClr val="windowText" lastClr="000000">
                  <a:hueOff val="0"/>
                  <a:satOff val="0"/>
                  <a:lumOff val="0"/>
                  <a:alphaOff val="0"/>
                </a:sysClr>
              </a:solidFill>
              <a:latin typeface="Calibri"/>
              <a:ea typeface="+mn-ea"/>
              <a:cs typeface="+mn-cs"/>
            </a:rPr>
            <a:t>Average Area</a:t>
          </a:r>
        </a:p>
      </dsp:txBody>
      <dsp:txXfrm>
        <a:off x="1457016" y="1158875"/>
        <a:ext cx="2228378" cy="1158875"/>
      </dsp:txXfrm>
    </dsp:sp>
    <dsp:sp modelId="{A9D77F58-E5C1-4CD8-B564-313F983B6F55}">
      <dsp:nvSpPr>
        <dsp:cNvPr id="0" name=""/>
        <dsp:cNvSpPr/>
      </dsp:nvSpPr>
      <dsp:spPr>
        <a:xfrm>
          <a:off x="0" y="2209802"/>
          <a:ext cx="5142412" cy="1158875"/>
        </a:xfrm>
        <a:prstGeom prst="trapezoid">
          <a:avLst>
            <a:gd name="adj" fmla="val 73957"/>
          </a:avLst>
        </a:prstGeom>
        <a:gradFill flip="none" rotWithShape="0">
          <a:gsLst>
            <a:gs pos="0">
              <a:srgbClr val="009592">
                <a:shade val="30000"/>
                <a:satMod val="115000"/>
              </a:srgbClr>
            </a:gs>
            <a:gs pos="50000">
              <a:srgbClr val="009592">
                <a:shade val="67500"/>
                <a:satMod val="115000"/>
              </a:srgbClr>
            </a:gs>
            <a:gs pos="100000">
              <a:srgbClr val="009592">
                <a:shade val="100000"/>
                <a:satMod val="115000"/>
              </a:srgbClr>
            </a:gs>
          </a:gsLst>
          <a:lin ang="2700000" scaled="1"/>
          <a:tileRect/>
        </a:gra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endParaRPr lang="en-US" sz="1200" kern="1200" dirty="0">
            <a:solidFill>
              <a:sysClr val="windowText" lastClr="000000">
                <a:hueOff val="0"/>
                <a:satOff val="0"/>
                <a:lumOff val="0"/>
                <a:alphaOff val="0"/>
              </a:sysClr>
            </a:solidFill>
            <a:latin typeface="Calibri"/>
            <a:ea typeface="+mn-ea"/>
            <a:cs typeface="+mn-cs"/>
          </a:endParaRPr>
        </a:p>
        <a:p>
          <a:pPr marL="0" lvl="0" indent="0" algn="ctr" defTabSz="533400">
            <a:lnSpc>
              <a:spcPct val="90000"/>
            </a:lnSpc>
            <a:spcBef>
              <a:spcPct val="0"/>
            </a:spcBef>
            <a:spcAft>
              <a:spcPct val="35000"/>
            </a:spcAft>
            <a:buNone/>
          </a:pPr>
          <a:r>
            <a:rPr lang="en-US" sz="1200" kern="1200" dirty="0">
              <a:solidFill>
                <a:sysClr val="windowText" lastClr="000000">
                  <a:hueOff val="0"/>
                  <a:satOff val="0"/>
                  <a:lumOff val="0"/>
                  <a:alphaOff val="0"/>
                </a:sysClr>
              </a:solidFill>
              <a:latin typeface="Calibri"/>
              <a:ea typeface="+mn-ea"/>
              <a:cs typeface="+mn-cs"/>
            </a:rPr>
            <a:t>Low Concern Area</a:t>
          </a:r>
        </a:p>
      </dsp:txBody>
      <dsp:txXfrm>
        <a:off x="899922" y="2209802"/>
        <a:ext cx="3342567" cy="115887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3B5814-BDB3-4A1D-9954-00F8918735A7}">
      <dsp:nvSpPr>
        <dsp:cNvPr id="0" name=""/>
        <dsp:cNvSpPr/>
      </dsp:nvSpPr>
      <dsp:spPr>
        <a:xfrm>
          <a:off x="1711574" y="0"/>
          <a:ext cx="1703903" cy="1158875"/>
        </a:xfrm>
        <a:prstGeom prst="trapezoid">
          <a:avLst>
            <a:gd name="adj" fmla="val 73957"/>
          </a:avLst>
        </a:prstGeom>
        <a:solidFill>
          <a:srgbClr val="C0504D">
            <a:hueOff val="0"/>
            <a:satOff val="0"/>
            <a:lumOff val="0"/>
            <a:alphaOff val="0"/>
          </a:srgb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High </a:t>
          </a:r>
        </a:p>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Concern </a:t>
          </a:r>
        </a:p>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Area</a:t>
          </a:r>
        </a:p>
      </dsp:txBody>
      <dsp:txXfrm>
        <a:off x="1711574" y="0"/>
        <a:ext cx="1703903" cy="1158875"/>
      </dsp:txXfrm>
    </dsp:sp>
    <dsp:sp modelId="{8461950F-C7BB-414A-9DA7-905B7378D664}">
      <dsp:nvSpPr>
        <dsp:cNvPr id="0" name=""/>
        <dsp:cNvSpPr/>
      </dsp:nvSpPr>
      <dsp:spPr>
        <a:xfrm>
          <a:off x="857068" y="1158875"/>
          <a:ext cx="3428274" cy="1158875"/>
        </a:xfrm>
        <a:prstGeom prst="trapezoid">
          <a:avLst>
            <a:gd name="adj" fmla="val 73957"/>
          </a:avLst>
        </a:prstGeom>
        <a:solidFill>
          <a:srgbClr val="C0504D">
            <a:hueOff val="2340759"/>
            <a:satOff val="-2919"/>
            <a:lumOff val="686"/>
            <a:alphaOff val="0"/>
          </a:srgb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ysClr val="windowText" lastClr="000000">
                  <a:hueOff val="0"/>
                  <a:satOff val="0"/>
                  <a:lumOff val="0"/>
                  <a:alphaOff val="0"/>
                </a:sysClr>
              </a:solidFill>
              <a:latin typeface="Calibri"/>
              <a:ea typeface="+mn-ea"/>
              <a:cs typeface="+mn-cs"/>
            </a:rPr>
            <a:t>Reasonable / Average Area</a:t>
          </a:r>
        </a:p>
      </dsp:txBody>
      <dsp:txXfrm>
        <a:off x="1457016" y="1158875"/>
        <a:ext cx="2228378" cy="1158875"/>
      </dsp:txXfrm>
    </dsp:sp>
    <dsp:sp modelId="{A9D77F58-E5C1-4CD8-B564-313F983B6F55}">
      <dsp:nvSpPr>
        <dsp:cNvPr id="0" name=""/>
        <dsp:cNvSpPr/>
      </dsp:nvSpPr>
      <dsp:spPr>
        <a:xfrm>
          <a:off x="0" y="2317751"/>
          <a:ext cx="5142412" cy="1158875"/>
        </a:xfrm>
        <a:prstGeom prst="trapezoid">
          <a:avLst>
            <a:gd name="adj" fmla="val 73957"/>
          </a:avLst>
        </a:prstGeom>
        <a:gradFill flip="none" rotWithShape="0">
          <a:gsLst>
            <a:gs pos="0">
              <a:srgbClr val="009592">
                <a:shade val="30000"/>
                <a:satMod val="115000"/>
              </a:srgbClr>
            </a:gs>
            <a:gs pos="50000">
              <a:srgbClr val="009592">
                <a:shade val="67500"/>
                <a:satMod val="115000"/>
              </a:srgbClr>
            </a:gs>
            <a:gs pos="100000">
              <a:srgbClr val="009592">
                <a:shade val="100000"/>
                <a:satMod val="115000"/>
              </a:srgbClr>
            </a:gs>
          </a:gsLst>
          <a:lin ang="2700000" scaled="1"/>
          <a:tileRect/>
        </a:gra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endParaRPr lang="en-US" sz="1400" kern="1200" dirty="0">
            <a:solidFill>
              <a:sysClr val="windowText" lastClr="000000">
                <a:hueOff val="0"/>
                <a:satOff val="0"/>
                <a:lumOff val="0"/>
                <a:alphaOff val="0"/>
              </a:sysClr>
            </a:solidFill>
            <a:latin typeface="Calibri"/>
            <a:ea typeface="+mn-ea"/>
            <a:cs typeface="+mn-cs"/>
          </a:endParaRPr>
        </a:p>
        <a:p>
          <a:pPr marL="0" lvl="0" indent="0" algn="ctr" defTabSz="622300">
            <a:lnSpc>
              <a:spcPct val="90000"/>
            </a:lnSpc>
            <a:spcBef>
              <a:spcPct val="0"/>
            </a:spcBef>
            <a:spcAft>
              <a:spcPct val="35000"/>
            </a:spcAft>
            <a:buNone/>
          </a:pPr>
          <a:r>
            <a:rPr lang="en-US" sz="1200" kern="1200" dirty="0">
              <a:solidFill>
                <a:sysClr val="windowText" lastClr="000000">
                  <a:hueOff val="0"/>
                  <a:satOff val="0"/>
                  <a:lumOff val="0"/>
                  <a:alphaOff val="0"/>
                </a:sysClr>
              </a:solidFill>
              <a:latin typeface="Calibri"/>
              <a:ea typeface="+mn-ea"/>
              <a:cs typeface="+mn-cs"/>
            </a:rPr>
            <a:t>Low Concern Area</a:t>
          </a:r>
        </a:p>
      </dsp:txBody>
      <dsp:txXfrm>
        <a:off x="899922" y="2317751"/>
        <a:ext cx="3342567" cy="115887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3B5814-BDB3-4A1D-9954-00F8918735A7}">
      <dsp:nvSpPr>
        <dsp:cNvPr id="0" name=""/>
        <dsp:cNvSpPr/>
      </dsp:nvSpPr>
      <dsp:spPr>
        <a:xfrm>
          <a:off x="1711574" y="0"/>
          <a:ext cx="1703903" cy="1158875"/>
        </a:xfrm>
        <a:prstGeom prst="trapezoid">
          <a:avLst>
            <a:gd name="adj" fmla="val 73957"/>
          </a:avLst>
        </a:prstGeom>
        <a:solidFill>
          <a:srgbClr val="C0504D">
            <a:hueOff val="0"/>
            <a:satOff val="0"/>
            <a:lumOff val="0"/>
            <a:alphaOff val="0"/>
          </a:srgb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endParaRPr lang="en-US" sz="1200" b="0" i="0" u="none" kern="1200" dirty="0">
            <a:solidFill>
              <a:sysClr val="windowText" lastClr="000000">
                <a:hueOff val="0"/>
                <a:satOff val="0"/>
                <a:lumOff val="0"/>
                <a:alphaOff val="0"/>
              </a:sysClr>
            </a:solidFill>
            <a:latin typeface="Calibri"/>
            <a:ea typeface="+mn-ea"/>
            <a:cs typeface="Calibri"/>
          </a:endParaRPr>
        </a:p>
        <a:p>
          <a:pPr marL="0" lvl="0" indent="0" algn="ctr" defTabSz="533400">
            <a:lnSpc>
              <a:spcPct val="90000"/>
            </a:lnSpc>
            <a:spcBef>
              <a:spcPct val="0"/>
            </a:spcBef>
            <a:spcAft>
              <a:spcPct val="35000"/>
            </a:spcAft>
            <a:buNone/>
          </a:pPr>
          <a:endParaRPr lang="en-US" sz="1200" b="0" i="0" u="none" kern="1200" dirty="0">
            <a:solidFill>
              <a:sysClr val="windowText" lastClr="000000">
                <a:hueOff val="0"/>
                <a:satOff val="0"/>
                <a:lumOff val="0"/>
                <a:alphaOff val="0"/>
              </a:sysClr>
            </a:solidFill>
            <a:latin typeface="Calibri"/>
            <a:ea typeface="+mn-ea"/>
            <a:cs typeface="Calibri"/>
          </a:endParaRPr>
        </a:p>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High </a:t>
          </a:r>
        </a:p>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Concern </a:t>
          </a:r>
        </a:p>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Area </a:t>
          </a:r>
        </a:p>
        <a:p>
          <a:pPr marL="0" lvl="0" indent="0" algn="ctr" defTabSz="533400">
            <a:lnSpc>
              <a:spcPct val="90000"/>
            </a:lnSpc>
            <a:spcBef>
              <a:spcPct val="0"/>
            </a:spcBef>
            <a:spcAft>
              <a:spcPct val="35000"/>
            </a:spcAft>
            <a:buNone/>
          </a:pPr>
          <a:r>
            <a:rPr lang="en-US" sz="1200" b="0" i="0" u="none" kern="1200" dirty="0">
              <a:solidFill>
                <a:sysClr val="windowText" lastClr="000000">
                  <a:hueOff val="0"/>
                  <a:satOff val="0"/>
                  <a:lumOff val="0"/>
                  <a:alphaOff val="0"/>
                </a:sysClr>
              </a:solidFill>
              <a:latin typeface="Calibri"/>
              <a:ea typeface="+mn-ea"/>
              <a:cs typeface="Calibri"/>
            </a:rPr>
            <a:t>(42.5%)</a:t>
          </a:r>
        </a:p>
        <a:p>
          <a:pPr marL="0" lvl="0" indent="0" algn="ctr" defTabSz="533400">
            <a:lnSpc>
              <a:spcPct val="90000"/>
            </a:lnSpc>
            <a:spcBef>
              <a:spcPct val="0"/>
            </a:spcBef>
            <a:spcAft>
              <a:spcPct val="35000"/>
            </a:spcAft>
            <a:buNone/>
          </a:pPr>
          <a:endParaRPr lang="en-US" sz="1200" b="1" i="0" u="none" kern="1200" dirty="0">
            <a:solidFill>
              <a:srgbClr val="1F497D">
                <a:lumMod val="20000"/>
                <a:lumOff val="80000"/>
              </a:srgbClr>
            </a:solidFill>
            <a:latin typeface="Calibri"/>
            <a:ea typeface="+mn-ea"/>
            <a:cs typeface="Calibri"/>
          </a:endParaRPr>
        </a:p>
      </dsp:txBody>
      <dsp:txXfrm>
        <a:off x="1711574" y="0"/>
        <a:ext cx="1703903" cy="1158875"/>
      </dsp:txXfrm>
    </dsp:sp>
    <dsp:sp modelId="{8461950F-C7BB-414A-9DA7-905B7378D664}">
      <dsp:nvSpPr>
        <dsp:cNvPr id="0" name=""/>
        <dsp:cNvSpPr/>
      </dsp:nvSpPr>
      <dsp:spPr>
        <a:xfrm>
          <a:off x="857068" y="1158875"/>
          <a:ext cx="3428274" cy="1158875"/>
        </a:xfrm>
        <a:prstGeom prst="trapezoid">
          <a:avLst>
            <a:gd name="adj" fmla="val 73957"/>
          </a:avLst>
        </a:prstGeom>
        <a:solidFill>
          <a:srgbClr val="C0504D">
            <a:hueOff val="2340759"/>
            <a:satOff val="-2919"/>
            <a:lumOff val="686"/>
            <a:alphaOff val="0"/>
          </a:srgb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ysClr val="windowText" lastClr="000000">
                  <a:hueOff val="0"/>
                  <a:satOff val="0"/>
                  <a:lumOff val="0"/>
                  <a:alphaOff val="0"/>
                </a:sysClr>
              </a:solidFill>
              <a:latin typeface="Calibri"/>
              <a:ea typeface="+mn-ea"/>
              <a:cs typeface="+mn-cs"/>
            </a:rPr>
            <a:t>Reasonable / Average Area (31.7%)</a:t>
          </a:r>
        </a:p>
      </dsp:txBody>
      <dsp:txXfrm>
        <a:off x="1457016" y="1158875"/>
        <a:ext cx="2228378" cy="1158875"/>
      </dsp:txXfrm>
    </dsp:sp>
    <dsp:sp modelId="{A9D77F58-E5C1-4CD8-B564-313F983B6F55}">
      <dsp:nvSpPr>
        <dsp:cNvPr id="0" name=""/>
        <dsp:cNvSpPr/>
      </dsp:nvSpPr>
      <dsp:spPr>
        <a:xfrm>
          <a:off x="0" y="2317751"/>
          <a:ext cx="5142412" cy="1158875"/>
        </a:xfrm>
        <a:prstGeom prst="trapezoid">
          <a:avLst>
            <a:gd name="adj" fmla="val 73957"/>
          </a:avLst>
        </a:prstGeom>
        <a:gradFill flip="none" rotWithShape="0">
          <a:gsLst>
            <a:gs pos="0">
              <a:srgbClr val="009592">
                <a:shade val="30000"/>
                <a:satMod val="115000"/>
              </a:srgbClr>
            </a:gs>
            <a:gs pos="50000">
              <a:srgbClr val="009592">
                <a:shade val="67500"/>
                <a:satMod val="115000"/>
              </a:srgbClr>
            </a:gs>
            <a:gs pos="100000">
              <a:srgbClr val="009592">
                <a:shade val="100000"/>
                <a:satMod val="115000"/>
              </a:srgbClr>
            </a:gs>
          </a:gsLst>
          <a:lin ang="2700000" scaled="1"/>
          <a:tileRect/>
        </a:gra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endParaRPr lang="en-US" sz="1400" kern="1200" dirty="0">
            <a:solidFill>
              <a:sysClr val="windowText" lastClr="000000">
                <a:hueOff val="0"/>
                <a:satOff val="0"/>
                <a:lumOff val="0"/>
                <a:alphaOff val="0"/>
              </a:sysClr>
            </a:solidFill>
            <a:latin typeface="Calibri"/>
            <a:ea typeface="+mn-ea"/>
            <a:cs typeface="+mn-cs"/>
          </a:endParaRPr>
        </a:p>
        <a:p>
          <a:pPr marL="0" lvl="0" indent="0" algn="ctr" defTabSz="622300">
            <a:lnSpc>
              <a:spcPct val="90000"/>
            </a:lnSpc>
            <a:spcBef>
              <a:spcPct val="0"/>
            </a:spcBef>
            <a:spcAft>
              <a:spcPct val="35000"/>
            </a:spcAft>
            <a:buNone/>
          </a:pPr>
          <a:r>
            <a:rPr lang="en-US" sz="1200" kern="1200" dirty="0">
              <a:solidFill>
                <a:sysClr val="windowText" lastClr="000000">
                  <a:hueOff val="0"/>
                  <a:satOff val="0"/>
                  <a:lumOff val="0"/>
                  <a:alphaOff val="0"/>
                </a:sysClr>
              </a:solidFill>
              <a:latin typeface="Calibri"/>
              <a:ea typeface="+mn-ea"/>
              <a:cs typeface="+mn-cs"/>
            </a:rPr>
            <a:t>Low Concern Area (25.8%)</a:t>
          </a:r>
        </a:p>
      </dsp:txBody>
      <dsp:txXfrm>
        <a:off x="899922" y="2317751"/>
        <a:ext cx="3342567" cy="11588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4F3861-B6EC-4E37-BC62-75EC3487533C}">
      <dsp:nvSpPr>
        <dsp:cNvPr id="0" name=""/>
        <dsp:cNvSpPr/>
      </dsp:nvSpPr>
      <dsp:spPr>
        <a:xfrm>
          <a:off x="76194" y="533403"/>
          <a:ext cx="2447535" cy="2456827"/>
        </a:xfrm>
        <a:prstGeom prst="ellipse">
          <a:avLst/>
        </a:prstGeom>
        <a:solidFill>
          <a:srgbClr val="A50021">
            <a:tint val="66000"/>
            <a:satMod val="160000"/>
          </a:srgb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l" defTabSz="533400">
            <a:lnSpc>
              <a:spcPct val="90000"/>
            </a:lnSpc>
            <a:spcBef>
              <a:spcPct val="0"/>
            </a:spcBef>
            <a:spcAft>
              <a:spcPct val="35000"/>
            </a:spcAft>
            <a:buNone/>
          </a:pPr>
          <a:r>
            <a:rPr lang="en-US" sz="1200" b="1" kern="1200" dirty="0">
              <a:latin typeface="Calibri" pitchFamily="34" charset="0"/>
              <a:cs typeface="Calibri" pitchFamily="34" charset="0"/>
            </a:rPr>
            <a:t>Total Attrition 2014 </a:t>
          </a:r>
        </a:p>
        <a:p>
          <a:pPr marL="0" lvl="0" indent="0" algn="l" defTabSz="533400">
            <a:lnSpc>
              <a:spcPct val="90000"/>
            </a:lnSpc>
            <a:spcBef>
              <a:spcPct val="0"/>
            </a:spcBef>
            <a:spcAft>
              <a:spcPct val="35000"/>
            </a:spcAft>
            <a:buNone/>
          </a:pPr>
          <a:r>
            <a:rPr lang="en-US" sz="1200" b="1" kern="1200" dirty="0">
              <a:latin typeface="Calibri" pitchFamily="34" charset="0"/>
              <a:cs typeface="Calibri" pitchFamily="34" charset="0"/>
            </a:rPr>
            <a:t> (238)</a:t>
          </a:r>
        </a:p>
      </dsp:txBody>
      <dsp:txXfrm>
        <a:off x="417967" y="823115"/>
        <a:ext cx="1411191" cy="1877402"/>
      </dsp:txXfrm>
    </dsp:sp>
    <dsp:sp modelId="{B862F92D-60D7-47DE-9272-97ADA1FE59BF}">
      <dsp:nvSpPr>
        <dsp:cNvPr id="0" name=""/>
        <dsp:cNvSpPr/>
      </dsp:nvSpPr>
      <dsp:spPr>
        <a:xfrm>
          <a:off x="1668782" y="251136"/>
          <a:ext cx="3074183" cy="3013087"/>
        </a:xfrm>
        <a:prstGeom prst="ellipse">
          <a:avLst/>
        </a:prstGeom>
        <a:solidFill>
          <a:schemeClr val="tx1">
            <a:alpha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r" defTabSz="533400">
            <a:lnSpc>
              <a:spcPct val="90000"/>
            </a:lnSpc>
            <a:spcBef>
              <a:spcPct val="0"/>
            </a:spcBef>
            <a:spcAft>
              <a:spcPct val="35000"/>
            </a:spcAft>
            <a:buNone/>
          </a:pPr>
          <a:r>
            <a:rPr lang="en-US" sz="1200" b="1" kern="1200" dirty="0">
              <a:latin typeface="Calibri" pitchFamily="34" charset="0"/>
              <a:cs typeface="Calibri" pitchFamily="34" charset="0"/>
            </a:rPr>
            <a:t>  Total Attrition </a:t>
          </a:r>
        </a:p>
        <a:p>
          <a:pPr marL="0" lvl="0" indent="0" algn="r" defTabSz="533400">
            <a:lnSpc>
              <a:spcPct val="90000"/>
            </a:lnSpc>
            <a:spcBef>
              <a:spcPct val="0"/>
            </a:spcBef>
            <a:spcAft>
              <a:spcPct val="35000"/>
            </a:spcAft>
            <a:buNone/>
          </a:pPr>
          <a:r>
            <a:rPr lang="en-US" sz="1200" b="1" kern="1200" dirty="0">
              <a:latin typeface="Calibri" pitchFamily="34" charset="0"/>
              <a:cs typeface="Calibri" pitchFamily="34" charset="0"/>
            </a:rPr>
            <a:t>2015</a:t>
          </a:r>
        </a:p>
        <a:p>
          <a:pPr marL="0" lvl="0" indent="0" algn="r" defTabSz="533400">
            <a:lnSpc>
              <a:spcPct val="90000"/>
            </a:lnSpc>
            <a:spcBef>
              <a:spcPct val="0"/>
            </a:spcBef>
            <a:spcAft>
              <a:spcPct val="35000"/>
            </a:spcAft>
            <a:buNone/>
          </a:pPr>
          <a:r>
            <a:rPr lang="en-US" sz="1200" b="1" kern="1200" dirty="0">
              <a:latin typeface="Calibri" pitchFamily="34" charset="0"/>
              <a:cs typeface="Calibri" pitchFamily="34" charset="0"/>
            </a:rPr>
            <a:t>     </a:t>
          </a:r>
          <a:r>
            <a:rPr lang="en-US" sz="1200" b="1" kern="1200" dirty="0">
              <a:solidFill>
                <a:srgbClr val="FF0000"/>
              </a:solidFill>
              <a:latin typeface="Calibri" pitchFamily="34" charset="0"/>
              <a:cs typeface="Calibri" pitchFamily="34" charset="0"/>
            </a:rPr>
            <a:t>(279)</a:t>
          </a:r>
        </a:p>
      </dsp:txBody>
      <dsp:txXfrm>
        <a:off x="2541185" y="606444"/>
        <a:ext cx="1772502" cy="2302471"/>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charset="0"/>
                <a:ea typeface="+mn-ea"/>
                <a:cs typeface="Arial" charset="0"/>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pPr>
              <a:defRPr/>
            </a:pPr>
            <a:fld id="{7864F908-247B-41CA-B486-69C08CA7E835}" type="datetimeFigureOut">
              <a:rPr lang="en-US"/>
              <a:pPr>
                <a:defRPr/>
              </a:pPr>
              <a:t>9/10/2025</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charset="0"/>
                <a:ea typeface="+mn-ea"/>
                <a:cs typeface="Arial" charset="0"/>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25EF628A-DDCA-4636-A7C4-C6347F37FF53}" type="slidenum">
              <a:rPr lang="en-US"/>
              <a:pPr>
                <a:defRPr/>
              </a:pPr>
              <a:t>‹#›</a:t>
            </a:fld>
            <a:endParaRPr lang="en-US" dirty="0"/>
          </a:p>
        </p:txBody>
      </p:sp>
    </p:spTree>
    <p:extLst>
      <p:ext uri="{BB962C8B-B14F-4D97-AF65-F5344CB8AC3E}">
        <p14:creationId xmlns:p14="http://schemas.microsoft.com/office/powerpoint/2010/main" val="294366423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Slide Image Placeholder 1"/>
          <p:cNvSpPr>
            <a:spLocks noGrp="1" noRot="1" noChangeAspect="1" noTextEdit="1"/>
          </p:cNvSpPr>
          <p:nvPr>
            <p:ph type="sldImg"/>
          </p:nvPr>
        </p:nvSpPr>
        <p:spPr bwMode="auto">
          <a:noFill/>
          <a:ln>
            <a:solidFill>
              <a:srgbClr val="000000"/>
            </a:solidFill>
            <a:miter lim="800000"/>
            <a:headEnd/>
            <a:tailEnd/>
          </a:ln>
        </p:spPr>
      </p:sp>
      <p:sp>
        <p:nvSpPr>
          <p:cNvPr id="63491" name="Notes Placeholder 2"/>
          <p:cNvSpPr>
            <a:spLocks noGrp="1"/>
          </p:cNvSpPr>
          <p:nvPr>
            <p:ph type="body" idx="1"/>
          </p:nvPr>
        </p:nvSpPr>
        <p:spPr bwMode="auto">
          <a:noFill/>
        </p:spPr>
        <p:txBody>
          <a:bodyPr wrap="square" numCol="1" anchor="t" anchorCtr="0" compatLnSpc="1">
            <a:prstTxWarp prst="textNoShape">
              <a:avLst/>
            </a:prstTxWarp>
          </a:bodyPr>
          <a:lstStyle/>
          <a:p>
            <a:endParaRPr lang="en-US">
              <a:ea typeface="ＭＳ Ｐゴシック" pitchFamily="34" charset="-128"/>
            </a:endParaRPr>
          </a:p>
        </p:txBody>
      </p:sp>
      <p:sp>
        <p:nvSpPr>
          <p:cNvPr id="63492" name="Slide Number Placeholder 3"/>
          <p:cNvSpPr>
            <a:spLocks noGrp="1"/>
          </p:cNvSpPr>
          <p:nvPr>
            <p:ph type="sldNum" sz="quarter" idx="5"/>
          </p:nvPr>
        </p:nvSpPr>
        <p:spPr bwMode="auto">
          <a:noFill/>
          <a:ln>
            <a:miter lim="800000"/>
            <a:headEnd/>
            <a:tailEnd/>
          </a:ln>
        </p:spPr>
        <p:txBody>
          <a:bodyPr/>
          <a:lstStyle/>
          <a:p>
            <a:fld id="{480D32CA-1B33-496B-BAB2-82EF23BC5241}" type="slidenum">
              <a:rPr lang="en-US" smtClean="0"/>
              <a:pPr/>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p:cNvSpPr txBox="1">
            <a:spLocks noGrp="1" noChangeArrowheads="1"/>
          </p:cNvSpPr>
          <p:nvPr/>
        </p:nvSpPr>
        <p:spPr bwMode="auto">
          <a:xfrm>
            <a:off x="3884613" y="8685213"/>
            <a:ext cx="2971800" cy="457200"/>
          </a:xfrm>
          <a:prstGeom prst="rect">
            <a:avLst/>
          </a:prstGeom>
          <a:noFill/>
          <a:ln w="9525">
            <a:noFill/>
            <a:miter lim="800000"/>
            <a:headEnd/>
            <a:tailEnd/>
          </a:ln>
        </p:spPr>
        <p:txBody>
          <a:bodyPr anchor="b"/>
          <a:lstStyle/>
          <a:p>
            <a:pPr algn="r"/>
            <a:fld id="{82E33B2E-8B44-44BD-8E92-4B1FE169B898}" type="slidenum">
              <a:rPr lang="en-US" sz="1200"/>
              <a:pPr algn="r"/>
              <a:t>3</a:t>
            </a:fld>
            <a:endParaRPr lang="en-US" sz="1200"/>
          </a:p>
        </p:txBody>
      </p:sp>
      <p:sp>
        <p:nvSpPr>
          <p:cNvPr id="64515"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64516" name="Rectangle 3"/>
          <p:cNvSpPr>
            <a:spLocks noGrp="1" noChangeArrowheads="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34" charset="-128"/>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7"/>
          <p:cNvSpPr txBox="1">
            <a:spLocks noGrp="1" noChangeArrowheads="1"/>
          </p:cNvSpPr>
          <p:nvPr/>
        </p:nvSpPr>
        <p:spPr bwMode="auto">
          <a:xfrm>
            <a:off x="3884613" y="8685213"/>
            <a:ext cx="2971800" cy="457200"/>
          </a:xfrm>
          <a:prstGeom prst="rect">
            <a:avLst/>
          </a:prstGeom>
          <a:noFill/>
          <a:ln w="9525">
            <a:noFill/>
            <a:miter lim="800000"/>
            <a:headEnd/>
            <a:tailEnd/>
          </a:ln>
        </p:spPr>
        <p:txBody>
          <a:bodyPr anchor="b"/>
          <a:lstStyle/>
          <a:p>
            <a:pPr algn="r"/>
            <a:fld id="{D1F3A6FB-A36C-4AC8-B093-06D191835944}" type="slidenum">
              <a:rPr lang="en-US" sz="1200"/>
              <a:pPr algn="r"/>
              <a:t>4</a:t>
            </a:fld>
            <a:endParaRPr lang="en-US" sz="1200"/>
          </a:p>
        </p:txBody>
      </p:sp>
      <p:sp>
        <p:nvSpPr>
          <p:cNvPr id="66563"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66564" name="Rectangle 3"/>
          <p:cNvSpPr>
            <a:spLocks noGrp="1" noChangeArrowheads="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34" charset="-128"/>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IN" dirty="0"/>
          </a:p>
        </p:txBody>
      </p:sp>
      <p:sp>
        <p:nvSpPr>
          <p:cNvPr id="4" name="Slide Number Placeholder 3"/>
          <p:cNvSpPr>
            <a:spLocks noGrp="1"/>
          </p:cNvSpPr>
          <p:nvPr>
            <p:ph type="sldNum" sz="quarter" idx="10"/>
          </p:nvPr>
        </p:nvSpPr>
        <p:spPr/>
        <p:txBody>
          <a:bodyPr/>
          <a:lstStyle/>
          <a:p>
            <a:pPr>
              <a:defRPr/>
            </a:pPr>
            <a:fld id="{25EF628A-DDCA-4636-A7C4-C6347F37FF53}" type="slidenum">
              <a:rPr lang="en-US" smtClean="0"/>
              <a:pPr>
                <a:defRPr/>
              </a:pPr>
              <a:t>7</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a:defRPr/>
            </a:pPr>
            <a:fld id="{25EF628A-DDCA-4636-A7C4-C6347F37FF53}" type="slidenum">
              <a:rPr lang="en-US" smtClean="0"/>
              <a:pPr>
                <a:defRPr/>
              </a:pPr>
              <a:t>22</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7"/>
          <p:cNvSpPr txBox="1">
            <a:spLocks noGrp="1" noChangeArrowheads="1"/>
          </p:cNvSpPr>
          <p:nvPr/>
        </p:nvSpPr>
        <p:spPr bwMode="auto">
          <a:xfrm>
            <a:off x="3884613" y="8685213"/>
            <a:ext cx="2971800" cy="457200"/>
          </a:xfrm>
          <a:prstGeom prst="rect">
            <a:avLst/>
          </a:prstGeom>
          <a:noFill/>
          <a:ln w="9525">
            <a:noFill/>
            <a:miter lim="800000"/>
            <a:headEnd/>
            <a:tailEnd/>
          </a:ln>
        </p:spPr>
        <p:txBody>
          <a:bodyPr anchor="b"/>
          <a:lstStyle/>
          <a:p>
            <a:pPr algn="r"/>
            <a:fld id="{0E67759F-2F08-4CAB-968C-16CC025EE20E}" type="slidenum">
              <a:rPr lang="en-US" sz="1200"/>
              <a:pPr algn="r"/>
              <a:t>30</a:t>
            </a:fld>
            <a:endParaRPr lang="en-US" sz="1200"/>
          </a:p>
        </p:txBody>
      </p:sp>
      <p:sp>
        <p:nvSpPr>
          <p:cNvPr id="983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98308" name="Rectangle 3"/>
          <p:cNvSpPr>
            <a:spLocks noGrp="1" noChangeArrowheads="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34" charset="-128"/>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4" name="Picture 9" descr="swirl"/>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a:ln w="9525">
            <a:noFill/>
            <a:miter lim="800000"/>
            <a:headEnd/>
            <a:tailEnd/>
          </a:ln>
        </p:spPr>
      </p:pic>
      <p:sp>
        <p:nvSpPr>
          <p:cNvPr id="3075" name="Rectangle 3"/>
          <p:cNvSpPr>
            <a:spLocks noGrp="1" noChangeArrowheads="1"/>
          </p:cNvSpPr>
          <p:nvPr>
            <p:ph type="ctrTitle"/>
          </p:nvPr>
        </p:nvSpPr>
        <p:spPr>
          <a:xfrm>
            <a:off x="685800" y="2130425"/>
            <a:ext cx="7772400" cy="1470025"/>
          </a:xfrm>
        </p:spPr>
        <p:txBody>
          <a:bodyPr/>
          <a:lstStyle>
            <a:lvl1pPr>
              <a:defRPr/>
            </a:lvl1pPr>
          </a:lstStyle>
          <a:p>
            <a:r>
              <a:rPr lang="en-US"/>
              <a:t>Click to edit Master title style</a:t>
            </a:r>
          </a:p>
        </p:txBody>
      </p:sp>
      <p:sp>
        <p:nvSpPr>
          <p:cNvPr id="3076" name="Rectangle 4"/>
          <p:cNvSpPr>
            <a:spLocks noGrp="1" noChangeArrowheads="1"/>
          </p:cNvSpPr>
          <p:nvPr>
            <p:ph type="subTitle" idx="1"/>
          </p:nvPr>
        </p:nvSpPr>
        <p:spPr>
          <a:xfrm>
            <a:off x="1371600" y="3886200"/>
            <a:ext cx="6400800" cy="1752600"/>
          </a:xfrm>
        </p:spPr>
        <p:txBody>
          <a:bodyPr/>
          <a:lstStyle>
            <a:lvl1pPr marL="0" indent="0" algn="ctr">
              <a:buFontTx/>
              <a:buNone/>
              <a:defRPr/>
            </a:lvl1pPr>
          </a:lstStyle>
          <a:p>
            <a:r>
              <a:rPr lang="en-US"/>
              <a:t>Click to edit Master subtitle style</a:t>
            </a:r>
          </a:p>
        </p:txBody>
      </p:sp>
      <p:sp>
        <p:nvSpPr>
          <p:cNvPr id="6" name="Rectangle 5"/>
          <p:cNvSpPr>
            <a:spLocks noGrp="1" noChangeArrowheads="1"/>
          </p:cNvSpPr>
          <p:nvPr>
            <p:ph type="dt" sz="half" idx="10"/>
          </p:nvPr>
        </p:nvSpPr>
        <p:spPr/>
        <p:txBody>
          <a:bodyPr/>
          <a:lstStyle>
            <a:lvl1pPr>
              <a:defRPr/>
            </a:lvl1pPr>
          </a:lstStyle>
          <a:p>
            <a:pPr>
              <a:defRPr/>
            </a:pPr>
            <a:endParaRPr lang="en-US"/>
          </a:p>
        </p:txBody>
      </p:sp>
      <p:sp>
        <p:nvSpPr>
          <p:cNvPr id="7" name="Rectangle 6"/>
          <p:cNvSpPr>
            <a:spLocks noGrp="1" noChangeArrowheads="1"/>
          </p:cNvSpPr>
          <p:nvPr>
            <p:ph type="ftr" sz="quarter" idx="11"/>
          </p:nvPr>
        </p:nvSpPr>
        <p:spPr/>
        <p:txBody>
          <a:bodyPr/>
          <a:lstStyle>
            <a:lvl1pPr>
              <a:defRPr/>
            </a:lvl1pPr>
          </a:lstStyle>
          <a:p>
            <a:pPr>
              <a:defRPr/>
            </a:pPr>
            <a:endParaRPr lang="en-US"/>
          </a:p>
        </p:txBody>
      </p:sp>
      <p:sp>
        <p:nvSpPr>
          <p:cNvPr id="8" name="Rectangle 7"/>
          <p:cNvSpPr>
            <a:spLocks noGrp="1" noChangeArrowheads="1"/>
          </p:cNvSpPr>
          <p:nvPr>
            <p:ph type="sldNum" sz="quarter" idx="12"/>
          </p:nvPr>
        </p:nvSpPr>
        <p:spPr/>
        <p:txBody>
          <a:bodyPr/>
          <a:lstStyle>
            <a:lvl1pPr>
              <a:defRPr/>
            </a:lvl1pPr>
          </a:lstStyle>
          <a:p>
            <a:pPr>
              <a:defRPr/>
            </a:pPr>
            <a:fld id="{03D80CAA-2DED-4770-866A-6A57EA602699}" type="slidenum">
              <a:rPr lang="en-US"/>
              <a:pPr>
                <a:defRPr/>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5" name="Straight Connector 4"/>
          <p:cNvCxnSpPr>
            <a:cxnSpLocks noChangeShapeType="1"/>
          </p:cNvCxnSpPr>
          <p:nvPr userDrawn="1"/>
        </p:nvCxnSpPr>
        <p:spPr bwMode="auto">
          <a:xfrm>
            <a:off x="457200" y="1371600"/>
            <a:ext cx="8229600" cy="1588"/>
          </a:xfrm>
          <a:prstGeom prst="line">
            <a:avLst/>
          </a:prstGeom>
          <a:noFill/>
          <a:ln w="9525">
            <a:solidFill>
              <a:srgbClr val="7F7F7F"/>
            </a:solidFill>
            <a:round/>
            <a:headEnd/>
            <a:tailEnd/>
          </a:ln>
          <a:effectLst>
            <a:outerShdw blurRad="63500" dist="20000" dir="5400000" rotWithShape="0">
              <a:srgbClr val="000000">
                <a:alpha val="37999"/>
              </a:srgbClr>
            </a:outerShdw>
          </a:effectLst>
        </p:spPr>
      </p:cxn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3"/>
          <p:cNvSpPr>
            <a:spLocks noGrp="1"/>
          </p:cNvSpPr>
          <p:nvPr>
            <p:ph type="dt" sz="half" idx="10"/>
          </p:nvPr>
        </p:nvSpPr>
        <p:spPr/>
        <p:txBody>
          <a:bodyPr/>
          <a:lstStyle>
            <a:lvl1pPr>
              <a:defRPr/>
            </a:lvl1pPr>
          </a:lstStyle>
          <a:p>
            <a:pPr>
              <a:defRPr/>
            </a:pPr>
            <a:endParaRPr lang="en-US"/>
          </a:p>
        </p:txBody>
      </p:sp>
      <p:sp>
        <p:nvSpPr>
          <p:cNvPr id="7" name="Footer Placeholder 4"/>
          <p:cNvSpPr>
            <a:spLocks noGrp="1"/>
          </p:cNvSpPr>
          <p:nvPr>
            <p:ph type="ftr" sz="quarter" idx="11"/>
          </p:nvPr>
        </p:nvSpPr>
        <p:spPr/>
        <p:txBody>
          <a:bodyPr/>
          <a:lstStyle>
            <a:lvl1pPr>
              <a:defRPr/>
            </a:lvl1pPr>
          </a:lstStyle>
          <a:p>
            <a:pPr>
              <a:defRPr/>
            </a:pPr>
            <a:endParaRPr lang="en-US"/>
          </a:p>
        </p:txBody>
      </p:sp>
      <p:sp>
        <p:nvSpPr>
          <p:cNvPr id="8" name="Slide Number Placeholder 5"/>
          <p:cNvSpPr>
            <a:spLocks noGrp="1"/>
          </p:cNvSpPr>
          <p:nvPr>
            <p:ph type="sldNum" sz="quarter" idx="12"/>
          </p:nvPr>
        </p:nvSpPr>
        <p:spPr/>
        <p:txBody>
          <a:bodyPr/>
          <a:lstStyle>
            <a:lvl1pPr>
              <a:defRPr/>
            </a:lvl1pPr>
          </a:lstStyle>
          <a:p>
            <a:pPr>
              <a:defRPr/>
            </a:pPr>
            <a:fld id="{7067277A-A215-4519-9D9C-79C46EB918B6}" type="slidenum">
              <a:rPr lang="en-US"/>
              <a:pPr>
                <a:defRPr/>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4" name="Picture 2" descr="C:\Documents and Settings\adviti\My Documents\Templates\ppt templates\background.JPG"/>
          <p:cNvPicPr>
            <a:picLocks noChangeAspect="1" noChangeArrowheads="1"/>
          </p:cNvPicPr>
          <p:nvPr userDrawn="1"/>
        </p:nvPicPr>
        <p:blipFill>
          <a:blip r:embed="rId2" cstate="print"/>
          <a:srcRect/>
          <a:stretch>
            <a:fillRect/>
          </a:stretch>
        </p:blipFill>
        <p:spPr bwMode="auto">
          <a:xfrm>
            <a:off x="-9525" y="-9525"/>
            <a:ext cx="9163050" cy="6877050"/>
          </a:xfrm>
          <a:prstGeom prst="rect">
            <a:avLst/>
          </a:prstGeom>
          <a:noFill/>
          <a:ln w="9525">
            <a:noFill/>
            <a:miter lim="800000"/>
            <a:headEnd/>
            <a:tailEnd/>
          </a:ln>
        </p:spPr>
      </p:pic>
      <p:cxnSp>
        <p:nvCxnSpPr>
          <p:cNvPr id="5" name="Straight Connector 4"/>
          <p:cNvCxnSpPr>
            <a:cxnSpLocks noChangeShapeType="1"/>
          </p:cNvCxnSpPr>
          <p:nvPr userDrawn="1"/>
        </p:nvCxnSpPr>
        <p:spPr bwMode="auto">
          <a:xfrm>
            <a:off x="457200" y="1371600"/>
            <a:ext cx="8229600" cy="1588"/>
          </a:xfrm>
          <a:prstGeom prst="line">
            <a:avLst/>
          </a:prstGeom>
          <a:noFill/>
          <a:ln w="9525">
            <a:solidFill>
              <a:srgbClr val="7F7F7F"/>
            </a:solidFill>
            <a:round/>
            <a:headEnd/>
            <a:tailEnd/>
          </a:ln>
          <a:effectLst>
            <a:outerShdw blurRad="63500" dist="20000" dir="5400000" rotWithShape="0">
              <a:srgbClr val="000000">
                <a:alpha val="37999"/>
              </a:srgbClr>
            </a:outerShdw>
          </a:effectLst>
        </p:spPr>
      </p:cxnSp>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6" name="Date Placeholder 3"/>
          <p:cNvSpPr>
            <a:spLocks noGrp="1"/>
          </p:cNvSpPr>
          <p:nvPr>
            <p:ph type="dt" sz="half" idx="10"/>
          </p:nvPr>
        </p:nvSpPr>
        <p:spPr/>
        <p:txBody>
          <a:bodyPr/>
          <a:lstStyle>
            <a:lvl1pPr>
              <a:defRPr/>
            </a:lvl1pPr>
          </a:lstStyle>
          <a:p>
            <a:pPr>
              <a:defRPr/>
            </a:pPr>
            <a:endParaRPr lang="en-US"/>
          </a:p>
        </p:txBody>
      </p:sp>
      <p:sp>
        <p:nvSpPr>
          <p:cNvPr id="7" name="Footer Placeholder 4"/>
          <p:cNvSpPr>
            <a:spLocks noGrp="1"/>
          </p:cNvSpPr>
          <p:nvPr>
            <p:ph type="ftr" sz="quarter" idx="11"/>
          </p:nvPr>
        </p:nvSpPr>
        <p:spPr/>
        <p:txBody>
          <a:bodyPr/>
          <a:lstStyle>
            <a:lvl1pPr>
              <a:defRPr/>
            </a:lvl1pPr>
          </a:lstStyle>
          <a:p>
            <a:pPr>
              <a:defRPr/>
            </a:pPr>
            <a:endParaRPr lang="en-US"/>
          </a:p>
        </p:txBody>
      </p:sp>
      <p:sp>
        <p:nvSpPr>
          <p:cNvPr id="8" name="Slide Number Placeholder 5"/>
          <p:cNvSpPr>
            <a:spLocks noGrp="1"/>
          </p:cNvSpPr>
          <p:nvPr>
            <p:ph type="sldNum" sz="quarter" idx="12"/>
          </p:nvPr>
        </p:nvSpPr>
        <p:spPr/>
        <p:txBody>
          <a:bodyPr/>
          <a:lstStyle>
            <a:lvl1pPr>
              <a:defRPr/>
            </a:lvl1pPr>
          </a:lstStyle>
          <a:p>
            <a:pPr>
              <a:defRPr/>
            </a:pPr>
            <a:fld id="{558C8CCA-7884-48F2-B393-9816CC6A9C61}" type="slidenum">
              <a:rPr lang="en-US"/>
              <a:pPr>
                <a:defRPr/>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5" name="Picture 2" descr="C:\Documents and Settings\adviti\My Documents\Templates\ppt templates\background.JPG"/>
          <p:cNvPicPr>
            <a:picLocks noChangeAspect="1" noChangeArrowheads="1"/>
          </p:cNvPicPr>
          <p:nvPr userDrawn="1"/>
        </p:nvPicPr>
        <p:blipFill>
          <a:blip r:embed="rId2" cstate="print"/>
          <a:srcRect/>
          <a:stretch>
            <a:fillRect/>
          </a:stretch>
        </p:blipFill>
        <p:spPr bwMode="auto">
          <a:xfrm>
            <a:off x="-9525" y="-9525"/>
            <a:ext cx="9163050" cy="6877050"/>
          </a:xfrm>
          <a:prstGeom prst="rect">
            <a:avLst/>
          </a:prstGeom>
          <a:noFill/>
          <a:ln w="9525">
            <a:noFill/>
            <a:miter lim="800000"/>
            <a:headEnd/>
            <a:tailEnd/>
          </a:ln>
        </p:spPr>
      </p:pic>
      <p:cxnSp>
        <p:nvCxnSpPr>
          <p:cNvPr id="6" name="Straight Connector 5"/>
          <p:cNvCxnSpPr>
            <a:cxnSpLocks noChangeShapeType="1"/>
          </p:cNvCxnSpPr>
          <p:nvPr userDrawn="1"/>
        </p:nvCxnSpPr>
        <p:spPr bwMode="auto">
          <a:xfrm>
            <a:off x="457200" y="1371600"/>
            <a:ext cx="8229600" cy="1588"/>
          </a:xfrm>
          <a:prstGeom prst="line">
            <a:avLst/>
          </a:prstGeom>
          <a:noFill/>
          <a:ln w="9525">
            <a:solidFill>
              <a:srgbClr val="7F7F7F"/>
            </a:solidFill>
            <a:round/>
            <a:headEnd/>
            <a:tailEnd/>
          </a:ln>
          <a:effectLst>
            <a:outerShdw blurRad="63500" dist="20000" dir="5400000" rotWithShape="0">
              <a:srgbClr val="000000">
                <a:alpha val="37999"/>
              </a:srgbClr>
            </a:outerShdw>
          </a:effectLst>
        </p:spPr>
      </p:cxn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4"/>
          <p:cNvSpPr>
            <a:spLocks noGrp="1"/>
          </p:cNvSpPr>
          <p:nvPr>
            <p:ph type="dt" sz="half" idx="10"/>
          </p:nvPr>
        </p:nvSpPr>
        <p:spPr/>
        <p:txBody>
          <a:bodyPr/>
          <a:lstStyle>
            <a:lvl1pPr>
              <a:defRPr/>
            </a:lvl1pPr>
          </a:lstStyle>
          <a:p>
            <a:pPr>
              <a:defRPr/>
            </a:pPr>
            <a:endParaRPr lang="en-US"/>
          </a:p>
        </p:txBody>
      </p:sp>
      <p:sp>
        <p:nvSpPr>
          <p:cNvPr id="8" name="Footer Placeholder 5"/>
          <p:cNvSpPr>
            <a:spLocks noGrp="1"/>
          </p:cNvSpPr>
          <p:nvPr>
            <p:ph type="ftr" sz="quarter" idx="11"/>
          </p:nvPr>
        </p:nvSpPr>
        <p:spPr/>
        <p:txBody>
          <a:bodyPr/>
          <a:lstStyle>
            <a:lvl1pPr>
              <a:defRPr/>
            </a:lvl1pPr>
          </a:lstStyle>
          <a:p>
            <a:pPr>
              <a:defRPr/>
            </a:pPr>
            <a:endParaRPr lang="en-US"/>
          </a:p>
        </p:txBody>
      </p:sp>
      <p:sp>
        <p:nvSpPr>
          <p:cNvPr id="9" name="Slide Number Placeholder 6"/>
          <p:cNvSpPr>
            <a:spLocks noGrp="1"/>
          </p:cNvSpPr>
          <p:nvPr>
            <p:ph type="sldNum" sz="quarter" idx="12"/>
          </p:nvPr>
        </p:nvSpPr>
        <p:spPr/>
        <p:txBody>
          <a:bodyPr/>
          <a:lstStyle>
            <a:lvl1pPr>
              <a:defRPr/>
            </a:lvl1pPr>
          </a:lstStyle>
          <a:p>
            <a:pPr>
              <a:defRPr/>
            </a:pPr>
            <a:fld id="{2215FC5D-3800-4906-B873-1091EE5AFBAC}" type="slidenum">
              <a:rPr lang="en-US"/>
              <a:pPr>
                <a:defRPr/>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7" name="Picture 2" descr="C:\Documents and Settings\adviti\My Documents\Templates\ppt templates\background.JPG"/>
          <p:cNvPicPr>
            <a:picLocks noChangeAspect="1" noChangeArrowheads="1"/>
          </p:cNvPicPr>
          <p:nvPr userDrawn="1"/>
        </p:nvPicPr>
        <p:blipFill>
          <a:blip r:embed="rId2" cstate="print"/>
          <a:srcRect/>
          <a:stretch>
            <a:fillRect/>
          </a:stretch>
        </p:blipFill>
        <p:spPr bwMode="auto">
          <a:xfrm>
            <a:off x="-9525" y="-9525"/>
            <a:ext cx="9163050" cy="6877050"/>
          </a:xfrm>
          <a:prstGeom prst="rect">
            <a:avLst/>
          </a:prstGeom>
          <a:noFill/>
          <a:ln w="9525">
            <a:noFill/>
            <a:miter lim="800000"/>
            <a:headEnd/>
            <a:tailEnd/>
          </a:ln>
        </p:spPr>
      </p:pic>
      <p:cxnSp>
        <p:nvCxnSpPr>
          <p:cNvPr id="8" name="Straight Connector 7"/>
          <p:cNvCxnSpPr>
            <a:cxnSpLocks noChangeShapeType="1"/>
          </p:cNvCxnSpPr>
          <p:nvPr userDrawn="1"/>
        </p:nvCxnSpPr>
        <p:spPr bwMode="auto">
          <a:xfrm>
            <a:off x="457200" y="1371600"/>
            <a:ext cx="8229600" cy="1588"/>
          </a:xfrm>
          <a:prstGeom prst="line">
            <a:avLst/>
          </a:prstGeom>
          <a:noFill/>
          <a:ln w="9525">
            <a:solidFill>
              <a:srgbClr val="7F7F7F"/>
            </a:solidFill>
            <a:round/>
            <a:headEnd/>
            <a:tailEnd/>
          </a:ln>
          <a:effectLst>
            <a:outerShdw blurRad="63500" dist="20000" dir="5400000" rotWithShape="0">
              <a:srgbClr val="000000">
                <a:alpha val="37999"/>
              </a:srgbClr>
            </a:outerShdw>
          </a:effectLst>
        </p:spPr>
      </p:cxnSp>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Date Placeholder 6"/>
          <p:cNvSpPr>
            <a:spLocks noGrp="1"/>
          </p:cNvSpPr>
          <p:nvPr>
            <p:ph type="dt" sz="half" idx="10"/>
          </p:nvPr>
        </p:nvSpPr>
        <p:spPr/>
        <p:txBody>
          <a:bodyPr/>
          <a:lstStyle>
            <a:lvl1pPr>
              <a:defRPr/>
            </a:lvl1pPr>
          </a:lstStyle>
          <a:p>
            <a:pPr>
              <a:defRPr/>
            </a:pPr>
            <a:endParaRPr lang="en-US"/>
          </a:p>
        </p:txBody>
      </p:sp>
      <p:sp>
        <p:nvSpPr>
          <p:cNvPr id="10" name="Footer Placeholder 7"/>
          <p:cNvSpPr>
            <a:spLocks noGrp="1"/>
          </p:cNvSpPr>
          <p:nvPr>
            <p:ph type="ftr" sz="quarter" idx="11"/>
          </p:nvPr>
        </p:nvSpPr>
        <p:spPr/>
        <p:txBody>
          <a:bodyPr/>
          <a:lstStyle>
            <a:lvl1pPr>
              <a:defRPr/>
            </a:lvl1pPr>
          </a:lstStyle>
          <a:p>
            <a:pPr>
              <a:defRPr/>
            </a:pPr>
            <a:endParaRPr lang="en-US"/>
          </a:p>
        </p:txBody>
      </p:sp>
      <p:sp>
        <p:nvSpPr>
          <p:cNvPr id="11" name="Slide Number Placeholder 8"/>
          <p:cNvSpPr>
            <a:spLocks noGrp="1"/>
          </p:cNvSpPr>
          <p:nvPr>
            <p:ph type="sldNum" sz="quarter" idx="12"/>
          </p:nvPr>
        </p:nvSpPr>
        <p:spPr/>
        <p:txBody>
          <a:bodyPr/>
          <a:lstStyle>
            <a:lvl1pPr>
              <a:defRPr/>
            </a:lvl1pPr>
          </a:lstStyle>
          <a:p>
            <a:pPr>
              <a:defRPr/>
            </a:pPr>
            <a:fld id="{6AB9A27F-F3FC-44EC-AE4E-E1E838FA0E7D}" type="slidenum">
              <a:rPr lang="en-US"/>
              <a:pPr>
                <a:defRPr/>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3" name="Picture 7" descr="C:\Documents and Settings\adviti\My Documents\Templates\ppt templates\background.JPG"/>
          <p:cNvPicPr>
            <a:picLocks noChangeAspect="1" noChangeArrowheads="1"/>
          </p:cNvPicPr>
          <p:nvPr userDrawn="1"/>
        </p:nvPicPr>
        <p:blipFill>
          <a:blip r:embed="rId2" cstate="print"/>
          <a:srcRect/>
          <a:stretch>
            <a:fillRect/>
          </a:stretch>
        </p:blipFill>
        <p:spPr bwMode="auto">
          <a:xfrm>
            <a:off x="-9525" y="-9525"/>
            <a:ext cx="9163050" cy="6877050"/>
          </a:xfrm>
          <a:prstGeom prst="rect">
            <a:avLst/>
          </a:prstGeom>
          <a:noFill/>
          <a:ln w="9525">
            <a:noFill/>
            <a:miter lim="800000"/>
            <a:headEnd/>
            <a:tailEnd/>
          </a:ln>
        </p:spPr>
      </p:pic>
      <p:cxnSp>
        <p:nvCxnSpPr>
          <p:cNvPr id="4" name="Straight Connector 3"/>
          <p:cNvCxnSpPr>
            <a:cxnSpLocks noChangeShapeType="1"/>
          </p:cNvCxnSpPr>
          <p:nvPr userDrawn="1"/>
        </p:nvCxnSpPr>
        <p:spPr bwMode="auto">
          <a:xfrm>
            <a:off x="457200" y="1371600"/>
            <a:ext cx="8229600" cy="1588"/>
          </a:xfrm>
          <a:prstGeom prst="line">
            <a:avLst/>
          </a:prstGeom>
          <a:noFill/>
          <a:ln w="9525">
            <a:solidFill>
              <a:srgbClr val="7F7F7F"/>
            </a:solidFill>
            <a:round/>
            <a:headEnd/>
            <a:tailEnd/>
          </a:ln>
          <a:effectLst>
            <a:outerShdw blurRad="63500" dist="20000" dir="5400000" rotWithShape="0">
              <a:srgbClr val="000000">
                <a:alpha val="37999"/>
              </a:srgbClr>
            </a:outerShdw>
          </a:effectLst>
        </p:spPr>
      </p:cxnSp>
      <p:sp>
        <p:nvSpPr>
          <p:cNvPr id="2" name="Title 1"/>
          <p:cNvSpPr>
            <a:spLocks noGrp="1"/>
          </p:cNvSpPr>
          <p:nvPr>
            <p:ph type="title"/>
          </p:nvPr>
        </p:nvSpPr>
        <p:spPr/>
        <p:txBody>
          <a:bodyPr/>
          <a:lstStyle/>
          <a:p>
            <a:r>
              <a:rPr lang="en-US"/>
              <a:t>Click to edit Master title style</a:t>
            </a:r>
          </a:p>
        </p:txBody>
      </p:sp>
      <p:sp>
        <p:nvSpPr>
          <p:cNvPr id="5" name="Date Placeholder 2"/>
          <p:cNvSpPr>
            <a:spLocks noGrp="1"/>
          </p:cNvSpPr>
          <p:nvPr>
            <p:ph type="dt" sz="half" idx="10"/>
          </p:nvPr>
        </p:nvSpPr>
        <p:spPr/>
        <p:txBody>
          <a:bodyPr/>
          <a:lstStyle>
            <a:lvl1pPr>
              <a:defRPr/>
            </a:lvl1pPr>
          </a:lstStyle>
          <a:p>
            <a:pPr>
              <a:defRPr/>
            </a:pPr>
            <a:endParaRPr lang="en-US"/>
          </a:p>
        </p:txBody>
      </p:sp>
      <p:sp>
        <p:nvSpPr>
          <p:cNvPr id="6" name="Footer Placeholder 3"/>
          <p:cNvSpPr>
            <a:spLocks noGrp="1"/>
          </p:cNvSpPr>
          <p:nvPr>
            <p:ph type="ftr" sz="quarter" idx="11"/>
          </p:nvPr>
        </p:nvSpPr>
        <p:spPr/>
        <p:txBody>
          <a:bodyPr/>
          <a:lstStyle>
            <a:lvl1pPr>
              <a:defRPr/>
            </a:lvl1pPr>
          </a:lstStyle>
          <a:p>
            <a:pPr>
              <a:defRPr/>
            </a:pPr>
            <a:endParaRPr lang="en-US"/>
          </a:p>
        </p:txBody>
      </p:sp>
      <p:sp>
        <p:nvSpPr>
          <p:cNvPr id="7" name="Slide Number Placeholder 4"/>
          <p:cNvSpPr>
            <a:spLocks noGrp="1"/>
          </p:cNvSpPr>
          <p:nvPr>
            <p:ph type="sldNum" sz="quarter" idx="12"/>
          </p:nvPr>
        </p:nvSpPr>
        <p:spPr/>
        <p:txBody>
          <a:bodyPr/>
          <a:lstStyle>
            <a:lvl1pPr>
              <a:defRPr/>
            </a:lvl1pPr>
          </a:lstStyle>
          <a:p>
            <a:pPr>
              <a:defRPr/>
            </a:pPr>
            <a:fld id="{7FFCBC65-504E-429A-A1F8-DF23FD713767}" type="slidenum">
              <a:rPr lang="en-US"/>
              <a:pPr>
                <a:defRPr/>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2" name="Picture 2" descr="C:\Documents and Settings\adviti\My Documents\Templates\ppt templates\background.JPG"/>
          <p:cNvPicPr>
            <a:picLocks noChangeAspect="1" noChangeArrowheads="1"/>
          </p:cNvPicPr>
          <p:nvPr userDrawn="1"/>
        </p:nvPicPr>
        <p:blipFill>
          <a:blip r:embed="rId2" cstate="print"/>
          <a:srcRect/>
          <a:stretch>
            <a:fillRect/>
          </a:stretch>
        </p:blipFill>
        <p:spPr bwMode="auto">
          <a:xfrm>
            <a:off x="-9525" y="-9525"/>
            <a:ext cx="9163050" cy="6877050"/>
          </a:xfrm>
          <a:prstGeom prst="rect">
            <a:avLst/>
          </a:prstGeom>
          <a:noFill/>
          <a:ln w="9525">
            <a:noFill/>
            <a:miter lim="800000"/>
            <a:headEnd/>
            <a:tailEnd/>
          </a:ln>
        </p:spPr>
      </p:pic>
      <p:sp>
        <p:nvSpPr>
          <p:cNvPr id="3" name="Date Placeholder 1"/>
          <p:cNvSpPr>
            <a:spLocks noGrp="1"/>
          </p:cNvSpPr>
          <p:nvPr>
            <p:ph type="dt" sz="half" idx="10"/>
          </p:nvPr>
        </p:nvSpPr>
        <p:spPr/>
        <p:txBody>
          <a:bodyPr/>
          <a:lstStyle>
            <a:lvl1pPr>
              <a:defRPr/>
            </a:lvl1pPr>
          </a:lstStyle>
          <a:p>
            <a:pPr>
              <a:defRPr/>
            </a:pPr>
            <a:endParaRPr lang="en-US"/>
          </a:p>
        </p:txBody>
      </p:sp>
      <p:sp>
        <p:nvSpPr>
          <p:cNvPr id="4" name="Footer Placeholder 2"/>
          <p:cNvSpPr>
            <a:spLocks noGrp="1"/>
          </p:cNvSpPr>
          <p:nvPr>
            <p:ph type="ftr" sz="quarter" idx="11"/>
          </p:nvPr>
        </p:nvSpPr>
        <p:spPr/>
        <p:txBody>
          <a:bodyPr/>
          <a:lstStyle>
            <a:lvl1pPr>
              <a:defRPr/>
            </a:lvl1pPr>
          </a:lstStyle>
          <a:p>
            <a:pPr>
              <a:defRPr/>
            </a:pPr>
            <a:endParaRPr lang="en-US"/>
          </a:p>
        </p:txBody>
      </p:sp>
      <p:sp>
        <p:nvSpPr>
          <p:cNvPr id="5" name="Slide Number Placeholder 3"/>
          <p:cNvSpPr>
            <a:spLocks noGrp="1"/>
          </p:cNvSpPr>
          <p:nvPr>
            <p:ph type="sldNum" sz="quarter" idx="12"/>
          </p:nvPr>
        </p:nvSpPr>
        <p:spPr/>
        <p:txBody>
          <a:bodyPr/>
          <a:lstStyle>
            <a:lvl1pPr>
              <a:defRPr/>
            </a:lvl1pPr>
          </a:lstStyle>
          <a:p>
            <a:pPr>
              <a:defRPr/>
            </a:pPr>
            <a:fld id="{0B0AB0D4-B9FA-4374-80E0-9E72A2075D33}" type="slidenum">
              <a:rPr lang="en-US"/>
              <a:pPr>
                <a:defRPr/>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5" name="Picture 2" descr="C:\Documents and Settings\adviti\My Documents\Templates\ppt templates\background.JPG"/>
          <p:cNvPicPr>
            <a:picLocks noChangeAspect="1" noChangeArrowheads="1"/>
          </p:cNvPicPr>
          <p:nvPr userDrawn="1"/>
        </p:nvPicPr>
        <p:blipFill>
          <a:blip r:embed="rId2" cstate="print"/>
          <a:srcRect/>
          <a:stretch>
            <a:fillRect/>
          </a:stretch>
        </p:blipFill>
        <p:spPr bwMode="auto">
          <a:xfrm>
            <a:off x="-9525" y="-9525"/>
            <a:ext cx="9163050" cy="6877050"/>
          </a:xfrm>
          <a:prstGeom prst="rect">
            <a:avLst/>
          </a:prstGeom>
          <a:noFill/>
          <a:ln w="9525">
            <a:noFill/>
            <a:miter lim="800000"/>
            <a:headEnd/>
            <a:tailEnd/>
          </a:ln>
        </p:spPr>
      </p:pic>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pPr>
              <a:defRPr/>
            </a:pPr>
            <a:fld id="{0D0E74CF-3FC5-46BB-9B1F-6BC9DC7529F8}" type="slidenum">
              <a:rPr lang="en-US"/>
              <a:pPr>
                <a:defRPr/>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5" name="Picture 2" descr="C:\Documents and Settings\adviti\My Documents\Templates\ppt templates\background.JPG"/>
          <p:cNvPicPr>
            <a:picLocks noChangeAspect="1" noChangeArrowheads="1"/>
          </p:cNvPicPr>
          <p:nvPr userDrawn="1"/>
        </p:nvPicPr>
        <p:blipFill>
          <a:blip r:embed="rId2" cstate="print"/>
          <a:srcRect/>
          <a:stretch>
            <a:fillRect/>
          </a:stretch>
        </p:blipFill>
        <p:spPr bwMode="auto">
          <a:xfrm>
            <a:off x="0" y="-19050"/>
            <a:ext cx="9163050" cy="6877050"/>
          </a:xfrm>
          <a:prstGeom prst="rect">
            <a:avLst/>
          </a:prstGeom>
          <a:noFill/>
          <a:ln w="9525">
            <a:noFill/>
            <a:miter lim="800000"/>
            <a:headEnd/>
            <a:tailEnd/>
          </a:ln>
        </p:spPr>
      </p:pic>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pPr>
              <a:defRPr/>
            </a:pPr>
            <a:fld id="{2D6384C6-2801-4073-9C68-F62D0CE113C4}" type="slidenum">
              <a:rPr lang="en-US"/>
              <a:pPr>
                <a:defRPr/>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4" name="Picture 2" descr="C:\Documents and Settings\adviti\My Documents\Templates\ppt templates\background.JPG"/>
          <p:cNvPicPr>
            <a:picLocks noChangeAspect="1" noChangeArrowheads="1"/>
          </p:cNvPicPr>
          <p:nvPr userDrawn="1"/>
        </p:nvPicPr>
        <p:blipFill>
          <a:blip r:embed="rId2" cstate="print"/>
          <a:srcRect/>
          <a:stretch>
            <a:fillRect/>
          </a:stretch>
        </p:blipFill>
        <p:spPr bwMode="auto">
          <a:xfrm>
            <a:off x="-9525" y="-9525"/>
            <a:ext cx="9163050" cy="6877050"/>
          </a:xfrm>
          <a:prstGeom prst="rect">
            <a:avLst/>
          </a:prstGeom>
          <a:noFill/>
          <a:ln w="9525">
            <a:noFill/>
            <a:miter lim="800000"/>
            <a:headEnd/>
            <a:tailEnd/>
          </a:ln>
        </p:spPr>
      </p:pic>
      <p:cxnSp>
        <p:nvCxnSpPr>
          <p:cNvPr id="5" name="Straight Connector 4"/>
          <p:cNvCxnSpPr>
            <a:cxnSpLocks noChangeShapeType="1"/>
          </p:cNvCxnSpPr>
          <p:nvPr userDrawn="1"/>
        </p:nvCxnSpPr>
        <p:spPr bwMode="auto">
          <a:xfrm>
            <a:off x="457200" y="1371600"/>
            <a:ext cx="8229600" cy="1588"/>
          </a:xfrm>
          <a:prstGeom prst="line">
            <a:avLst/>
          </a:prstGeom>
          <a:noFill/>
          <a:ln w="9525">
            <a:solidFill>
              <a:srgbClr val="7F7F7F"/>
            </a:solidFill>
            <a:round/>
            <a:headEnd/>
            <a:tailEnd/>
          </a:ln>
          <a:effectLst>
            <a:outerShdw blurRad="63500" dist="20000" dir="5400000" rotWithShape="0">
              <a:srgbClr val="000000">
                <a:alpha val="37999"/>
              </a:srgbClr>
            </a:outerShdw>
          </a:effectLst>
        </p:spPr>
      </p:cxnSp>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3"/>
          <p:cNvSpPr>
            <a:spLocks noGrp="1"/>
          </p:cNvSpPr>
          <p:nvPr>
            <p:ph type="dt" sz="half" idx="10"/>
          </p:nvPr>
        </p:nvSpPr>
        <p:spPr/>
        <p:txBody>
          <a:bodyPr/>
          <a:lstStyle>
            <a:lvl1pPr>
              <a:defRPr/>
            </a:lvl1pPr>
          </a:lstStyle>
          <a:p>
            <a:pPr>
              <a:defRPr/>
            </a:pPr>
            <a:endParaRPr lang="en-US"/>
          </a:p>
        </p:txBody>
      </p:sp>
      <p:sp>
        <p:nvSpPr>
          <p:cNvPr id="7" name="Footer Placeholder 4"/>
          <p:cNvSpPr>
            <a:spLocks noGrp="1"/>
          </p:cNvSpPr>
          <p:nvPr>
            <p:ph type="ftr" sz="quarter" idx="11"/>
          </p:nvPr>
        </p:nvSpPr>
        <p:spPr/>
        <p:txBody>
          <a:bodyPr/>
          <a:lstStyle>
            <a:lvl1pPr>
              <a:defRPr/>
            </a:lvl1pPr>
          </a:lstStyle>
          <a:p>
            <a:pPr>
              <a:defRPr/>
            </a:pPr>
            <a:endParaRPr lang="en-US"/>
          </a:p>
        </p:txBody>
      </p:sp>
      <p:sp>
        <p:nvSpPr>
          <p:cNvPr id="8" name="Slide Number Placeholder 5"/>
          <p:cNvSpPr>
            <a:spLocks noGrp="1"/>
          </p:cNvSpPr>
          <p:nvPr>
            <p:ph type="sldNum" sz="quarter" idx="12"/>
          </p:nvPr>
        </p:nvSpPr>
        <p:spPr/>
        <p:txBody>
          <a:bodyPr/>
          <a:lstStyle>
            <a:lvl1pPr>
              <a:defRPr/>
            </a:lvl1pPr>
          </a:lstStyle>
          <a:p>
            <a:pPr>
              <a:defRPr/>
            </a:pPr>
            <a:fld id="{D9715D63-84FA-4F58-B98C-4DA7DA8E1837}" type="slidenum">
              <a:rPr lang="en-US"/>
              <a:pPr>
                <a:defRPr/>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4" name="Picture 2" descr="C:\Documents and Settings\adviti\My Documents\Templates\ppt templates\background.JPG"/>
          <p:cNvPicPr>
            <a:picLocks noChangeAspect="1" noChangeArrowheads="1"/>
          </p:cNvPicPr>
          <p:nvPr userDrawn="1"/>
        </p:nvPicPr>
        <p:blipFill>
          <a:blip r:embed="rId2" cstate="print"/>
          <a:srcRect/>
          <a:stretch>
            <a:fillRect/>
          </a:stretch>
        </p:blipFill>
        <p:spPr bwMode="auto">
          <a:xfrm>
            <a:off x="-9525" y="-9525"/>
            <a:ext cx="9163050" cy="6877050"/>
          </a:xfrm>
          <a:prstGeom prst="rect">
            <a:avLst/>
          </a:prstGeom>
          <a:noFill/>
          <a:ln w="9525">
            <a:noFill/>
            <a:miter lim="800000"/>
            <a:headEnd/>
            <a:tailEnd/>
          </a:ln>
        </p:spPr>
      </p:pic>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B2CCD2DA-0779-4B5B-BD5B-CDF414A9F308}" type="slidenum">
              <a:rPr lang="en-US"/>
              <a:pPr>
                <a:defRPr/>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and Table">
    <p:spTree>
      <p:nvGrpSpPr>
        <p:cNvPr id="1" name=""/>
        <p:cNvGrpSpPr/>
        <p:nvPr/>
      </p:nvGrpSpPr>
      <p:grpSpPr>
        <a:xfrm>
          <a:off x="0" y="0"/>
          <a:ext cx="0" cy="0"/>
          <a:chOff x="0" y="0"/>
          <a:chExt cx="0" cy="0"/>
        </a:xfrm>
      </p:grpSpPr>
      <p:cxnSp>
        <p:nvCxnSpPr>
          <p:cNvPr id="4" name="Straight Connector 3"/>
          <p:cNvCxnSpPr>
            <a:cxnSpLocks noChangeShapeType="1"/>
          </p:cNvCxnSpPr>
          <p:nvPr userDrawn="1"/>
        </p:nvCxnSpPr>
        <p:spPr bwMode="auto">
          <a:xfrm>
            <a:off x="457200" y="1371600"/>
            <a:ext cx="8229600" cy="1588"/>
          </a:xfrm>
          <a:prstGeom prst="line">
            <a:avLst/>
          </a:prstGeom>
          <a:noFill/>
          <a:ln w="9525">
            <a:solidFill>
              <a:srgbClr val="7F7F7F"/>
            </a:solidFill>
            <a:round/>
            <a:headEnd/>
            <a:tailEnd/>
          </a:ln>
          <a:effectLst>
            <a:outerShdw blurRad="63500" dist="20000" dir="5400000" rotWithShape="0">
              <a:srgbClr val="000000">
                <a:alpha val="37999"/>
              </a:srgbClr>
            </a:outerShdw>
          </a:effectLst>
        </p:spPr>
      </p:cxnSp>
      <p:sp>
        <p:nvSpPr>
          <p:cNvPr id="3" name="Table Placeholder 2"/>
          <p:cNvSpPr>
            <a:spLocks noGrp="1"/>
          </p:cNvSpPr>
          <p:nvPr>
            <p:ph type="tbl" idx="1"/>
          </p:nvPr>
        </p:nvSpPr>
        <p:spPr>
          <a:xfrm>
            <a:off x="457200" y="1600200"/>
            <a:ext cx="8229600" cy="4525963"/>
          </a:xfrm>
        </p:spPr>
        <p:txBody>
          <a:bodyPr/>
          <a:lstStyle/>
          <a:p>
            <a:pPr lvl="0"/>
            <a:endParaRPr lang="en-US" noProof="0" dirty="0"/>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Rectangle 5"/>
          <p:cNvSpPr>
            <a:spLocks noGrp="1" noChangeArrowheads="1"/>
          </p:cNvSpPr>
          <p:nvPr>
            <p:ph type="ftr" sz="quarter" idx="11"/>
          </p:nvPr>
        </p:nvSpPr>
        <p:spPr/>
        <p:txBody>
          <a:bodyPr/>
          <a:lstStyle>
            <a:lvl1pPr>
              <a:defRPr/>
            </a:lvl1pPr>
          </a:lstStyle>
          <a:p>
            <a:pPr>
              <a:defRPr/>
            </a:pPr>
            <a:endParaRPr lang="en-US"/>
          </a:p>
        </p:txBody>
      </p:sp>
      <p:sp>
        <p:nvSpPr>
          <p:cNvPr id="7" name="Rectangle 6"/>
          <p:cNvSpPr>
            <a:spLocks noGrp="1" noChangeArrowheads="1"/>
          </p:cNvSpPr>
          <p:nvPr>
            <p:ph type="sldNum" sz="quarter" idx="12"/>
          </p:nvPr>
        </p:nvSpPr>
        <p:spPr/>
        <p:txBody>
          <a:bodyPr/>
          <a:lstStyle>
            <a:lvl1pPr>
              <a:defRPr/>
            </a:lvl1pPr>
          </a:lstStyle>
          <a:p>
            <a:pPr>
              <a:defRPr/>
            </a:pPr>
            <a:fld id="{672E3861-6787-4A23-97BF-3F6F7F42418E}" type="slidenum">
              <a:rPr lang="en-US"/>
              <a:pPr>
                <a:defRPr/>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Rectangle 2"/>
          <p:cNvSpPr>
            <a:spLocks noGrp="1" noChangeArrowheads="1"/>
          </p:cNvSpPr>
          <p:nvPr>
            <p:ph type="title"/>
          </p:nvPr>
        </p:nvSpPr>
        <p:spPr bwMode="auto">
          <a:xfrm>
            <a:off x="457200" y="274638"/>
            <a:ext cx="8229600" cy="11430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Rectangle 3"/>
          <p:cNvSpPr>
            <a:spLocks noGrp="1" noChangeArrowheads="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Rectangle 4"/>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ea typeface="+mn-ea"/>
                <a:cs typeface="Arial" charset="0"/>
              </a:defRPr>
            </a:lvl1pPr>
          </a:lstStyle>
          <a:p>
            <a:pPr>
              <a:defRPr/>
            </a:pPr>
            <a:endParaRPr lang="en-US"/>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ea typeface="+mn-ea"/>
                <a:cs typeface="Arial" charset="0"/>
              </a:defRPr>
            </a:lvl1pPr>
          </a:lstStyle>
          <a:p>
            <a:pPr>
              <a:defRPr/>
            </a:pPr>
            <a:endParaRPr lang="en-US"/>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pPr>
              <a:defRPr/>
            </a:pPr>
            <a:fld id="{D535ACAB-09AF-46E8-BAB3-5AD55172564F}"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6311" r:id="rId1"/>
    <p:sldLayoutId id="2147486312" r:id="rId2"/>
    <p:sldLayoutId id="2147486313" r:id="rId3"/>
    <p:sldLayoutId id="2147486314" r:id="rId4"/>
    <p:sldLayoutId id="2147486315" r:id="rId5"/>
    <p:sldLayoutId id="2147486316" r:id="rId6"/>
    <p:sldLayoutId id="2147486317" r:id="rId7"/>
    <p:sldLayoutId id="2147486318" r:id="rId8"/>
    <p:sldLayoutId id="2147486319" r:id="rId9"/>
    <p:sldLayoutId id="2147486320" r:id="rId10"/>
    <p:sldLayoutId id="2147486321" r:id="rId11"/>
    <p:sldLayoutId id="2147486322" r:id="rId12"/>
  </p:sldLayoutIdLst>
  <p:hf hdr="0" dt="0"/>
  <p:txStyles>
    <p:titleStyle>
      <a:lvl1pPr algn="ctr" rtl="0" eaLnBrk="0" fontAlgn="base" hangingPunct="0">
        <a:spcBef>
          <a:spcPct val="0"/>
        </a:spcBef>
        <a:spcAft>
          <a:spcPct val="0"/>
        </a:spcAft>
        <a:defRPr sz="4000">
          <a:solidFill>
            <a:srgbClr val="CC0000"/>
          </a:solidFill>
          <a:effectLst>
            <a:outerShdw blurRad="38100" dist="38100" dir="2700000" algn="tl">
              <a:srgbClr val="C0C0C0"/>
            </a:outerShdw>
          </a:effectLst>
          <a:latin typeface="+mj-lt"/>
          <a:ea typeface="ＭＳ Ｐゴシック" charset="0"/>
          <a:cs typeface="+mj-cs"/>
        </a:defRPr>
      </a:lvl1pPr>
      <a:lvl2pPr algn="ctr" rtl="0" eaLnBrk="0" fontAlgn="base" hangingPunct="0">
        <a:spcBef>
          <a:spcPct val="0"/>
        </a:spcBef>
        <a:spcAft>
          <a:spcPct val="0"/>
        </a:spcAft>
        <a:defRPr sz="4000">
          <a:solidFill>
            <a:srgbClr val="CC0000"/>
          </a:solidFill>
          <a:effectLst>
            <a:outerShdw blurRad="38100" dist="38100" dir="2700000" algn="tl">
              <a:srgbClr val="C0C0C0"/>
            </a:outerShdw>
          </a:effectLst>
          <a:latin typeface="Swis721 Md BT" pitchFamily="34" charset="0"/>
          <a:ea typeface="ＭＳ Ｐゴシック" charset="0"/>
          <a:cs typeface="Arial" charset="0"/>
        </a:defRPr>
      </a:lvl2pPr>
      <a:lvl3pPr algn="ctr" rtl="0" eaLnBrk="0" fontAlgn="base" hangingPunct="0">
        <a:spcBef>
          <a:spcPct val="0"/>
        </a:spcBef>
        <a:spcAft>
          <a:spcPct val="0"/>
        </a:spcAft>
        <a:defRPr sz="4000">
          <a:solidFill>
            <a:srgbClr val="CC0000"/>
          </a:solidFill>
          <a:effectLst>
            <a:outerShdw blurRad="38100" dist="38100" dir="2700000" algn="tl">
              <a:srgbClr val="C0C0C0"/>
            </a:outerShdw>
          </a:effectLst>
          <a:latin typeface="Swis721 Md BT" pitchFamily="34" charset="0"/>
          <a:ea typeface="ＭＳ Ｐゴシック" charset="0"/>
          <a:cs typeface="Arial" charset="0"/>
        </a:defRPr>
      </a:lvl3pPr>
      <a:lvl4pPr algn="ctr" rtl="0" eaLnBrk="0" fontAlgn="base" hangingPunct="0">
        <a:spcBef>
          <a:spcPct val="0"/>
        </a:spcBef>
        <a:spcAft>
          <a:spcPct val="0"/>
        </a:spcAft>
        <a:defRPr sz="4000">
          <a:solidFill>
            <a:srgbClr val="CC0000"/>
          </a:solidFill>
          <a:effectLst>
            <a:outerShdw blurRad="38100" dist="38100" dir="2700000" algn="tl">
              <a:srgbClr val="C0C0C0"/>
            </a:outerShdw>
          </a:effectLst>
          <a:latin typeface="Swis721 Md BT" pitchFamily="34" charset="0"/>
          <a:ea typeface="ＭＳ Ｐゴシック" charset="0"/>
          <a:cs typeface="Arial" charset="0"/>
        </a:defRPr>
      </a:lvl4pPr>
      <a:lvl5pPr algn="ctr" rtl="0" eaLnBrk="0" fontAlgn="base" hangingPunct="0">
        <a:spcBef>
          <a:spcPct val="0"/>
        </a:spcBef>
        <a:spcAft>
          <a:spcPct val="0"/>
        </a:spcAft>
        <a:defRPr sz="4000">
          <a:solidFill>
            <a:srgbClr val="CC0000"/>
          </a:solidFill>
          <a:effectLst>
            <a:outerShdw blurRad="38100" dist="38100" dir="2700000" algn="tl">
              <a:srgbClr val="C0C0C0"/>
            </a:outerShdw>
          </a:effectLst>
          <a:latin typeface="Swis721 Md BT" pitchFamily="34" charset="0"/>
          <a:ea typeface="ＭＳ Ｐゴシック" charset="0"/>
          <a:cs typeface="Arial" charset="0"/>
        </a:defRPr>
      </a:lvl5pPr>
      <a:lvl6pPr marL="457200" algn="ctr" rtl="0" fontAlgn="base">
        <a:spcBef>
          <a:spcPct val="0"/>
        </a:spcBef>
        <a:spcAft>
          <a:spcPct val="0"/>
        </a:spcAft>
        <a:defRPr sz="4000">
          <a:solidFill>
            <a:srgbClr val="CC0000"/>
          </a:solidFill>
          <a:effectLst>
            <a:outerShdw blurRad="38100" dist="38100" dir="2700000" algn="tl">
              <a:srgbClr val="C0C0C0"/>
            </a:outerShdw>
          </a:effectLst>
          <a:latin typeface="Swis721 Md BT" pitchFamily="34" charset="0"/>
          <a:cs typeface="Arial" charset="0"/>
        </a:defRPr>
      </a:lvl6pPr>
      <a:lvl7pPr marL="914400" algn="ctr" rtl="0" fontAlgn="base">
        <a:spcBef>
          <a:spcPct val="0"/>
        </a:spcBef>
        <a:spcAft>
          <a:spcPct val="0"/>
        </a:spcAft>
        <a:defRPr sz="4000">
          <a:solidFill>
            <a:srgbClr val="CC0000"/>
          </a:solidFill>
          <a:effectLst>
            <a:outerShdw blurRad="38100" dist="38100" dir="2700000" algn="tl">
              <a:srgbClr val="C0C0C0"/>
            </a:outerShdw>
          </a:effectLst>
          <a:latin typeface="Swis721 Md BT" pitchFamily="34" charset="0"/>
          <a:cs typeface="Arial" charset="0"/>
        </a:defRPr>
      </a:lvl7pPr>
      <a:lvl8pPr marL="1371600" algn="ctr" rtl="0" fontAlgn="base">
        <a:spcBef>
          <a:spcPct val="0"/>
        </a:spcBef>
        <a:spcAft>
          <a:spcPct val="0"/>
        </a:spcAft>
        <a:defRPr sz="4000">
          <a:solidFill>
            <a:srgbClr val="CC0000"/>
          </a:solidFill>
          <a:effectLst>
            <a:outerShdw blurRad="38100" dist="38100" dir="2700000" algn="tl">
              <a:srgbClr val="C0C0C0"/>
            </a:outerShdw>
          </a:effectLst>
          <a:latin typeface="Swis721 Md BT" pitchFamily="34" charset="0"/>
          <a:cs typeface="Arial" charset="0"/>
        </a:defRPr>
      </a:lvl8pPr>
      <a:lvl9pPr marL="1828800" algn="ctr" rtl="0" fontAlgn="base">
        <a:spcBef>
          <a:spcPct val="0"/>
        </a:spcBef>
        <a:spcAft>
          <a:spcPct val="0"/>
        </a:spcAft>
        <a:defRPr sz="4000">
          <a:solidFill>
            <a:srgbClr val="CC0000"/>
          </a:solidFill>
          <a:effectLst>
            <a:outerShdw blurRad="38100" dist="38100" dir="2700000" algn="tl">
              <a:srgbClr val="C0C0C0"/>
            </a:outerShdw>
          </a:effectLst>
          <a:latin typeface="Swis721 Md BT" pitchFamily="34" charset="0"/>
          <a:cs typeface="Arial"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ＭＳ Ｐゴシック" charset="0"/>
          <a:cs typeface="+mn-cs"/>
        </a:defRPr>
      </a:lvl1pPr>
      <a:lvl2pPr marL="742950" indent="-285750" algn="l" rtl="0" eaLnBrk="0" fontAlgn="base" hangingPunct="0">
        <a:spcBef>
          <a:spcPct val="20000"/>
        </a:spcBef>
        <a:spcAft>
          <a:spcPct val="0"/>
        </a:spcAft>
        <a:buChar char="–"/>
        <a:defRPr sz="2800">
          <a:solidFill>
            <a:schemeClr val="tx1"/>
          </a:solidFill>
          <a:latin typeface="+mn-lt"/>
          <a:ea typeface="Arial" charset="0"/>
          <a:cs typeface="+mn-cs"/>
        </a:defRPr>
      </a:lvl2pPr>
      <a:lvl3pPr marL="1143000" indent="-228600" algn="l" rtl="0" eaLnBrk="0" fontAlgn="base" hangingPunct="0">
        <a:spcBef>
          <a:spcPct val="20000"/>
        </a:spcBef>
        <a:spcAft>
          <a:spcPct val="0"/>
        </a:spcAft>
        <a:buChar char="•"/>
        <a:defRPr sz="2400">
          <a:solidFill>
            <a:schemeClr val="tx1"/>
          </a:solidFill>
          <a:latin typeface="+mn-lt"/>
          <a:ea typeface="Arial" charset="0"/>
          <a:cs typeface="+mn-cs"/>
        </a:defRPr>
      </a:lvl3pPr>
      <a:lvl4pPr marL="1600200" indent="-228600" algn="l" rtl="0" eaLnBrk="0" fontAlgn="base" hangingPunct="0">
        <a:spcBef>
          <a:spcPct val="20000"/>
        </a:spcBef>
        <a:spcAft>
          <a:spcPct val="0"/>
        </a:spcAft>
        <a:buChar char="–"/>
        <a:defRPr sz="2000">
          <a:solidFill>
            <a:schemeClr val="tx1"/>
          </a:solidFill>
          <a:latin typeface="+mn-lt"/>
          <a:ea typeface="Arial" charset="0"/>
          <a:cs typeface="+mn-cs"/>
        </a:defRPr>
      </a:lvl4pPr>
      <a:lvl5pPr marL="2057400" indent="-228600" algn="l" rtl="0" eaLnBrk="0" fontAlgn="base" hangingPunct="0">
        <a:spcBef>
          <a:spcPct val="20000"/>
        </a:spcBef>
        <a:spcAft>
          <a:spcPct val="0"/>
        </a:spcAft>
        <a:buChar char="»"/>
        <a:defRPr sz="2000">
          <a:solidFill>
            <a:schemeClr val="tx1"/>
          </a:solidFill>
          <a:latin typeface="+mn-lt"/>
          <a:ea typeface="Arial" charset="0"/>
          <a:cs typeface="+mn-cs"/>
        </a:defRPr>
      </a:lvl5pPr>
      <a:lvl6pPr marL="2514600" indent="-228600" algn="l" rtl="0" fontAlgn="base">
        <a:spcBef>
          <a:spcPct val="20000"/>
        </a:spcBef>
        <a:spcAft>
          <a:spcPct val="0"/>
        </a:spcAft>
        <a:buChar char="»"/>
        <a:defRPr sz="2000">
          <a:solidFill>
            <a:schemeClr val="tx1"/>
          </a:solidFill>
          <a:latin typeface="+mn-lt"/>
          <a:cs typeface="+mn-cs"/>
        </a:defRPr>
      </a:lvl6pPr>
      <a:lvl7pPr marL="2971800" indent="-228600" algn="l" rtl="0" fontAlgn="base">
        <a:spcBef>
          <a:spcPct val="20000"/>
        </a:spcBef>
        <a:spcAft>
          <a:spcPct val="0"/>
        </a:spcAft>
        <a:buChar char="»"/>
        <a:defRPr sz="2000">
          <a:solidFill>
            <a:schemeClr val="tx1"/>
          </a:solidFill>
          <a:latin typeface="+mn-lt"/>
          <a:cs typeface="+mn-cs"/>
        </a:defRPr>
      </a:lvl7pPr>
      <a:lvl8pPr marL="3429000" indent="-228600" algn="l" rtl="0" fontAlgn="base">
        <a:spcBef>
          <a:spcPct val="20000"/>
        </a:spcBef>
        <a:spcAft>
          <a:spcPct val="0"/>
        </a:spcAft>
        <a:buChar char="»"/>
        <a:defRPr sz="2000">
          <a:solidFill>
            <a:schemeClr val="tx1"/>
          </a:solidFill>
          <a:latin typeface="+mn-lt"/>
          <a:cs typeface="+mn-cs"/>
        </a:defRPr>
      </a:lvl8pPr>
      <a:lvl9pPr marL="3886200" indent="-228600" algn="l" rtl="0" fontAlgn="base">
        <a:spcBef>
          <a:spcPct val="20000"/>
        </a:spcBef>
        <a:spcAft>
          <a:spcPct val="0"/>
        </a:spcAft>
        <a:buChar char="»"/>
        <a:defRPr sz="2000">
          <a:solidFill>
            <a:schemeClr val="tx1"/>
          </a:solidFill>
          <a:latin typeface="+mn-lt"/>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chart" Target="../charts/chart5.xm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3.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chart" Target="../charts/chart7.xml"/></Relationships>
</file>

<file path=ppt/slides/_rels/slide5.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chart" Target="../charts/chart12.xml"/><Relationship Id="rId4" Type="http://schemas.openxmlformats.org/officeDocument/2006/relationships/chart" Target="../charts/chart11.xml"/></Relationships>
</file>

<file path=ppt/slides/_rels/slide8.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2.xml"/><Relationship Id="rId5" Type="http://schemas.openxmlformats.org/officeDocument/2006/relationships/chart" Target="../charts/chart19.xml"/><Relationship Id="rId4" Type="http://schemas.openxmlformats.org/officeDocument/2006/relationships/chart" Target="../charts/chart18.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3" Type="http://schemas.openxmlformats.org/officeDocument/2006/relationships/chart" Target="../charts/chart21.xml"/><Relationship Id="rId2" Type="http://schemas.openxmlformats.org/officeDocument/2006/relationships/chart" Target="../charts/chart20.xml"/><Relationship Id="rId1" Type="http://schemas.openxmlformats.org/officeDocument/2006/relationships/slideLayout" Target="../slideLayouts/slideLayout2.xml"/><Relationship Id="rId5" Type="http://schemas.openxmlformats.org/officeDocument/2006/relationships/chart" Target="../charts/chart23.xml"/><Relationship Id="rId4" Type="http://schemas.openxmlformats.org/officeDocument/2006/relationships/chart" Target="../charts/chart2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9.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chart" Target="../charts/chart24.xml"/><Relationship Id="rId1" Type="http://schemas.openxmlformats.org/officeDocument/2006/relationships/slideLayout" Target="../slideLayouts/slideLayout2.xml"/><Relationship Id="rId5" Type="http://schemas.openxmlformats.org/officeDocument/2006/relationships/chart" Target="../charts/chart27.xml"/><Relationship Id="rId4" Type="http://schemas.openxmlformats.org/officeDocument/2006/relationships/chart" Target="../charts/chart26.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chart" Target="../charts/chart28.xml"/><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3.xml.rels><?xml version="1.0" encoding="UTF-8" standalone="yes"?>
<Relationships xmlns="http://schemas.openxmlformats.org/package/2006/relationships"><Relationship Id="rId2" Type="http://schemas.openxmlformats.org/officeDocument/2006/relationships/chart" Target="../charts/chart2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chart" Target="../charts/chart3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chart" Target="../charts/chart3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hart" Target="../charts/chart33.xml"/><Relationship Id="rId2" Type="http://schemas.openxmlformats.org/officeDocument/2006/relationships/chart" Target="../charts/chart32.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chart" Target="../charts/chart34.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Slide Number Placeholder 2"/>
          <p:cNvSpPr>
            <a:spLocks noGrp="1"/>
          </p:cNvSpPr>
          <p:nvPr>
            <p:ph type="sldNum" sz="quarter" idx="12"/>
          </p:nvPr>
        </p:nvSpPr>
        <p:spPr>
          <a:noFill/>
        </p:spPr>
        <p:txBody>
          <a:bodyPr/>
          <a:lstStyle/>
          <a:p>
            <a:fld id="{FDF40999-D03D-4FB3-9C39-885B53AE53EB}" type="slidenum">
              <a:rPr lang="en-US" smtClean="0"/>
              <a:pPr/>
              <a:t>1</a:t>
            </a:fld>
            <a:endParaRPr lang="en-US"/>
          </a:p>
        </p:txBody>
      </p:sp>
      <p:sp>
        <p:nvSpPr>
          <p:cNvPr id="4" name="Rectangle 4"/>
          <p:cNvSpPr txBox="1">
            <a:spLocks noChangeArrowheads="1"/>
          </p:cNvSpPr>
          <p:nvPr/>
        </p:nvSpPr>
        <p:spPr bwMode="auto">
          <a:xfrm>
            <a:off x="685800" y="2495550"/>
            <a:ext cx="7772400" cy="1390650"/>
          </a:xfrm>
          <a:prstGeom prst="rect">
            <a:avLst/>
          </a:prstGeom>
          <a:noFill/>
          <a:ln w="9525">
            <a:noFill/>
            <a:miter lim="800000"/>
            <a:headEnd/>
            <a:tailEnd/>
          </a:ln>
          <a:effectLst/>
        </p:spPr>
        <p:txBody>
          <a:bodyPr anchor="ctr"/>
          <a:lstStyle/>
          <a:p>
            <a:pPr algn="ctr">
              <a:defRPr/>
            </a:pPr>
            <a:r>
              <a:rPr lang="en-US" sz="4000" b="1" i="1" dirty="0">
                <a:solidFill>
                  <a:schemeClr val="accent1">
                    <a:lumMod val="10000"/>
                  </a:schemeClr>
                </a:solidFill>
                <a:effectLst>
                  <a:outerShdw blurRad="38100" dist="38100" dir="2700000" algn="tl">
                    <a:srgbClr val="C0C0C0"/>
                  </a:outerShdw>
                </a:effectLst>
                <a:latin typeface="Calibri" pitchFamily="34" charset="0"/>
                <a:ea typeface="+mn-ea"/>
                <a:cs typeface="Calibri" pitchFamily="34" charset="0"/>
              </a:rPr>
              <a:t>Exit Analysis</a:t>
            </a:r>
          </a:p>
          <a:p>
            <a:pPr algn="ctr">
              <a:defRPr/>
            </a:pPr>
            <a:r>
              <a:rPr lang="en-US" sz="4000" b="1" i="1" dirty="0">
                <a:solidFill>
                  <a:schemeClr val="accent1">
                    <a:lumMod val="10000"/>
                  </a:schemeClr>
                </a:solidFill>
                <a:effectLst>
                  <a:outerShdw blurRad="38100" dist="38100" dir="2700000" algn="tl">
                    <a:srgbClr val="C0C0C0"/>
                  </a:outerShdw>
                </a:effectLst>
                <a:latin typeface="Calibri" pitchFamily="34" charset="0"/>
                <a:ea typeface="+mn-ea"/>
                <a:cs typeface="Calibri" pitchFamily="34" charset="0"/>
              </a:rPr>
              <a:t>Annual Report</a:t>
            </a:r>
            <a:endParaRPr lang="en-US" sz="2800" b="1" i="1" dirty="0">
              <a:solidFill>
                <a:schemeClr val="accent1">
                  <a:lumMod val="10000"/>
                </a:schemeClr>
              </a:solidFill>
              <a:effectLst>
                <a:outerShdw blurRad="38100" dist="38100" dir="2700000" algn="tl">
                  <a:srgbClr val="C0C0C0"/>
                </a:outerShdw>
              </a:effectLst>
              <a:latin typeface="Calibri" pitchFamily="34" charset="0"/>
              <a:ea typeface="+mn-ea"/>
              <a:cs typeface="Calibri" pitchFamily="34" charset="0"/>
            </a:endParaRPr>
          </a:p>
        </p:txBody>
      </p:sp>
      <p:sp>
        <p:nvSpPr>
          <p:cNvPr id="5" name="Rectangle 4"/>
          <p:cNvSpPr txBox="1">
            <a:spLocks noChangeArrowheads="1"/>
          </p:cNvSpPr>
          <p:nvPr/>
        </p:nvSpPr>
        <p:spPr bwMode="auto">
          <a:xfrm>
            <a:off x="5105400" y="5314950"/>
            <a:ext cx="3810000" cy="857250"/>
          </a:xfrm>
          <a:prstGeom prst="rect">
            <a:avLst/>
          </a:prstGeom>
          <a:noFill/>
          <a:ln w="9525">
            <a:noFill/>
            <a:miter lim="800000"/>
            <a:headEnd/>
            <a:tailEnd/>
          </a:ln>
          <a:effectLst/>
        </p:spPr>
        <p:txBody>
          <a:bodyPr anchor="ctr"/>
          <a:lstStyle/>
          <a:p>
            <a:pPr algn="ctr">
              <a:defRPr/>
            </a:pPr>
            <a:endParaRPr lang="en-US" b="1" i="1" dirty="0">
              <a:solidFill>
                <a:srgbClr val="CC0000"/>
              </a:solidFill>
              <a:effectLst>
                <a:outerShdw blurRad="38100" dist="38100" dir="2700000" algn="tl">
                  <a:srgbClr val="C0C0C0"/>
                </a:outerShdw>
              </a:effectLst>
              <a:latin typeface="Swis721 Md BT" pitchFamily="34" charset="0"/>
              <a:ea typeface="+mn-ea"/>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Slide Number Placeholder 2"/>
          <p:cNvSpPr>
            <a:spLocks noGrp="1"/>
          </p:cNvSpPr>
          <p:nvPr>
            <p:ph type="sldNum" sz="quarter" idx="12"/>
          </p:nvPr>
        </p:nvSpPr>
        <p:spPr>
          <a:noFill/>
        </p:spPr>
        <p:txBody>
          <a:bodyPr/>
          <a:lstStyle/>
          <a:p>
            <a:fld id="{5CF07E59-86A6-4B99-BB1C-55D8D8069551}" type="slidenum">
              <a:rPr lang="en-US" smtClean="0"/>
              <a:pPr/>
              <a:t>2</a:t>
            </a:fld>
            <a:endParaRPr lang="en-US"/>
          </a:p>
        </p:txBody>
      </p:sp>
      <p:cxnSp>
        <p:nvCxnSpPr>
          <p:cNvPr id="6" name="AutoShape 3"/>
          <p:cNvCxnSpPr>
            <a:cxnSpLocks noChangeShapeType="1"/>
          </p:cNvCxnSpPr>
          <p:nvPr/>
        </p:nvCxnSpPr>
        <p:spPr bwMode="auto">
          <a:xfrm>
            <a:off x="457200" y="1371600"/>
            <a:ext cx="8534400" cy="1588"/>
          </a:xfrm>
          <a:prstGeom prst="straightConnector1">
            <a:avLst/>
          </a:prstGeom>
          <a:noFill/>
          <a:ln w="25400">
            <a:solidFill>
              <a:srgbClr val="C00000"/>
            </a:solidFill>
            <a:round/>
            <a:headEnd/>
            <a:tailEnd/>
          </a:ln>
          <a:effectLst>
            <a:outerShdw blurRad="63500" dist="38100" dir="18900000" algn="bl" rotWithShape="0">
              <a:srgbClr val="000000">
                <a:alpha val="39998"/>
              </a:srgbClr>
            </a:outerShdw>
          </a:effectLst>
        </p:spPr>
      </p:cxnSp>
      <p:sp>
        <p:nvSpPr>
          <p:cNvPr id="15364" name="Rectangle 10"/>
          <p:cNvSpPr>
            <a:spLocks noChangeArrowheads="1"/>
          </p:cNvSpPr>
          <p:nvPr/>
        </p:nvSpPr>
        <p:spPr bwMode="auto">
          <a:xfrm>
            <a:off x="381000" y="762000"/>
            <a:ext cx="8534400" cy="457200"/>
          </a:xfrm>
          <a:prstGeom prst="rect">
            <a:avLst/>
          </a:prstGeom>
          <a:noFill/>
          <a:ln w="9525">
            <a:noFill/>
            <a:miter lim="800000"/>
            <a:headEnd/>
            <a:tailEnd/>
          </a:ln>
        </p:spPr>
        <p:txBody>
          <a:bodyPr wrap="none" anchor="ctr"/>
          <a:lstStyle/>
          <a:p>
            <a:pPr algn="r"/>
            <a:endParaRPr lang="en-US" sz="2400" b="1" i="1">
              <a:solidFill>
                <a:srgbClr val="CC0000"/>
              </a:solidFill>
            </a:endParaRPr>
          </a:p>
        </p:txBody>
      </p:sp>
      <p:sp>
        <p:nvSpPr>
          <p:cNvPr id="15365" name="Rectangle 10"/>
          <p:cNvSpPr>
            <a:spLocks noChangeArrowheads="1"/>
          </p:cNvSpPr>
          <p:nvPr/>
        </p:nvSpPr>
        <p:spPr bwMode="auto">
          <a:xfrm>
            <a:off x="533400" y="914400"/>
            <a:ext cx="8534400" cy="457200"/>
          </a:xfrm>
          <a:prstGeom prst="rect">
            <a:avLst/>
          </a:prstGeom>
          <a:noFill/>
          <a:ln w="9525">
            <a:noFill/>
            <a:miter lim="800000"/>
            <a:headEnd/>
            <a:tailEnd/>
          </a:ln>
        </p:spPr>
        <p:txBody>
          <a:bodyPr wrap="none" anchor="ctr"/>
          <a:lstStyle/>
          <a:p>
            <a:pPr algn="r"/>
            <a:r>
              <a:rPr lang="en-US" sz="2400" b="1" i="1" dirty="0">
                <a:solidFill>
                  <a:srgbClr val="CC0000"/>
                </a:solidFill>
                <a:latin typeface="Calibri" pitchFamily="34" charset="0"/>
                <a:cs typeface="Calibri" pitchFamily="34" charset="0"/>
              </a:rPr>
              <a:t>Index</a:t>
            </a:r>
          </a:p>
        </p:txBody>
      </p:sp>
      <p:sp>
        <p:nvSpPr>
          <p:cNvPr id="15366" name="Rectangle 4"/>
          <p:cNvSpPr txBox="1">
            <a:spLocks noChangeArrowheads="1"/>
          </p:cNvSpPr>
          <p:nvPr/>
        </p:nvSpPr>
        <p:spPr bwMode="auto">
          <a:xfrm>
            <a:off x="762000" y="1981200"/>
            <a:ext cx="5105400" cy="3733800"/>
          </a:xfrm>
          <a:prstGeom prst="rect">
            <a:avLst/>
          </a:prstGeom>
          <a:noFill/>
          <a:ln w="9525">
            <a:noFill/>
            <a:miter lim="800000"/>
            <a:headEnd/>
            <a:tailEnd/>
          </a:ln>
        </p:spPr>
        <p:txBody>
          <a:bodyPr/>
          <a:lstStyle/>
          <a:p>
            <a:pPr marL="342900" indent="-342900">
              <a:lnSpc>
                <a:spcPct val="200000"/>
              </a:lnSpc>
              <a:spcBef>
                <a:spcPct val="20000"/>
              </a:spcBef>
              <a:buClr>
                <a:srgbClr val="C00000"/>
              </a:buClr>
              <a:buSzPct val="125000"/>
              <a:buFont typeface="Wingdings" pitchFamily="2" charset="2"/>
              <a:buChar char="§"/>
            </a:pPr>
            <a:r>
              <a:rPr lang="en-US" sz="2000" b="1" dirty="0">
                <a:solidFill>
                  <a:srgbClr val="333333"/>
                </a:solidFill>
                <a:latin typeface="Calibri" pitchFamily="34" charset="0"/>
                <a:cs typeface="Calibri" pitchFamily="34" charset="0"/>
              </a:rPr>
              <a:t>A. Contactability</a:t>
            </a:r>
          </a:p>
          <a:p>
            <a:pPr marL="342900" indent="-342900">
              <a:lnSpc>
                <a:spcPct val="200000"/>
              </a:lnSpc>
              <a:spcBef>
                <a:spcPct val="20000"/>
              </a:spcBef>
              <a:buClr>
                <a:srgbClr val="C00000"/>
              </a:buClr>
              <a:buSzPct val="125000"/>
              <a:buFont typeface="Wingdings" pitchFamily="2" charset="2"/>
              <a:buChar char="§"/>
            </a:pPr>
            <a:r>
              <a:rPr lang="en-US" sz="2000" b="1" dirty="0">
                <a:solidFill>
                  <a:srgbClr val="333333"/>
                </a:solidFill>
                <a:latin typeface="Calibri" pitchFamily="34" charset="0"/>
                <a:cs typeface="Calibri" pitchFamily="34" charset="0"/>
              </a:rPr>
              <a:t>B. Findings</a:t>
            </a:r>
          </a:p>
          <a:p>
            <a:pPr marL="342900" indent="-342900">
              <a:lnSpc>
                <a:spcPct val="200000"/>
              </a:lnSpc>
              <a:spcBef>
                <a:spcPct val="20000"/>
              </a:spcBef>
              <a:buClr>
                <a:srgbClr val="C00000"/>
              </a:buClr>
              <a:buSzPct val="125000"/>
              <a:buFont typeface="Wingdings" pitchFamily="2" charset="2"/>
              <a:buChar char="§"/>
            </a:pPr>
            <a:r>
              <a:rPr lang="en-US" sz="2000" b="1" dirty="0">
                <a:solidFill>
                  <a:srgbClr val="333333"/>
                </a:solidFill>
                <a:latin typeface="Calibri" pitchFamily="34" charset="0"/>
                <a:cs typeface="Calibri" pitchFamily="34" charset="0"/>
              </a:rPr>
              <a:t>C. Summary	</a:t>
            </a:r>
          </a:p>
          <a:p>
            <a:pPr marL="342900" indent="-342900">
              <a:lnSpc>
                <a:spcPct val="200000"/>
              </a:lnSpc>
              <a:spcBef>
                <a:spcPct val="20000"/>
              </a:spcBef>
              <a:buClr>
                <a:srgbClr val="C00000"/>
              </a:buClr>
              <a:buSzPct val="125000"/>
              <a:buFont typeface="Wingdings" pitchFamily="2" charset="2"/>
              <a:buChar char="§"/>
            </a:pPr>
            <a:r>
              <a:rPr lang="en-US" sz="2000" b="1" dirty="0">
                <a:solidFill>
                  <a:srgbClr val="333333"/>
                </a:solidFill>
                <a:latin typeface="Calibri" pitchFamily="34" charset="0"/>
                <a:cs typeface="Calibri" pitchFamily="34" charset="0"/>
              </a:rPr>
              <a:t>D. Comparative Analysis 2014 </a:t>
            </a:r>
            <a:r>
              <a:rPr lang="en-US" sz="2000" b="1" dirty="0" err="1">
                <a:solidFill>
                  <a:srgbClr val="333333"/>
                </a:solidFill>
                <a:latin typeface="Calibri" pitchFamily="34" charset="0"/>
                <a:cs typeface="Calibri" pitchFamily="34" charset="0"/>
              </a:rPr>
              <a:t>vs</a:t>
            </a:r>
            <a:r>
              <a:rPr lang="en-US" sz="2000" b="1" dirty="0">
                <a:solidFill>
                  <a:srgbClr val="333333"/>
                </a:solidFill>
                <a:latin typeface="Calibri" pitchFamily="34" charset="0"/>
                <a:cs typeface="Calibri" pitchFamily="34" charset="0"/>
              </a:rPr>
              <a:t> 2015 </a:t>
            </a:r>
          </a:p>
          <a:p>
            <a:pPr marL="342900" indent="-342900">
              <a:lnSpc>
                <a:spcPct val="200000"/>
              </a:lnSpc>
              <a:spcBef>
                <a:spcPct val="20000"/>
              </a:spcBef>
              <a:buClr>
                <a:srgbClr val="C00000"/>
              </a:buClr>
              <a:buSzPct val="125000"/>
              <a:buFont typeface="Wingdings" pitchFamily="2" charset="2"/>
              <a:buChar char="§"/>
            </a:pPr>
            <a:r>
              <a:rPr lang="en-US" sz="2000" b="1" dirty="0">
                <a:solidFill>
                  <a:srgbClr val="333333"/>
                </a:solidFill>
                <a:latin typeface="Calibri" pitchFamily="34" charset="0"/>
                <a:cs typeface="Calibri" pitchFamily="34" charset="0"/>
              </a:rPr>
              <a:t>E. Additional Observation</a:t>
            </a:r>
          </a:p>
          <a:p>
            <a:pPr marL="342900" indent="-342900">
              <a:lnSpc>
                <a:spcPct val="200000"/>
              </a:lnSpc>
              <a:spcBef>
                <a:spcPct val="20000"/>
              </a:spcBef>
              <a:buClr>
                <a:srgbClr val="C00000"/>
              </a:buClr>
              <a:buSzPct val="125000"/>
              <a:buFont typeface="Wingdings" pitchFamily="2" charset="2"/>
              <a:buChar char="§"/>
            </a:pPr>
            <a:r>
              <a:rPr lang="en-US" sz="2000" b="1" dirty="0">
                <a:solidFill>
                  <a:srgbClr val="333333"/>
                </a:solidFill>
                <a:latin typeface="Calibri" pitchFamily="34" charset="0"/>
                <a:cs typeface="Calibri" pitchFamily="34" charset="0"/>
              </a:rPr>
              <a:t>F. Conclusion &amp; Recommendation</a:t>
            </a:r>
          </a:p>
          <a:p>
            <a:pPr marL="342900" indent="-342900">
              <a:lnSpc>
                <a:spcPct val="200000"/>
              </a:lnSpc>
              <a:spcBef>
                <a:spcPct val="20000"/>
              </a:spcBef>
              <a:buClr>
                <a:srgbClr val="C00000"/>
              </a:buClr>
              <a:buSzPct val="125000"/>
            </a:pPr>
            <a:r>
              <a:rPr lang="en-US" b="1" dirty="0">
                <a:solidFill>
                  <a:srgbClr val="333333"/>
                </a:solidFill>
                <a:latin typeface="Calibri" pitchFamily="34" charset="0"/>
                <a:cs typeface="Calibri" pitchFamily="34" charset="0"/>
              </a:rPr>
              <a:t> </a:t>
            </a:r>
            <a:endParaRPr lang="en-US" dirty="0">
              <a:solidFill>
                <a:srgbClr val="333333"/>
              </a:solidFill>
              <a:latin typeface="Calibri" pitchFamily="34" charset="0"/>
              <a:cs typeface="Calibri" pitchFamily="34" charset="0"/>
            </a:endParaRPr>
          </a:p>
          <a:p>
            <a:pPr marL="342900" indent="-342900">
              <a:lnSpc>
                <a:spcPct val="120000"/>
              </a:lnSpc>
              <a:spcBef>
                <a:spcPct val="20000"/>
              </a:spcBef>
              <a:buClr>
                <a:srgbClr val="C00000"/>
              </a:buClr>
              <a:buFontTx/>
              <a:buChar char="•"/>
            </a:pPr>
            <a:endParaRPr lang="en-US" dirty="0">
              <a:latin typeface="Calibri" pitchFamily="34" charset="0"/>
              <a:cs typeface="Calibri" pitchFamily="34" charset="0"/>
            </a:endParaRPr>
          </a:p>
          <a:p>
            <a:pPr marL="342900" indent="-342900">
              <a:lnSpc>
                <a:spcPct val="120000"/>
              </a:lnSpc>
              <a:spcBef>
                <a:spcPct val="20000"/>
              </a:spcBef>
              <a:buClr>
                <a:srgbClr val="C00000"/>
              </a:buClr>
              <a:buFontTx/>
              <a:buChar char="•"/>
            </a:pPr>
            <a:endParaRPr lang="en-US" dirty="0">
              <a:latin typeface="Calibri" pitchFamily="34" charset="0"/>
              <a:cs typeface="Calibri" pitchFamily="34" charset="0"/>
            </a:endParaRPr>
          </a:p>
          <a:p>
            <a:pPr marL="342900" indent="-342900">
              <a:lnSpc>
                <a:spcPct val="120000"/>
              </a:lnSpc>
              <a:spcBef>
                <a:spcPct val="20000"/>
              </a:spcBef>
              <a:buClr>
                <a:srgbClr val="C00000"/>
              </a:buClr>
              <a:buFontTx/>
              <a:buChar char="•"/>
            </a:pPr>
            <a:endParaRPr lang="en-US" dirty="0">
              <a:latin typeface="Calibri" pitchFamily="34" charset="0"/>
              <a:cs typeface="Calibri" pitchFamily="34" charset="0"/>
            </a:endParaRPr>
          </a:p>
          <a:p>
            <a:pPr marL="342900" indent="-342900">
              <a:lnSpc>
                <a:spcPct val="120000"/>
              </a:lnSpc>
              <a:spcBef>
                <a:spcPct val="20000"/>
              </a:spcBef>
              <a:buClr>
                <a:srgbClr val="C00000"/>
              </a:buClr>
              <a:buFontTx/>
              <a:buChar char="•"/>
            </a:pPr>
            <a:endParaRPr lang="en-US" dirty="0">
              <a:latin typeface="Calibri" pitchFamily="34" charset="0"/>
              <a:cs typeface="Calibri" pitchFamily="34" charset="0"/>
            </a:endParaRPr>
          </a:p>
          <a:p>
            <a:pPr marL="342900" indent="-342900">
              <a:lnSpc>
                <a:spcPct val="120000"/>
              </a:lnSpc>
              <a:spcBef>
                <a:spcPct val="20000"/>
              </a:spcBef>
              <a:buClr>
                <a:srgbClr val="C00000"/>
              </a:buClr>
              <a:buFontTx/>
              <a:buChar char="•"/>
            </a:pPr>
            <a:endParaRPr lang="en-US" dirty="0">
              <a:latin typeface="Calibri" pitchFamily="34" charset="0"/>
              <a:cs typeface="Calibri" pitchFamily="34" charset="0"/>
            </a:endParaRPr>
          </a:p>
          <a:p>
            <a:pPr marL="342900" indent="-342900">
              <a:lnSpc>
                <a:spcPct val="120000"/>
              </a:lnSpc>
              <a:spcBef>
                <a:spcPct val="20000"/>
              </a:spcBef>
              <a:buClr>
                <a:srgbClr val="C00000"/>
              </a:buClr>
              <a:buFontTx/>
              <a:buChar char="•"/>
            </a:pPr>
            <a:endParaRPr lang="en-US" dirty="0">
              <a:latin typeface="Calibri" pitchFamily="34" charset="0"/>
              <a:cs typeface="Calibri" pitchFamily="34" charset="0"/>
            </a:endParaRPr>
          </a:p>
          <a:p>
            <a:pPr marL="342900" indent="-342900">
              <a:lnSpc>
                <a:spcPct val="120000"/>
              </a:lnSpc>
              <a:spcBef>
                <a:spcPct val="20000"/>
              </a:spcBef>
              <a:buClr>
                <a:srgbClr val="C00000"/>
              </a:buClr>
              <a:buFontTx/>
              <a:buChar char="•"/>
            </a:pPr>
            <a:endParaRPr lang="en-US" dirty="0">
              <a:latin typeface="Calibri" pitchFamily="34" charset="0"/>
              <a:cs typeface="Calibri" pitchFamily="34" charset="0"/>
            </a:endParaRPr>
          </a:p>
          <a:p>
            <a:pPr marL="342900" indent="-342900">
              <a:lnSpc>
                <a:spcPct val="120000"/>
              </a:lnSpc>
              <a:spcBef>
                <a:spcPct val="20000"/>
              </a:spcBef>
              <a:buClr>
                <a:srgbClr val="C00000"/>
              </a:buClr>
              <a:buFontTx/>
              <a:buChar char="•"/>
            </a:pPr>
            <a:endParaRPr lang="en-US" dirty="0">
              <a:latin typeface="Calibri" pitchFamily="34" charset="0"/>
              <a:cs typeface="Calibri" pitchFamily="34" charset="0"/>
            </a:endParaRPr>
          </a:p>
          <a:p>
            <a:pPr marL="342900" indent="-342900">
              <a:lnSpc>
                <a:spcPct val="120000"/>
              </a:lnSpc>
              <a:spcBef>
                <a:spcPct val="20000"/>
              </a:spcBef>
              <a:buClr>
                <a:srgbClr val="C00000"/>
              </a:buClr>
            </a:pPr>
            <a:r>
              <a:rPr lang="en-US" dirty="0">
                <a:latin typeface="Calibri" pitchFamily="34" charset="0"/>
                <a:cs typeface="Calibri" pitchFamily="34" charset="0"/>
              </a:rPr>
              <a:t> </a:t>
            </a:r>
          </a:p>
          <a:p>
            <a:pPr marL="342900" indent="-342900">
              <a:lnSpc>
                <a:spcPct val="120000"/>
              </a:lnSpc>
              <a:spcBef>
                <a:spcPct val="20000"/>
              </a:spcBef>
              <a:buClr>
                <a:srgbClr val="C00000"/>
              </a:buClr>
              <a:buFontTx/>
              <a:buChar char="•"/>
            </a:pPr>
            <a:endParaRPr lang="en-US" dirty="0">
              <a:latin typeface="Calibri" pitchFamily="34" charset="0"/>
              <a:cs typeface="Calibri" pitchFamily="34" charset="0"/>
            </a:endParaRPr>
          </a:p>
          <a:p>
            <a:pPr marL="342900" indent="-342900">
              <a:lnSpc>
                <a:spcPct val="120000"/>
              </a:lnSpc>
              <a:spcBef>
                <a:spcPct val="20000"/>
              </a:spcBef>
              <a:buFontTx/>
              <a:buChar char="•"/>
            </a:pPr>
            <a:endParaRPr lang="en-US" dirty="0">
              <a:latin typeface="Calibri" pitchFamily="34" charset="0"/>
              <a:cs typeface="Calibri" pitchFamily="34" charset="0"/>
            </a:endParaRP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a:spLocks noGrp="1" noChangeArrowheads="1"/>
          </p:cNvSpPr>
          <p:nvPr>
            <p:ph type="title" idx="4294967295"/>
          </p:nvPr>
        </p:nvSpPr>
        <p:spPr>
          <a:xfrm>
            <a:off x="457200" y="838200"/>
            <a:ext cx="8229600" cy="533400"/>
          </a:xfrm>
          <a:prstGeom prst="rect">
            <a:avLst/>
          </a:prstGeom>
        </p:spPr>
        <p:txBody>
          <a:bodyPr/>
          <a:lstStyle/>
          <a:p>
            <a:pPr eaLnBrk="1" hangingPunct="1">
              <a:defRPr/>
            </a:pPr>
            <a:r>
              <a:rPr lang="en-US" sz="1800" kern="1200" dirty="0">
                <a:solidFill>
                  <a:srgbClr val="C10B29"/>
                </a:solidFill>
                <a:effectLst/>
                <a:latin typeface="Calibri" pitchFamily="34" charset="0"/>
                <a:ea typeface="ＭＳ Ｐゴシック" pitchFamily="34" charset="-128"/>
                <a:cs typeface="Calibri" pitchFamily="34" charset="0"/>
              </a:rPr>
              <a:t>A. Contactability</a:t>
            </a:r>
          </a:p>
        </p:txBody>
      </p:sp>
      <p:sp>
        <p:nvSpPr>
          <p:cNvPr id="16387" name="TextBox 2"/>
          <p:cNvSpPr txBox="1">
            <a:spLocks noChangeArrowheads="1"/>
          </p:cNvSpPr>
          <p:nvPr/>
        </p:nvSpPr>
        <p:spPr bwMode="auto">
          <a:xfrm>
            <a:off x="304800" y="1447800"/>
            <a:ext cx="3016250" cy="307777"/>
          </a:xfrm>
          <a:prstGeom prst="rect">
            <a:avLst/>
          </a:prstGeom>
          <a:noFill/>
          <a:ln w="9525">
            <a:noFill/>
            <a:miter lim="800000"/>
            <a:headEnd/>
            <a:tailEnd/>
          </a:ln>
        </p:spPr>
        <p:txBody>
          <a:bodyPr>
            <a:spAutoFit/>
          </a:bodyPr>
          <a:lstStyle/>
          <a:p>
            <a:r>
              <a:rPr lang="en-US" sz="1400" b="1" i="1" dirty="0" err="1">
                <a:latin typeface="Calibri" pitchFamily="34" charset="0"/>
                <a:cs typeface="Calibri" pitchFamily="34" charset="0"/>
              </a:rPr>
              <a:t>i</a:t>
            </a:r>
            <a:r>
              <a:rPr lang="en-US" sz="1400" b="1" i="1" dirty="0">
                <a:latin typeface="Calibri" pitchFamily="34" charset="0"/>
                <a:cs typeface="Calibri" pitchFamily="34" charset="0"/>
              </a:rPr>
              <a:t>) Overall Contactability = 76% </a:t>
            </a:r>
          </a:p>
        </p:txBody>
      </p:sp>
      <p:sp>
        <p:nvSpPr>
          <p:cNvPr id="16388" name="Slide Number Placeholder 2"/>
          <p:cNvSpPr>
            <a:spLocks noGrp="1"/>
          </p:cNvSpPr>
          <p:nvPr>
            <p:ph type="sldNum" sz="quarter" idx="12"/>
          </p:nvPr>
        </p:nvSpPr>
        <p:spPr>
          <a:xfrm>
            <a:off x="6629400" y="6305550"/>
            <a:ext cx="2133600" cy="476250"/>
          </a:xfrm>
          <a:noFill/>
        </p:spPr>
        <p:txBody>
          <a:bodyPr/>
          <a:lstStyle/>
          <a:p>
            <a:fld id="{743E9216-7816-4BCD-B3C6-1D62CAC089FD}" type="slidenum">
              <a:rPr lang="en-US" smtClean="0"/>
              <a:pPr/>
              <a:t>3</a:t>
            </a:fld>
            <a:endParaRPr lang="en-US"/>
          </a:p>
        </p:txBody>
      </p:sp>
      <p:sp>
        <p:nvSpPr>
          <p:cNvPr id="16390" name="TextBox 2"/>
          <p:cNvSpPr txBox="1">
            <a:spLocks noChangeArrowheads="1"/>
          </p:cNvSpPr>
          <p:nvPr/>
        </p:nvSpPr>
        <p:spPr bwMode="auto">
          <a:xfrm>
            <a:off x="228600" y="3810000"/>
            <a:ext cx="3352800" cy="307777"/>
          </a:xfrm>
          <a:prstGeom prst="rect">
            <a:avLst/>
          </a:prstGeom>
          <a:noFill/>
          <a:ln w="9525">
            <a:noFill/>
            <a:miter lim="800000"/>
            <a:headEnd/>
            <a:tailEnd/>
          </a:ln>
        </p:spPr>
        <p:txBody>
          <a:bodyPr>
            <a:spAutoFit/>
          </a:bodyPr>
          <a:lstStyle/>
          <a:p>
            <a:r>
              <a:rPr lang="en-US" sz="1400" b="1" i="1" dirty="0">
                <a:solidFill>
                  <a:srgbClr val="000000"/>
                </a:solidFill>
                <a:latin typeface="Calibri" pitchFamily="34" charset="0"/>
                <a:cs typeface="Calibri" pitchFamily="34" charset="0"/>
              </a:rPr>
              <a:t>ii) Region wise break up</a:t>
            </a:r>
          </a:p>
        </p:txBody>
      </p:sp>
      <p:graphicFrame>
        <p:nvGraphicFramePr>
          <p:cNvPr id="17" name="Chart 16"/>
          <p:cNvGraphicFramePr/>
          <p:nvPr/>
        </p:nvGraphicFramePr>
        <p:xfrm>
          <a:off x="838200" y="1828800"/>
          <a:ext cx="3810000" cy="22098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1" name="Chart 20"/>
          <p:cNvGraphicFramePr/>
          <p:nvPr/>
        </p:nvGraphicFramePr>
        <p:xfrm>
          <a:off x="304800" y="4267200"/>
          <a:ext cx="2103120" cy="173736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3" name="Chart 22"/>
          <p:cNvGraphicFramePr/>
          <p:nvPr/>
        </p:nvGraphicFramePr>
        <p:xfrm>
          <a:off x="2362200" y="4191000"/>
          <a:ext cx="2103120" cy="173736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28" name="Chart 27"/>
          <p:cNvGraphicFramePr/>
          <p:nvPr/>
        </p:nvGraphicFramePr>
        <p:xfrm>
          <a:off x="4572000" y="4191000"/>
          <a:ext cx="2103120" cy="173736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2" name="Chart 31"/>
          <p:cNvGraphicFramePr/>
          <p:nvPr/>
        </p:nvGraphicFramePr>
        <p:xfrm>
          <a:off x="6629400" y="4114800"/>
          <a:ext cx="2103120" cy="1737360"/>
        </p:xfrm>
        <a:graphic>
          <a:graphicData uri="http://schemas.openxmlformats.org/drawingml/2006/chart">
            <c:chart xmlns:c="http://schemas.openxmlformats.org/drawingml/2006/chart" xmlns:r="http://schemas.openxmlformats.org/officeDocument/2006/relationships" r:id="rId7"/>
          </a:graphicData>
        </a:graphic>
      </p:graphicFrame>
      <p:sp>
        <p:nvSpPr>
          <p:cNvPr id="14" name="TextBox 13"/>
          <p:cNvSpPr txBox="1"/>
          <p:nvPr/>
        </p:nvSpPr>
        <p:spPr>
          <a:xfrm>
            <a:off x="4114800" y="5842337"/>
            <a:ext cx="4419600" cy="461665"/>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r>
              <a:rPr lang="en-US" sz="1200" dirty="0">
                <a:latin typeface="Calibri" pitchFamily="34" charset="0"/>
                <a:cs typeface="Calibri" pitchFamily="34" charset="0"/>
              </a:rPr>
              <a:t>South had the highest contactibility (86%), followed by East  (81%)  West  &amp; North are lower 70% &amp; 74% respectively.</a:t>
            </a:r>
          </a:p>
        </p:txBody>
      </p:sp>
      <p:sp>
        <p:nvSpPr>
          <p:cNvPr id="15" name="TextBox 14"/>
          <p:cNvSpPr txBox="1"/>
          <p:nvPr/>
        </p:nvSpPr>
        <p:spPr>
          <a:xfrm>
            <a:off x="1066800" y="5943600"/>
            <a:ext cx="1371600" cy="430887"/>
          </a:xfrm>
          <a:prstGeom prst="rect">
            <a:avLst/>
          </a:prstGeom>
          <a:noFill/>
        </p:spPr>
        <p:txBody>
          <a:bodyPr wrap="square" rtlCol="0">
            <a:spAutoFit/>
          </a:bodyPr>
          <a:lstStyle/>
          <a:p>
            <a:r>
              <a:rPr lang="en-US" sz="1100" dirty="0">
                <a:latin typeface="Calibri" pitchFamily="34" charset="0"/>
              </a:rPr>
              <a:t>Non contactable</a:t>
            </a:r>
          </a:p>
          <a:p>
            <a:r>
              <a:rPr lang="en-US" sz="1100" dirty="0">
                <a:latin typeface="Calibri" pitchFamily="34" charset="0"/>
              </a:rPr>
              <a:t>Contactable</a:t>
            </a:r>
            <a:endParaRPr lang="en-IN" sz="1100" dirty="0">
              <a:latin typeface="Calibri" pitchFamily="34" charset="0"/>
            </a:endParaRPr>
          </a:p>
        </p:txBody>
      </p:sp>
      <p:sp>
        <p:nvSpPr>
          <p:cNvPr id="18" name="Rounded Rectangle 17"/>
          <p:cNvSpPr/>
          <p:nvPr/>
        </p:nvSpPr>
        <p:spPr>
          <a:xfrm>
            <a:off x="914400" y="6019800"/>
            <a:ext cx="152400" cy="76200"/>
          </a:xfrm>
          <a:prstGeom prst="roundRect">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ounded Rectangle 18"/>
          <p:cNvSpPr/>
          <p:nvPr/>
        </p:nvSpPr>
        <p:spPr>
          <a:xfrm>
            <a:off x="914400" y="6172200"/>
            <a:ext cx="152400" cy="76200"/>
          </a:xfrm>
          <a:prstGeom prst="round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lumMod val="65000"/>
                  <a:lumOff val="35000"/>
                </a:schemeClr>
              </a:solidFill>
            </a:endParaRPr>
          </a:p>
        </p:txBody>
      </p:sp>
      <p:graphicFrame>
        <p:nvGraphicFramePr>
          <p:cNvPr id="3" name="Table 2"/>
          <p:cNvGraphicFramePr>
            <a:graphicFrameLocks noGrp="1"/>
          </p:cNvGraphicFramePr>
          <p:nvPr>
            <p:extLst>
              <p:ext uri="{D42A27DB-BD31-4B8C-83A1-F6EECF244321}">
                <p14:modId xmlns:p14="http://schemas.microsoft.com/office/powerpoint/2010/main" val="433984160"/>
              </p:ext>
            </p:extLst>
          </p:nvPr>
        </p:nvGraphicFramePr>
        <p:xfrm>
          <a:off x="5105400" y="1828800"/>
          <a:ext cx="3124200" cy="1676400"/>
        </p:xfrm>
        <a:graphic>
          <a:graphicData uri="http://schemas.openxmlformats.org/drawingml/2006/table">
            <a:tbl>
              <a:tblPr/>
              <a:tblGrid>
                <a:gridCol w="2233529">
                  <a:extLst>
                    <a:ext uri="{9D8B030D-6E8A-4147-A177-3AD203B41FA5}">
                      <a16:colId xmlns:a16="http://schemas.microsoft.com/office/drawing/2014/main" val="20000"/>
                    </a:ext>
                  </a:extLst>
                </a:gridCol>
                <a:gridCol w="890671">
                  <a:extLst>
                    <a:ext uri="{9D8B030D-6E8A-4147-A177-3AD203B41FA5}">
                      <a16:colId xmlns:a16="http://schemas.microsoft.com/office/drawing/2014/main" val="20001"/>
                    </a:ext>
                  </a:extLst>
                </a:gridCol>
              </a:tblGrid>
              <a:tr h="335280">
                <a:tc>
                  <a:txBody>
                    <a:bodyPr/>
                    <a:lstStyle/>
                    <a:p>
                      <a:pPr algn="ctr" fontAlgn="ctr"/>
                      <a:r>
                        <a:rPr lang="en-US" sz="1400" b="0" i="0" u="none" strike="noStrike" dirty="0">
                          <a:solidFill>
                            <a:srgbClr val="000000"/>
                          </a:solidFill>
                          <a:effectLst/>
                          <a:latin typeface="Calibri"/>
                        </a:rPr>
                        <a:t>Data received</a:t>
                      </a:r>
                    </a:p>
                  </a:txBody>
                  <a:tcPr marL="12700" marR="12700" marT="12700" marB="0" anchor="ctr">
                    <a:lnL>
                      <a:noFill/>
                    </a:lnL>
                    <a:lnR w="6350" cap="flat" cmpd="sng" algn="ctr">
                      <a:solidFill>
                        <a:srgbClr val="195C93"/>
                      </a:solidFill>
                      <a:prstDash val="solid"/>
                      <a:round/>
                      <a:headEnd type="none" w="med" len="med"/>
                      <a:tailEnd type="none" w="med" len="med"/>
                    </a:lnR>
                    <a:lnT w="6350" cap="flat" cmpd="sng" algn="ctr">
                      <a:solidFill>
                        <a:srgbClr val="195C93"/>
                      </a:solidFill>
                      <a:prstDash val="solid"/>
                      <a:round/>
                      <a:headEnd type="none" w="med" len="med"/>
                      <a:tailEnd type="none" w="med" len="med"/>
                    </a:lnT>
                    <a:lnB w="6350" cap="flat" cmpd="sng" algn="ctr">
                      <a:solidFill>
                        <a:srgbClr val="195C93"/>
                      </a:solidFill>
                      <a:prstDash val="solid"/>
                      <a:round/>
                      <a:headEnd type="none" w="med" len="med"/>
                      <a:tailEnd type="none" w="med" len="med"/>
                    </a:lnB>
                  </a:tcPr>
                </a:tc>
                <a:tc>
                  <a:txBody>
                    <a:bodyPr/>
                    <a:lstStyle/>
                    <a:p>
                      <a:pPr algn="ctr" fontAlgn="b"/>
                      <a:r>
                        <a:rPr lang="en-US" sz="1200" b="0" i="0" u="none" strike="noStrike" dirty="0">
                          <a:solidFill>
                            <a:srgbClr val="000000"/>
                          </a:solidFill>
                          <a:effectLst/>
                          <a:latin typeface="Calibri"/>
                        </a:rPr>
                        <a:t>406</a:t>
                      </a:r>
                    </a:p>
                  </a:txBody>
                  <a:tcPr marL="12700" marR="12700" marT="12700" marB="0" anchor="b">
                    <a:lnL w="6350" cap="flat" cmpd="sng" algn="ctr">
                      <a:solidFill>
                        <a:srgbClr val="195C93"/>
                      </a:solidFill>
                      <a:prstDash val="solid"/>
                      <a:round/>
                      <a:headEnd type="none" w="med" len="med"/>
                      <a:tailEnd type="none" w="med" len="med"/>
                    </a:lnL>
                    <a:lnR>
                      <a:noFill/>
                    </a:lnR>
                    <a:lnT w="6350" cap="flat" cmpd="sng" algn="ctr">
                      <a:solidFill>
                        <a:srgbClr val="195C93"/>
                      </a:solidFill>
                      <a:prstDash val="solid"/>
                      <a:round/>
                      <a:headEnd type="none" w="med" len="med"/>
                      <a:tailEnd type="none" w="med" len="med"/>
                    </a:lnT>
                    <a:lnB w="6350" cap="flat" cmpd="sng" algn="ctr">
                      <a:solidFill>
                        <a:srgbClr val="195C93"/>
                      </a:solidFill>
                      <a:prstDash val="solid"/>
                      <a:round/>
                      <a:headEnd type="none" w="med" len="med"/>
                      <a:tailEnd type="none" w="med" len="med"/>
                    </a:lnB>
                  </a:tcPr>
                </a:tc>
                <a:extLst>
                  <a:ext uri="{0D108BD9-81ED-4DB2-BD59-A6C34878D82A}">
                    <a16:rowId xmlns:a16="http://schemas.microsoft.com/office/drawing/2014/main" val="10000"/>
                  </a:ext>
                </a:extLst>
              </a:tr>
              <a:tr h="335280">
                <a:tc>
                  <a:txBody>
                    <a:bodyPr/>
                    <a:lstStyle/>
                    <a:p>
                      <a:pPr algn="ctr" fontAlgn="ctr"/>
                      <a:r>
                        <a:rPr lang="en-US" sz="1400" b="0" i="0" u="none" strike="noStrike" dirty="0">
                          <a:solidFill>
                            <a:srgbClr val="000000"/>
                          </a:solidFill>
                          <a:effectLst/>
                          <a:latin typeface="Calibri"/>
                        </a:rPr>
                        <a:t> Incorrect numbers</a:t>
                      </a:r>
                    </a:p>
                  </a:txBody>
                  <a:tcPr marL="12700" marR="12700" marT="12700" marB="0" anchor="ctr">
                    <a:lnL>
                      <a:noFill/>
                    </a:lnL>
                    <a:lnR w="6350" cap="flat" cmpd="sng" algn="ctr">
                      <a:solidFill>
                        <a:srgbClr val="195C93"/>
                      </a:solidFill>
                      <a:prstDash val="solid"/>
                      <a:round/>
                      <a:headEnd type="none" w="med" len="med"/>
                      <a:tailEnd type="none" w="med" len="med"/>
                    </a:lnR>
                    <a:lnT w="6350" cap="flat" cmpd="sng" algn="ctr">
                      <a:solidFill>
                        <a:srgbClr val="195C93"/>
                      </a:solidFill>
                      <a:prstDash val="solid"/>
                      <a:round/>
                      <a:headEnd type="none" w="med" len="med"/>
                      <a:tailEnd type="none" w="med" len="med"/>
                    </a:lnT>
                    <a:lnB w="6350" cap="flat" cmpd="sng" algn="ctr">
                      <a:solidFill>
                        <a:srgbClr val="195C93"/>
                      </a:solidFill>
                      <a:prstDash val="solid"/>
                      <a:round/>
                      <a:headEnd type="none" w="med" len="med"/>
                      <a:tailEnd type="none" w="med" len="med"/>
                    </a:lnB>
                  </a:tcPr>
                </a:tc>
                <a:tc>
                  <a:txBody>
                    <a:bodyPr/>
                    <a:lstStyle/>
                    <a:p>
                      <a:pPr algn="ctr" fontAlgn="b"/>
                      <a:r>
                        <a:rPr lang="en-US" sz="1200" b="0" i="0" u="none" strike="noStrike" dirty="0">
                          <a:solidFill>
                            <a:srgbClr val="000000"/>
                          </a:solidFill>
                          <a:effectLst/>
                          <a:latin typeface="Calibri"/>
                        </a:rPr>
                        <a:t>41</a:t>
                      </a:r>
                    </a:p>
                  </a:txBody>
                  <a:tcPr marL="12700" marR="12700" marT="12700" marB="0" anchor="b">
                    <a:lnL w="6350" cap="flat" cmpd="sng" algn="ctr">
                      <a:solidFill>
                        <a:srgbClr val="195C93"/>
                      </a:solidFill>
                      <a:prstDash val="solid"/>
                      <a:round/>
                      <a:headEnd type="none" w="med" len="med"/>
                      <a:tailEnd type="none" w="med" len="med"/>
                    </a:lnL>
                    <a:lnR>
                      <a:noFill/>
                    </a:lnR>
                    <a:lnT w="6350" cap="flat" cmpd="sng" algn="ctr">
                      <a:solidFill>
                        <a:srgbClr val="195C93"/>
                      </a:solidFill>
                      <a:prstDash val="solid"/>
                      <a:round/>
                      <a:headEnd type="none" w="med" len="med"/>
                      <a:tailEnd type="none" w="med" len="med"/>
                    </a:lnT>
                    <a:lnB w="6350" cap="flat" cmpd="sng" algn="ctr">
                      <a:solidFill>
                        <a:srgbClr val="195C93"/>
                      </a:solidFill>
                      <a:prstDash val="solid"/>
                      <a:round/>
                      <a:headEnd type="none" w="med" len="med"/>
                      <a:tailEnd type="none" w="med" len="med"/>
                    </a:lnB>
                  </a:tcPr>
                </a:tc>
                <a:extLst>
                  <a:ext uri="{0D108BD9-81ED-4DB2-BD59-A6C34878D82A}">
                    <a16:rowId xmlns:a16="http://schemas.microsoft.com/office/drawing/2014/main" val="10001"/>
                  </a:ext>
                </a:extLst>
              </a:tr>
              <a:tr h="335280">
                <a:tc>
                  <a:txBody>
                    <a:bodyPr/>
                    <a:lstStyle/>
                    <a:p>
                      <a:pPr algn="ctr" fontAlgn="ctr"/>
                      <a:r>
                        <a:rPr lang="en-US" sz="1400" b="0" i="0" u="none" strike="noStrike" dirty="0">
                          <a:solidFill>
                            <a:srgbClr val="000000"/>
                          </a:solidFill>
                          <a:effectLst/>
                          <a:latin typeface="Calibri"/>
                        </a:rPr>
                        <a:t>Contact Attempted</a:t>
                      </a:r>
                    </a:p>
                  </a:txBody>
                  <a:tcPr marL="12700" marR="12700" marT="12700" marB="0" anchor="ctr">
                    <a:lnL>
                      <a:noFill/>
                    </a:lnL>
                    <a:lnR w="6350" cap="flat" cmpd="sng" algn="ctr">
                      <a:solidFill>
                        <a:srgbClr val="195C93"/>
                      </a:solidFill>
                      <a:prstDash val="solid"/>
                      <a:round/>
                      <a:headEnd type="none" w="med" len="med"/>
                      <a:tailEnd type="none" w="med" len="med"/>
                    </a:lnR>
                    <a:lnT w="6350" cap="flat" cmpd="sng" algn="ctr">
                      <a:solidFill>
                        <a:srgbClr val="195C93"/>
                      </a:solidFill>
                      <a:prstDash val="solid"/>
                      <a:round/>
                      <a:headEnd type="none" w="med" len="med"/>
                      <a:tailEnd type="none" w="med" len="med"/>
                    </a:lnT>
                    <a:lnB w="6350" cap="flat" cmpd="sng" algn="ctr">
                      <a:solidFill>
                        <a:srgbClr val="195C93"/>
                      </a:solidFill>
                      <a:prstDash val="solid"/>
                      <a:round/>
                      <a:headEnd type="none" w="med" len="med"/>
                      <a:tailEnd type="none" w="med" len="med"/>
                    </a:lnB>
                  </a:tcPr>
                </a:tc>
                <a:tc>
                  <a:txBody>
                    <a:bodyPr/>
                    <a:lstStyle/>
                    <a:p>
                      <a:pPr algn="ctr" fontAlgn="b"/>
                      <a:r>
                        <a:rPr lang="en-US" sz="1200" b="0" i="0" u="none" strike="noStrike" dirty="0">
                          <a:solidFill>
                            <a:srgbClr val="000000"/>
                          </a:solidFill>
                          <a:effectLst/>
                          <a:latin typeface="Calibri"/>
                        </a:rPr>
                        <a:t>365</a:t>
                      </a:r>
                    </a:p>
                  </a:txBody>
                  <a:tcPr marL="12700" marR="12700" marT="12700" marB="0" anchor="b">
                    <a:lnL w="6350" cap="flat" cmpd="sng" algn="ctr">
                      <a:solidFill>
                        <a:srgbClr val="195C93"/>
                      </a:solidFill>
                      <a:prstDash val="solid"/>
                      <a:round/>
                      <a:headEnd type="none" w="med" len="med"/>
                      <a:tailEnd type="none" w="med" len="med"/>
                    </a:lnL>
                    <a:lnR>
                      <a:noFill/>
                    </a:lnR>
                    <a:lnT w="6350" cap="flat" cmpd="sng" algn="ctr">
                      <a:solidFill>
                        <a:srgbClr val="195C93"/>
                      </a:solidFill>
                      <a:prstDash val="solid"/>
                      <a:round/>
                      <a:headEnd type="none" w="med" len="med"/>
                      <a:tailEnd type="none" w="med" len="med"/>
                    </a:lnT>
                    <a:lnB w="6350" cap="flat" cmpd="sng" algn="ctr">
                      <a:solidFill>
                        <a:srgbClr val="195C93"/>
                      </a:solidFill>
                      <a:prstDash val="solid"/>
                      <a:round/>
                      <a:headEnd type="none" w="med" len="med"/>
                      <a:tailEnd type="none" w="med" len="med"/>
                    </a:lnB>
                  </a:tcPr>
                </a:tc>
                <a:extLst>
                  <a:ext uri="{0D108BD9-81ED-4DB2-BD59-A6C34878D82A}">
                    <a16:rowId xmlns:a16="http://schemas.microsoft.com/office/drawing/2014/main" val="10002"/>
                  </a:ext>
                </a:extLst>
              </a:tr>
              <a:tr h="335280">
                <a:tc>
                  <a:txBody>
                    <a:bodyPr/>
                    <a:lstStyle/>
                    <a:p>
                      <a:pPr algn="ctr" fontAlgn="ctr"/>
                      <a:r>
                        <a:rPr lang="en-US" sz="1400" b="0" i="0" u="none" strike="noStrike" dirty="0">
                          <a:solidFill>
                            <a:srgbClr val="000000"/>
                          </a:solidFill>
                          <a:effectLst/>
                          <a:latin typeface="Calibri"/>
                        </a:rPr>
                        <a:t>Interviews conducted</a:t>
                      </a:r>
                    </a:p>
                  </a:txBody>
                  <a:tcPr marL="12700" marR="12700" marT="12700" marB="0" anchor="ctr">
                    <a:lnL>
                      <a:noFill/>
                    </a:lnL>
                    <a:lnR w="6350" cap="flat" cmpd="sng" algn="ctr">
                      <a:solidFill>
                        <a:srgbClr val="195C93"/>
                      </a:solidFill>
                      <a:prstDash val="solid"/>
                      <a:round/>
                      <a:headEnd type="none" w="med" len="med"/>
                      <a:tailEnd type="none" w="med" len="med"/>
                    </a:lnR>
                    <a:lnT w="6350" cap="flat" cmpd="sng" algn="ctr">
                      <a:solidFill>
                        <a:srgbClr val="195C93"/>
                      </a:solidFill>
                      <a:prstDash val="solid"/>
                      <a:round/>
                      <a:headEnd type="none" w="med" len="med"/>
                      <a:tailEnd type="none" w="med" len="med"/>
                    </a:lnT>
                    <a:lnB w="6350" cap="flat" cmpd="sng" algn="ctr">
                      <a:solidFill>
                        <a:srgbClr val="195C93"/>
                      </a:solidFill>
                      <a:prstDash val="solid"/>
                      <a:round/>
                      <a:headEnd type="none" w="med" len="med"/>
                      <a:tailEnd type="none" w="med" len="med"/>
                    </a:lnB>
                  </a:tcPr>
                </a:tc>
                <a:tc>
                  <a:txBody>
                    <a:bodyPr/>
                    <a:lstStyle/>
                    <a:p>
                      <a:pPr algn="ctr" fontAlgn="b"/>
                      <a:r>
                        <a:rPr lang="en-US" sz="1200" b="0" i="0" u="none" strike="noStrike" dirty="0">
                          <a:solidFill>
                            <a:srgbClr val="000000"/>
                          </a:solidFill>
                          <a:effectLst/>
                          <a:latin typeface="Calibri"/>
                        </a:rPr>
                        <a:t>279</a:t>
                      </a:r>
                    </a:p>
                  </a:txBody>
                  <a:tcPr marL="12700" marR="12700" marT="12700" marB="0" anchor="b">
                    <a:lnL w="6350" cap="flat" cmpd="sng" algn="ctr">
                      <a:solidFill>
                        <a:srgbClr val="195C93"/>
                      </a:solidFill>
                      <a:prstDash val="solid"/>
                      <a:round/>
                      <a:headEnd type="none" w="med" len="med"/>
                      <a:tailEnd type="none" w="med" len="med"/>
                    </a:lnL>
                    <a:lnR>
                      <a:noFill/>
                    </a:lnR>
                    <a:lnT w="6350" cap="flat" cmpd="sng" algn="ctr">
                      <a:solidFill>
                        <a:srgbClr val="195C93"/>
                      </a:solidFill>
                      <a:prstDash val="solid"/>
                      <a:round/>
                      <a:headEnd type="none" w="med" len="med"/>
                      <a:tailEnd type="none" w="med" len="med"/>
                    </a:lnT>
                    <a:lnB w="6350" cap="flat" cmpd="sng" algn="ctr">
                      <a:solidFill>
                        <a:srgbClr val="195C93"/>
                      </a:solidFill>
                      <a:prstDash val="solid"/>
                      <a:round/>
                      <a:headEnd type="none" w="med" len="med"/>
                      <a:tailEnd type="none" w="med" len="med"/>
                    </a:lnB>
                  </a:tcPr>
                </a:tc>
                <a:extLst>
                  <a:ext uri="{0D108BD9-81ED-4DB2-BD59-A6C34878D82A}">
                    <a16:rowId xmlns:a16="http://schemas.microsoft.com/office/drawing/2014/main" val="10003"/>
                  </a:ext>
                </a:extLst>
              </a:tr>
              <a:tr h="335280">
                <a:tc>
                  <a:txBody>
                    <a:bodyPr/>
                    <a:lstStyle/>
                    <a:p>
                      <a:pPr algn="ctr" fontAlgn="ctr"/>
                      <a:r>
                        <a:rPr lang="en-US" sz="1400" b="0" i="0" u="none" strike="noStrike" dirty="0">
                          <a:solidFill>
                            <a:srgbClr val="000000"/>
                          </a:solidFill>
                          <a:effectLst/>
                          <a:latin typeface="Calibri"/>
                        </a:rPr>
                        <a:t>Declined to share feedback</a:t>
                      </a:r>
                    </a:p>
                  </a:txBody>
                  <a:tcPr marL="12700" marR="12700" marT="12700" marB="0" anchor="ctr">
                    <a:lnL>
                      <a:noFill/>
                    </a:lnL>
                    <a:lnR w="6350" cap="flat" cmpd="sng" algn="ctr">
                      <a:solidFill>
                        <a:srgbClr val="195C93"/>
                      </a:solidFill>
                      <a:prstDash val="solid"/>
                      <a:round/>
                      <a:headEnd type="none" w="med" len="med"/>
                      <a:tailEnd type="none" w="med" len="med"/>
                    </a:lnR>
                    <a:lnT w="6350" cap="flat" cmpd="sng" algn="ctr">
                      <a:solidFill>
                        <a:srgbClr val="195C93"/>
                      </a:solidFill>
                      <a:prstDash val="solid"/>
                      <a:round/>
                      <a:headEnd type="none" w="med" len="med"/>
                      <a:tailEnd type="none" w="med" len="med"/>
                    </a:lnT>
                    <a:lnB w="6350" cap="flat" cmpd="sng" algn="ctr">
                      <a:solidFill>
                        <a:srgbClr val="195C93"/>
                      </a:solidFill>
                      <a:prstDash val="solid"/>
                      <a:round/>
                      <a:headEnd type="none" w="med" len="med"/>
                      <a:tailEnd type="none" w="med" len="med"/>
                    </a:lnB>
                  </a:tcPr>
                </a:tc>
                <a:tc>
                  <a:txBody>
                    <a:bodyPr/>
                    <a:lstStyle/>
                    <a:p>
                      <a:pPr algn="ctr" fontAlgn="b"/>
                      <a:r>
                        <a:rPr lang="en-US" sz="1200" b="0" i="0" u="none" strike="noStrike" dirty="0">
                          <a:solidFill>
                            <a:srgbClr val="000000"/>
                          </a:solidFill>
                          <a:effectLst/>
                          <a:latin typeface="Calibri"/>
                        </a:rPr>
                        <a:t>2</a:t>
                      </a:r>
                    </a:p>
                  </a:txBody>
                  <a:tcPr marL="12700" marR="12700" marT="12700" marB="0" anchor="b">
                    <a:lnL w="6350" cap="flat" cmpd="sng" algn="ctr">
                      <a:solidFill>
                        <a:srgbClr val="195C93"/>
                      </a:solidFill>
                      <a:prstDash val="solid"/>
                      <a:round/>
                      <a:headEnd type="none" w="med" len="med"/>
                      <a:tailEnd type="none" w="med" len="med"/>
                    </a:lnL>
                    <a:lnR>
                      <a:noFill/>
                    </a:lnR>
                    <a:lnT w="6350" cap="flat" cmpd="sng" algn="ctr">
                      <a:solidFill>
                        <a:srgbClr val="195C93"/>
                      </a:solidFill>
                      <a:prstDash val="solid"/>
                      <a:round/>
                      <a:headEnd type="none" w="med" len="med"/>
                      <a:tailEnd type="none" w="med" len="med"/>
                    </a:lnT>
                    <a:lnB w="6350" cap="flat" cmpd="sng" algn="ctr">
                      <a:solidFill>
                        <a:srgbClr val="195C9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5" name="Chart 24"/>
          <p:cNvGraphicFramePr/>
          <p:nvPr/>
        </p:nvGraphicFramePr>
        <p:xfrm>
          <a:off x="304800" y="4419600"/>
          <a:ext cx="5486400" cy="2438400"/>
        </p:xfrm>
        <a:graphic>
          <a:graphicData uri="http://schemas.openxmlformats.org/drawingml/2006/chart">
            <c:chart xmlns:c="http://schemas.openxmlformats.org/drawingml/2006/chart" xmlns:r="http://schemas.openxmlformats.org/officeDocument/2006/relationships" r:id="rId3"/>
          </a:graphicData>
        </a:graphic>
      </p:graphicFrame>
      <p:sp>
        <p:nvSpPr>
          <p:cNvPr id="2" name="Rectangle 2"/>
          <p:cNvSpPr>
            <a:spLocks noGrp="1" noChangeArrowheads="1"/>
          </p:cNvSpPr>
          <p:nvPr>
            <p:ph type="title" idx="4294967295"/>
          </p:nvPr>
        </p:nvSpPr>
        <p:spPr>
          <a:xfrm>
            <a:off x="990600" y="762000"/>
            <a:ext cx="7162800" cy="533400"/>
          </a:xfrm>
        </p:spPr>
        <p:txBody>
          <a:bodyPr/>
          <a:lstStyle/>
          <a:p>
            <a:pPr eaLnBrk="1" hangingPunct="1">
              <a:defRPr/>
            </a:pPr>
            <a:r>
              <a:rPr lang="en-US" sz="1800" kern="1200" dirty="0">
                <a:solidFill>
                  <a:srgbClr val="C10B29"/>
                </a:solidFill>
                <a:effectLst/>
                <a:latin typeface="Calibri" pitchFamily="34" charset="0"/>
                <a:ea typeface="ＭＳ Ｐゴシック" pitchFamily="34" charset="-128"/>
                <a:cs typeface="Calibri" pitchFamily="34" charset="0"/>
              </a:rPr>
              <a:t>       A. </a:t>
            </a:r>
            <a:r>
              <a:rPr lang="en-US" sz="1800" kern="1200" dirty="0" err="1">
                <a:solidFill>
                  <a:srgbClr val="C10B29"/>
                </a:solidFill>
                <a:effectLst/>
                <a:latin typeface="Calibri" pitchFamily="34" charset="0"/>
                <a:ea typeface="ＭＳ Ｐゴシック" pitchFamily="34" charset="-128"/>
                <a:cs typeface="Calibri" pitchFamily="34" charset="0"/>
              </a:rPr>
              <a:t>Contactibility</a:t>
            </a:r>
            <a:r>
              <a:rPr lang="en-US" sz="1800" kern="1200" dirty="0">
                <a:solidFill>
                  <a:srgbClr val="C10B29"/>
                </a:solidFill>
                <a:effectLst/>
                <a:latin typeface="Calibri" pitchFamily="34" charset="0"/>
                <a:ea typeface="ＭＳ Ｐゴシック" pitchFamily="34" charset="-128"/>
                <a:cs typeface="Calibri" pitchFamily="34" charset="0"/>
              </a:rPr>
              <a:t>  </a:t>
            </a:r>
            <a:r>
              <a:rPr lang="en-US" sz="1800" kern="1200" dirty="0" err="1">
                <a:solidFill>
                  <a:srgbClr val="C10B29"/>
                </a:solidFill>
                <a:effectLst/>
                <a:latin typeface="Calibri" pitchFamily="34" charset="0"/>
                <a:ea typeface="ＭＳ Ｐゴシック" pitchFamily="34" charset="-128"/>
                <a:cs typeface="Calibri" pitchFamily="34" charset="0"/>
              </a:rPr>
              <a:t>contd</a:t>
            </a:r>
            <a:r>
              <a:rPr lang="en-US" sz="1800" kern="1200" dirty="0">
                <a:solidFill>
                  <a:srgbClr val="C10B29"/>
                </a:solidFill>
                <a:effectLst/>
                <a:latin typeface="Calibri" pitchFamily="34" charset="0"/>
                <a:ea typeface="ＭＳ Ｐゴシック" pitchFamily="34" charset="-128"/>
                <a:cs typeface="Calibri" pitchFamily="34" charset="0"/>
              </a:rPr>
              <a:t>….</a:t>
            </a:r>
          </a:p>
        </p:txBody>
      </p:sp>
      <p:sp>
        <p:nvSpPr>
          <p:cNvPr id="18435" name="Slide Number Placeholder 2"/>
          <p:cNvSpPr>
            <a:spLocks noGrp="1"/>
          </p:cNvSpPr>
          <p:nvPr>
            <p:ph type="sldNum" sz="quarter" idx="12"/>
          </p:nvPr>
        </p:nvSpPr>
        <p:spPr>
          <a:xfrm>
            <a:off x="6629400" y="6305550"/>
            <a:ext cx="2133600" cy="476250"/>
          </a:xfrm>
          <a:noFill/>
        </p:spPr>
        <p:txBody>
          <a:bodyPr/>
          <a:lstStyle/>
          <a:p>
            <a:fld id="{867C1D1B-B76C-4142-9AFB-2ACCA99813E8}" type="slidenum">
              <a:rPr lang="en-US" smtClean="0"/>
              <a:pPr/>
              <a:t>4</a:t>
            </a:fld>
            <a:endParaRPr lang="en-US"/>
          </a:p>
        </p:txBody>
      </p:sp>
      <p:sp>
        <p:nvSpPr>
          <p:cNvPr id="18436" name="TextBox 2"/>
          <p:cNvSpPr txBox="1">
            <a:spLocks noChangeArrowheads="1"/>
          </p:cNvSpPr>
          <p:nvPr/>
        </p:nvSpPr>
        <p:spPr bwMode="auto">
          <a:xfrm>
            <a:off x="0" y="1338263"/>
            <a:ext cx="3352800" cy="307975"/>
          </a:xfrm>
          <a:prstGeom prst="rect">
            <a:avLst/>
          </a:prstGeom>
          <a:noFill/>
          <a:ln w="9525">
            <a:noFill/>
            <a:miter lim="800000"/>
            <a:headEnd/>
            <a:tailEnd/>
          </a:ln>
        </p:spPr>
        <p:txBody>
          <a:bodyPr>
            <a:spAutoFit/>
          </a:bodyPr>
          <a:lstStyle/>
          <a:p>
            <a:r>
              <a:rPr lang="en-US" sz="1400" b="1" i="1" dirty="0">
                <a:solidFill>
                  <a:srgbClr val="C00000"/>
                </a:solidFill>
                <a:latin typeface="Calibri" pitchFamily="34" charset="0"/>
                <a:cs typeface="Calibri" pitchFamily="34" charset="0"/>
              </a:rPr>
              <a:t>      </a:t>
            </a:r>
            <a:r>
              <a:rPr lang="en-US" sz="1400" b="1" i="1" dirty="0" err="1">
                <a:latin typeface="Calibri" pitchFamily="34" charset="0"/>
                <a:cs typeface="Calibri" pitchFamily="34" charset="0"/>
              </a:rPr>
              <a:t>i</a:t>
            </a:r>
            <a:r>
              <a:rPr lang="en-US" sz="1400" b="1" i="1" dirty="0">
                <a:latin typeface="Calibri" pitchFamily="34" charset="0"/>
                <a:cs typeface="Calibri" pitchFamily="34" charset="0"/>
              </a:rPr>
              <a:t>). Business Unit wise</a:t>
            </a:r>
          </a:p>
        </p:txBody>
      </p:sp>
      <p:sp>
        <p:nvSpPr>
          <p:cNvPr id="18437" name="TextBox 2"/>
          <p:cNvSpPr txBox="1">
            <a:spLocks noChangeArrowheads="1"/>
          </p:cNvSpPr>
          <p:nvPr/>
        </p:nvSpPr>
        <p:spPr bwMode="auto">
          <a:xfrm>
            <a:off x="304800" y="4191000"/>
            <a:ext cx="3352800" cy="307777"/>
          </a:xfrm>
          <a:prstGeom prst="rect">
            <a:avLst/>
          </a:prstGeom>
          <a:noFill/>
          <a:ln w="9525">
            <a:noFill/>
            <a:miter lim="800000"/>
            <a:headEnd/>
            <a:tailEnd/>
          </a:ln>
        </p:spPr>
        <p:txBody>
          <a:bodyPr wrap="square">
            <a:spAutoFit/>
          </a:bodyPr>
          <a:lstStyle/>
          <a:p>
            <a:r>
              <a:rPr lang="en-US" sz="1400" b="1" i="1" dirty="0">
                <a:latin typeface="Calibri" pitchFamily="34" charset="0"/>
                <a:cs typeface="Calibri" pitchFamily="34" charset="0"/>
              </a:rPr>
              <a:t>ii). Age wise break up</a:t>
            </a:r>
          </a:p>
        </p:txBody>
      </p:sp>
      <p:sp>
        <p:nvSpPr>
          <p:cNvPr id="18438" name="Text Box 9"/>
          <p:cNvSpPr txBox="1">
            <a:spLocks noChangeArrowheads="1"/>
          </p:cNvSpPr>
          <p:nvPr/>
        </p:nvSpPr>
        <p:spPr bwMode="auto">
          <a:xfrm>
            <a:off x="7239000" y="1447288"/>
            <a:ext cx="1676400" cy="5410712"/>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lnSpc>
                <a:spcPct val="120000"/>
              </a:lnSpc>
            </a:pPr>
            <a:r>
              <a:rPr lang="en-US" sz="1200" b="1" dirty="0">
                <a:solidFill>
                  <a:schemeClr val="accent1">
                    <a:lumMod val="25000"/>
                  </a:schemeClr>
                </a:solidFill>
                <a:latin typeface="Calibri" pitchFamily="34" charset="0"/>
                <a:cs typeface="Calibri" pitchFamily="34" charset="0"/>
              </a:rPr>
              <a:t>CHC OTC</a:t>
            </a:r>
            <a:r>
              <a:rPr lang="en-US" sz="1200" dirty="0">
                <a:solidFill>
                  <a:schemeClr val="accent1">
                    <a:lumMod val="25000"/>
                  </a:schemeClr>
                </a:solidFill>
                <a:latin typeface="Calibri" pitchFamily="34" charset="0"/>
                <a:cs typeface="Calibri" pitchFamily="34" charset="0"/>
              </a:rPr>
              <a:t> unit has the highest attrition (82%) percentage  based on the head count in that unit. </a:t>
            </a:r>
          </a:p>
          <a:p>
            <a:pPr>
              <a:lnSpc>
                <a:spcPct val="120000"/>
              </a:lnSpc>
            </a:pPr>
            <a:endParaRPr lang="en-US" sz="1200" dirty="0">
              <a:solidFill>
                <a:schemeClr val="accent1">
                  <a:lumMod val="25000"/>
                </a:schemeClr>
              </a:solidFill>
              <a:latin typeface="Calibri" pitchFamily="34" charset="0"/>
              <a:cs typeface="Calibri" pitchFamily="34" charset="0"/>
            </a:endParaRPr>
          </a:p>
          <a:p>
            <a:pPr>
              <a:lnSpc>
                <a:spcPct val="120000"/>
              </a:lnSpc>
            </a:pPr>
            <a:r>
              <a:rPr lang="en-US" sz="1200" dirty="0">
                <a:solidFill>
                  <a:schemeClr val="accent1">
                    <a:lumMod val="25000"/>
                  </a:schemeClr>
                </a:solidFill>
                <a:latin typeface="Calibri" pitchFamily="34" charset="0"/>
                <a:cs typeface="Calibri" pitchFamily="34" charset="0"/>
              </a:rPr>
              <a:t>High attrition in young employee (20–30 yrs)</a:t>
            </a:r>
            <a:r>
              <a:rPr lang="en-US" sz="1200" b="1" dirty="0">
                <a:solidFill>
                  <a:schemeClr val="accent1">
                    <a:lumMod val="25000"/>
                  </a:schemeClr>
                </a:solidFill>
                <a:latin typeface="Calibri" pitchFamily="34" charset="0"/>
                <a:cs typeface="Calibri" pitchFamily="34" charset="0"/>
              </a:rPr>
              <a:t>  </a:t>
            </a:r>
            <a:r>
              <a:rPr lang="en-US" sz="1200" dirty="0">
                <a:solidFill>
                  <a:schemeClr val="accent1">
                    <a:lumMod val="25000"/>
                  </a:schemeClr>
                </a:solidFill>
                <a:latin typeface="Calibri" pitchFamily="34" charset="0"/>
                <a:cs typeface="Calibri" pitchFamily="34" charset="0"/>
              </a:rPr>
              <a:t>in all </a:t>
            </a:r>
            <a:r>
              <a:rPr lang="en-US" sz="1200" b="1" dirty="0">
                <a:solidFill>
                  <a:schemeClr val="accent1">
                    <a:lumMod val="25000"/>
                  </a:schemeClr>
                </a:solidFill>
                <a:latin typeface="Calibri" pitchFamily="34" charset="0"/>
                <a:cs typeface="Calibri" pitchFamily="34" charset="0"/>
              </a:rPr>
              <a:t>Quarters.</a:t>
            </a:r>
          </a:p>
          <a:p>
            <a:pPr>
              <a:lnSpc>
                <a:spcPct val="120000"/>
              </a:lnSpc>
            </a:pPr>
            <a:endParaRPr lang="en-US" sz="1200" b="1" dirty="0">
              <a:solidFill>
                <a:schemeClr val="accent1">
                  <a:lumMod val="25000"/>
                </a:schemeClr>
              </a:solidFill>
              <a:latin typeface="Calibri" pitchFamily="34" charset="0"/>
              <a:cs typeface="Calibri" pitchFamily="34" charset="0"/>
            </a:endParaRPr>
          </a:p>
          <a:p>
            <a:pPr>
              <a:lnSpc>
                <a:spcPct val="120000"/>
              </a:lnSpc>
            </a:pPr>
            <a:r>
              <a:rPr lang="en-US" sz="1200" dirty="0">
                <a:solidFill>
                  <a:schemeClr val="accent1">
                    <a:lumMod val="25000"/>
                  </a:schemeClr>
                </a:solidFill>
                <a:latin typeface="Calibri" pitchFamily="34" charset="0"/>
                <a:cs typeface="Calibri" pitchFamily="34" charset="0"/>
              </a:rPr>
              <a:t>It has progressed over each quarter with lowest in Q1 to highest in Q4.</a:t>
            </a:r>
          </a:p>
          <a:p>
            <a:pPr>
              <a:lnSpc>
                <a:spcPct val="120000"/>
              </a:lnSpc>
            </a:pPr>
            <a:endParaRPr lang="en-US" sz="1200" dirty="0">
              <a:solidFill>
                <a:schemeClr val="accent1">
                  <a:lumMod val="25000"/>
                </a:schemeClr>
              </a:solidFill>
              <a:latin typeface="Calibri" pitchFamily="34" charset="0"/>
              <a:cs typeface="Calibri" pitchFamily="34" charset="0"/>
            </a:endParaRPr>
          </a:p>
          <a:p>
            <a:pPr>
              <a:lnSpc>
                <a:spcPct val="120000"/>
              </a:lnSpc>
            </a:pPr>
            <a:r>
              <a:rPr lang="en-US" sz="1200" dirty="0">
                <a:solidFill>
                  <a:schemeClr val="accent1">
                    <a:lumMod val="25000"/>
                  </a:schemeClr>
                </a:solidFill>
                <a:latin typeface="Calibri" pitchFamily="34" charset="0"/>
                <a:cs typeface="Calibri" pitchFamily="34" charset="0"/>
              </a:rPr>
              <a:t>Attrition in age category 31-40 years is also higher &amp; shows the same trend</a:t>
            </a:r>
          </a:p>
          <a:p>
            <a:pPr>
              <a:lnSpc>
                <a:spcPct val="120000"/>
              </a:lnSpc>
            </a:pPr>
            <a:endParaRPr lang="en-US" sz="1200" dirty="0">
              <a:solidFill>
                <a:schemeClr val="accent1">
                  <a:lumMod val="25000"/>
                </a:schemeClr>
              </a:solidFill>
              <a:latin typeface="Calibri" pitchFamily="34" charset="0"/>
              <a:cs typeface="Calibri" pitchFamily="34" charset="0"/>
            </a:endParaRPr>
          </a:p>
          <a:p>
            <a:pPr>
              <a:lnSpc>
                <a:spcPct val="120000"/>
              </a:lnSpc>
            </a:pPr>
            <a:r>
              <a:rPr lang="en-US" sz="1200" dirty="0">
                <a:solidFill>
                  <a:schemeClr val="accent1">
                    <a:lumMod val="25000"/>
                  </a:schemeClr>
                </a:solidFill>
                <a:latin typeface="Calibri" pitchFamily="34" charset="0"/>
                <a:cs typeface="Calibri" pitchFamily="34" charset="0"/>
              </a:rPr>
              <a:t>Attrition in second half of the year is 25% higher than the first half of the year</a:t>
            </a:r>
          </a:p>
        </p:txBody>
      </p:sp>
      <p:sp>
        <p:nvSpPr>
          <p:cNvPr id="18" name="Oval 17"/>
          <p:cNvSpPr/>
          <p:nvPr/>
        </p:nvSpPr>
        <p:spPr>
          <a:xfrm>
            <a:off x="990600" y="4572000"/>
            <a:ext cx="381000" cy="457200"/>
          </a:xfrm>
          <a:prstGeom prst="ellipse">
            <a:avLst/>
          </a:prstGeom>
          <a:solidFill>
            <a:schemeClr val="bg1">
              <a:lumMod val="75000"/>
              <a:alpha val="19000"/>
            </a:schemeClr>
          </a:solidFill>
          <a:ln>
            <a:solidFill>
              <a:srgbClr val="C00000">
                <a:alpha val="57000"/>
              </a:srgb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IN" sz="1000" dirty="0">
              <a:latin typeface="Calibri" pitchFamily="34" charset="0"/>
            </a:endParaRPr>
          </a:p>
        </p:txBody>
      </p:sp>
      <p:sp>
        <p:nvSpPr>
          <p:cNvPr id="28" name="Oval 27"/>
          <p:cNvSpPr/>
          <p:nvPr/>
        </p:nvSpPr>
        <p:spPr>
          <a:xfrm>
            <a:off x="1447800" y="4724400"/>
            <a:ext cx="609600" cy="381000"/>
          </a:xfrm>
          <a:prstGeom prst="ellipse">
            <a:avLst/>
          </a:prstGeom>
          <a:solidFill>
            <a:srgbClr val="FF8F8F">
              <a:alpha val="49000"/>
            </a:srgbClr>
          </a:solidFill>
          <a:ln>
            <a:solidFill>
              <a:srgbClr val="A40000">
                <a:alpha val="62000"/>
              </a:srgb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1000" b="1" dirty="0">
                <a:solidFill>
                  <a:schemeClr val="tx1"/>
                </a:solidFill>
                <a:latin typeface="Calibri" pitchFamily="34" charset="0"/>
                <a:cs typeface="Calibri" pitchFamily="34" charset="0"/>
              </a:rPr>
              <a:t>44%</a:t>
            </a:r>
          </a:p>
        </p:txBody>
      </p:sp>
      <p:sp>
        <p:nvSpPr>
          <p:cNvPr id="29" name="Oval 28"/>
          <p:cNvSpPr/>
          <p:nvPr/>
        </p:nvSpPr>
        <p:spPr>
          <a:xfrm>
            <a:off x="4267200" y="4419600"/>
            <a:ext cx="609600" cy="381000"/>
          </a:xfrm>
          <a:prstGeom prst="ellipse">
            <a:avLst/>
          </a:prstGeom>
          <a:solidFill>
            <a:srgbClr val="FF8F8F">
              <a:alpha val="49000"/>
            </a:srgbClr>
          </a:solidFill>
          <a:ln>
            <a:solidFill>
              <a:srgbClr val="A40000">
                <a:alpha val="62000"/>
              </a:srgb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1000" b="1" dirty="0">
                <a:solidFill>
                  <a:schemeClr val="tx1"/>
                </a:solidFill>
                <a:latin typeface="Calibri" pitchFamily="34" charset="0"/>
                <a:cs typeface="Calibri" pitchFamily="34" charset="0"/>
              </a:rPr>
              <a:t>56%</a:t>
            </a:r>
          </a:p>
        </p:txBody>
      </p:sp>
      <p:sp>
        <p:nvSpPr>
          <p:cNvPr id="14" name="Oval 13"/>
          <p:cNvSpPr/>
          <p:nvPr/>
        </p:nvSpPr>
        <p:spPr>
          <a:xfrm>
            <a:off x="3733800" y="4343400"/>
            <a:ext cx="457200" cy="381000"/>
          </a:xfrm>
          <a:prstGeom prst="ellipse">
            <a:avLst/>
          </a:prstGeom>
          <a:solidFill>
            <a:schemeClr val="bg1">
              <a:lumMod val="75000"/>
              <a:alpha val="19000"/>
            </a:schemeClr>
          </a:solidFill>
          <a:ln>
            <a:solidFill>
              <a:srgbClr val="C00000">
                <a:alpha val="57000"/>
              </a:srgb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000" dirty="0">
              <a:latin typeface="Calibri" pitchFamily="34" charset="0"/>
              <a:cs typeface="Calibri" pitchFamily="34" charset="0"/>
            </a:endParaRPr>
          </a:p>
        </p:txBody>
      </p:sp>
      <p:sp>
        <p:nvSpPr>
          <p:cNvPr id="16" name="Rectangle 15"/>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graphicFrame>
        <p:nvGraphicFramePr>
          <p:cNvPr id="21" name="Chart 20"/>
          <p:cNvGraphicFramePr/>
          <p:nvPr/>
        </p:nvGraphicFramePr>
        <p:xfrm>
          <a:off x="0" y="1600200"/>
          <a:ext cx="6126480" cy="2926080"/>
        </p:xfrm>
        <a:graphic>
          <a:graphicData uri="http://schemas.openxmlformats.org/drawingml/2006/chart">
            <c:chart xmlns:c="http://schemas.openxmlformats.org/drawingml/2006/chart" xmlns:r="http://schemas.openxmlformats.org/officeDocument/2006/relationships" r:id="rId4"/>
          </a:graphicData>
        </a:graphic>
      </p:graphicFrame>
      <p:pic>
        <p:nvPicPr>
          <p:cNvPr id="1027" name="Picture 3"/>
          <p:cNvPicPr>
            <a:picLocks noChangeAspect="1" noChangeArrowheads="1"/>
          </p:cNvPicPr>
          <p:nvPr/>
        </p:nvPicPr>
        <p:blipFill>
          <a:blip r:embed="rId5" cstate="print"/>
          <a:srcRect/>
          <a:stretch>
            <a:fillRect/>
          </a:stretch>
        </p:blipFill>
        <p:spPr bwMode="auto">
          <a:xfrm>
            <a:off x="2695575" y="1857375"/>
            <a:ext cx="1952625" cy="200025"/>
          </a:xfrm>
          <a:prstGeom prst="rect">
            <a:avLst/>
          </a:prstGeom>
          <a:noFill/>
          <a:ln w="9525">
            <a:noFill/>
            <a:miter lim="800000"/>
            <a:headEnd/>
            <a:tailEnd/>
          </a:ln>
          <a:effectLst/>
        </p:spPr>
      </p:pic>
      <p:sp>
        <p:nvSpPr>
          <p:cNvPr id="41" name="Oval 40"/>
          <p:cNvSpPr/>
          <p:nvPr/>
        </p:nvSpPr>
        <p:spPr>
          <a:xfrm>
            <a:off x="304800" y="25146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15%</a:t>
            </a:r>
          </a:p>
        </p:txBody>
      </p:sp>
      <p:sp>
        <p:nvSpPr>
          <p:cNvPr id="42" name="Oval 41"/>
          <p:cNvSpPr/>
          <p:nvPr/>
        </p:nvSpPr>
        <p:spPr>
          <a:xfrm>
            <a:off x="838200" y="27432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10%</a:t>
            </a:r>
          </a:p>
        </p:txBody>
      </p:sp>
      <p:sp>
        <p:nvSpPr>
          <p:cNvPr id="43" name="Oval 42"/>
          <p:cNvSpPr/>
          <p:nvPr/>
        </p:nvSpPr>
        <p:spPr>
          <a:xfrm>
            <a:off x="1295400" y="27432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12%</a:t>
            </a:r>
          </a:p>
        </p:txBody>
      </p:sp>
      <p:sp>
        <p:nvSpPr>
          <p:cNvPr id="44" name="Oval 43"/>
          <p:cNvSpPr/>
          <p:nvPr/>
        </p:nvSpPr>
        <p:spPr>
          <a:xfrm>
            <a:off x="1752600" y="27432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6%</a:t>
            </a:r>
          </a:p>
        </p:txBody>
      </p:sp>
      <p:sp>
        <p:nvSpPr>
          <p:cNvPr id="45" name="Oval 44"/>
          <p:cNvSpPr/>
          <p:nvPr/>
        </p:nvSpPr>
        <p:spPr>
          <a:xfrm>
            <a:off x="2209800" y="27432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12%</a:t>
            </a:r>
          </a:p>
        </p:txBody>
      </p:sp>
      <p:sp>
        <p:nvSpPr>
          <p:cNvPr id="46" name="Oval 45"/>
          <p:cNvSpPr/>
          <p:nvPr/>
        </p:nvSpPr>
        <p:spPr>
          <a:xfrm>
            <a:off x="2743200" y="27432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10%</a:t>
            </a:r>
          </a:p>
        </p:txBody>
      </p:sp>
      <p:sp>
        <p:nvSpPr>
          <p:cNvPr id="47" name="Oval 46"/>
          <p:cNvSpPr/>
          <p:nvPr/>
        </p:nvSpPr>
        <p:spPr>
          <a:xfrm>
            <a:off x="3200400" y="27432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7%</a:t>
            </a:r>
          </a:p>
        </p:txBody>
      </p:sp>
      <p:sp>
        <p:nvSpPr>
          <p:cNvPr id="48" name="Oval 47"/>
          <p:cNvSpPr/>
          <p:nvPr/>
        </p:nvSpPr>
        <p:spPr>
          <a:xfrm>
            <a:off x="3733800" y="28194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82%</a:t>
            </a:r>
          </a:p>
        </p:txBody>
      </p:sp>
      <p:sp>
        <p:nvSpPr>
          <p:cNvPr id="49" name="Oval 48"/>
          <p:cNvSpPr/>
          <p:nvPr/>
        </p:nvSpPr>
        <p:spPr>
          <a:xfrm>
            <a:off x="4191000" y="28194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6%</a:t>
            </a:r>
          </a:p>
        </p:txBody>
      </p:sp>
      <p:sp>
        <p:nvSpPr>
          <p:cNvPr id="50" name="Oval 49"/>
          <p:cNvSpPr/>
          <p:nvPr/>
        </p:nvSpPr>
        <p:spPr>
          <a:xfrm>
            <a:off x="4648200" y="28194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10%</a:t>
            </a:r>
          </a:p>
        </p:txBody>
      </p:sp>
      <p:sp>
        <p:nvSpPr>
          <p:cNvPr id="51" name="Oval 50"/>
          <p:cNvSpPr/>
          <p:nvPr/>
        </p:nvSpPr>
        <p:spPr>
          <a:xfrm>
            <a:off x="5105400" y="28956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16%</a:t>
            </a:r>
          </a:p>
        </p:txBody>
      </p:sp>
      <p:sp>
        <p:nvSpPr>
          <p:cNvPr id="52" name="Oval 51"/>
          <p:cNvSpPr/>
          <p:nvPr/>
        </p:nvSpPr>
        <p:spPr>
          <a:xfrm>
            <a:off x="5638800" y="2819400"/>
            <a:ext cx="609600" cy="53340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FF0000"/>
                </a:solidFill>
                <a:latin typeface="Calibri" pitchFamily="34" charset="0"/>
                <a:cs typeface="Calibri" pitchFamily="34" charset="0"/>
              </a:rPr>
              <a:t>17%</a:t>
            </a:r>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5</a:t>
            </a:fld>
            <a:endParaRPr lang="en-US" dirty="0"/>
          </a:p>
        </p:txBody>
      </p:sp>
      <p:sp>
        <p:nvSpPr>
          <p:cNvPr id="8" name="Text Box 3"/>
          <p:cNvSpPr txBox="1">
            <a:spLocks noChangeArrowheads="1"/>
          </p:cNvSpPr>
          <p:nvPr/>
        </p:nvSpPr>
        <p:spPr bwMode="auto">
          <a:xfrm>
            <a:off x="304800" y="3651747"/>
            <a:ext cx="2438400" cy="3416320"/>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Top  3  Factors for Exits are… .</a:t>
            </a:r>
          </a:p>
          <a:p>
            <a:pPr marL="171450" indent="-171450">
              <a:buClr>
                <a:srgbClr val="C00000"/>
              </a:buClr>
              <a:buFont typeface="Arial"/>
              <a:buChar char="•"/>
            </a:pPr>
            <a:r>
              <a:rPr lang="en-US" sz="1200" dirty="0">
                <a:solidFill>
                  <a:schemeClr val="accent1">
                    <a:lumMod val="25000"/>
                  </a:schemeClr>
                </a:solidFill>
                <a:latin typeface="Calibri" pitchFamily="34" charset="0"/>
                <a:cs typeface="Calibri" pitchFamily="34" charset="0"/>
              </a:rPr>
              <a:t>Better Opportunity ( 38%)</a:t>
            </a:r>
          </a:p>
          <a:p>
            <a:pPr marL="171450" indent="-171450">
              <a:buClr>
                <a:srgbClr val="C00000"/>
              </a:buClr>
              <a:buFont typeface="Arial"/>
              <a:buChar char="•"/>
            </a:pPr>
            <a:r>
              <a:rPr lang="en-US" sz="1200" dirty="0">
                <a:solidFill>
                  <a:schemeClr val="accent1">
                    <a:lumMod val="25000"/>
                  </a:schemeClr>
                </a:solidFill>
                <a:latin typeface="Calibri" pitchFamily="34" charset="0"/>
                <a:cs typeface="Calibri" pitchFamily="34" charset="0"/>
              </a:rPr>
              <a:t>Supervision ( 16%) </a:t>
            </a:r>
          </a:p>
          <a:p>
            <a:pPr marL="171450" indent="-171450">
              <a:buClr>
                <a:srgbClr val="C00000"/>
              </a:buClr>
              <a:buFont typeface="Arial"/>
              <a:buChar char="•"/>
            </a:pPr>
            <a:r>
              <a:rPr lang="en-US" sz="1200" dirty="0">
                <a:solidFill>
                  <a:schemeClr val="accent1">
                    <a:lumMod val="25000"/>
                  </a:schemeClr>
                </a:solidFill>
                <a:latin typeface="Calibri" pitchFamily="34" charset="0"/>
                <a:cs typeface="Calibri" pitchFamily="34" charset="0"/>
              </a:rPr>
              <a:t>Work Environment ( 14% )</a:t>
            </a:r>
          </a:p>
          <a:p>
            <a:pPr marL="171450" indent="-171450">
              <a:buClr>
                <a:srgbClr val="C00000"/>
              </a:buClr>
            </a:pPr>
            <a:endParaRPr lang="en-US" sz="1200" dirty="0">
              <a:solidFill>
                <a:schemeClr val="accent1">
                  <a:lumMod val="25000"/>
                </a:schemeClr>
              </a:solidFill>
              <a:latin typeface="Calibri" pitchFamily="34" charset="0"/>
              <a:cs typeface="Calibri" pitchFamily="34" charset="0"/>
            </a:endParaRPr>
          </a:p>
          <a:p>
            <a:pPr marL="171450" indent="-171450">
              <a:buClr>
                <a:srgbClr val="C00000"/>
              </a:buClr>
            </a:pPr>
            <a:endParaRPr lang="en-US" sz="1200" dirty="0">
              <a:solidFill>
                <a:schemeClr val="accent1">
                  <a:lumMod val="25000"/>
                </a:schemeClr>
              </a:solidFill>
              <a:latin typeface="Calibri" pitchFamily="34" charset="0"/>
              <a:cs typeface="Calibri" pitchFamily="34" charset="0"/>
            </a:endParaRPr>
          </a:p>
          <a:p>
            <a:pPr marL="171450" indent="-171450">
              <a:buClr>
                <a:srgbClr val="C00000"/>
              </a:buClr>
              <a:buFont typeface="Wingdings" pitchFamily="2" charset="2"/>
              <a:buChar char="Ø"/>
            </a:pPr>
            <a:r>
              <a:rPr lang="en-US" sz="1200" dirty="0">
                <a:solidFill>
                  <a:schemeClr val="accent1">
                    <a:lumMod val="25000"/>
                  </a:schemeClr>
                </a:solidFill>
                <a:latin typeface="Calibri" pitchFamily="34" charset="0"/>
                <a:cs typeface="Calibri" pitchFamily="34" charset="0"/>
              </a:rPr>
              <a:t>The two major factors are reported  across all units.</a:t>
            </a:r>
          </a:p>
          <a:p>
            <a:pPr marL="171450" indent="-171450">
              <a:buClr>
                <a:srgbClr val="C00000"/>
              </a:buClr>
              <a:buFont typeface="Wingdings" pitchFamily="2" charset="2"/>
              <a:buChar char="Ø"/>
            </a:pPr>
            <a:endParaRPr lang="en-US" sz="1200" dirty="0">
              <a:solidFill>
                <a:schemeClr val="accent1">
                  <a:lumMod val="25000"/>
                </a:schemeClr>
              </a:solidFill>
              <a:latin typeface="Calibri" pitchFamily="34" charset="0"/>
              <a:cs typeface="Calibri" pitchFamily="34" charset="0"/>
            </a:endParaRPr>
          </a:p>
          <a:p>
            <a:pPr marL="171450" indent="-171450">
              <a:buClr>
                <a:srgbClr val="C00000"/>
              </a:buClr>
              <a:buFont typeface="Wingdings" pitchFamily="2" charset="2"/>
              <a:buChar char="Ø"/>
            </a:pPr>
            <a:r>
              <a:rPr lang="en-US" sz="1200" dirty="0">
                <a:solidFill>
                  <a:schemeClr val="accent1">
                    <a:lumMod val="25000"/>
                  </a:schemeClr>
                </a:solidFill>
                <a:latin typeface="Calibri" pitchFamily="34" charset="0"/>
                <a:cs typeface="Calibri" pitchFamily="34" charset="0"/>
              </a:rPr>
              <a:t>HO has the highest attrition due to these three factors followed by IA.</a:t>
            </a:r>
          </a:p>
          <a:p>
            <a:pPr marL="171450" indent="-171450">
              <a:buClr>
                <a:srgbClr val="C00000"/>
              </a:buClr>
              <a:buFont typeface="Wingdings" pitchFamily="2" charset="2"/>
              <a:buChar char="Ø"/>
            </a:pPr>
            <a:endParaRPr lang="en-US" sz="1200" dirty="0">
              <a:solidFill>
                <a:schemeClr val="accent1">
                  <a:lumMod val="25000"/>
                </a:schemeClr>
              </a:solidFill>
              <a:latin typeface="Calibri" pitchFamily="34" charset="0"/>
              <a:cs typeface="Calibri" pitchFamily="34" charset="0"/>
            </a:endParaRPr>
          </a:p>
          <a:p>
            <a:pPr marL="171450" indent="-171450">
              <a:buClr>
                <a:srgbClr val="C00000"/>
              </a:buClr>
              <a:buFont typeface="Wingdings" pitchFamily="2" charset="2"/>
              <a:buChar char="Ø"/>
            </a:pPr>
            <a:r>
              <a:rPr lang="en-US" sz="1200" dirty="0">
                <a:solidFill>
                  <a:schemeClr val="accent1">
                    <a:lumMod val="25000"/>
                  </a:schemeClr>
                </a:solidFill>
                <a:latin typeface="Calibri" pitchFamily="34" charset="0"/>
                <a:cs typeface="Calibri" pitchFamily="34" charset="0"/>
              </a:rPr>
              <a:t>Better opportunity at HO &amp; Institution business  and Supervision in Mass Therapy are the highest  </a:t>
            </a:r>
          </a:p>
          <a:p>
            <a:pPr>
              <a:buClr>
                <a:srgbClr val="C00000"/>
              </a:buClr>
            </a:pPr>
            <a:endParaRPr lang="en-US" sz="1200" dirty="0">
              <a:solidFill>
                <a:schemeClr val="accent1">
                  <a:lumMod val="25000"/>
                </a:schemeClr>
              </a:solidFill>
              <a:latin typeface="Calibri" pitchFamily="34" charset="0"/>
              <a:cs typeface="Calibri" pitchFamily="34" charset="0"/>
            </a:endParaRPr>
          </a:p>
        </p:txBody>
      </p:sp>
      <p:graphicFrame>
        <p:nvGraphicFramePr>
          <p:cNvPr id="9" name="Chart 8"/>
          <p:cNvGraphicFramePr/>
          <p:nvPr/>
        </p:nvGraphicFramePr>
        <p:xfrm>
          <a:off x="0" y="1524000"/>
          <a:ext cx="2895600" cy="2362200"/>
        </p:xfrm>
        <a:graphic>
          <a:graphicData uri="http://schemas.openxmlformats.org/drawingml/2006/chart">
            <c:chart xmlns:c="http://schemas.openxmlformats.org/drawingml/2006/chart" xmlns:r="http://schemas.openxmlformats.org/officeDocument/2006/relationships" r:id="rId2"/>
          </a:graphicData>
        </a:graphic>
      </p:graphicFrame>
      <p:sp>
        <p:nvSpPr>
          <p:cNvPr id="12" name="Rectangle 11"/>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3" name="Rectangle 2"/>
          <p:cNvSpPr txBox="1">
            <a:spLocks noChangeArrowheads="1"/>
          </p:cNvSpPr>
          <p:nvPr/>
        </p:nvSpPr>
        <p:spPr bwMode="auto">
          <a:xfrm>
            <a:off x="533400" y="533400"/>
            <a:ext cx="8229600" cy="5334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lgn="ctr">
              <a:defRPr/>
            </a:pPr>
            <a:r>
              <a:rPr lang="en-US" dirty="0">
                <a:solidFill>
                  <a:srgbClr val="C10B29"/>
                </a:solidFill>
                <a:latin typeface="Calibri" pitchFamily="34" charset="0"/>
                <a:cs typeface="Calibri" pitchFamily="34" charset="0"/>
              </a:rPr>
              <a:t>Finding 1 </a:t>
            </a:r>
          </a:p>
          <a:p>
            <a:pPr algn="ctr" eaLnBrk="0" hangingPunct="0">
              <a:defRPr/>
            </a:pPr>
            <a:r>
              <a:rPr lang="en-US" sz="1500" dirty="0">
                <a:solidFill>
                  <a:srgbClr val="1E4649"/>
                </a:solidFill>
                <a:latin typeface="Calibri" pitchFamily="34" charset="0"/>
              </a:rPr>
              <a:t>Three key issues account for 70% of attrition, with top two accounting for 56%.  Focusing on them can significantly cut down attrition.</a:t>
            </a:r>
          </a:p>
        </p:txBody>
      </p:sp>
      <p:sp>
        <p:nvSpPr>
          <p:cNvPr id="16" name="TextBox 15"/>
          <p:cNvSpPr txBox="1"/>
          <p:nvPr/>
        </p:nvSpPr>
        <p:spPr>
          <a:xfrm>
            <a:off x="2743200" y="5029200"/>
            <a:ext cx="6172200" cy="415498"/>
          </a:xfrm>
          <a:prstGeom prst="rect">
            <a:avLst/>
          </a:prstGeom>
          <a:noFill/>
        </p:spPr>
        <p:txBody>
          <a:bodyPr wrap="square" rtlCol="0">
            <a:spAutoFit/>
          </a:bodyPr>
          <a:lstStyle/>
          <a:p>
            <a:pPr algn="just"/>
            <a:r>
              <a:rPr lang="en-US" sz="1050" i="1" dirty="0">
                <a:solidFill>
                  <a:srgbClr val="FF0000"/>
                </a:solidFill>
                <a:latin typeface="Calibri" pitchFamily="34" charset="0"/>
                <a:cs typeface="Calibri" pitchFamily="34" charset="0"/>
              </a:rPr>
              <a:t>*There are no significant differences among "Better Opportunity, Supervision Related &amp; Work Environment" on mean score. All are in parity.</a:t>
            </a:r>
          </a:p>
        </p:txBody>
      </p:sp>
      <p:graphicFrame>
        <p:nvGraphicFramePr>
          <p:cNvPr id="17" name="Table 16"/>
          <p:cNvGraphicFramePr>
            <a:graphicFrameLocks noGrp="1"/>
          </p:cNvGraphicFramePr>
          <p:nvPr>
            <p:extLst>
              <p:ext uri="{D42A27DB-BD31-4B8C-83A1-F6EECF244321}">
                <p14:modId xmlns:p14="http://schemas.microsoft.com/office/powerpoint/2010/main" val="2626211989"/>
              </p:ext>
            </p:extLst>
          </p:nvPr>
        </p:nvGraphicFramePr>
        <p:xfrm>
          <a:off x="2895600" y="1672718"/>
          <a:ext cx="5867999" cy="3356482"/>
        </p:xfrm>
        <a:graphic>
          <a:graphicData uri="http://schemas.openxmlformats.org/drawingml/2006/table">
            <a:tbl>
              <a:tblPr/>
              <a:tblGrid>
                <a:gridCol w="1601294">
                  <a:extLst>
                    <a:ext uri="{9D8B030D-6E8A-4147-A177-3AD203B41FA5}">
                      <a16:colId xmlns:a16="http://schemas.microsoft.com/office/drawing/2014/main" val="20000"/>
                    </a:ext>
                  </a:extLst>
                </a:gridCol>
                <a:gridCol w="560600">
                  <a:extLst>
                    <a:ext uri="{9D8B030D-6E8A-4147-A177-3AD203B41FA5}">
                      <a16:colId xmlns:a16="http://schemas.microsoft.com/office/drawing/2014/main" val="20001"/>
                    </a:ext>
                  </a:extLst>
                </a:gridCol>
                <a:gridCol w="1158157">
                  <a:extLst>
                    <a:ext uri="{9D8B030D-6E8A-4147-A177-3AD203B41FA5}">
                      <a16:colId xmlns:a16="http://schemas.microsoft.com/office/drawing/2014/main" val="20002"/>
                    </a:ext>
                  </a:extLst>
                </a:gridCol>
                <a:gridCol w="758683">
                  <a:extLst>
                    <a:ext uri="{9D8B030D-6E8A-4147-A177-3AD203B41FA5}">
                      <a16:colId xmlns:a16="http://schemas.microsoft.com/office/drawing/2014/main" val="20003"/>
                    </a:ext>
                  </a:extLst>
                </a:gridCol>
                <a:gridCol w="1094370">
                  <a:extLst>
                    <a:ext uri="{9D8B030D-6E8A-4147-A177-3AD203B41FA5}">
                      <a16:colId xmlns:a16="http://schemas.microsoft.com/office/drawing/2014/main" val="20004"/>
                    </a:ext>
                  </a:extLst>
                </a:gridCol>
                <a:gridCol w="694895">
                  <a:extLst>
                    <a:ext uri="{9D8B030D-6E8A-4147-A177-3AD203B41FA5}">
                      <a16:colId xmlns:a16="http://schemas.microsoft.com/office/drawing/2014/main" val="20005"/>
                    </a:ext>
                  </a:extLst>
                </a:gridCol>
              </a:tblGrid>
              <a:tr h="326619">
                <a:tc>
                  <a:txBody>
                    <a:bodyPr/>
                    <a:lstStyle/>
                    <a:p>
                      <a:pPr algn="ctr" rtl="0" fontAlgn="ctr"/>
                      <a:r>
                        <a:rPr lang="en-US" sz="1100" b="0" i="0" u="none" strike="noStrike" dirty="0">
                          <a:solidFill>
                            <a:srgbClr val="000000"/>
                          </a:solidFill>
                          <a:latin typeface="Calibri"/>
                        </a:rPr>
                        <a:t>Business Unit </a:t>
                      </a:r>
                    </a:p>
                  </a:txBody>
                  <a:tcPr marL="0" marR="0" marT="0" marB="0" anchor="ctr">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a:noFill/>
                    </a:lnT>
                    <a:lnB w="6350" cap="flat" cmpd="sng" algn="ctr">
                      <a:solidFill>
                        <a:srgbClr val="137996"/>
                      </a:solidFill>
                      <a:prstDash val="solid"/>
                      <a:round/>
                      <a:headEnd type="none" w="med" len="med"/>
                      <a:tailEnd type="none" w="med" len="med"/>
                    </a:lnB>
                    <a:solidFill>
                      <a:srgbClr val="93CDCA"/>
                    </a:solidFill>
                  </a:tcPr>
                </a:tc>
                <a:tc>
                  <a:txBody>
                    <a:bodyPr/>
                    <a:lstStyle/>
                    <a:p>
                      <a:pPr algn="ctr" rtl="0" fontAlgn="b"/>
                      <a:r>
                        <a:rPr lang="en-US" sz="1100" b="0" i="0" u="none" strike="noStrike" dirty="0">
                          <a:solidFill>
                            <a:srgbClr val="000000"/>
                          </a:solidFill>
                          <a:latin typeface="Calibri"/>
                        </a:rPr>
                        <a:t>Exits</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a:noFill/>
                    </a:lnT>
                    <a:lnB w="6350" cap="flat" cmpd="sng" algn="ctr">
                      <a:solidFill>
                        <a:srgbClr val="137996"/>
                      </a:solidFill>
                      <a:prstDash val="solid"/>
                      <a:round/>
                      <a:headEnd type="none" w="med" len="med"/>
                      <a:tailEnd type="none" w="med" len="med"/>
                    </a:lnB>
                    <a:solidFill>
                      <a:srgbClr val="93CDCA"/>
                    </a:solidFill>
                  </a:tcPr>
                </a:tc>
                <a:tc>
                  <a:txBody>
                    <a:bodyPr/>
                    <a:lstStyle/>
                    <a:p>
                      <a:pPr algn="ctr" rtl="0" fontAlgn="b"/>
                      <a:r>
                        <a:rPr lang="en-US" sz="1100" b="0" i="0" u="none" strike="noStrike" dirty="0">
                          <a:solidFill>
                            <a:srgbClr val="000000"/>
                          </a:solidFill>
                          <a:latin typeface="Calibri"/>
                        </a:rPr>
                        <a:t>Better Opportunity</a:t>
                      </a:r>
                      <a:r>
                        <a:rPr lang="en-US" sz="1100" b="0" i="0" u="none" strike="noStrike" dirty="0">
                          <a:solidFill>
                            <a:srgbClr val="FFFFFF"/>
                          </a:solidFill>
                          <a:latin typeface="Calibri"/>
                        </a:rPr>
                        <a:t> </a:t>
                      </a:r>
                      <a:endParaRPr lang="en-US" sz="1100" b="0" i="0" u="none" strike="noStrike" dirty="0">
                        <a:solidFill>
                          <a:srgbClr val="000000"/>
                        </a:solidFill>
                        <a:latin typeface="Calibri"/>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a:noFill/>
                    </a:lnT>
                    <a:lnB w="6350" cap="flat" cmpd="sng" algn="ctr">
                      <a:solidFill>
                        <a:srgbClr val="137996"/>
                      </a:solidFill>
                      <a:prstDash val="solid"/>
                      <a:round/>
                      <a:headEnd type="none" w="med" len="med"/>
                      <a:tailEnd type="none" w="med" len="med"/>
                    </a:lnB>
                    <a:solidFill>
                      <a:srgbClr val="93CDCA"/>
                    </a:solidFill>
                  </a:tcPr>
                </a:tc>
                <a:tc>
                  <a:txBody>
                    <a:bodyPr/>
                    <a:lstStyle/>
                    <a:p>
                      <a:pPr algn="ctr" rtl="0" fontAlgn="b"/>
                      <a:r>
                        <a:rPr lang="en-US" sz="1100" b="0" i="0" u="none" strike="noStrike" dirty="0">
                          <a:solidFill>
                            <a:srgbClr val="000000"/>
                          </a:solidFill>
                          <a:latin typeface="Calibri"/>
                        </a:rPr>
                        <a:t>Supervision</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a:noFill/>
                    </a:lnT>
                    <a:lnB w="6350" cap="flat" cmpd="sng" algn="ctr">
                      <a:solidFill>
                        <a:srgbClr val="137996"/>
                      </a:solidFill>
                      <a:prstDash val="solid"/>
                      <a:round/>
                      <a:headEnd type="none" w="med" len="med"/>
                      <a:tailEnd type="none" w="med" len="med"/>
                    </a:lnB>
                    <a:solidFill>
                      <a:srgbClr val="93CDCA"/>
                    </a:solidFill>
                  </a:tcPr>
                </a:tc>
                <a:tc>
                  <a:txBody>
                    <a:bodyPr/>
                    <a:lstStyle/>
                    <a:p>
                      <a:pPr algn="ctr" rtl="0" fontAlgn="b"/>
                      <a:r>
                        <a:rPr lang="en-US" sz="1100" b="0" i="0" u="none" strike="noStrike" dirty="0">
                          <a:solidFill>
                            <a:srgbClr val="000000"/>
                          </a:solidFill>
                          <a:latin typeface="Calibri"/>
                        </a:rPr>
                        <a:t>Work Environment</a:t>
                      </a:r>
                      <a:r>
                        <a:rPr lang="en-US" sz="1100" b="0" i="0" u="none" strike="noStrike" dirty="0">
                          <a:solidFill>
                            <a:srgbClr val="FFFFFF"/>
                          </a:solidFill>
                          <a:latin typeface="Calibri"/>
                        </a:rPr>
                        <a:t> </a:t>
                      </a:r>
                      <a:endParaRPr lang="en-US" sz="1100" b="0" i="0" u="none" strike="noStrike" dirty="0">
                        <a:solidFill>
                          <a:srgbClr val="000000"/>
                        </a:solidFill>
                        <a:latin typeface="Calibri"/>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a:noFill/>
                    </a:lnT>
                    <a:lnB w="6350" cap="flat" cmpd="sng" algn="ctr">
                      <a:solidFill>
                        <a:srgbClr val="137996"/>
                      </a:solidFill>
                      <a:prstDash val="solid"/>
                      <a:round/>
                      <a:headEnd type="none" w="med" len="med"/>
                      <a:tailEnd type="none" w="med" len="med"/>
                    </a:lnB>
                    <a:solidFill>
                      <a:srgbClr val="93CDCA"/>
                    </a:solidFill>
                  </a:tcPr>
                </a:tc>
                <a:tc>
                  <a:txBody>
                    <a:bodyPr/>
                    <a:lstStyle/>
                    <a:p>
                      <a:pPr algn="ctr" fontAlgn="ctr"/>
                      <a:r>
                        <a:rPr lang="en-US" sz="1100" b="0" i="0" u="none" strike="noStrike" dirty="0">
                          <a:solidFill>
                            <a:srgbClr val="000000"/>
                          </a:solidFill>
                          <a:latin typeface="Calibri"/>
                        </a:rPr>
                        <a:t>Total</a:t>
                      </a:r>
                    </a:p>
                  </a:txBody>
                  <a:tcPr marL="0" marR="0" marT="0" marB="0" anchor="ctr">
                    <a:lnL w="12700" cap="flat" cmpd="sng" algn="ctr">
                      <a:solidFill>
                        <a:schemeClr val="bg1"/>
                      </a:solidFill>
                      <a:prstDash val="solid"/>
                      <a:round/>
                      <a:headEnd type="none" w="med" len="med"/>
                      <a:tailEnd type="none" w="med" len="med"/>
                    </a:lnL>
                    <a:lnR>
                      <a:noFill/>
                    </a:lnR>
                    <a:lnT>
                      <a:noFill/>
                    </a:lnT>
                    <a:lnB w="6350" cap="flat" cmpd="sng" algn="ctr">
                      <a:solidFill>
                        <a:srgbClr val="137996"/>
                      </a:solidFill>
                      <a:prstDash val="solid"/>
                      <a:round/>
                      <a:headEnd type="none" w="med" len="med"/>
                      <a:tailEnd type="none" w="med" len="med"/>
                    </a:lnB>
                    <a:solidFill>
                      <a:srgbClr val="93CDCA"/>
                    </a:solidFill>
                  </a:tcPr>
                </a:tc>
                <a:extLst>
                  <a:ext uri="{0D108BD9-81ED-4DB2-BD59-A6C34878D82A}">
                    <a16:rowId xmlns:a16="http://schemas.microsoft.com/office/drawing/2014/main" val="10000"/>
                  </a:ext>
                </a:extLst>
              </a:tr>
              <a:tr h="169761">
                <a:tc>
                  <a:txBody>
                    <a:bodyPr/>
                    <a:lstStyle/>
                    <a:p>
                      <a:pPr algn="ctr" fontAlgn="t"/>
                      <a:r>
                        <a:rPr lang="en-US" sz="1100" b="0" i="0" u="none" strike="noStrike" dirty="0">
                          <a:solidFill>
                            <a:srgbClr val="000000"/>
                          </a:solidFill>
                          <a:latin typeface="Calibri"/>
                        </a:rPr>
                        <a:t>Diabetes</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87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31%</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21%</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64%</a:t>
                      </a:r>
                    </a:p>
                  </a:txBody>
                  <a:tcPr marL="9525" marR="9525" marT="9525" marB="0">
                    <a:lnL w="12700" cap="flat" cmpd="sng" algn="ctr">
                      <a:solidFill>
                        <a:schemeClr val="bg1"/>
                      </a:solidFill>
                      <a:prstDash val="solid"/>
                      <a:round/>
                      <a:headEnd type="none" w="med" len="med"/>
                      <a:tailEnd type="none" w="med" len="med"/>
                    </a:lnL>
                    <a:lnR>
                      <a:noFill/>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169761">
                <a:tc>
                  <a:txBody>
                    <a:bodyPr/>
                    <a:lstStyle/>
                    <a:p>
                      <a:pPr algn="ctr" fontAlgn="t"/>
                      <a:r>
                        <a:rPr lang="en-US" sz="1100" b="0" i="0" u="none" strike="noStrike" dirty="0">
                          <a:solidFill>
                            <a:srgbClr val="000000"/>
                          </a:solidFill>
                          <a:latin typeface="Calibri"/>
                        </a:rPr>
                        <a:t>CHC RX</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31</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45%</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10%</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10%</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65%</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169761">
                <a:tc>
                  <a:txBody>
                    <a:bodyPr/>
                    <a:lstStyle/>
                    <a:p>
                      <a:pPr algn="ctr" fontAlgn="t"/>
                      <a:r>
                        <a:rPr lang="en-US" sz="1100" b="0" i="0" u="none" strike="noStrike" dirty="0">
                          <a:solidFill>
                            <a:srgbClr val="000000"/>
                          </a:solidFill>
                          <a:latin typeface="Calibri"/>
                        </a:rPr>
                        <a:t>Vaccines</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29</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41%</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24%</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72%</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169761">
                <a:tc>
                  <a:txBody>
                    <a:bodyPr/>
                    <a:lstStyle/>
                    <a:p>
                      <a:pPr algn="ctr" fontAlgn="t"/>
                      <a:r>
                        <a:rPr lang="en-US" sz="1100" b="0" i="0" u="none" strike="noStrike" dirty="0">
                          <a:solidFill>
                            <a:srgbClr val="000000"/>
                          </a:solidFill>
                          <a:latin typeface="Calibri"/>
                        </a:rPr>
                        <a:t>IA</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26</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38%</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19%</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19%</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FF0000"/>
                          </a:solidFill>
                          <a:latin typeface="Calibri"/>
                        </a:rPr>
                        <a:t>77%</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169761">
                <a:tc>
                  <a:txBody>
                    <a:bodyPr/>
                    <a:lstStyle/>
                    <a:p>
                      <a:pPr algn="ctr" fontAlgn="t"/>
                      <a:r>
                        <a:rPr lang="en-US" sz="1100" b="0" i="0" u="none" strike="noStrike" dirty="0">
                          <a:solidFill>
                            <a:srgbClr val="000000"/>
                          </a:solidFill>
                          <a:latin typeface="Calibri"/>
                        </a:rPr>
                        <a:t>Hospital</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22</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55%</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9%</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5%</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68%</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169761">
                <a:tc>
                  <a:txBody>
                    <a:bodyPr/>
                    <a:lstStyle/>
                    <a:p>
                      <a:pPr algn="ctr" fontAlgn="t"/>
                      <a:r>
                        <a:rPr lang="en-US" sz="1100" b="0" i="0" u="none" strike="noStrike" dirty="0">
                          <a:solidFill>
                            <a:srgbClr val="000000"/>
                          </a:solidFill>
                          <a:latin typeface="Calibri"/>
                        </a:rPr>
                        <a:t>Cardio</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19</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42%</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16%</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11%</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68%</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6"/>
                  </a:ext>
                </a:extLst>
              </a:tr>
              <a:tr h="169761">
                <a:tc>
                  <a:txBody>
                    <a:bodyPr/>
                    <a:lstStyle/>
                    <a:p>
                      <a:pPr algn="ctr" fontAlgn="t"/>
                      <a:r>
                        <a:rPr lang="en-US" sz="1100" b="0" i="0" u="none" strike="noStrike" dirty="0">
                          <a:solidFill>
                            <a:srgbClr val="000000"/>
                          </a:solidFill>
                          <a:latin typeface="Calibri"/>
                        </a:rPr>
                        <a:t>HO</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FF0000"/>
                          </a:solidFill>
                          <a:latin typeface="Calibri"/>
                        </a:rPr>
                        <a:t>71%</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6%</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18%</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FF0000"/>
                          </a:solidFill>
                          <a:latin typeface="Calibri"/>
                        </a:rPr>
                        <a:t>94%</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169761">
                <a:tc>
                  <a:txBody>
                    <a:bodyPr/>
                    <a:lstStyle/>
                    <a:p>
                      <a:pPr algn="ctr" fontAlgn="t"/>
                      <a:r>
                        <a:rPr lang="en-US" sz="1100" b="0" i="0" u="none" strike="noStrike" dirty="0">
                          <a:solidFill>
                            <a:srgbClr val="000000"/>
                          </a:solidFill>
                          <a:latin typeface="Calibri"/>
                        </a:rPr>
                        <a:t>CHC OTC</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15</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20%</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40%</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r h="169761">
                <a:tc>
                  <a:txBody>
                    <a:bodyPr/>
                    <a:lstStyle/>
                    <a:p>
                      <a:pPr algn="ctr" fontAlgn="t"/>
                      <a:r>
                        <a:rPr lang="en-US" sz="1100" b="0" i="0" u="none" strike="noStrike" dirty="0">
                          <a:solidFill>
                            <a:srgbClr val="000000"/>
                          </a:solidFill>
                          <a:latin typeface="Calibri"/>
                        </a:rPr>
                        <a:t>Mass Therapy</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15%</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FF0000"/>
                          </a:solidFill>
                          <a:latin typeface="Calibri"/>
                        </a:rPr>
                        <a:t>38%</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15%</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69%</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9"/>
                  </a:ext>
                </a:extLst>
              </a:tr>
              <a:tr h="169761">
                <a:tc>
                  <a:txBody>
                    <a:bodyPr/>
                    <a:lstStyle/>
                    <a:p>
                      <a:pPr algn="ctr" fontAlgn="t"/>
                      <a:r>
                        <a:rPr lang="en-US" sz="1100" b="0" i="0" u="none" strike="noStrike" dirty="0">
                          <a:solidFill>
                            <a:srgbClr val="000000"/>
                          </a:solidFill>
                          <a:latin typeface="Calibri"/>
                        </a:rPr>
                        <a:t>CNS</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10</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20%</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20%</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20%</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60%</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0"/>
                  </a:ext>
                </a:extLst>
              </a:tr>
              <a:tr h="195223">
                <a:tc>
                  <a:txBody>
                    <a:bodyPr/>
                    <a:lstStyle/>
                    <a:p>
                      <a:pPr algn="ctr" fontAlgn="t"/>
                      <a:r>
                        <a:rPr lang="en-US" sz="1100" b="0" i="0" u="none" strike="noStrike" dirty="0">
                          <a:solidFill>
                            <a:srgbClr val="000000"/>
                          </a:solidFill>
                          <a:latin typeface="Calibri"/>
                        </a:rPr>
                        <a:t>Super Specialty</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43%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29%</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14%</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FF0000"/>
                          </a:solidFill>
                          <a:latin typeface="Calibri"/>
                        </a:rPr>
                        <a:t>86%</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1"/>
                  </a:ext>
                </a:extLst>
              </a:tr>
              <a:tr h="169761">
                <a:tc>
                  <a:txBody>
                    <a:bodyPr/>
                    <a:lstStyle/>
                    <a:p>
                      <a:pPr algn="ctr" fontAlgn="t"/>
                      <a:r>
                        <a:rPr lang="en-US" sz="1100" b="0" i="0" u="none" strike="noStrike" dirty="0">
                          <a:solidFill>
                            <a:srgbClr val="000000"/>
                          </a:solidFill>
                          <a:latin typeface="Calibri"/>
                        </a:rPr>
                        <a:t>Institution Business</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FF0000"/>
                          </a:solidFill>
                          <a:latin typeface="Calibri"/>
                        </a:rPr>
                        <a:t>67%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33%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dirty="0">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100%</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2"/>
                  </a:ext>
                </a:extLst>
              </a:tr>
              <a:tr h="169761">
                <a:tc>
                  <a:txBody>
                    <a:bodyPr/>
                    <a:lstStyle/>
                    <a:p>
                      <a:pPr algn="ctr" fontAlgn="b"/>
                      <a:r>
                        <a:rPr lang="en-US" sz="1100" b="0" i="0" u="none" strike="noStrike" dirty="0">
                          <a:solidFill>
                            <a:srgbClr val="000000"/>
                          </a:solidFill>
                          <a:latin typeface="Calibri"/>
                        </a:rPr>
                        <a:t>Interview</a:t>
                      </a:r>
                      <a:r>
                        <a:rPr lang="en-US" sz="1100" b="0" i="0" u="none" strike="noStrike" baseline="0" dirty="0">
                          <a:solidFill>
                            <a:srgbClr val="000000"/>
                          </a:solidFill>
                          <a:latin typeface="Calibri"/>
                        </a:rPr>
                        <a:t> Conducted</a:t>
                      </a:r>
                      <a:endParaRPr lang="en-US" sz="1100" b="0" i="0" u="none" strike="noStrike" dirty="0">
                        <a:solidFill>
                          <a:srgbClr val="000000"/>
                        </a:solidFill>
                        <a:latin typeface="Calibri"/>
                      </a:endParaRPr>
                    </a:p>
                  </a:txBody>
                  <a:tcPr marL="0" marR="0" marT="0" marB="0" anchor="ctr">
                    <a:lnL>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rtl="0" fontAlgn="b"/>
                      <a:r>
                        <a:rPr lang="en-US" sz="1100" b="0" i="0" u="none" strike="noStrike" dirty="0">
                          <a:solidFill>
                            <a:srgbClr val="000000"/>
                          </a:solidFill>
                          <a:latin typeface="Calibri"/>
                        </a:rPr>
                        <a:t>279</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107</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44</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40</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marL="0" algn="ctr" defTabSz="914400" rtl="0" eaLnBrk="1" fontAlgn="t" latinLnBrk="0" hangingPunct="1"/>
                      <a:r>
                        <a:rPr lang="en-US" sz="1100" b="0" i="0" u="none" strike="noStrike" kern="1200" dirty="0">
                          <a:solidFill>
                            <a:srgbClr val="000000"/>
                          </a:solidFill>
                          <a:latin typeface="Calibri"/>
                          <a:ea typeface="+mn-ea"/>
                          <a:cs typeface="+mn-cs"/>
                        </a:rPr>
                        <a:t> </a:t>
                      </a:r>
                    </a:p>
                  </a:txBody>
                  <a:tcPr marL="0" marR="0" marT="0" marB="0" anchor="ctr">
                    <a:lnL w="12700" cap="flat" cmpd="sng" algn="ctr">
                      <a:no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extLst>
                  <a:ext uri="{0D108BD9-81ED-4DB2-BD59-A6C34878D82A}">
                    <a16:rowId xmlns:a16="http://schemas.microsoft.com/office/drawing/2014/main" val="10013"/>
                  </a:ext>
                </a:extLst>
              </a:tr>
              <a:tr h="169761">
                <a:tc>
                  <a:txBody>
                    <a:bodyPr/>
                    <a:lstStyle/>
                    <a:p>
                      <a:pPr algn="ctr" fontAlgn="b"/>
                      <a:r>
                        <a:rPr lang="en-US" sz="1100" b="0" i="0" u="none" strike="noStrike" dirty="0">
                          <a:solidFill>
                            <a:srgbClr val="000000"/>
                          </a:solidFill>
                          <a:latin typeface="Calibri"/>
                        </a:rPr>
                        <a:t>Average</a:t>
                      </a:r>
                      <a:r>
                        <a:rPr lang="en-US" sz="1100" b="1" i="0" u="none" strike="noStrike" dirty="0">
                          <a:solidFill>
                            <a:srgbClr val="FFFFFF"/>
                          </a:solidFill>
                          <a:latin typeface="Calibri"/>
                        </a:rPr>
                        <a:t> </a:t>
                      </a:r>
                      <a:endParaRPr lang="en-US" sz="1100" b="0" i="0" u="none" strike="noStrike" dirty="0">
                        <a:solidFill>
                          <a:srgbClr val="000000"/>
                        </a:solidFill>
                        <a:latin typeface="Calibri"/>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rtl="0" fontAlgn="b"/>
                      <a:endParaRPr lang="en-US" sz="1100" b="0" i="0" u="none" strike="noStrike" dirty="0">
                        <a:solidFill>
                          <a:srgbClr val="000000"/>
                        </a:solidFill>
                        <a:latin typeface="Calibri"/>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41%</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19%</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13%</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marL="0" algn="ctr" defTabSz="914400" rtl="0" eaLnBrk="1" fontAlgn="t" latinLnBrk="0" hangingPunct="1"/>
                      <a:r>
                        <a:rPr lang="en-US" sz="1100" b="0" i="0" u="none" strike="noStrike" kern="1200" dirty="0">
                          <a:solidFill>
                            <a:srgbClr val="000000"/>
                          </a:solidFill>
                          <a:latin typeface="Calibri"/>
                          <a:ea typeface="+mn-ea"/>
                          <a:cs typeface="+mn-cs"/>
                        </a:rPr>
                        <a:t> </a:t>
                      </a:r>
                    </a:p>
                  </a:txBody>
                  <a:tcPr marL="0" marR="0" marT="0" marB="0" anchor="ctr">
                    <a:lnL w="12700" cap="flat" cmpd="sng" algn="ctr">
                      <a:no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10014"/>
                  </a:ext>
                </a:extLst>
              </a:tr>
              <a:tr h="169761">
                <a:tc>
                  <a:txBody>
                    <a:bodyPr/>
                    <a:lstStyle/>
                    <a:p>
                      <a:pPr algn="ctr" rtl="0" fontAlgn="t"/>
                      <a:r>
                        <a:rPr lang="en-US" sz="1100" b="0" i="0" u="none" strike="noStrike" dirty="0">
                          <a:solidFill>
                            <a:srgbClr val="000000"/>
                          </a:solidFill>
                          <a:latin typeface="Calibri"/>
                        </a:rPr>
                        <a:t>Mean</a:t>
                      </a:r>
                    </a:p>
                  </a:txBody>
                  <a:tcPr marL="0" marR="0" marT="0" marB="0" anchor="b">
                    <a:lnL>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rtl="0" fontAlgn="t"/>
                      <a:endParaRPr lang="en-US" sz="1100" b="0" i="0" u="none" strike="noStrike" dirty="0">
                        <a:solidFill>
                          <a:srgbClr val="000000"/>
                        </a:solidFill>
                        <a:latin typeface="Calibri"/>
                      </a:endParaRPr>
                    </a:p>
                  </a:txBody>
                  <a:tcPr marL="0" marR="0" marT="0"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6</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5</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5</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ctr"/>
                      <a:r>
                        <a:rPr lang="en-US" sz="1100" b="1" i="0" u="none" strike="noStrike" dirty="0">
                          <a:solidFill>
                            <a:srgbClr val="000000"/>
                          </a:solidFill>
                          <a:latin typeface="Calibri"/>
                        </a:rPr>
                        <a:t> </a:t>
                      </a:r>
                    </a:p>
                  </a:txBody>
                  <a:tcPr marL="0" marR="0" marT="0" marB="0" anchor="b">
                    <a:lnL w="12700" cap="flat" cmpd="sng" algn="ctr">
                      <a:no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10015"/>
                  </a:ext>
                </a:extLst>
              </a:tr>
              <a:tr h="169761">
                <a:tc>
                  <a:txBody>
                    <a:bodyPr/>
                    <a:lstStyle/>
                    <a:p>
                      <a:pPr algn="ctr" fontAlgn="b"/>
                      <a:r>
                        <a:rPr lang="en-US" sz="1100" b="0" i="0" u="none" strike="noStrike" dirty="0">
                          <a:solidFill>
                            <a:srgbClr val="000000"/>
                          </a:solidFill>
                          <a:latin typeface="Calibri"/>
                        </a:rPr>
                        <a:t>Mode</a:t>
                      </a:r>
                    </a:p>
                  </a:txBody>
                  <a:tcPr marL="0" marR="0" marT="0" marB="0" anchor="ctr">
                    <a:lnL>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rtl="0" fontAlgn="b"/>
                      <a:endParaRPr lang="en-US" sz="1100" b="0" i="0" u="none" strike="noStrike">
                        <a:solidFill>
                          <a:srgbClr val="000000"/>
                        </a:solidFill>
                        <a:latin typeface="Calibri"/>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31%</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13%</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21%</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ctr"/>
                      <a:r>
                        <a:rPr lang="en-US" sz="1100" b="1" i="0" u="none" strike="noStrike" dirty="0">
                          <a:solidFill>
                            <a:srgbClr val="000000"/>
                          </a:solidFill>
                          <a:latin typeface="Calibri"/>
                        </a:rPr>
                        <a:t> </a:t>
                      </a:r>
                    </a:p>
                  </a:txBody>
                  <a:tcPr marL="0" marR="0" marT="0" marB="0" anchor="ctr">
                    <a:lnL w="12700" cap="flat" cmpd="sng" algn="ctr">
                      <a:no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10016"/>
                  </a:ext>
                </a:extLst>
              </a:tr>
              <a:tr h="169761">
                <a:tc>
                  <a:txBody>
                    <a:bodyPr/>
                    <a:lstStyle/>
                    <a:p>
                      <a:pPr algn="ctr" fontAlgn="b"/>
                      <a:r>
                        <a:rPr lang="en-US" sz="1100" b="0" i="0" u="none" strike="noStrike" dirty="0">
                          <a:solidFill>
                            <a:srgbClr val="000000"/>
                          </a:solidFill>
                          <a:latin typeface="Calibri"/>
                        </a:rPr>
                        <a:t>Standard Deviation</a:t>
                      </a:r>
                    </a:p>
                  </a:txBody>
                  <a:tcPr marL="0" marR="0" marT="0" marB="0" anchor="ctr">
                    <a:lnL>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schemeClr>
                    </a:solidFill>
                  </a:tcPr>
                </a:tc>
                <a:tc>
                  <a:txBody>
                    <a:bodyPr/>
                    <a:lstStyle/>
                    <a:p>
                      <a:pPr algn="ctr" rtl="0" fontAlgn="b"/>
                      <a:endParaRPr lang="en-US" sz="1100" b="0" i="0" u="none" strike="noStrike">
                        <a:solidFill>
                          <a:srgbClr val="000000"/>
                        </a:solidFill>
                        <a:latin typeface="Calibri"/>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3.021</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2.657</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2.959</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schemeClr>
                    </a:solidFill>
                  </a:tcPr>
                </a:tc>
                <a:tc>
                  <a:txBody>
                    <a:bodyPr/>
                    <a:lstStyle/>
                    <a:p>
                      <a:pPr algn="ctr" fontAlgn="ctr"/>
                      <a:r>
                        <a:rPr lang="en-US" sz="1100" b="1" i="0" u="none" strike="noStrike" dirty="0">
                          <a:solidFill>
                            <a:srgbClr val="000000"/>
                          </a:solidFill>
                          <a:latin typeface="Calibri"/>
                        </a:rPr>
                        <a:t> </a:t>
                      </a:r>
                    </a:p>
                  </a:txBody>
                  <a:tcPr marL="0" marR="0" marT="0" marB="0" anchor="ctr">
                    <a:lnL w="12700" cap="flat" cmpd="sng" algn="ctr">
                      <a:no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lumMod val="75000"/>
                      </a:schemeClr>
                    </a:solidFill>
                  </a:tcPr>
                </a:tc>
                <a:extLst>
                  <a:ext uri="{0D108BD9-81ED-4DB2-BD59-A6C34878D82A}">
                    <a16:rowId xmlns:a16="http://schemas.microsoft.com/office/drawing/2014/main" val="10017"/>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6</a:t>
            </a:fld>
            <a:endParaRPr lang="en-US" dirty="0"/>
          </a:p>
        </p:txBody>
      </p:sp>
      <p:sp>
        <p:nvSpPr>
          <p:cNvPr id="8" name="Text Box 3"/>
          <p:cNvSpPr txBox="1">
            <a:spLocks noChangeArrowheads="1"/>
          </p:cNvSpPr>
          <p:nvPr/>
        </p:nvSpPr>
        <p:spPr bwMode="auto">
          <a:xfrm>
            <a:off x="228600" y="4038600"/>
            <a:ext cx="2362200" cy="2308324"/>
          </a:xfrm>
          <a:prstGeom prst="rect">
            <a:avLst/>
          </a:prstGeom>
          <a:ln>
            <a:headEnd/>
            <a:tailEnd/>
          </a:ln>
        </p:spPr>
        <p:style>
          <a:lnRef idx="2">
            <a:schemeClr val="accent3"/>
          </a:lnRef>
          <a:fillRef idx="1">
            <a:schemeClr val="lt1"/>
          </a:fillRef>
          <a:effectRef idx="0">
            <a:schemeClr val="accent3"/>
          </a:effectRef>
          <a:fontRef idx="minor">
            <a:schemeClr val="dk1"/>
          </a:fontRef>
        </p:style>
        <p:txBody>
          <a:bodyPr wrap="square">
            <a:spAutoFit/>
          </a:bodyPr>
          <a:lstStyle/>
          <a:p>
            <a:pPr>
              <a:buClr>
                <a:srgbClr val="C00000"/>
              </a:buClr>
            </a:pPr>
            <a:r>
              <a:rPr lang="en-US" sz="1200" dirty="0">
                <a:solidFill>
                  <a:srgbClr val="1E4649"/>
                </a:solidFill>
                <a:latin typeface="Calibri" pitchFamily="34" charset="0"/>
                <a:cs typeface="Calibri" pitchFamily="34" charset="0"/>
              </a:rPr>
              <a:t>Bottom  3  Factors for Exits are… .</a:t>
            </a:r>
          </a:p>
          <a:p>
            <a:pPr marL="171450" indent="-171450">
              <a:buClr>
                <a:srgbClr val="C00000"/>
              </a:buClr>
              <a:buFont typeface="Arial"/>
              <a:buChar char="•"/>
            </a:pPr>
            <a:r>
              <a:rPr lang="en-US" sz="1200" dirty="0">
                <a:solidFill>
                  <a:srgbClr val="1E4649"/>
                </a:solidFill>
                <a:latin typeface="Calibri" pitchFamily="34" charset="0"/>
                <a:cs typeface="Calibri" pitchFamily="34" charset="0"/>
              </a:rPr>
              <a:t>Personal Reasons ( 12% )</a:t>
            </a:r>
          </a:p>
          <a:p>
            <a:pPr marL="171450" indent="-171450">
              <a:buClr>
                <a:srgbClr val="C00000"/>
              </a:buClr>
              <a:buFont typeface="Arial"/>
              <a:buChar char="•"/>
            </a:pPr>
            <a:r>
              <a:rPr lang="en-US" sz="1200" dirty="0">
                <a:solidFill>
                  <a:srgbClr val="1E4649"/>
                </a:solidFill>
                <a:latin typeface="Calibri" pitchFamily="34" charset="0"/>
                <a:cs typeface="Calibri" pitchFamily="34" charset="0"/>
              </a:rPr>
              <a:t>Change of career ( 13%)</a:t>
            </a:r>
          </a:p>
          <a:p>
            <a:pPr marL="171450" indent="-171450">
              <a:buClr>
                <a:srgbClr val="C00000"/>
              </a:buClr>
              <a:buFont typeface="Arial"/>
              <a:buChar char="•"/>
            </a:pPr>
            <a:r>
              <a:rPr lang="en-US" sz="1200" dirty="0">
                <a:solidFill>
                  <a:srgbClr val="1E4649"/>
                </a:solidFill>
                <a:latin typeface="Calibri" pitchFamily="34" charset="0"/>
                <a:cs typeface="Calibri" pitchFamily="34" charset="0"/>
              </a:rPr>
              <a:t>Change of Location (6%) </a:t>
            </a:r>
          </a:p>
          <a:p>
            <a:pPr marL="171450" indent="-171450">
              <a:buClr>
                <a:srgbClr val="C00000"/>
              </a:buClr>
            </a:pPr>
            <a:endParaRPr lang="en-US" sz="1200" dirty="0">
              <a:solidFill>
                <a:srgbClr val="1E4649"/>
              </a:solidFill>
              <a:latin typeface="Calibri" pitchFamily="34" charset="0"/>
              <a:cs typeface="Calibri" pitchFamily="34" charset="0"/>
            </a:endParaRPr>
          </a:p>
          <a:p>
            <a:pPr marL="171450" indent="-171450">
              <a:buClr>
                <a:srgbClr val="C00000"/>
              </a:buClr>
              <a:buFont typeface="Wingdings" pitchFamily="2" charset="2"/>
              <a:buChar char="Ø"/>
            </a:pPr>
            <a:r>
              <a:rPr lang="en-US" sz="1200" dirty="0">
                <a:solidFill>
                  <a:srgbClr val="1E4649"/>
                </a:solidFill>
                <a:latin typeface="Calibri" pitchFamily="34" charset="0"/>
                <a:cs typeface="Calibri" pitchFamily="34" charset="0"/>
              </a:rPr>
              <a:t>Attrition in CHC OTC is most impacted by the bottom  factors</a:t>
            </a:r>
          </a:p>
          <a:p>
            <a:pPr marL="171450" indent="-171450">
              <a:buClr>
                <a:srgbClr val="C00000"/>
              </a:buClr>
              <a:buFont typeface="Wingdings" pitchFamily="2" charset="2"/>
              <a:buChar char="Ø"/>
            </a:pPr>
            <a:endParaRPr lang="en-US" sz="1200" dirty="0">
              <a:solidFill>
                <a:srgbClr val="1E4649"/>
              </a:solidFill>
              <a:latin typeface="Calibri" pitchFamily="34" charset="0"/>
              <a:cs typeface="Calibri" pitchFamily="34" charset="0"/>
            </a:endParaRPr>
          </a:p>
          <a:p>
            <a:pPr marL="171450" indent="-171450">
              <a:buClr>
                <a:srgbClr val="C00000"/>
              </a:buClr>
              <a:buFont typeface="Wingdings" pitchFamily="2" charset="2"/>
              <a:buChar char="Ø"/>
            </a:pPr>
            <a:r>
              <a:rPr lang="en-US" sz="1200" dirty="0">
                <a:solidFill>
                  <a:srgbClr val="1E4649"/>
                </a:solidFill>
                <a:latin typeface="Calibri" pitchFamily="34" charset="0"/>
                <a:cs typeface="Calibri" pitchFamily="34" charset="0"/>
              </a:rPr>
              <a:t> Low empathy towards peoples personal needs/ willingness to accommodate personal exigencies are key reasons</a:t>
            </a:r>
          </a:p>
        </p:txBody>
      </p:sp>
      <p:graphicFrame>
        <p:nvGraphicFramePr>
          <p:cNvPr id="9" name="Chart 8"/>
          <p:cNvGraphicFramePr/>
          <p:nvPr/>
        </p:nvGraphicFramePr>
        <p:xfrm>
          <a:off x="0" y="1524000"/>
          <a:ext cx="2895600" cy="2362200"/>
        </p:xfrm>
        <a:graphic>
          <a:graphicData uri="http://schemas.openxmlformats.org/drawingml/2006/chart">
            <c:chart xmlns:c="http://schemas.openxmlformats.org/drawingml/2006/chart" xmlns:r="http://schemas.openxmlformats.org/officeDocument/2006/relationships" r:id="rId2"/>
          </a:graphicData>
        </a:graphic>
      </p:graphicFrame>
      <p:sp>
        <p:nvSpPr>
          <p:cNvPr id="12" name="Rectangle 11"/>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3" name="Rectangle 2"/>
          <p:cNvSpPr txBox="1">
            <a:spLocks noChangeArrowheads="1"/>
          </p:cNvSpPr>
          <p:nvPr/>
        </p:nvSpPr>
        <p:spPr bwMode="auto">
          <a:xfrm>
            <a:off x="0" y="228600"/>
            <a:ext cx="8839200" cy="9906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lgn="ctr" eaLnBrk="0" hangingPunct="0">
              <a:defRPr/>
            </a:pPr>
            <a:r>
              <a:rPr lang="en-US" sz="1500" dirty="0">
                <a:solidFill>
                  <a:srgbClr val="1E4649"/>
                </a:solidFill>
                <a:latin typeface="Calibri" pitchFamily="34" charset="0"/>
              </a:rPr>
              <a:t>The bottom three factors too are responsible for  30% of attrition. These are  lower hanging issues and easier to manage. Primary cause is low empathy towards employees personal needs &amp; exigencies, that results in employees changing jobs – as reflected in “change of location” / “career” / personal reasons</a:t>
            </a:r>
          </a:p>
        </p:txBody>
      </p:sp>
      <p:sp>
        <p:nvSpPr>
          <p:cNvPr id="17" name="TextBox 16"/>
          <p:cNvSpPr txBox="1"/>
          <p:nvPr/>
        </p:nvSpPr>
        <p:spPr>
          <a:xfrm>
            <a:off x="2819400" y="5070902"/>
            <a:ext cx="5943600" cy="415498"/>
          </a:xfrm>
          <a:prstGeom prst="rect">
            <a:avLst/>
          </a:prstGeom>
          <a:noFill/>
        </p:spPr>
        <p:txBody>
          <a:bodyPr wrap="square" rtlCol="0">
            <a:spAutoFit/>
          </a:bodyPr>
          <a:lstStyle/>
          <a:p>
            <a:r>
              <a:rPr lang="en-US" sz="1050" i="1" dirty="0">
                <a:solidFill>
                  <a:srgbClr val="FF0000"/>
                </a:solidFill>
                <a:latin typeface="Calibri" pitchFamily="34" charset="0"/>
                <a:cs typeface="Calibri" pitchFamily="34" charset="0"/>
              </a:rPr>
              <a:t>* "Change of Career, Change of Location &amp; Personal Reason" these are standing parity on mean score. No differences among them.</a:t>
            </a:r>
          </a:p>
        </p:txBody>
      </p:sp>
      <p:graphicFrame>
        <p:nvGraphicFramePr>
          <p:cNvPr id="19" name="Table 18"/>
          <p:cNvGraphicFramePr>
            <a:graphicFrameLocks noGrp="1"/>
          </p:cNvGraphicFramePr>
          <p:nvPr/>
        </p:nvGraphicFramePr>
        <p:xfrm>
          <a:off x="2895600" y="1676401"/>
          <a:ext cx="5845174" cy="3372142"/>
        </p:xfrm>
        <a:graphic>
          <a:graphicData uri="http://schemas.openxmlformats.org/drawingml/2006/table">
            <a:tbl>
              <a:tblPr/>
              <a:tblGrid>
                <a:gridCol w="1524000">
                  <a:extLst>
                    <a:ext uri="{9D8B030D-6E8A-4147-A177-3AD203B41FA5}">
                      <a16:colId xmlns:a16="http://schemas.microsoft.com/office/drawing/2014/main" val="20000"/>
                    </a:ext>
                  </a:extLst>
                </a:gridCol>
                <a:gridCol w="533400">
                  <a:extLst>
                    <a:ext uri="{9D8B030D-6E8A-4147-A177-3AD203B41FA5}">
                      <a16:colId xmlns:a16="http://schemas.microsoft.com/office/drawing/2014/main" val="20001"/>
                    </a:ext>
                  </a:extLst>
                </a:gridCol>
                <a:gridCol w="990600">
                  <a:extLst>
                    <a:ext uri="{9D8B030D-6E8A-4147-A177-3AD203B41FA5}">
                      <a16:colId xmlns:a16="http://schemas.microsoft.com/office/drawing/2014/main" val="20002"/>
                    </a:ext>
                  </a:extLst>
                </a:gridCol>
                <a:gridCol w="1044575">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609599">
                  <a:extLst>
                    <a:ext uri="{9D8B030D-6E8A-4147-A177-3AD203B41FA5}">
                      <a16:colId xmlns:a16="http://schemas.microsoft.com/office/drawing/2014/main" val="20005"/>
                    </a:ext>
                  </a:extLst>
                </a:gridCol>
              </a:tblGrid>
              <a:tr h="317177">
                <a:tc>
                  <a:txBody>
                    <a:bodyPr/>
                    <a:lstStyle/>
                    <a:p>
                      <a:pPr algn="ctr" rtl="0" fontAlgn="ctr"/>
                      <a:r>
                        <a:rPr lang="en-US" sz="1100" b="1" i="0" u="none" strike="noStrike" dirty="0">
                          <a:solidFill>
                            <a:srgbClr val="000000"/>
                          </a:solidFill>
                          <a:latin typeface="Calibri"/>
                        </a:rPr>
                        <a:t>Business Unit </a:t>
                      </a:r>
                    </a:p>
                  </a:txBody>
                  <a:tcPr marL="0" marR="0" marT="0" marB="0" anchor="ctr">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137996"/>
                      </a:solidFill>
                      <a:prstDash val="solid"/>
                      <a:round/>
                      <a:headEnd type="none" w="med" len="med"/>
                      <a:tailEnd type="none" w="med" len="med"/>
                    </a:lnB>
                    <a:solidFill>
                      <a:srgbClr val="9FE3E1"/>
                    </a:solidFill>
                  </a:tcPr>
                </a:tc>
                <a:tc>
                  <a:txBody>
                    <a:bodyPr/>
                    <a:lstStyle/>
                    <a:p>
                      <a:pPr algn="ctr" rtl="0" fontAlgn="b"/>
                      <a:r>
                        <a:rPr lang="en-US" sz="1100" b="0" i="0" u="none" strike="noStrike" dirty="0">
                          <a:solidFill>
                            <a:srgbClr val="000000"/>
                          </a:solidFill>
                          <a:latin typeface="Calibri"/>
                        </a:rPr>
                        <a:t>Exits</a:t>
                      </a:r>
                    </a:p>
                  </a:txBody>
                  <a:tcPr marL="0" marR="0" marT="0" marB="0" anchor="b">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137996"/>
                      </a:solidFill>
                      <a:prstDash val="solid"/>
                      <a:round/>
                      <a:headEnd type="none" w="med" len="med"/>
                      <a:tailEnd type="none" w="med" len="med"/>
                    </a:lnB>
                    <a:solidFill>
                      <a:srgbClr val="9FE3E1"/>
                    </a:solidFill>
                  </a:tcPr>
                </a:tc>
                <a:tc>
                  <a:txBody>
                    <a:bodyPr/>
                    <a:lstStyle/>
                    <a:p>
                      <a:pPr algn="ctr" rtl="0" fontAlgn="b"/>
                      <a:r>
                        <a:rPr lang="en-US" sz="1100" b="0" i="0" u="none" strike="noStrike" dirty="0">
                          <a:solidFill>
                            <a:srgbClr val="000000"/>
                          </a:solidFill>
                          <a:latin typeface="Calibri"/>
                        </a:rPr>
                        <a:t>Personal Reasons</a:t>
                      </a:r>
                      <a:r>
                        <a:rPr lang="en-US" sz="1100" b="0" i="0" u="none" strike="noStrike" dirty="0">
                          <a:solidFill>
                            <a:srgbClr val="FFFFFF"/>
                          </a:solidFill>
                          <a:latin typeface="Calibri"/>
                        </a:rPr>
                        <a:t> </a:t>
                      </a:r>
                      <a:endParaRPr lang="en-US" sz="1100" b="0" i="0" u="none" strike="noStrike" dirty="0">
                        <a:solidFill>
                          <a:srgbClr val="000000"/>
                        </a:solidFill>
                        <a:latin typeface="Calibri"/>
                      </a:endParaRPr>
                    </a:p>
                  </a:txBody>
                  <a:tcPr marL="0" marR="0" marT="0" marB="0" anchor="b">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137996"/>
                      </a:solidFill>
                      <a:prstDash val="solid"/>
                      <a:round/>
                      <a:headEnd type="none" w="med" len="med"/>
                      <a:tailEnd type="none" w="med" len="med"/>
                    </a:lnB>
                    <a:solidFill>
                      <a:srgbClr val="9FE3E1"/>
                    </a:solidFill>
                  </a:tcPr>
                </a:tc>
                <a:tc>
                  <a:txBody>
                    <a:bodyPr/>
                    <a:lstStyle/>
                    <a:p>
                      <a:pPr algn="ctr" rtl="0" fontAlgn="b"/>
                      <a:r>
                        <a:rPr lang="en-US" sz="1100" b="0" i="0" u="none" strike="noStrike" dirty="0">
                          <a:solidFill>
                            <a:srgbClr val="000000"/>
                          </a:solidFill>
                          <a:latin typeface="Calibri"/>
                        </a:rPr>
                        <a:t>Change of Career</a:t>
                      </a:r>
                      <a:r>
                        <a:rPr lang="en-US" sz="1100" b="0" i="0" u="none" strike="noStrike" dirty="0">
                          <a:solidFill>
                            <a:srgbClr val="FFFFFF"/>
                          </a:solidFill>
                          <a:latin typeface="Calibri"/>
                        </a:rPr>
                        <a:t> </a:t>
                      </a:r>
                      <a:endParaRPr lang="en-US" sz="1100" b="0" i="0" u="none" strike="noStrike" dirty="0">
                        <a:solidFill>
                          <a:srgbClr val="000000"/>
                        </a:solidFill>
                        <a:latin typeface="Calibri"/>
                      </a:endParaRPr>
                    </a:p>
                  </a:txBody>
                  <a:tcPr marL="0" marR="0" marT="0" marB="0" anchor="b">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137996"/>
                      </a:solidFill>
                      <a:prstDash val="solid"/>
                      <a:round/>
                      <a:headEnd type="none" w="med" len="med"/>
                      <a:tailEnd type="none" w="med" len="med"/>
                    </a:lnB>
                    <a:solidFill>
                      <a:srgbClr val="9FE3E1"/>
                    </a:solidFill>
                  </a:tcPr>
                </a:tc>
                <a:tc>
                  <a:txBody>
                    <a:bodyPr/>
                    <a:lstStyle/>
                    <a:p>
                      <a:pPr algn="ctr" rtl="0" fontAlgn="b"/>
                      <a:r>
                        <a:rPr lang="en-US" sz="1100" b="0" i="0" u="none" strike="noStrike" dirty="0">
                          <a:solidFill>
                            <a:srgbClr val="000000"/>
                          </a:solidFill>
                          <a:latin typeface="Calibri"/>
                        </a:rPr>
                        <a:t>Change of Location</a:t>
                      </a:r>
                      <a:r>
                        <a:rPr lang="en-US" sz="1100" b="0" i="0" u="none" strike="noStrike" dirty="0">
                          <a:solidFill>
                            <a:srgbClr val="FFFFFF"/>
                          </a:solidFill>
                          <a:latin typeface="Calibri"/>
                        </a:rPr>
                        <a:t> </a:t>
                      </a:r>
                      <a:endParaRPr lang="en-US" sz="1100" b="0" i="0" u="none" strike="noStrike" dirty="0">
                        <a:solidFill>
                          <a:srgbClr val="000000"/>
                        </a:solidFill>
                        <a:latin typeface="Calibri"/>
                      </a:endParaRPr>
                    </a:p>
                  </a:txBody>
                  <a:tcPr marL="0" marR="0" marT="0" marB="0" anchor="b">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137996"/>
                      </a:solidFill>
                      <a:prstDash val="solid"/>
                      <a:round/>
                      <a:headEnd type="none" w="med" len="med"/>
                      <a:tailEnd type="none" w="med" len="med"/>
                    </a:lnB>
                    <a:solidFill>
                      <a:srgbClr val="9FE3E1"/>
                    </a:solidFill>
                  </a:tcPr>
                </a:tc>
                <a:tc>
                  <a:txBody>
                    <a:bodyPr/>
                    <a:lstStyle/>
                    <a:p>
                      <a:pPr algn="ctr" fontAlgn="ctr"/>
                      <a:r>
                        <a:rPr lang="en-US" sz="1100" b="1" i="0" u="none" strike="noStrike" dirty="0">
                          <a:solidFill>
                            <a:srgbClr val="000000"/>
                          </a:solidFill>
                          <a:latin typeface="Calibri"/>
                        </a:rPr>
                        <a:t>Total</a:t>
                      </a:r>
                    </a:p>
                  </a:txBody>
                  <a:tcPr marL="0" marR="0" marT="0" marB="0" anchor="ctr">
                    <a:lnL w="12700" cap="flat" cmpd="sng" algn="ctr">
                      <a:solidFill>
                        <a:schemeClr val="bg1"/>
                      </a:solidFill>
                      <a:prstDash val="solid"/>
                      <a:round/>
                      <a:headEnd type="none" w="med" len="med"/>
                      <a:tailEnd type="none" w="med" len="med"/>
                    </a:lnL>
                    <a:lnR>
                      <a:noFill/>
                    </a:lnR>
                    <a:lnT>
                      <a:noFill/>
                    </a:lnT>
                    <a:lnB w="6350" cap="flat" cmpd="sng" algn="ctr">
                      <a:solidFill>
                        <a:srgbClr val="137996"/>
                      </a:solidFill>
                      <a:prstDash val="solid"/>
                      <a:round/>
                      <a:headEnd type="none" w="med" len="med"/>
                      <a:tailEnd type="none" w="med" len="med"/>
                    </a:lnB>
                    <a:solidFill>
                      <a:srgbClr val="9FE3E1"/>
                    </a:solidFill>
                  </a:tcPr>
                </a:tc>
                <a:extLst>
                  <a:ext uri="{0D108BD9-81ED-4DB2-BD59-A6C34878D82A}">
                    <a16:rowId xmlns:a16="http://schemas.microsoft.com/office/drawing/2014/main" val="10000"/>
                  </a:ext>
                </a:extLst>
              </a:tr>
              <a:tr h="175956">
                <a:tc>
                  <a:txBody>
                    <a:bodyPr/>
                    <a:lstStyle/>
                    <a:p>
                      <a:pPr algn="ctr" fontAlgn="t"/>
                      <a:r>
                        <a:rPr lang="en-US" sz="1100" b="0" i="0" u="none" strike="noStrike" dirty="0">
                          <a:solidFill>
                            <a:srgbClr val="000000"/>
                          </a:solidFill>
                          <a:latin typeface="Calibri"/>
                        </a:rPr>
                        <a:t>Diabetes</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87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15%</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14%</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36%</a:t>
                      </a:r>
                    </a:p>
                  </a:txBody>
                  <a:tcPr marL="9525" marR="9525" marT="9525" marB="0">
                    <a:lnL w="12700" cap="flat" cmpd="sng" algn="ctr">
                      <a:solidFill>
                        <a:schemeClr val="bg1"/>
                      </a:solidFill>
                      <a:prstDash val="solid"/>
                      <a:round/>
                      <a:headEnd type="none" w="med" len="med"/>
                      <a:tailEnd type="none" w="med" len="med"/>
                    </a:lnL>
                    <a:lnR>
                      <a:noFill/>
                    </a:lnR>
                    <a:lnT w="6350" cap="flat" cmpd="sng" algn="ctr">
                      <a:solidFill>
                        <a:srgbClr val="137996"/>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175956">
                <a:tc>
                  <a:txBody>
                    <a:bodyPr/>
                    <a:lstStyle/>
                    <a:p>
                      <a:pPr algn="ctr" fontAlgn="t"/>
                      <a:r>
                        <a:rPr lang="en-US" sz="1100" b="0" i="0" u="none" strike="noStrike" dirty="0">
                          <a:solidFill>
                            <a:srgbClr val="000000"/>
                          </a:solidFill>
                          <a:latin typeface="Calibri"/>
                        </a:rPr>
                        <a:t>CHC RX</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31</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16%</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6%</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35%</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175956">
                <a:tc>
                  <a:txBody>
                    <a:bodyPr/>
                    <a:lstStyle/>
                    <a:p>
                      <a:pPr algn="ctr" fontAlgn="t"/>
                      <a:r>
                        <a:rPr lang="en-US" sz="1100" b="0" i="0" u="none" strike="noStrike" dirty="0">
                          <a:solidFill>
                            <a:srgbClr val="000000"/>
                          </a:solidFill>
                          <a:latin typeface="Calibri"/>
                        </a:rPr>
                        <a:t>Vaccines</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29</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14%</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28%</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175956">
                <a:tc>
                  <a:txBody>
                    <a:bodyPr/>
                    <a:lstStyle/>
                    <a:p>
                      <a:pPr algn="ctr" fontAlgn="t"/>
                      <a:r>
                        <a:rPr lang="en-US" sz="1100" b="0" i="0" u="none" strike="noStrike" dirty="0">
                          <a:solidFill>
                            <a:srgbClr val="000000"/>
                          </a:solidFill>
                          <a:latin typeface="Calibri"/>
                        </a:rPr>
                        <a:t>IA</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26</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15%</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8%</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23%</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175956">
                <a:tc>
                  <a:txBody>
                    <a:bodyPr/>
                    <a:lstStyle/>
                    <a:p>
                      <a:pPr algn="ctr" fontAlgn="t"/>
                      <a:r>
                        <a:rPr lang="en-US" sz="1100" b="0" i="0" u="none" strike="noStrike" dirty="0">
                          <a:solidFill>
                            <a:srgbClr val="000000"/>
                          </a:solidFill>
                          <a:latin typeface="Calibri"/>
                        </a:rPr>
                        <a:t>Hospital</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22</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dirty="0">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23%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9%</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32%</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175956">
                <a:tc>
                  <a:txBody>
                    <a:bodyPr/>
                    <a:lstStyle/>
                    <a:p>
                      <a:pPr algn="ctr" fontAlgn="t"/>
                      <a:r>
                        <a:rPr lang="en-US" sz="1100" b="0" i="0" u="none" strike="noStrike" dirty="0">
                          <a:solidFill>
                            <a:srgbClr val="000000"/>
                          </a:solidFill>
                          <a:latin typeface="Calibri"/>
                        </a:rPr>
                        <a:t>Cardio</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19</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11%</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21%</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32%</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6"/>
                  </a:ext>
                </a:extLst>
              </a:tr>
              <a:tr h="175956">
                <a:tc>
                  <a:txBody>
                    <a:bodyPr/>
                    <a:lstStyle/>
                    <a:p>
                      <a:pPr algn="ctr" fontAlgn="t"/>
                      <a:r>
                        <a:rPr lang="en-US" sz="1100" b="0" i="0" u="none" strike="noStrike" dirty="0">
                          <a:solidFill>
                            <a:srgbClr val="000000"/>
                          </a:solidFill>
                          <a:latin typeface="Calibri"/>
                        </a:rPr>
                        <a:t>HO</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17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6%</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6%</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175956">
                <a:tc>
                  <a:txBody>
                    <a:bodyPr/>
                    <a:lstStyle/>
                    <a:p>
                      <a:pPr algn="ctr" fontAlgn="t"/>
                      <a:r>
                        <a:rPr lang="en-US" sz="1100" b="0" i="0" u="none" strike="noStrike" dirty="0">
                          <a:solidFill>
                            <a:srgbClr val="000000"/>
                          </a:solidFill>
                          <a:latin typeface="Calibri"/>
                        </a:rPr>
                        <a:t>CHC OTC</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15</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33%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FF0000"/>
                          </a:solidFill>
                          <a:latin typeface="Calibri"/>
                        </a:rPr>
                        <a:t>60%</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r h="175956">
                <a:tc>
                  <a:txBody>
                    <a:bodyPr/>
                    <a:lstStyle/>
                    <a:p>
                      <a:pPr algn="ctr" fontAlgn="t"/>
                      <a:r>
                        <a:rPr lang="en-US" sz="1100" b="0" i="0" u="none" strike="noStrike" dirty="0">
                          <a:solidFill>
                            <a:srgbClr val="000000"/>
                          </a:solidFill>
                          <a:latin typeface="Calibri"/>
                        </a:rPr>
                        <a:t>Mass Therapy</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13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15%</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8%</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8%</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31%</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9"/>
                  </a:ext>
                </a:extLst>
              </a:tr>
              <a:tr h="175956">
                <a:tc>
                  <a:txBody>
                    <a:bodyPr/>
                    <a:lstStyle/>
                    <a:p>
                      <a:pPr algn="ctr" fontAlgn="t"/>
                      <a:r>
                        <a:rPr lang="en-US" sz="1100" b="0" i="0" u="none" strike="noStrike" dirty="0">
                          <a:solidFill>
                            <a:srgbClr val="000000"/>
                          </a:solidFill>
                          <a:latin typeface="Calibri"/>
                        </a:rPr>
                        <a:t>CNS</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10</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30%</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dirty="0">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10%</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40%</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0"/>
                  </a:ext>
                </a:extLst>
              </a:tr>
              <a:tr h="175956">
                <a:tc>
                  <a:txBody>
                    <a:bodyPr/>
                    <a:lstStyle/>
                    <a:p>
                      <a:pPr algn="ctr" fontAlgn="t"/>
                      <a:r>
                        <a:rPr lang="en-US" sz="1100" b="0" i="0" u="none" strike="noStrike" dirty="0">
                          <a:solidFill>
                            <a:srgbClr val="000000"/>
                          </a:solidFill>
                          <a:latin typeface="Calibri"/>
                        </a:rPr>
                        <a:t>Super Specialty</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7</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dirty="0">
                          <a:solidFill>
                            <a:srgbClr val="000000"/>
                          </a:solidFill>
                          <a:latin typeface="Calibri"/>
                        </a:rPr>
                        <a:t>14%</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dirty="0">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14%</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1"/>
                  </a:ext>
                </a:extLst>
              </a:tr>
              <a:tr h="175956">
                <a:tc>
                  <a:txBody>
                    <a:bodyPr/>
                    <a:lstStyle/>
                    <a:p>
                      <a:pPr algn="ctr" fontAlgn="t"/>
                      <a:r>
                        <a:rPr lang="en-US" sz="1100" b="0" i="0" u="none" strike="noStrike" dirty="0">
                          <a:solidFill>
                            <a:srgbClr val="000000"/>
                          </a:solidFill>
                          <a:latin typeface="Calibri"/>
                        </a:rPr>
                        <a:t>Institution Business</a:t>
                      </a:r>
                    </a:p>
                  </a:txBody>
                  <a:tcPr marL="9525" marR="9525" marT="9525" marB="0">
                    <a:lnL w="12700" cap="flat" cmpd="sng" algn="ctr">
                      <a:solidFill>
                        <a:srgbClr val="FFFFFF"/>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0" i="0" u="none" strike="noStrike">
                          <a:solidFill>
                            <a:srgbClr val="000000"/>
                          </a:solidFill>
                          <a:latin typeface="Calibri"/>
                        </a:rPr>
                        <a:t>3</a:t>
                      </a: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dirty="0">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endParaRPr lang="en-US" sz="1100" b="0" i="0" u="none" strike="noStrike" dirty="0">
                        <a:solidFill>
                          <a:srgbClr val="000000"/>
                        </a:solidFill>
                        <a:latin typeface="Calibri"/>
                      </a:endParaRPr>
                    </a:p>
                  </a:txBody>
                  <a:tcPr marL="9525" marR="9525" marT="9525"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en-US" sz="1100" b="1" i="0" u="none" strike="noStrike" dirty="0">
                          <a:solidFill>
                            <a:srgbClr val="000000"/>
                          </a:solidFill>
                          <a:latin typeface="Calibri"/>
                        </a:rPr>
                        <a:t>0%</a:t>
                      </a:r>
                    </a:p>
                  </a:txBody>
                  <a:tcPr marL="9525" marR="9525" marT="9525" marB="0">
                    <a:lnL w="12700" cap="flat" cmpd="sng" algn="ctr">
                      <a:solidFill>
                        <a:schemeClr val="bg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2"/>
                  </a:ext>
                </a:extLst>
              </a:tr>
              <a:tr h="175956">
                <a:tc>
                  <a:txBody>
                    <a:bodyPr/>
                    <a:lstStyle/>
                    <a:p>
                      <a:pPr algn="ctr" fontAlgn="b"/>
                      <a:r>
                        <a:rPr lang="en-US" sz="1100" b="0" i="0" u="none" strike="noStrike" dirty="0">
                          <a:solidFill>
                            <a:srgbClr val="000000"/>
                          </a:solidFill>
                          <a:latin typeface="Calibri"/>
                        </a:rPr>
                        <a:t>Interview</a:t>
                      </a:r>
                      <a:r>
                        <a:rPr lang="en-US" sz="1100" b="0" i="0" u="none" strike="noStrike" baseline="0" dirty="0">
                          <a:solidFill>
                            <a:srgbClr val="000000"/>
                          </a:solidFill>
                          <a:latin typeface="Calibri"/>
                        </a:rPr>
                        <a:t>  Conducted</a:t>
                      </a:r>
                      <a:endParaRPr lang="en-US" sz="1100" b="0" i="0" u="none" strike="noStrike" dirty="0">
                        <a:solidFill>
                          <a:srgbClr val="000000"/>
                        </a:solidFill>
                        <a:latin typeface="Calibri"/>
                      </a:endParaRPr>
                    </a:p>
                  </a:txBody>
                  <a:tcPr marL="0" marR="0" marT="0" marB="0" anchor="b">
                    <a:lnL>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b"/>
                      <a:r>
                        <a:rPr lang="en-US" sz="1100" b="0" i="0" u="none" strike="noStrike" dirty="0">
                          <a:solidFill>
                            <a:srgbClr val="000000"/>
                          </a:solidFill>
                          <a:latin typeface="Calibri"/>
                        </a:rPr>
                        <a:t>279</a:t>
                      </a:r>
                    </a:p>
                  </a:txBody>
                  <a:tcPr marL="0" marR="0" marT="0"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33</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37</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18</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ctr"/>
                      <a:r>
                        <a:rPr lang="en-US" sz="1100" b="1" i="0" u="none" strike="noStrike" dirty="0">
                          <a:solidFill>
                            <a:srgbClr val="000000"/>
                          </a:solidFill>
                          <a:latin typeface="Calibri"/>
                        </a:rPr>
                        <a:t> </a:t>
                      </a:r>
                    </a:p>
                  </a:txBody>
                  <a:tcPr marL="0" marR="0" marT="0" marB="0" anchor="ctr">
                    <a:lnL w="12700" cap="flat" cmpd="sng" algn="ctr">
                      <a:no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extLst>
                  <a:ext uri="{0D108BD9-81ED-4DB2-BD59-A6C34878D82A}">
                    <a16:rowId xmlns:a16="http://schemas.microsoft.com/office/drawing/2014/main" val="10013"/>
                  </a:ext>
                </a:extLst>
              </a:tr>
              <a:tr h="175956">
                <a:tc>
                  <a:txBody>
                    <a:bodyPr/>
                    <a:lstStyle/>
                    <a:p>
                      <a:pPr algn="ctr" rtl="0" fontAlgn="t"/>
                      <a:r>
                        <a:rPr lang="en-US" sz="1100" b="0" i="0" u="none" strike="noStrike" dirty="0">
                          <a:solidFill>
                            <a:srgbClr val="000000"/>
                          </a:solidFill>
                          <a:latin typeface="Calibri"/>
                        </a:rPr>
                        <a:t>Average</a:t>
                      </a:r>
                    </a:p>
                  </a:txBody>
                  <a:tcPr marL="0" marR="0" marT="0" marB="0">
                    <a:lnL>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b"/>
                      <a:endParaRPr lang="en-US" sz="1100" b="0" i="0" u="none" strike="noStrike" dirty="0">
                        <a:solidFill>
                          <a:srgbClr val="000000"/>
                        </a:solidFill>
                        <a:latin typeface="Calibri"/>
                      </a:endParaRPr>
                    </a:p>
                  </a:txBody>
                  <a:tcPr marL="0" marR="0" marT="0"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15%</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16%</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9%</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ctr"/>
                      <a:r>
                        <a:rPr lang="en-US" sz="1100" b="1" i="0" u="none" strike="noStrike" dirty="0">
                          <a:solidFill>
                            <a:srgbClr val="000000"/>
                          </a:solidFill>
                          <a:latin typeface="Calibri"/>
                        </a:rPr>
                        <a:t> </a:t>
                      </a:r>
                    </a:p>
                  </a:txBody>
                  <a:tcPr marL="0" marR="0" marT="0" marB="0" anchor="ctr">
                    <a:lnL w="12700" cap="flat" cmpd="sng" algn="ctr">
                      <a:no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extLst>
                  <a:ext uri="{0D108BD9-81ED-4DB2-BD59-A6C34878D82A}">
                    <a16:rowId xmlns:a16="http://schemas.microsoft.com/office/drawing/2014/main" val="10014"/>
                  </a:ext>
                </a:extLst>
              </a:tr>
              <a:tr h="175956">
                <a:tc>
                  <a:txBody>
                    <a:bodyPr/>
                    <a:lstStyle/>
                    <a:p>
                      <a:pPr algn="ctr" rtl="0" fontAlgn="t"/>
                      <a:r>
                        <a:rPr lang="en-US" sz="1100" b="0" i="0" u="none" strike="noStrike" dirty="0">
                          <a:solidFill>
                            <a:srgbClr val="000000"/>
                          </a:solidFill>
                          <a:latin typeface="Calibri"/>
                        </a:rPr>
                        <a:t>Mean</a:t>
                      </a:r>
                    </a:p>
                  </a:txBody>
                  <a:tcPr marL="0" marR="0" marT="0" marB="0">
                    <a:lnL>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b"/>
                      <a:endParaRPr lang="en-US" sz="1100" b="0" i="0" u="none" strike="noStrike">
                        <a:solidFill>
                          <a:srgbClr val="000000"/>
                        </a:solidFill>
                        <a:latin typeface="Calibri"/>
                      </a:endParaRPr>
                    </a:p>
                  </a:txBody>
                  <a:tcPr marL="0" marR="0" marT="0"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4</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a:solidFill>
                            <a:srgbClr val="000000"/>
                          </a:solidFill>
                          <a:latin typeface="Calibri"/>
                        </a:rPr>
                        <a:t>4</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5</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ctr"/>
                      <a:r>
                        <a:rPr lang="en-US" sz="1100" b="1" i="0" u="none" strike="noStrike" dirty="0">
                          <a:solidFill>
                            <a:srgbClr val="000000"/>
                          </a:solidFill>
                          <a:latin typeface="Calibri"/>
                        </a:rPr>
                        <a:t> </a:t>
                      </a:r>
                    </a:p>
                  </a:txBody>
                  <a:tcPr marL="0" marR="0" marT="0" marB="0" anchor="ctr">
                    <a:lnL w="12700" cap="flat" cmpd="sng" algn="ctr">
                      <a:no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extLst>
                  <a:ext uri="{0D108BD9-81ED-4DB2-BD59-A6C34878D82A}">
                    <a16:rowId xmlns:a16="http://schemas.microsoft.com/office/drawing/2014/main" val="10015"/>
                  </a:ext>
                </a:extLst>
              </a:tr>
              <a:tr h="175956">
                <a:tc>
                  <a:txBody>
                    <a:bodyPr/>
                    <a:lstStyle/>
                    <a:p>
                      <a:pPr algn="ctr" fontAlgn="b"/>
                      <a:r>
                        <a:rPr lang="en-US" sz="1100" b="0" i="0" u="none" strike="noStrike" dirty="0">
                          <a:solidFill>
                            <a:srgbClr val="000000"/>
                          </a:solidFill>
                          <a:latin typeface="Calibri"/>
                        </a:rPr>
                        <a:t>Mode</a:t>
                      </a:r>
                    </a:p>
                  </a:txBody>
                  <a:tcPr marL="0" marR="0" marT="0" marB="0" anchor="b">
                    <a:lnL>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b"/>
                      <a:endParaRPr lang="en-US" sz="1100" b="0" i="0" u="none" strike="noStrike" dirty="0">
                        <a:solidFill>
                          <a:srgbClr val="000000"/>
                        </a:solidFill>
                        <a:latin typeface="Calibri"/>
                      </a:endParaRPr>
                    </a:p>
                  </a:txBody>
                  <a:tcPr marL="0" marR="0" marT="0"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15%</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14%</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7%</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fontAlgn="ctr"/>
                      <a:endParaRPr lang="en-US" sz="1100" b="1" i="0" u="none" strike="noStrike" dirty="0">
                        <a:solidFill>
                          <a:srgbClr val="000000"/>
                        </a:solidFill>
                        <a:latin typeface="Calibri"/>
                      </a:endParaRPr>
                    </a:p>
                  </a:txBody>
                  <a:tcPr marL="0" marR="0" marT="0" marB="0" anchor="ctr">
                    <a:lnL w="12700" cap="flat" cmpd="sng" algn="ctr">
                      <a:no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extLst>
                  <a:ext uri="{0D108BD9-81ED-4DB2-BD59-A6C34878D82A}">
                    <a16:rowId xmlns:a16="http://schemas.microsoft.com/office/drawing/2014/main" val="10016"/>
                  </a:ext>
                </a:extLst>
              </a:tr>
              <a:tr h="220325">
                <a:tc>
                  <a:txBody>
                    <a:bodyPr/>
                    <a:lstStyle/>
                    <a:p>
                      <a:pPr algn="ctr" fontAlgn="b"/>
                      <a:r>
                        <a:rPr lang="en-US" sz="1100" b="0" i="0" u="none" strike="noStrike" dirty="0">
                          <a:solidFill>
                            <a:srgbClr val="000000"/>
                          </a:solidFill>
                          <a:latin typeface="Calibri"/>
                        </a:rPr>
                        <a:t>Standard Deviation</a:t>
                      </a:r>
                    </a:p>
                  </a:txBody>
                  <a:tcPr marL="0" marR="0" marT="0" marB="0" anchor="b">
                    <a:lnL>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schemeClr>
                    </a:solidFill>
                  </a:tcPr>
                </a:tc>
                <a:tc>
                  <a:txBody>
                    <a:bodyPr/>
                    <a:lstStyle/>
                    <a:p>
                      <a:pPr algn="ctr" fontAlgn="b"/>
                      <a:endParaRPr lang="en-US" sz="1100" b="0" i="0" u="none" strike="noStrike" dirty="0">
                        <a:solidFill>
                          <a:srgbClr val="000000"/>
                        </a:solidFill>
                        <a:latin typeface="Calibri"/>
                      </a:endParaRPr>
                    </a:p>
                  </a:txBody>
                  <a:tcPr marL="0" marR="0" marT="0"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2.602</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2.638</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schemeClr>
                    </a:solidFill>
                  </a:tcPr>
                </a:tc>
                <a:tc>
                  <a:txBody>
                    <a:bodyPr/>
                    <a:lstStyle/>
                    <a:p>
                      <a:pPr algn="ctr" fontAlgn="t"/>
                      <a:r>
                        <a:rPr lang="en-US" sz="1100" b="0" i="0" u="none" strike="noStrike" dirty="0">
                          <a:solidFill>
                            <a:srgbClr val="000000"/>
                          </a:solidFill>
                          <a:latin typeface="Calibri"/>
                        </a:rPr>
                        <a:t>2.785</a:t>
                      </a:r>
                    </a:p>
                  </a:txBody>
                  <a:tcPr marL="9525" marR="9525" marT="9525"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schemeClr>
                    </a:solidFill>
                  </a:tcPr>
                </a:tc>
                <a:tc>
                  <a:txBody>
                    <a:bodyPr/>
                    <a:lstStyle/>
                    <a:p>
                      <a:pPr algn="ctr" fontAlgn="ctr"/>
                      <a:r>
                        <a:rPr lang="en-US" sz="1100" b="1" i="0" u="none" strike="noStrike" dirty="0">
                          <a:solidFill>
                            <a:srgbClr val="000000"/>
                          </a:solidFill>
                          <a:latin typeface="Calibri"/>
                        </a:rPr>
                        <a:t> </a:t>
                      </a:r>
                    </a:p>
                  </a:txBody>
                  <a:tcPr marL="0" marR="0" marT="0" marB="0" anchor="ctr">
                    <a:lnL w="12700" cap="flat" cmpd="sng" algn="ctr">
                      <a:no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schemeClr>
                    </a:solidFill>
                  </a:tcPr>
                </a:tc>
                <a:extLst>
                  <a:ext uri="{0D108BD9-81ED-4DB2-BD59-A6C34878D82A}">
                    <a16:rowId xmlns:a16="http://schemas.microsoft.com/office/drawing/2014/main" val="10017"/>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8" name="Chart 37"/>
          <p:cNvGraphicFramePr/>
          <p:nvPr/>
        </p:nvGraphicFramePr>
        <p:xfrm>
          <a:off x="0" y="4038600"/>
          <a:ext cx="4572000" cy="28194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0" name="Chart 39"/>
          <p:cNvGraphicFramePr/>
          <p:nvPr/>
        </p:nvGraphicFramePr>
        <p:xfrm>
          <a:off x="4267200" y="3886200"/>
          <a:ext cx="4572000" cy="2971800"/>
        </p:xfrm>
        <a:graphic>
          <a:graphicData uri="http://schemas.openxmlformats.org/drawingml/2006/chart">
            <c:chart xmlns:c="http://schemas.openxmlformats.org/drawingml/2006/chart" xmlns:r="http://schemas.openxmlformats.org/officeDocument/2006/relationships" r:id="rId4"/>
          </a:graphicData>
        </a:graphic>
      </p:graphicFrame>
      <p:sp>
        <p:nvSpPr>
          <p:cNvPr id="18" name="TextBox 17"/>
          <p:cNvSpPr txBox="1"/>
          <p:nvPr/>
        </p:nvSpPr>
        <p:spPr>
          <a:xfrm>
            <a:off x="2133600" y="5105400"/>
            <a:ext cx="724878" cy="261610"/>
          </a:xfrm>
          <a:prstGeom prst="rect">
            <a:avLst/>
          </a:prstGeom>
          <a:noFill/>
        </p:spPr>
        <p:txBody>
          <a:bodyPr wrap="none" rtlCol="0">
            <a:spAutoFit/>
          </a:bodyPr>
          <a:lstStyle/>
          <a:p>
            <a:r>
              <a:rPr lang="en-US" sz="1100" dirty="0">
                <a:solidFill>
                  <a:schemeClr val="bg1"/>
                </a:solidFill>
                <a:latin typeface="Calibri" pitchFamily="34" charset="0"/>
              </a:rPr>
              <a:t>Factor - 3</a:t>
            </a:r>
          </a:p>
        </p:txBody>
      </p:sp>
      <p:sp>
        <p:nvSpPr>
          <p:cNvPr id="19" name="TextBox 18"/>
          <p:cNvSpPr txBox="1"/>
          <p:nvPr/>
        </p:nvSpPr>
        <p:spPr>
          <a:xfrm>
            <a:off x="1905000" y="4648200"/>
            <a:ext cx="724878" cy="261610"/>
          </a:xfrm>
          <a:prstGeom prst="rect">
            <a:avLst/>
          </a:prstGeom>
          <a:noFill/>
        </p:spPr>
        <p:txBody>
          <a:bodyPr wrap="none" rtlCol="0">
            <a:spAutoFit/>
          </a:bodyPr>
          <a:lstStyle/>
          <a:p>
            <a:r>
              <a:rPr lang="en-US" sz="1100" dirty="0">
                <a:solidFill>
                  <a:schemeClr val="bg1"/>
                </a:solidFill>
                <a:latin typeface="Calibri" pitchFamily="34" charset="0"/>
              </a:rPr>
              <a:t>Factor - 4</a:t>
            </a:r>
          </a:p>
        </p:txBody>
      </p:sp>
      <p:sp>
        <p:nvSpPr>
          <p:cNvPr id="21" name="TextBox 20"/>
          <p:cNvSpPr txBox="1"/>
          <p:nvPr/>
        </p:nvSpPr>
        <p:spPr>
          <a:xfrm>
            <a:off x="6096000" y="5638800"/>
            <a:ext cx="724878" cy="261610"/>
          </a:xfrm>
          <a:prstGeom prst="rect">
            <a:avLst/>
          </a:prstGeom>
          <a:noFill/>
        </p:spPr>
        <p:txBody>
          <a:bodyPr wrap="none" rtlCol="0">
            <a:spAutoFit/>
          </a:bodyPr>
          <a:lstStyle/>
          <a:p>
            <a:r>
              <a:rPr lang="en-US" sz="1100" dirty="0">
                <a:solidFill>
                  <a:schemeClr val="bg1"/>
                </a:solidFill>
                <a:latin typeface="Calibri" pitchFamily="34" charset="0"/>
              </a:rPr>
              <a:t>Factor - 2</a:t>
            </a:r>
          </a:p>
        </p:txBody>
      </p:sp>
      <p:sp>
        <p:nvSpPr>
          <p:cNvPr id="22" name="TextBox 21"/>
          <p:cNvSpPr txBox="1"/>
          <p:nvPr/>
        </p:nvSpPr>
        <p:spPr>
          <a:xfrm>
            <a:off x="6019800" y="5105400"/>
            <a:ext cx="724878" cy="261610"/>
          </a:xfrm>
          <a:prstGeom prst="rect">
            <a:avLst/>
          </a:prstGeom>
          <a:noFill/>
        </p:spPr>
        <p:txBody>
          <a:bodyPr wrap="none" rtlCol="0">
            <a:spAutoFit/>
          </a:bodyPr>
          <a:lstStyle/>
          <a:p>
            <a:r>
              <a:rPr lang="en-US" sz="1100" dirty="0">
                <a:solidFill>
                  <a:schemeClr val="bg1"/>
                </a:solidFill>
                <a:latin typeface="Calibri" pitchFamily="34" charset="0"/>
              </a:rPr>
              <a:t>Factor - 3</a:t>
            </a:r>
          </a:p>
        </p:txBody>
      </p:sp>
      <p:graphicFrame>
        <p:nvGraphicFramePr>
          <p:cNvPr id="25" name="Chart 24"/>
          <p:cNvGraphicFramePr/>
          <p:nvPr/>
        </p:nvGraphicFramePr>
        <p:xfrm>
          <a:off x="304800" y="1600200"/>
          <a:ext cx="3657600" cy="2286000"/>
        </p:xfrm>
        <a:graphic>
          <a:graphicData uri="http://schemas.openxmlformats.org/drawingml/2006/chart">
            <c:chart xmlns:c="http://schemas.openxmlformats.org/drawingml/2006/chart" xmlns:r="http://schemas.openxmlformats.org/officeDocument/2006/relationships" r:id="rId5"/>
          </a:graphicData>
        </a:graphic>
      </p:graphicFrame>
      <p:sp>
        <p:nvSpPr>
          <p:cNvPr id="28" name="TextBox 27"/>
          <p:cNvSpPr txBox="1"/>
          <p:nvPr/>
        </p:nvSpPr>
        <p:spPr>
          <a:xfrm>
            <a:off x="7620000" y="3200400"/>
            <a:ext cx="625492" cy="215444"/>
          </a:xfrm>
          <a:prstGeom prst="rect">
            <a:avLst/>
          </a:prstGeom>
          <a:noFill/>
        </p:spPr>
        <p:txBody>
          <a:bodyPr wrap="none" rtlCol="0">
            <a:spAutoFit/>
          </a:bodyPr>
          <a:lstStyle/>
          <a:p>
            <a:r>
              <a:rPr lang="en-US" sz="800" dirty="0">
                <a:solidFill>
                  <a:schemeClr val="bg1"/>
                </a:solidFill>
              </a:rPr>
              <a:t>Factor - 1</a:t>
            </a:r>
          </a:p>
        </p:txBody>
      </p:sp>
      <p:sp>
        <p:nvSpPr>
          <p:cNvPr id="34" name="TextBox 33"/>
          <p:cNvSpPr txBox="1"/>
          <p:nvPr/>
        </p:nvSpPr>
        <p:spPr>
          <a:xfrm>
            <a:off x="7391400" y="5486400"/>
            <a:ext cx="575799" cy="215444"/>
          </a:xfrm>
          <a:prstGeom prst="rect">
            <a:avLst/>
          </a:prstGeom>
          <a:noFill/>
        </p:spPr>
        <p:txBody>
          <a:bodyPr wrap="none" rtlCol="0">
            <a:spAutoFit/>
          </a:bodyPr>
          <a:lstStyle/>
          <a:p>
            <a:r>
              <a:rPr lang="en-US" sz="800" dirty="0">
                <a:solidFill>
                  <a:schemeClr val="bg1"/>
                </a:solidFill>
                <a:latin typeface="Calibri" pitchFamily="34" charset="0"/>
                <a:cs typeface="Calibri" pitchFamily="34" charset="0"/>
              </a:rPr>
              <a:t>Factor - 1</a:t>
            </a:r>
          </a:p>
        </p:txBody>
      </p:sp>
      <p:sp>
        <p:nvSpPr>
          <p:cNvPr id="36" name="TextBox 35"/>
          <p:cNvSpPr txBox="1"/>
          <p:nvPr/>
        </p:nvSpPr>
        <p:spPr>
          <a:xfrm>
            <a:off x="5791200" y="4495800"/>
            <a:ext cx="724878" cy="261610"/>
          </a:xfrm>
          <a:prstGeom prst="rect">
            <a:avLst/>
          </a:prstGeom>
          <a:noFill/>
        </p:spPr>
        <p:txBody>
          <a:bodyPr wrap="none" rtlCol="0">
            <a:spAutoFit/>
          </a:bodyPr>
          <a:lstStyle/>
          <a:p>
            <a:r>
              <a:rPr lang="en-US" sz="1100" dirty="0">
                <a:solidFill>
                  <a:schemeClr val="bg1"/>
                </a:solidFill>
                <a:latin typeface="Calibri" pitchFamily="34" charset="0"/>
                <a:cs typeface="Calibri" pitchFamily="34" charset="0"/>
              </a:rPr>
              <a:t>Factor - 4</a:t>
            </a:r>
          </a:p>
        </p:txBody>
      </p:sp>
      <p:sp>
        <p:nvSpPr>
          <p:cNvPr id="37" name="TextBox 36"/>
          <p:cNvSpPr txBox="1"/>
          <p:nvPr/>
        </p:nvSpPr>
        <p:spPr>
          <a:xfrm>
            <a:off x="6096000" y="4038600"/>
            <a:ext cx="575799" cy="215444"/>
          </a:xfrm>
          <a:prstGeom prst="rect">
            <a:avLst/>
          </a:prstGeom>
          <a:noFill/>
        </p:spPr>
        <p:txBody>
          <a:bodyPr wrap="none" rtlCol="0">
            <a:spAutoFit/>
          </a:bodyPr>
          <a:lstStyle/>
          <a:p>
            <a:r>
              <a:rPr lang="en-US" sz="800" dirty="0">
                <a:solidFill>
                  <a:schemeClr val="bg1"/>
                </a:solidFill>
                <a:latin typeface="Calibri" pitchFamily="34" charset="0"/>
                <a:cs typeface="Calibri" pitchFamily="34" charset="0"/>
              </a:rPr>
              <a:t>Factor - 4</a:t>
            </a:r>
          </a:p>
        </p:txBody>
      </p:sp>
      <p:sp>
        <p:nvSpPr>
          <p:cNvPr id="26" name="Text Box 3"/>
          <p:cNvSpPr txBox="1">
            <a:spLocks noChangeArrowheads="1"/>
          </p:cNvSpPr>
          <p:nvPr/>
        </p:nvSpPr>
        <p:spPr bwMode="auto">
          <a:xfrm>
            <a:off x="3886200" y="1371600"/>
            <a:ext cx="4800600" cy="3046987"/>
          </a:xfrm>
          <a:prstGeom prst="rect">
            <a:avLst/>
          </a:prstGeom>
          <a:ln>
            <a:headEnd/>
            <a:tailEnd/>
          </a:ln>
        </p:spPr>
        <p:style>
          <a:lnRef idx="2">
            <a:schemeClr val="accent3"/>
          </a:lnRef>
          <a:fillRef idx="1">
            <a:schemeClr val="lt1"/>
          </a:fillRef>
          <a:effectRef idx="0">
            <a:schemeClr val="accent3"/>
          </a:effectRef>
          <a:fontRef idx="minor">
            <a:schemeClr val="dk1"/>
          </a:fontRef>
        </p:style>
        <p:txBody>
          <a:bodyPr wrap="square">
            <a:spAutoFit/>
          </a:bodyPr>
          <a:lstStyle/>
          <a:p>
            <a:pPr>
              <a:buClr>
                <a:srgbClr val="C00000"/>
              </a:buClr>
            </a:pPr>
            <a:r>
              <a:rPr lang="en-US" sz="1200" dirty="0">
                <a:solidFill>
                  <a:srgbClr val="1E4649"/>
                </a:solidFill>
                <a:latin typeface="Calibri" pitchFamily="34" charset="0"/>
                <a:cs typeface="Calibri" pitchFamily="34" charset="0"/>
              </a:rPr>
              <a:t>Push is the sum total of all the issue/ reasons / influence that are unique, specific to the client and internal to organization </a:t>
            </a:r>
          </a:p>
          <a:p>
            <a:pPr>
              <a:buClr>
                <a:srgbClr val="C00000"/>
              </a:buClr>
            </a:pPr>
            <a:endParaRPr lang="en-US" sz="1200" dirty="0">
              <a:solidFill>
                <a:srgbClr val="1E4649"/>
              </a:solidFill>
              <a:latin typeface="Calibri" pitchFamily="34" charset="0"/>
              <a:cs typeface="Calibri" pitchFamily="34" charset="0"/>
            </a:endParaRPr>
          </a:p>
          <a:p>
            <a:pPr>
              <a:buClr>
                <a:srgbClr val="C00000"/>
              </a:buClr>
            </a:pPr>
            <a:r>
              <a:rPr lang="en-US" sz="1200" dirty="0">
                <a:solidFill>
                  <a:srgbClr val="1E4649"/>
                </a:solidFill>
                <a:latin typeface="Calibri" pitchFamily="34" charset="0"/>
                <a:cs typeface="Calibri" pitchFamily="34" charset="0"/>
              </a:rPr>
              <a:t>“Pull” on the other hand  are summation of factors that market / industry business driven. These are external gains / advantages that attract employees to exit the client organization</a:t>
            </a:r>
          </a:p>
          <a:p>
            <a:pPr>
              <a:buClr>
                <a:srgbClr val="C00000"/>
              </a:buClr>
            </a:pPr>
            <a:endParaRPr lang="en-US" sz="1200" dirty="0">
              <a:solidFill>
                <a:srgbClr val="1E4649"/>
              </a:solidFill>
              <a:latin typeface="Calibri" pitchFamily="34" charset="0"/>
              <a:cs typeface="Calibri" pitchFamily="34" charset="0"/>
            </a:endParaRPr>
          </a:p>
          <a:p>
            <a:pPr>
              <a:buClr>
                <a:srgbClr val="C00000"/>
              </a:buClr>
            </a:pPr>
            <a:r>
              <a:rPr lang="en-US" sz="1200" dirty="0">
                <a:solidFill>
                  <a:srgbClr val="1E4649"/>
                </a:solidFill>
                <a:latin typeface="Calibri" pitchFamily="34" charset="0"/>
                <a:cs typeface="Calibri" pitchFamily="34" charset="0"/>
              </a:rPr>
              <a:t>Push – Pull comparison gives a view of the predominant trigger and directs the need for action. In this case both Push and Pull are triggering attrition</a:t>
            </a:r>
          </a:p>
          <a:p>
            <a:pPr>
              <a:buClr>
                <a:srgbClr val="C00000"/>
              </a:buClr>
            </a:pPr>
            <a:endParaRPr lang="en-US" sz="1200" dirty="0">
              <a:solidFill>
                <a:srgbClr val="1E4649"/>
              </a:solidFill>
              <a:latin typeface="Calibri" pitchFamily="34" charset="0"/>
              <a:cs typeface="Calibri" pitchFamily="34" charset="0"/>
            </a:endParaRPr>
          </a:p>
          <a:p>
            <a:pPr>
              <a:buClr>
                <a:srgbClr val="C00000"/>
              </a:buClr>
            </a:pPr>
            <a:r>
              <a:rPr lang="en-US" sz="1200" dirty="0">
                <a:solidFill>
                  <a:srgbClr val="1E4649"/>
                </a:solidFill>
                <a:latin typeface="Calibri" pitchFamily="34" charset="0"/>
                <a:cs typeface="Calibri" pitchFamily="34" charset="0"/>
              </a:rPr>
              <a:t>Pull Factors 2,3,4 are indirectly  linked to internal provisions not being available internally. Employees seeking  favourable postings or change of function or leave of absence are attracted to jobs that accommodate those needs more willingly</a:t>
            </a:r>
          </a:p>
          <a:p>
            <a:pPr>
              <a:buClr>
                <a:srgbClr val="C00000"/>
              </a:buClr>
            </a:pPr>
            <a:endParaRPr lang="en-US" sz="1200" dirty="0">
              <a:solidFill>
                <a:srgbClr val="1E4649"/>
              </a:solidFill>
              <a:latin typeface="Calibri" pitchFamily="34" charset="0"/>
              <a:cs typeface="Calibri" pitchFamily="34" charset="0"/>
            </a:endParaRPr>
          </a:p>
        </p:txBody>
      </p:sp>
      <p:sp>
        <p:nvSpPr>
          <p:cNvPr id="39" name="TextBox 38"/>
          <p:cNvSpPr txBox="1"/>
          <p:nvPr/>
        </p:nvSpPr>
        <p:spPr>
          <a:xfrm>
            <a:off x="7299308" y="3276600"/>
            <a:ext cx="575799" cy="215444"/>
          </a:xfrm>
          <a:prstGeom prst="rect">
            <a:avLst/>
          </a:prstGeom>
          <a:noFill/>
        </p:spPr>
        <p:txBody>
          <a:bodyPr wrap="none" rtlCol="0">
            <a:spAutoFit/>
          </a:bodyPr>
          <a:lstStyle/>
          <a:p>
            <a:r>
              <a:rPr lang="en-US" sz="800" dirty="0">
                <a:solidFill>
                  <a:schemeClr val="bg1"/>
                </a:solidFill>
                <a:latin typeface="Calibri" pitchFamily="34" charset="0"/>
                <a:cs typeface="Calibri" pitchFamily="34" charset="0"/>
              </a:rPr>
              <a:t>Factor - 1</a:t>
            </a:r>
          </a:p>
        </p:txBody>
      </p:sp>
      <p:sp>
        <p:nvSpPr>
          <p:cNvPr id="43" name="TextBox 42"/>
          <p:cNvSpPr txBox="1"/>
          <p:nvPr/>
        </p:nvSpPr>
        <p:spPr>
          <a:xfrm>
            <a:off x="7501401" y="3276600"/>
            <a:ext cx="575799" cy="215444"/>
          </a:xfrm>
          <a:prstGeom prst="rect">
            <a:avLst/>
          </a:prstGeom>
          <a:noFill/>
        </p:spPr>
        <p:txBody>
          <a:bodyPr wrap="none" rtlCol="0">
            <a:spAutoFit/>
          </a:bodyPr>
          <a:lstStyle/>
          <a:p>
            <a:r>
              <a:rPr lang="en-US" sz="800" dirty="0">
                <a:solidFill>
                  <a:schemeClr val="bg1"/>
                </a:solidFill>
                <a:latin typeface="Calibri" pitchFamily="34" charset="0"/>
                <a:cs typeface="Calibri" pitchFamily="34" charset="0"/>
              </a:rPr>
              <a:t>Factor - 1</a:t>
            </a:r>
          </a:p>
        </p:txBody>
      </p:sp>
      <p:sp>
        <p:nvSpPr>
          <p:cNvPr id="49" name="TextBox 48"/>
          <p:cNvSpPr txBox="1"/>
          <p:nvPr/>
        </p:nvSpPr>
        <p:spPr>
          <a:xfrm>
            <a:off x="7543800" y="5791200"/>
            <a:ext cx="575799" cy="215444"/>
          </a:xfrm>
          <a:prstGeom prst="rect">
            <a:avLst/>
          </a:prstGeom>
          <a:noFill/>
        </p:spPr>
        <p:txBody>
          <a:bodyPr wrap="none" rtlCol="0">
            <a:spAutoFit/>
          </a:bodyPr>
          <a:lstStyle/>
          <a:p>
            <a:r>
              <a:rPr lang="en-US" sz="800" dirty="0">
                <a:solidFill>
                  <a:schemeClr val="bg1"/>
                </a:solidFill>
                <a:latin typeface="Calibri" pitchFamily="34" charset="0"/>
                <a:cs typeface="Calibri" pitchFamily="34" charset="0"/>
              </a:rPr>
              <a:t>Factor - 1</a:t>
            </a:r>
          </a:p>
        </p:txBody>
      </p:sp>
      <p:sp>
        <p:nvSpPr>
          <p:cNvPr id="50" name="TextBox 49"/>
          <p:cNvSpPr txBox="1"/>
          <p:nvPr/>
        </p:nvSpPr>
        <p:spPr>
          <a:xfrm>
            <a:off x="6858000" y="5181600"/>
            <a:ext cx="575799" cy="215444"/>
          </a:xfrm>
          <a:prstGeom prst="rect">
            <a:avLst/>
          </a:prstGeom>
          <a:noFill/>
        </p:spPr>
        <p:txBody>
          <a:bodyPr wrap="none" rtlCol="0">
            <a:spAutoFit/>
          </a:bodyPr>
          <a:lstStyle/>
          <a:p>
            <a:r>
              <a:rPr lang="en-US" sz="800" dirty="0">
                <a:solidFill>
                  <a:schemeClr val="bg1"/>
                </a:solidFill>
                <a:latin typeface="Calibri" pitchFamily="34" charset="0"/>
                <a:cs typeface="Calibri" pitchFamily="34" charset="0"/>
              </a:rPr>
              <a:t>Factor - 2</a:t>
            </a:r>
          </a:p>
        </p:txBody>
      </p:sp>
      <p:sp>
        <p:nvSpPr>
          <p:cNvPr id="51" name="TextBox 50"/>
          <p:cNvSpPr txBox="1"/>
          <p:nvPr/>
        </p:nvSpPr>
        <p:spPr>
          <a:xfrm>
            <a:off x="6400800" y="4648200"/>
            <a:ext cx="575799" cy="215444"/>
          </a:xfrm>
          <a:prstGeom prst="rect">
            <a:avLst/>
          </a:prstGeom>
          <a:noFill/>
        </p:spPr>
        <p:txBody>
          <a:bodyPr wrap="none" rtlCol="0">
            <a:spAutoFit/>
          </a:bodyPr>
          <a:lstStyle/>
          <a:p>
            <a:r>
              <a:rPr lang="en-US" sz="800" dirty="0">
                <a:solidFill>
                  <a:schemeClr val="bg1"/>
                </a:solidFill>
                <a:latin typeface="Calibri" pitchFamily="34" charset="0"/>
                <a:cs typeface="Calibri" pitchFamily="34" charset="0"/>
              </a:rPr>
              <a:t>Factor - 3</a:t>
            </a:r>
          </a:p>
        </p:txBody>
      </p:sp>
      <p:sp>
        <p:nvSpPr>
          <p:cNvPr id="52" name="TextBox 51"/>
          <p:cNvSpPr txBox="1"/>
          <p:nvPr/>
        </p:nvSpPr>
        <p:spPr>
          <a:xfrm>
            <a:off x="6172200" y="4114800"/>
            <a:ext cx="575799" cy="215444"/>
          </a:xfrm>
          <a:prstGeom prst="rect">
            <a:avLst/>
          </a:prstGeom>
          <a:noFill/>
        </p:spPr>
        <p:txBody>
          <a:bodyPr wrap="none" rtlCol="0">
            <a:spAutoFit/>
          </a:bodyPr>
          <a:lstStyle/>
          <a:p>
            <a:r>
              <a:rPr lang="en-US" sz="800" dirty="0">
                <a:solidFill>
                  <a:schemeClr val="bg1"/>
                </a:solidFill>
                <a:latin typeface="Calibri" pitchFamily="34" charset="0"/>
                <a:cs typeface="Calibri" pitchFamily="34" charset="0"/>
              </a:rPr>
              <a:t>Factor - 4</a:t>
            </a:r>
          </a:p>
        </p:txBody>
      </p:sp>
      <p:sp>
        <p:nvSpPr>
          <p:cNvPr id="47" name="Rectangle 46"/>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53" name="Rectangle 2"/>
          <p:cNvSpPr txBox="1">
            <a:spLocks noChangeArrowheads="1"/>
          </p:cNvSpPr>
          <p:nvPr/>
        </p:nvSpPr>
        <p:spPr bwMode="auto">
          <a:xfrm>
            <a:off x="228600" y="76200"/>
            <a:ext cx="8763000" cy="9906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algn="ctr" eaLnBrk="0" hangingPunct="0">
              <a:defRPr/>
            </a:pPr>
            <a:r>
              <a:rPr lang="en-US" dirty="0">
                <a:solidFill>
                  <a:srgbClr val="CC0000"/>
                </a:solidFill>
                <a:latin typeface="Calibri" pitchFamily="34" charset="0"/>
                <a:ea typeface="ＭＳ Ｐゴシック" charset="0"/>
                <a:cs typeface="Calibri" pitchFamily="34" charset="0"/>
              </a:rPr>
              <a:t>Finding 2</a:t>
            </a:r>
          </a:p>
          <a:p>
            <a:pPr algn="ctr" eaLnBrk="0" hangingPunct="0">
              <a:defRPr/>
            </a:pPr>
            <a:r>
              <a:rPr lang="en-US" sz="1500" dirty="0">
                <a:solidFill>
                  <a:srgbClr val="1E4649"/>
                </a:solidFill>
                <a:latin typeface="Calibri" pitchFamily="34" charset="0"/>
              </a:rPr>
              <a:t>Internal “Push and market “Pull”  are both triggers for exits. </a:t>
            </a:r>
          </a:p>
          <a:p>
            <a:pPr algn="ctr" eaLnBrk="0" hangingPunct="0">
              <a:defRPr/>
            </a:pPr>
            <a:r>
              <a:rPr lang="en-US" sz="1500" dirty="0">
                <a:solidFill>
                  <a:srgbClr val="1E4649"/>
                </a:solidFill>
                <a:latin typeface="Calibri" pitchFamily="34" charset="0"/>
              </a:rPr>
              <a:t>Internal triggers are more within the area of influence.  In this case some “Pull” factors are also indirectly a result of employee expectations not being met internally</a:t>
            </a:r>
          </a:p>
        </p:txBody>
      </p:sp>
      <p:sp>
        <p:nvSpPr>
          <p:cNvPr id="56" name="TextBox 55"/>
          <p:cNvSpPr txBox="1"/>
          <p:nvPr/>
        </p:nvSpPr>
        <p:spPr>
          <a:xfrm>
            <a:off x="7391400" y="3200400"/>
            <a:ext cx="575799" cy="215444"/>
          </a:xfrm>
          <a:prstGeom prst="rect">
            <a:avLst/>
          </a:prstGeom>
          <a:noFill/>
        </p:spPr>
        <p:txBody>
          <a:bodyPr wrap="square" rtlCol="0">
            <a:spAutoFit/>
          </a:bodyPr>
          <a:lstStyle/>
          <a:p>
            <a:r>
              <a:rPr lang="en-US" sz="800" dirty="0">
                <a:solidFill>
                  <a:schemeClr val="bg1"/>
                </a:solidFill>
                <a:latin typeface="Calibri" pitchFamily="34" charset="0"/>
                <a:cs typeface="Calibri" pitchFamily="34" charset="0"/>
              </a:rPr>
              <a:t>Factor - 1</a:t>
            </a:r>
          </a:p>
        </p:txBody>
      </p:sp>
      <p:sp>
        <p:nvSpPr>
          <p:cNvPr id="57" name="TextBox 56"/>
          <p:cNvSpPr txBox="1"/>
          <p:nvPr/>
        </p:nvSpPr>
        <p:spPr>
          <a:xfrm>
            <a:off x="2057400" y="5715000"/>
            <a:ext cx="762000" cy="261610"/>
          </a:xfrm>
          <a:prstGeom prst="rect">
            <a:avLst/>
          </a:prstGeom>
          <a:noFill/>
        </p:spPr>
        <p:txBody>
          <a:bodyPr wrap="square" rtlCol="0">
            <a:spAutoFit/>
          </a:bodyPr>
          <a:lstStyle/>
          <a:p>
            <a:r>
              <a:rPr lang="en-US" sz="1100" dirty="0">
                <a:solidFill>
                  <a:schemeClr val="bg1"/>
                </a:solidFill>
                <a:latin typeface="Calibri" pitchFamily="34" charset="0"/>
                <a:cs typeface="Calibri" pitchFamily="34" charset="0"/>
              </a:rPr>
              <a:t>Factor - 2</a:t>
            </a:r>
          </a:p>
        </p:txBody>
      </p:sp>
      <p:sp>
        <p:nvSpPr>
          <p:cNvPr id="54" name="TextBox 53"/>
          <p:cNvSpPr txBox="1"/>
          <p:nvPr/>
        </p:nvSpPr>
        <p:spPr>
          <a:xfrm>
            <a:off x="6705600" y="5334000"/>
            <a:ext cx="575799" cy="215444"/>
          </a:xfrm>
          <a:prstGeom prst="rect">
            <a:avLst/>
          </a:prstGeom>
          <a:noFill/>
        </p:spPr>
        <p:txBody>
          <a:bodyPr wrap="square" rtlCol="0">
            <a:spAutoFit/>
          </a:bodyPr>
          <a:lstStyle/>
          <a:p>
            <a:r>
              <a:rPr lang="en-US" sz="800" dirty="0">
                <a:solidFill>
                  <a:schemeClr val="bg1"/>
                </a:solidFill>
                <a:latin typeface="Calibri" pitchFamily="34" charset="0"/>
                <a:cs typeface="Calibri" pitchFamily="34" charset="0"/>
              </a:rPr>
              <a:t>Factor - 2</a:t>
            </a:r>
          </a:p>
        </p:txBody>
      </p:sp>
      <p:sp>
        <p:nvSpPr>
          <p:cNvPr id="60" name="TextBox 59"/>
          <p:cNvSpPr txBox="1"/>
          <p:nvPr/>
        </p:nvSpPr>
        <p:spPr>
          <a:xfrm>
            <a:off x="6324600" y="4800600"/>
            <a:ext cx="575799" cy="215444"/>
          </a:xfrm>
          <a:prstGeom prst="rect">
            <a:avLst/>
          </a:prstGeom>
          <a:noFill/>
        </p:spPr>
        <p:txBody>
          <a:bodyPr wrap="square" rtlCol="0">
            <a:spAutoFit/>
          </a:bodyPr>
          <a:lstStyle/>
          <a:p>
            <a:r>
              <a:rPr lang="en-US" sz="800" dirty="0">
                <a:solidFill>
                  <a:schemeClr val="bg1"/>
                </a:solidFill>
                <a:latin typeface="Calibri" pitchFamily="34" charset="0"/>
                <a:cs typeface="Calibri" pitchFamily="34" charset="0"/>
              </a:rPr>
              <a:t>Factor - 3</a:t>
            </a:r>
          </a:p>
        </p:txBody>
      </p:sp>
      <p:sp>
        <p:nvSpPr>
          <p:cNvPr id="62" name="TextBox 61"/>
          <p:cNvSpPr txBox="1"/>
          <p:nvPr/>
        </p:nvSpPr>
        <p:spPr>
          <a:xfrm>
            <a:off x="6248400" y="4267200"/>
            <a:ext cx="575799" cy="215444"/>
          </a:xfrm>
          <a:prstGeom prst="rect">
            <a:avLst/>
          </a:prstGeom>
          <a:noFill/>
        </p:spPr>
        <p:txBody>
          <a:bodyPr wrap="square" rtlCol="0">
            <a:spAutoFit/>
          </a:bodyPr>
          <a:lstStyle/>
          <a:p>
            <a:r>
              <a:rPr lang="en-US" sz="800" dirty="0">
                <a:solidFill>
                  <a:schemeClr val="bg1"/>
                </a:solidFill>
                <a:latin typeface="Calibri" pitchFamily="34" charset="0"/>
                <a:cs typeface="Calibri" pitchFamily="34" charset="0"/>
              </a:rPr>
              <a:t>Factor - 4</a:t>
            </a:r>
          </a:p>
        </p:txBody>
      </p:sp>
      <p:sp>
        <p:nvSpPr>
          <p:cNvPr id="65" name="TextBox 64"/>
          <p:cNvSpPr txBox="1"/>
          <p:nvPr/>
        </p:nvSpPr>
        <p:spPr>
          <a:xfrm>
            <a:off x="6172200" y="6248400"/>
            <a:ext cx="762000" cy="261610"/>
          </a:xfrm>
          <a:prstGeom prst="rect">
            <a:avLst/>
          </a:prstGeom>
          <a:noFill/>
        </p:spPr>
        <p:txBody>
          <a:bodyPr wrap="square" rtlCol="0">
            <a:spAutoFit/>
          </a:bodyPr>
          <a:lstStyle/>
          <a:p>
            <a:r>
              <a:rPr lang="en-US" sz="1100" dirty="0">
                <a:solidFill>
                  <a:schemeClr val="bg1"/>
                </a:solidFill>
                <a:latin typeface="Calibri" pitchFamily="34" charset="0"/>
                <a:cs typeface="Calibri" pitchFamily="34" charset="0"/>
              </a:rPr>
              <a:t>Factor - 1</a:t>
            </a:r>
          </a:p>
        </p:txBody>
      </p:sp>
      <p:sp>
        <p:nvSpPr>
          <p:cNvPr id="71" name="TextBox 70"/>
          <p:cNvSpPr txBox="1"/>
          <p:nvPr/>
        </p:nvSpPr>
        <p:spPr>
          <a:xfrm>
            <a:off x="2057400" y="6172200"/>
            <a:ext cx="762000" cy="261610"/>
          </a:xfrm>
          <a:prstGeom prst="rect">
            <a:avLst/>
          </a:prstGeom>
          <a:noFill/>
        </p:spPr>
        <p:txBody>
          <a:bodyPr wrap="square" rtlCol="0">
            <a:spAutoFit/>
          </a:bodyPr>
          <a:lstStyle/>
          <a:p>
            <a:r>
              <a:rPr lang="en-US" sz="1100" dirty="0">
                <a:solidFill>
                  <a:schemeClr val="bg1"/>
                </a:solidFill>
                <a:latin typeface="Calibri" pitchFamily="34" charset="0"/>
                <a:cs typeface="Calibri" pitchFamily="34" charset="0"/>
              </a:rPr>
              <a:t>Factor - 1</a:t>
            </a:r>
          </a:p>
        </p:txBody>
      </p:sp>
      <p:sp>
        <p:nvSpPr>
          <p:cNvPr id="2" name="TextBox 1"/>
          <p:cNvSpPr txBox="1"/>
          <p:nvPr/>
        </p:nvSpPr>
        <p:spPr>
          <a:xfrm>
            <a:off x="609600" y="1371600"/>
            <a:ext cx="1102949" cy="307777"/>
          </a:xfrm>
          <a:prstGeom prst="rect">
            <a:avLst/>
          </a:prstGeom>
          <a:noFill/>
        </p:spPr>
        <p:txBody>
          <a:bodyPr wrap="none" rtlCol="0">
            <a:spAutoFit/>
          </a:bodyPr>
          <a:lstStyle/>
          <a:p>
            <a:r>
              <a:rPr lang="en-US" sz="1400" b="1" dirty="0">
                <a:solidFill>
                  <a:schemeClr val="accent1">
                    <a:lumMod val="25000"/>
                  </a:schemeClr>
                </a:solidFill>
                <a:latin typeface="Calibri"/>
                <a:cs typeface="Calibri"/>
              </a:rPr>
              <a:t>Push </a:t>
            </a:r>
            <a:r>
              <a:rPr lang="en-US" sz="1400" b="1" dirty="0" err="1">
                <a:solidFill>
                  <a:schemeClr val="accent1">
                    <a:lumMod val="25000"/>
                  </a:schemeClr>
                </a:solidFill>
                <a:latin typeface="Calibri"/>
                <a:cs typeface="Calibri"/>
              </a:rPr>
              <a:t>vs</a:t>
            </a:r>
            <a:r>
              <a:rPr lang="en-US" sz="1400" b="1" dirty="0">
                <a:solidFill>
                  <a:schemeClr val="accent1">
                    <a:lumMod val="25000"/>
                  </a:schemeClr>
                </a:solidFill>
                <a:latin typeface="Calibri"/>
                <a:cs typeface="Calibri"/>
              </a:rPr>
              <a:t>  Pull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8</a:t>
            </a:fld>
            <a:endParaRPr lang="en-US" dirty="0"/>
          </a:p>
        </p:txBody>
      </p:sp>
      <p:sp>
        <p:nvSpPr>
          <p:cNvPr id="11" name="Rectangle 10"/>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3" name="TextBox 12"/>
          <p:cNvSpPr txBox="1"/>
          <p:nvPr/>
        </p:nvSpPr>
        <p:spPr>
          <a:xfrm>
            <a:off x="228600" y="1905000"/>
            <a:ext cx="1206484" cy="276999"/>
          </a:xfrm>
          <a:prstGeom prst="rect">
            <a:avLst/>
          </a:prstGeom>
          <a:noFill/>
        </p:spPr>
        <p:txBody>
          <a:bodyPr wrap="none" rtlCol="0">
            <a:spAutoFit/>
          </a:bodyPr>
          <a:lstStyle/>
          <a:p>
            <a:r>
              <a:rPr lang="en-US" sz="1200" b="1" dirty="0">
                <a:solidFill>
                  <a:schemeClr val="accent1">
                    <a:lumMod val="10000"/>
                  </a:schemeClr>
                </a:solidFill>
                <a:latin typeface="Calibri" pitchFamily="34" charset="0"/>
                <a:cs typeface="Calibri" pitchFamily="34" charset="0"/>
              </a:rPr>
              <a:t>Factor – 4 (11%)</a:t>
            </a:r>
          </a:p>
        </p:txBody>
      </p:sp>
      <p:sp>
        <p:nvSpPr>
          <p:cNvPr id="14" name="TextBox 13"/>
          <p:cNvSpPr txBox="1"/>
          <p:nvPr/>
        </p:nvSpPr>
        <p:spPr>
          <a:xfrm>
            <a:off x="228600" y="2971800"/>
            <a:ext cx="1206484" cy="276999"/>
          </a:xfrm>
          <a:prstGeom prst="rect">
            <a:avLst/>
          </a:prstGeom>
          <a:noFill/>
        </p:spPr>
        <p:txBody>
          <a:bodyPr wrap="none" rtlCol="0">
            <a:spAutoFit/>
          </a:bodyPr>
          <a:lstStyle/>
          <a:p>
            <a:r>
              <a:rPr lang="en-US" sz="1200" b="1" dirty="0">
                <a:solidFill>
                  <a:schemeClr val="accent1">
                    <a:lumMod val="10000"/>
                  </a:schemeClr>
                </a:solidFill>
                <a:latin typeface="Calibri" pitchFamily="34" charset="0"/>
                <a:cs typeface="Calibri" pitchFamily="34" charset="0"/>
              </a:rPr>
              <a:t>Factor – 3 (25%)</a:t>
            </a:r>
          </a:p>
        </p:txBody>
      </p:sp>
      <p:sp>
        <p:nvSpPr>
          <p:cNvPr id="15" name="TextBox 14"/>
          <p:cNvSpPr txBox="1"/>
          <p:nvPr/>
        </p:nvSpPr>
        <p:spPr>
          <a:xfrm flipH="1">
            <a:off x="228600" y="4343400"/>
            <a:ext cx="1371600" cy="276999"/>
          </a:xfrm>
          <a:prstGeom prst="rect">
            <a:avLst/>
          </a:prstGeom>
          <a:noFill/>
        </p:spPr>
        <p:txBody>
          <a:bodyPr wrap="square" rtlCol="0">
            <a:spAutoFit/>
          </a:bodyPr>
          <a:lstStyle/>
          <a:p>
            <a:r>
              <a:rPr lang="en-US" sz="1200" b="1" dirty="0">
                <a:solidFill>
                  <a:schemeClr val="accent1">
                    <a:lumMod val="10000"/>
                  </a:schemeClr>
                </a:solidFill>
                <a:latin typeface="Calibri" pitchFamily="34" charset="0"/>
                <a:cs typeface="Calibri" pitchFamily="34" charset="0"/>
              </a:rPr>
              <a:t>Factor - 2 (28%)</a:t>
            </a:r>
          </a:p>
        </p:txBody>
      </p:sp>
      <p:sp>
        <p:nvSpPr>
          <p:cNvPr id="16" name="TextBox 15"/>
          <p:cNvSpPr txBox="1"/>
          <p:nvPr/>
        </p:nvSpPr>
        <p:spPr>
          <a:xfrm>
            <a:off x="228600" y="5638800"/>
            <a:ext cx="1206484" cy="276999"/>
          </a:xfrm>
          <a:prstGeom prst="rect">
            <a:avLst/>
          </a:prstGeom>
          <a:noFill/>
        </p:spPr>
        <p:txBody>
          <a:bodyPr wrap="none" rtlCol="0">
            <a:spAutoFit/>
          </a:bodyPr>
          <a:lstStyle/>
          <a:p>
            <a:r>
              <a:rPr lang="en-US" sz="1200" b="1" dirty="0">
                <a:solidFill>
                  <a:schemeClr val="accent1">
                    <a:lumMod val="10000"/>
                  </a:schemeClr>
                </a:solidFill>
                <a:latin typeface="Calibri" pitchFamily="34" charset="0"/>
                <a:cs typeface="Calibri" pitchFamily="34" charset="0"/>
              </a:rPr>
              <a:t>Factor – 1 (36%)</a:t>
            </a:r>
          </a:p>
        </p:txBody>
      </p:sp>
      <p:graphicFrame>
        <p:nvGraphicFramePr>
          <p:cNvPr id="17" name="Chart 16"/>
          <p:cNvGraphicFramePr/>
          <p:nvPr/>
        </p:nvGraphicFramePr>
        <p:xfrm>
          <a:off x="762000" y="1752600"/>
          <a:ext cx="7620000" cy="4428000"/>
        </p:xfrm>
        <a:graphic>
          <a:graphicData uri="http://schemas.openxmlformats.org/drawingml/2006/chart">
            <c:chart xmlns:c="http://schemas.openxmlformats.org/drawingml/2006/chart" xmlns:r="http://schemas.openxmlformats.org/officeDocument/2006/relationships" r:id="rId2"/>
          </a:graphicData>
        </a:graphic>
      </p:graphicFrame>
      <p:sp>
        <p:nvSpPr>
          <p:cNvPr id="10" name="Rectangle 2"/>
          <p:cNvSpPr txBox="1">
            <a:spLocks noChangeArrowheads="1"/>
          </p:cNvSpPr>
          <p:nvPr/>
        </p:nvSpPr>
        <p:spPr bwMode="auto">
          <a:xfrm>
            <a:off x="381000" y="381000"/>
            <a:ext cx="8610600" cy="5334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algn="ctr" eaLnBrk="0" hangingPunct="0"/>
            <a:r>
              <a:rPr lang="en-US" sz="1500" dirty="0">
                <a:solidFill>
                  <a:srgbClr val="1E4649"/>
                </a:solidFill>
                <a:latin typeface="Calibri" pitchFamily="34" charset="0"/>
              </a:rPr>
              <a:t>Dissatisfaction with role, compensation and restricted growth possibilities are the key </a:t>
            </a:r>
            <a:r>
              <a:rPr lang="en-US" sz="1500" dirty="0" err="1">
                <a:solidFill>
                  <a:srgbClr val="1E4649"/>
                </a:solidFill>
                <a:latin typeface="Calibri" pitchFamily="34" charset="0"/>
              </a:rPr>
              <a:t>demotivators</a:t>
            </a:r>
            <a:r>
              <a:rPr lang="en-US" sz="1500" dirty="0">
                <a:solidFill>
                  <a:srgbClr val="1E4649"/>
                </a:solidFill>
                <a:latin typeface="Calibri" pitchFamily="34" charset="0"/>
              </a:rPr>
              <a:t>, compounded by the way they are managed / lead by their managers</a:t>
            </a:r>
            <a:endParaRPr lang="en-US" dirty="0">
              <a:solidFill>
                <a:srgbClr val="C00000"/>
              </a:solidFill>
              <a:effectLst>
                <a:outerShdw blurRad="38100" dist="38100" dir="2700000" algn="tl">
                  <a:srgbClr val="000000">
                    <a:alpha val="43137"/>
                  </a:srgbClr>
                </a:outerShdw>
              </a:effectLst>
              <a:latin typeface="Calibri" pitchFamily="34" charset="0"/>
              <a:cs typeface="Calibri" pitchFamily="34" charset="0"/>
            </a:endParaRPr>
          </a:p>
        </p:txBody>
      </p:sp>
      <p:sp>
        <p:nvSpPr>
          <p:cNvPr id="19" name="TextBox 18"/>
          <p:cNvSpPr txBox="1"/>
          <p:nvPr/>
        </p:nvSpPr>
        <p:spPr>
          <a:xfrm>
            <a:off x="228600" y="1371600"/>
            <a:ext cx="8686800" cy="307777"/>
          </a:xfrm>
          <a:prstGeom prst="rect">
            <a:avLst/>
          </a:prstGeom>
          <a:noFill/>
        </p:spPr>
        <p:txBody>
          <a:bodyPr wrap="square" rtlCol="0">
            <a:spAutoFit/>
          </a:bodyPr>
          <a:lstStyle/>
          <a:p>
            <a:r>
              <a:rPr lang="en-US" sz="1400" b="1" dirty="0">
                <a:solidFill>
                  <a:schemeClr val="accent1">
                    <a:lumMod val="25000"/>
                  </a:schemeClr>
                </a:solidFill>
                <a:latin typeface="Calibri" pitchFamily="34" charset="0"/>
              </a:rPr>
              <a:t>Push Factor</a:t>
            </a:r>
            <a:endParaRPr lang="en-IN" sz="1400" dirty="0">
              <a:solidFill>
                <a:schemeClr val="accent1">
                  <a:lumMod val="25000"/>
                </a:schemeClr>
              </a:solidFill>
              <a:latin typeface="Calibri"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9</a:t>
            </a:fld>
            <a:endParaRPr lang="en-US" dirty="0"/>
          </a:p>
        </p:txBody>
      </p:sp>
      <p:sp>
        <p:nvSpPr>
          <p:cNvPr id="11" name="Rectangle 10"/>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3" name="TextBox 12"/>
          <p:cNvSpPr txBox="1"/>
          <p:nvPr/>
        </p:nvSpPr>
        <p:spPr>
          <a:xfrm>
            <a:off x="304800" y="1981200"/>
            <a:ext cx="1206484" cy="276999"/>
          </a:xfrm>
          <a:prstGeom prst="rect">
            <a:avLst/>
          </a:prstGeom>
          <a:noFill/>
        </p:spPr>
        <p:txBody>
          <a:bodyPr wrap="none" rtlCol="0">
            <a:spAutoFit/>
          </a:bodyPr>
          <a:lstStyle/>
          <a:p>
            <a:r>
              <a:rPr lang="en-US" sz="1200" b="1" dirty="0">
                <a:solidFill>
                  <a:schemeClr val="accent1">
                    <a:lumMod val="10000"/>
                  </a:schemeClr>
                </a:solidFill>
                <a:latin typeface="Calibri" pitchFamily="34" charset="0"/>
                <a:cs typeface="Calibri" pitchFamily="34" charset="0"/>
              </a:rPr>
              <a:t>Factor – 4 (10%)</a:t>
            </a:r>
          </a:p>
        </p:txBody>
      </p:sp>
      <p:sp>
        <p:nvSpPr>
          <p:cNvPr id="14" name="TextBox 13"/>
          <p:cNvSpPr txBox="1"/>
          <p:nvPr/>
        </p:nvSpPr>
        <p:spPr>
          <a:xfrm>
            <a:off x="304800" y="2895600"/>
            <a:ext cx="1206484" cy="276999"/>
          </a:xfrm>
          <a:prstGeom prst="rect">
            <a:avLst/>
          </a:prstGeom>
          <a:noFill/>
        </p:spPr>
        <p:txBody>
          <a:bodyPr wrap="none" rtlCol="0">
            <a:spAutoFit/>
          </a:bodyPr>
          <a:lstStyle/>
          <a:p>
            <a:r>
              <a:rPr lang="en-US" sz="1200" b="1" dirty="0">
                <a:solidFill>
                  <a:schemeClr val="accent1">
                    <a:lumMod val="10000"/>
                  </a:schemeClr>
                </a:solidFill>
                <a:latin typeface="Calibri" pitchFamily="34" charset="0"/>
                <a:cs typeface="Calibri" pitchFamily="34" charset="0"/>
              </a:rPr>
              <a:t>Factor – 3 (21%)</a:t>
            </a:r>
          </a:p>
        </p:txBody>
      </p:sp>
      <p:sp>
        <p:nvSpPr>
          <p:cNvPr id="15" name="TextBox 14"/>
          <p:cNvSpPr txBox="1"/>
          <p:nvPr/>
        </p:nvSpPr>
        <p:spPr>
          <a:xfrm>
            <a:off x="228600" y="4191000"/>
            <a:ext cx="1206484" cy="276999"/>
          </a:xfrm>
          <a:prstGeom prst="rect">
            <a:avLst/>
          </a:prstGeom>
          <a:noFill/>
        </p:spPr>
        <p:txBody>
          <a:bodyPr wrap="none" rtlCol="0">
            <a:spAutoFit/>
          </a:bodyPr>
          <a:lstStyle/>
          <a:p>
            <a:r>
              <a:rPr lang="en-US" sz="1200" b="1" dirty="0">
                <a:solidFill>
                  <a:schemeClr val="accent1">
                    <a:lumMod val="10000"/>
                  </a:schemeClr>
                </a:solidFill>
                <a:latin typeface="Calibri" pitchFamily="34" charset="0"/>
                <a:cs typeface="Calibri" pitchFamily="34" charset="0"/>
              </a:rPr>
              <a:t>Factor – 2 (28%)</a:t>
            </a:r>
          </a:p>
        </p:txBody>
      </p:sp>
      <p:sp>
        <p:nvSpPr>
          <p:cNvPr id="16" name="TextBox 15"/>
          <p:cNvSpPr txBox="1"/>
          <p:nvPr/>
        </p:nvSpPr>
        <p:spPr>
          <a:xfrm>
            <a:off x="228600" y="5638800"/>
            <a:ext cx="1206484" cy="276999"/>
          </a:xfrm>
          <a:prstGeom prst="rect">
            <a:avLst/>
          </a:prstGeom>
          <a:noFill/>
        </p:spPr>
        <p:txBody>
          <a:bodyPr wrap="none" rtlCol="0">
            <a:spAutoFit/>
          </a:bodyPr>
          <a:lstStyle/>
          <a:p>
            <a:r>
              <a:rPr lang="en-US" sz="1200" b="1" dirty="0">
                <a:solidFill>
                  <a:schemeClr val="accent1">
                    <a:lumMod val="10000"/>
                  </a:schemeClr>
                </a:solidFill>
                <a:latin typeface="Calibri" pitchFamily="34" charset="0"/>
                <a:cs typeface="Calibri" pitchFamily="34" charset="0"/>
              </a:rPr>
              <a:t>Factor – 1 (42%)</a:t>
            </a:r>
          </a:p>
        </p:txBody>
      </p:sp>
      <p:graphicFrame>
        <p:nvGraphicFramePr>
          <p:cNvPr id="10" name="Chart 9"/>
          <p:cNvGraphicFramePr/>
          <p:nvPr/>
        </p:nvGraphicFramePr>
        <p:xfrm>
          <a:off x="1600200" y="1752600"/>
          <a:ext cx="7344000" cy="4428000"/>
        </p:xfrm>
        <a:graphic>
          <a:graphicData uri="http://schemas.openxmlformats.org/drawingml/2006/chart">
            <c:chart xmlns:c="http://schemas.openxmlformats.org/drawingml/2006/chart" xmlns:r="http://schemas.openxmlformats.org/officeDocument/2006/relationships" r:id="rId2"/>
          </a:graphicData>
        </a:graphic>
      </p:graphicFrame>
      <p:sp>
        <p:nvSpPr>
          <p:cNvPr id="17" name="Rectangle 2"/>
          <p:cNvSpPr txBox="1">
            <a:spLocks noChangeArrowheads="1"/>
          </p:cNvSpPr>
          <p:nvPr/>
        </p:nvSpPr>
        <p:spPr bwMode="auto">
          <a:xfrm>
            <a:off x="457200" y="381000"/>
            <a:ext cx="8610600" cy="5334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algn="ctr" eaLnBrk="0" hangingPunct="0"/>
            <a:endParaRPr lang="en-US" dirty="0">
              <a:solidFill>
                <a:srgbClr val="C00000"/>
              </a:solidFill>
              <a:latin typeface="Calibri" pitchFamily="34" charset="0"/>
              <a:cs typeface="Calibri" pitchFamily="34" charset="0"/>
            </a:endParaRPr>
          </a:p>
        </p:txBody>
      </p:sp>
      <p:sp>
        <p:nvSpPr>
          <p:cNvPr id="12" name="TextBox 11"/>
          <p:cNvSpPr txBox="1"/>
          <p:nvPr/>
        </p:nvSpPr>
        <p:spPr>
          <a:xfrm>
            <a:off x="304800" y="1371600"/>
            <a:ext cx="2209800" cy="307777"/>
          </a:xfrm>
          <a:prstGeom prst="rect">
            <a:avLst/>
          </a:prstGeom>
          <a:noFill/>
        </p:spPr>
        <p:txBody>
          <a:bodyPr wrap="square" rtlCol="0">
            <a:spAutoFit/>
          </a:bodyPr>
          <a:lstStyle/>
          <a:p>
            <a:r>
              <a:rPr lang="en-US" sz="1400" b="1" dirty="0">
                <a:solidFill>
                  <a:srgbClr val="1E4649"/>
                </a:solidFill>
                <a:latin typeface="Calibri" pitchFamily="34" charset="0"/>
              </a:rPr>
              <a:t>Pull Factor</a:t>
            </a:r>
            <a:endParaRPr lang="en-IN" sz="1400" b="1" dirty="0">
              <a:solidFill>
                <a:srgbClr val="1E4649"/>
              </a:solidFill>
              <a:latin typeface="Calibri" pitchFamily="34" charset="0"/>
            </a:endParaRPr>
          </a:p>
        </p:txBody>
      </p:sp>
      <p:sp>
        <p:nvSpPr>
          <p:cNvPr id="18" name="Rectangle 2"/>
          <p:cNvSpPr txBox="1">
            <a:spLocks noChangeArrowheads="1"/>
          </p:cNvSpPr>
          <p:nvPr/>
        </p:nvSpPr>
        <p:spPr bwMode="auto">
          <a:xfrm>
            <a:off x="381000" y="381000"/>
            <a:ext cx="8610600" cy="8382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algn="ctr" eaLnBrk="0" hangingPunct="0"/>
            <a:r>
              <a:rPr lang="en-US" sz="1500" dirty="0">
                <a:solidFill>
                  <a:srgbClr val="1E4649"/>
                </a:solidFill>
                <a:latin typeface="Calibri" pitchFamily="34" charset="0"/>
              </a:rPr>
              <a:t>Need for a better role is a strong Pull towards a new job, but 60% “Pull” is for jobs that either provide them an opportunity to be in a location / function of choice. Employees also take a break to attend to certain personal needs which otherwise is not possible. Innovative and employee friendly policies are likely to curtail attrition in this category effectively</a:t>
            </a:r>
            <a:endParaRPr lang="en-US" dirty="0">
              <a:solidFill>
                <a:srgbClr val="C00000"/>
              </a:solidFill>
              <a:effectLst>
                <a:outerShdw blurRad="38100" dist="38100" dir="2700000" algn="tl">
                  <a:srgbClr val="000000">
                    <a:alpha val="43137"/>
                  </a:srgbClr>
                </a:outerShdw>
              </a:effectLst>
              <a:latin typeface="Calibri" pitchFamily="34" charset="0"/>
              <a:cs typeface="Calibri"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10</a:t>
            </a:fld>
            <a:endParaRPr lang="en-US" dirty="0"/>
          </a:p>
        </p:txBody>
      </p:sp>
      <p:graphicFrame>
        <p:nvGraphicFramePr>
          <p:cNvPr id="7" name="Table 6"/>
          <p:cNvGraphicFramePr>
            <a:graphicFrameLocks noGrp="1"/>
          </p:cNvGraphicFramePr>
          <p:nvPr>
            <p:extLst>
              <p:ext uri="{D42A27DB-BD31-4B8C-83A1-F6EECF244321}">
                <p14:modId xmlns:p14="http://schemas.microsoft.com/office/powerpoint/2010/main" val="274469188"/>
              </p:ext>
            </p:extLst>
          </p:nvPr>
        </p:nvGraphicFramePr>
        <p:xfrm>
          <a:off x="304800" y="1447801"/>
          <a:ext cx="5486401" cy="1862334"/>
        </p:xfrm>
        <a:graphic>
          <a:graphicData uri="http://schemas.openxmlformats.org/drawingml/2006/table">
            <a:tbl>
              <a:tblPr/>
              <a:tblGrid>
                <a:gridCol w="2224543">
                  <a:extLst>
                    <a:ext uri="{9D8B030D-6E8A-4147-A177-3AD203B41FA5}">
                      <a16:colId xmlns:a16="http://schemas.microsoft.com/office/drawing/2014/main" val="20000"/>
                    </a:ext>
                  </a:extLst>
                </a:gridCol>
                <a:gridCol w="940689">
                  <a:extLst>
                    <a:ext uri="{9D8B030D-6E8A-4147-A177-3AD203B41FA5}">
                      <a16:colId xmlns:a16="http://schemas.microsoft.com/office/drawing/2014/main" val="20001"/>
                    </a:ext>
                  </a:extLst>
                </a:gridCol>
                <a:gridCol w="1195753">
                  <a:extLst>
                    <a:ext uri="{9D8B030D-6E8A-4147-A177-3AD203B41FA5}">
                      <a16:colId xmlns:a16="http://schemas.microsoft.com/office/drawing/2014/main" val="20002"/>
                    </a:ext>
                  </a:extLst>
                </a:gridCol>
                <a:gridCol w="1125416">
                  <a:extLst>
                    <a:ext uri="{9D8B030D-6E8A-4147-A177-3AD203B41FA5}">
                      <a16:colId xmlns:a16="http://schemas.microsoft.com/office/drawing/2014/main" val="20003"/>
                    </a:ext>
                  </a:extLst>
                </a:gridCol>
              </a:tblGrid>
              <a:tr h="239274">
                <a:tc gridSpan="4">
                  <a:txBody>
                    <a:bodyPr/>
                    <a:lstStyle/>
                    <a:p>
                      <a:pPr algn="l" fontAlgn="ctr"/>
                      <a:r>
                        <a:rPr lang="en-US" sz="1400" b="1" i="0" u="none" strike="noStrike" baseline="0" dirty="0">
                          <a:solidFill>
                            <a:schemeClr val="accent1">
                              <a:lumMod val="25000"/>
                            </a:schemeClr>
                          </a:solidFill>
                          <a:latin typeface="Calibri" pitchFamily="34" charset="0"/>
                          <a:cs typeface="Calibri" pitchFamily="34" charset="0"/>
                        </a:rPr>
                        <a:t>Factor Co relation</a:t>
                      </a:r>
                      <a:endParaRPr lang="en-US" sz="1400" b="1" i="0" u="none" strike="noStrike" dirty="0">
                        <a:solidFill>
                          <a:schemeClr val="accent1">
                            <a:lumMod val="25000"/>
                          </a:schemeClr>
                        </a:solidFill>
                        <a:latin typeface="Calibri" pitchFamily="34" charset="0"/>
                        <a:cs typeface="Calibri" pitchFamily="34" charset="0"/>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446525">
                <a:tc>
                  <a:txBody>
                    <a:bodyPr/>
                    <a:lstStyle/>
                    <a:p>
                      <a:pPr algn="l" fontAlgn="b"/>
                      <a:r>
                        <a:rPr lang="en-US" sz="1100" b="0" i="0" u="none" strike="noStrike" dirty="0">
                          <a:solidFill>
                            <a:srgbClr val="000000"/>
                          </a:solidFill>
                          <a:latin typeface="Calibri" pitchFamily="34" charset="0"/>
                          <a:cs typeface="Calibri" pitchFamily="34" charset="0"/>
                        </a:rPr>
                        <a:t> </a:t>
                      </a:r>
                    </a:p>
                  </a:txBody>
                  <a:tcPr anchor="b">
                    <a:lnL w="12700" cap="flat" cmpd="sng" algn="ctr">
                      <a:noFill/>
                      <a:prstDash val="solid"/>
                      <a:round/>
                      <a:headEnd type="none" w="med" len="med"/>
                      <a:tailEnd type="none" w="med" len="med"/>
                    </a:lnL>
                    <a:lnR w="31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CDCA"/>
                    </a:solidFill>
                  </a:tcPr>
                </a:tc>
                <a:tc>
                  <a:txBody>
                    <a:bodyPr/>
                    <a:lstStyle/>
                    <a:p>
                      <a:pPr algn="ctr" fontAlgn="b">
                        <a:lnSpc>
                          <a:spcPct val="100000"/>
                        </a:lnSpc>
                      </a:pPr>
                      <a:r>
                        <a:rPr lang="en-US" sz="1100" b="0" i="0" u="none" strike="noStrike" dirty="0">
                          <a:solidFill>
                            <a:srgbClr val="000000"/>
                          </a:solidFill>
                          <a:latin typeface="Calibri" pitchFamily="34" charset="0"/>
                          <a:cs typeface="Calibri" pitchFamily="34" charset="0"/>
                        </a:rPr>
                        <a:t>Supervision Related</a:t>
                      </a:r>
                    </a:p>
                  </a:txBody>
                  <a:tcPr anchor="b">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CDCA"/>
                    </a:solidFill>
                  </a:tcPr>
                </a:tc>
                <a:tc>
                  <a:txBody>
                    <a:bodyPr/>
                    <a:lstStyle/>
                    <a:p>
                      <a:pPr algn="ctr" fontAlgn="b">
                        <a:lnSpc>
                          <a:spcPct val="100000"/>
                        </a:lnSpc>
                      </a:pPr>
                      <a:r>
                        <a:rPr lang="en-US" sz="1100" b="0" i="0" u="none" strike="noStrike" dirty="0">
                          <a:solidFill>
                            <a:srgbClr val="000000"/>
                          </a:solidFill>
                          <a:latin typeface="Calibri" pitchFamily="34" charset="0"/>
                          <a:cs typeface="Calibri" pitchFamily="34" charset="0"/>
                        </a:rPr>
                        <a:t>Low  Advancement  Opportunity</a:t>
                      </a:r>
                    </a:p>
                  </a:txBody>
                  <a:tcPr anchor="b">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CDCA"/>
                    </a:solidFill>
                  </a:tcPr>
                </a:tc>
                <a:tc>
                  <a:txBody>
                    <a:bodyPr/>
                    <a:lstStyle/>
                    <a:p>
                      <a:pPr algn="ctr" fontAlgn="b">
                        <a:lnSpc>
                          <a:spcPct val="100000"/>
                        </a:lnSpc>
                      </a:pPr>
                      <a:r>
                        <a:rPr lang="en-US" sz="1100" b="0" i="0" u="none" strike="noStrike" dirty="0">
                          <a:solidFill>
                            <a:srgbClr val="000000"/>
                          </a:solidFill>
                          <a:latin typeface="Calibri" pitchFamily="34" charset="0"/>
                          <a:cs typeface="Calibri" pitchFamily="34" charset="0"/>
                        </a:rPr>
                        <a:t>Work  Environment</a:t>
                      </a:r>
                    </a:p>
                  </a:txBody>
                  <a:tcPr anchor="b">
                    <a:lnL w="31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CDCA"/>
                    </a:solidFill>
                  </a:tcPr>
                </a:tc>
                <a:extLst>
                  <a:ext uri="{0D108BD9-81ED-4DB2-BD59-A6C34878D82A}">
                    <a16:rowId xmlns:a16="http://schemas.microsoft.com/office/drawing/2014/main" val="10001"/>
                  </a:ext>
                </a:extLst>
              </a:tr>
              <a:tr h="319717">
                <a:tc>
                  <a:txBody>
                    <a:bodyPr/>
                    <a:lstStyle/>
                    <a:p>
                      <a:pPr algn="ctr" fontAlgn="t">
                        <a:lnSpc>
                          <a:spcPct val="150000"/>
                        </a:lnSpc>
                      </a:pPr>
                      <a:r>
                        <a:rPr lang="en-US" sz="1100" b="0" i="0" u="none" strike="noStrike" dirty="0">
                          <a:solidFill>
                            <a:srgbClr val="000000"/>
                          </a:solidFill>
                          <a:latin typeface="Calibri" pitchFamily="34" charset="0"/>
                          <a:cs typeface="Calibri" pitchFamily="34" charset="0"/>
                        </a:rPr>
                        <a:t>Supervision Related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en-US" sz="1100" b="0" i="0" u="none" strike="noStrike" dirty="0">
                          <a:solidFill>
                            <a:srgbClr val="000000"/>
                          </a:solidFill>
                          <a:latin typeface="Calibri" pitchFamily="34" charset="0"/>
                          <a:cs typeface="Calibri" pitchFamily="34" charset="0"/>
                        </a:rPr>
                        <a:t>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en-US" sz="1100" b="0" i="0" u="none" strike="noStrike" dirty="0">
                          <a:solidFill>
                            <a:srgbClr val="000000"/>
                          </a:solidFill>
                          <a:latin typeface="Calibri" pitchFamily="34" charset="0"/>
                          <a:cs typeface="Calibri" pitchFamily="34" charset="0"/>
                        </a:rPr>
                        <a:t>.155</a:t>
                      </a:r>
                      <a:r>
                        <a:rPr lang="en-US" sz="1100" b="0" i="0" u="none" strike="noStrike" baseline="30000" dirty="0">
                          <a:solidFill>
                            <a:srgbClr val="000000"/>
                          </a:solidFill>
                          <a:latin typeface="Calibri" pitchFamily="34" charset="0"/>
                          <a:cs typeface="Calibri" pitchFamily="34" charset="0"/>
                        </a:rPr>
                        <a:t>**</a:t>
                      </a:r>
                      <a:endParaRPr lang="en-US" sz="1100" b="0" i="0" u="none" strike="noStrike" dirty="0">
                        <a:solidFill>
                          <a:srgbClr val="000000"/>
                        </a:solidFill>
                        <a:latin typeface="Calibri" pitchFamily="34" charset="0"/>
                        <a:cs typeface="Calibri"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en-US" sz="1100" b="0" i="0" u="none" strike="noStrike" dirty="0">
                          <a:solidFill>
                            <a:srgbClr val="000000"/>
                          </a:solidFill>
                          <a:latin typeface="Calibri" pitchFamily="34" charset="0"/>
                          <a:cs typeface="Calibri" pitchFamily="34" charset="0"/>
                        </a:rPr>
                        <a:t>.253</a:t>
                      </a:r>
                      <a:r>
                        <a:rPr lang="en-US" sz="1100" b="0" i="0" u="none" strike="noStrike" baseline="30000" dirty="0">
                          <a:solidFill>
                            <a:srgbClr val="000000"/>
                          </a:solidFill>
                          <a:latin typeface="Calibri" pitchFamily="34" charset="0"/>
                          <a:cs typeface="Calibri" pitchFamily="34" charset="0"/>
                        </a:rPr>
                        <a:t>**</a:t>
                      </a:r>
                      <a:endParaRPr lang="en-US" sz="1100" b="0" i="0" u="none" strike="noStrike" dirty="0">
                        <a:solidFill>
                          <a:srgbClr val="000000"/>
                        </a:solidFill>
                        <a:latin typeface="Calibri" pitchFamily="34" charset="0"/>
                        <a:cs typeface="Calibri"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9717">
                <a:tc>
                  <a:txBody>
                    <a:bodyPr/>
                    <a:lstStyle/>
                    <a:p>
                      <a:pPr algn="ctr" fontAlgn="t">
                        <a:lnSpc>
                          <a:spcPct val="150000"/>
                        </a:lnSpc>
                      </a:pPr>
                      <a:r>
                        <a:rPr lang="en-US" sz="1100" b="0" i="0" u="none" strike="noStrike" dirty="0">
                          <a:solidFill>
                            <a:srgbClr val="000000"/>
                          </a:solidFill>
                          <a:latin typeface="Calibri" pitchFamily="34" charset="0"/>
                          <a:cs typeface="Calibri" pitchFamily="34" charset="0"/>
                        </a:rPr>
                        <a:t>Low Advancement Opportunity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en-US" sz="1100" b="0" i="0" u="none" strike="noStrike" dirty="0">
                          <a:solidFill>
                            <a:srgbClr val="000000"/>
                          </a:solidFill>
                          <a:latin typeface="Calibri" pitchFamily="34" charset="0"/>
                          <a:cs typeface="Calibri" pitchFamily="34" charset="0"/>
                        </a:rPr>
                        <a:t>.155</a:t>
                      </a:r>
                      <a:r>
                        <a:rPr lang="en-US" sz="1100" b="0" i="0" u="none" strike="noStrike" baseline="30000" dirty="0">
                          <a:solidFill>
                            <a:srgbClr val="000000"/>
                          </a:solidFill>
                          <a:latin typeface="Calibri" pitchFamily="34" charset="0"/>
                          <a:cs typeface="Calibri" pitchFamily="34" charset="0"/>
                        </a:rPr>
                        <a:t>**</a:t>
                      </a:r>
                      <a:endParaRPr lang="en-US" sz="1100" b="0" i="0" u="none" strike="noStrike" dirty="0">
                        <a:solidFill>
                          <a:srgbClr val="000000"/>
                        </a:solidFill>
                        <a:latin typeface="Calibri" pitchFamily="34" charset="0"/>
                        <a:cs typeface="Calibri"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en-US" sz="1100" b="0" i="0" u="none" strike="noStrike" dirty="0">
                          <a:solidFill>
                            <a:srgbClr val="000000"/>
                          </a:solidFill>
                          <a:latin typeface="Calibri" pitchFamily="34" charset="0"/>
                          <a:cs typeface="Calibri" pitchFamily="34" charset="0"/>
                        </a:rPr>
                        <a:t>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en-US" sz="1100" b="0" i="0" u="none" strike="noStrike" dirty="0">
                          <a:solidFill>
                            <a:srgbClr val="000000"/>
                          </a:solidFill>
                          <a:latin typeface="Calibri" pitchFamily="34" charset="0"/>
                          <a:cs typeface="Calibri" pitchFamily="34" charset="0"/>
                        </a:rPr>
                        <a:t>.394</a:t>
                      </a:r>
                      <a:r>
                        <a:rPr lang="en-US" sz="1100" b="0" i="0" u="none" strike="noStrike" baseline="30000" dirty="0">
                          <a:solidFill>
                            <a:srgbClr val="000000"/>
                          </a:solidFill>
                          <a:latin typeface="Calibri" pitchFamily="34" charset="0"/>
                          <a:cs typeface="Calibri" pitchFamily="34" charset="0"/>
                        </a:rPr>
                        <a:t>**</a:t>
                      </a:r>
                      <a:endParaRPr lang="en-US" sz="1100" b="0" i="0" u="none" strike="noStrike" dirty="0">
                        <a:solidFill>
                          <a:srgbClr val="000000"/>
                        </a:solidFill>
                        <a:latin typeface="Calibri" pitchFamily="34" charset="0"/>
                        <a:cs typeface="Calibri"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19717">
                <a:tc>
                  <a:txBody>
                    <a:bodyPr/>
                    <a:lstStyle/>
                    <a:p>
                      <a:pPr algn="ctr" fontAlgn="t">
                        <a:lnSpc>
                          <a:spcPct val="150000"/>
                        </a:lnSpc>
                      </a:pPr>
                      <a:r>
                        <a:rPr lang="en-US" sz="1100" b="0" i="0" u="none" strike="noStrike" dirty="0">
                          <a:solidFill>
                            <a:srgbClr val="000000"/>
                          </a:solidFill>
                          <a:latin typeface="Calibri" pitchFamily="34" charset="0"/>
                          <a:cs typeface="Calibri" pitchFamily="34" charset="0"/>
                        </a:rPr>
                        <a:t>Work Environment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en-US" sz="1100" b="0" i="0" u="none" strike="noStrike" dirty="0">
                          <a:solidFill>
                            <a:srgbClr val="000000"/>
                          </a:solidFill>
                          <a:latin typeface="Calibri" pitchFamily="34" charset="0"/>
                          <a:cs typeface="Calibri" pitchFamily="34" charset="0"/>
                        </a:rPr>
                        <a:t>.253</a:t>
                      </a:r>
                      <a:r>
                        <a:rPr lang="en-US" sz="1100" b="0" i="0" u="none" strike="noStrike" baseline="30000" dirty="0">
                          <a:solidFill>
                            <a:srgbClr val="000000"/>
                          </a:solidFill>
                          <a:latin typeface="Calibri" pitchFamily="34" charset="0"/>
                          <a:cs typeface="Calibri" pitchFamily="34" charset="0"/>
                        </a:rPr>
                        <a:t>**</a:t>
                      </a:r>
                      <a:endParaRPr lang="en-US" sz="1100" b="0" i="0" u="none" strike="noStrike" dirty="0">
                        <a:solidFill>
                          <a:srgbClr val="000000"/>
                        </a:solidFill>
                        <a:latin typeface="Calibri" pitchFamily="34" charset="0"/>
                        <a:cs typeface="Calibri"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en-US" sz="1100" b="0" i="0" u="none" strike="noStrike" dirty="0">
                          <a:solidFill>
                            <a:srgbClr val="000000"/>
                          </a:solidFill>
                          <a:latin typeface="Calibri" pitchFamily="34" charset="0"/>
                          <a:cs typeface="Calibri" pitchFamily="34" charset="0"/>
                        </a:rPr>
                        <a:t>.394</a:t>
                      </a:r>
                      <a:r>
                        <a:rPr lang="en-US" sz="1100" b="0" i="0" u="none" strike="noStrike" baseline="30000" dirty="0">
                          <a:solidFill>
                            <a:srgbClr val="000000"/>
                          </a:solidFill>
                          <a:latin typeface="Calibri" pitchFamily="34" charset="0"/>
                          <a:cs typeface="Calibri" pitchFamily="34" charset="0"/>
                        </a:rPr>
                        <a:t>**</a:t>
                      </a:r>
                      <a:endParaRPr lang="en-US" sz="1100" b="0" i="0" u="none" strike="noStrike" dirty="0">
                        <a:solidFill>
                          <a:srgbClr val="000000"/>
                        </a:solidFill>
                        <a:latin typeface="Calibri" pitchFamily="34" charset="0"/>
                        <a:cs typeface="Calibri"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en-US" sz="1100" b="0" i="0" u="none" strike="noStrike" dirty="0">
                          <a:solidFill>
                            <a:srgbClr val="000000"/>
                          </a:solidFill>
                          <a:latin typeface="Calibri" pitchFamily="34" charset="0"/>
                          <a:cs typeface="Calibri" pitchFamily="34" charset="0"/>
                        </a:rPr>
                        <a:t>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bl>
          </a:graphicData>
        </a:graphic>
      </p:graphicFrame>
      <p:sp>
        <p:nvSpPr>
          <p:cNvPr id="8" name="TextBox 7"/>
          <p:cNvSpPr txBox="1"/>
          <p:nvPr/>
        </p:nvSpPr>
        <p:spPr>
          <a:xfrm>
            <a:off x="5943600" y="1676400"/>
            <a:ext cx="2895600" cy="1754326"/>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 The key factor of attrition Supervision related issue is not at all correlated to the other two factors, i.e. one does not influence the other.(Any value above .5 implies considerable correlation)</a:t>
            </a:r>
          </a:p>
          <a:p>
            <a:pPr>
              <a:buClr>
                <a:srgbClr val="C00000"/>
              </a:buClr>
            </a:pPr>
            <a:r>
              <a:rPr lang="en-US" sz="1200" dirty="0">
                <a:solidFill>
                  <a:schemeClr val="accent1">
                    <a:lumMod val="25000"/>
                  </a:schemeClr>
                </a:solidFill>
                <a:latin typeface="Calibri" pitchFamily="34" charset="0"/>
                <a:cs typeface="Calibri" pitchFamily="34" charset="0"/>
              </a:rPr>
              <a:t> Low advancement opportunity and Work environment though are correlated factors, however their correlation is also not statistically strong. </a:t>
            </a:r>
          </a:p>
        </p:txBody>
      </p:sp>
      <p:sp>
        <p:nvSpPr>
          <p:cNvPr id="6" name="TextBox 5"/>
          <p:cNvSpPr txBox="1"/>
          <p:nvPr/>
        </p:nvSpPr>
        <p:spPr>
          <a:xfrm>
            <a:off x="228599" y="76200"/>
            <a:ext cx="8610601" cy="1446550"/>
          </a:xfrm>
          <a:prstGeom prst="rect">
            <a:avLst/>
          </a:prstGeom>
          <a:noFill/>
        </p:spPr>
        <p:txBody>
          <a:bodyPr wrap="square" rtlCol="0">
            <a:spAutoFit/>
          </a:bodyPr>
          <a:lstStyle/>
          <a:p>
            <a:pPr algn="ctr" eaLnBrk="0" hangingPunct="0">
              <a:defRPr/>
            </a:pPr>
            <a:r>
              <a:rPr lang="en-US" dirty="0">
                <a:solidFill>
                  <a:srgbClr val="CC0000"/>
                </a:solidFill>
                <a:latin typeface="Calibri" pitchFamily="34" charset="0"/>
                <a:cs typeface="Calibri" pitchFamily="34" charset="0"/>
              </a:rPr>
              <a:t>Finding 3</a:t>
            </a:r>
          </a:p>
          <a:p>
            <a:pPr algn="ctr" eaLnBrk="0" hangingPunct="0">
              <a:defRPr/>
            </a:pPr>
            <a:r>
              <a:rPr lang="en-US" sz="1300" dirty="0">
                <a:solidFill>
                  <a:srgbClr val="1E4649"/>
                </a:solidFill>
                <a:latin typeface="Calibri" pitchFamily="34" charset="0"/>
              </a:rPr>
              <a:t>The  three key factors are not statistically correlated. i.e. one does not influence the other. Therefore each factor  has to be addressed independently to reduce attrition.  However there is a low correlation between the Supervision with exits for “career change”. The work environment also has a strong correlation with exits for change of career. This further validates the possibility of quicker &amp; bigger impact through focus on the bottom three factors</a:t>
            </a:r>
          </a:p>
          <a:p>
            <a:endParaRPr lang="en-US" dirty="0">
              <a:solidFill>
                <a:srgbClr val="C00000"/>
              </a:solidFill>
              <a:effectLst>
                <a:outerShdw blurRad="38100" dist="38100" dir="2700000" algn="tl">
                  <a:srgbClr val="000000">
                    <a:alpha val="43137"/>
                  </a:srgbClr>
                </a:outerShdw>
              </a:effectLst>
              <a:latin typeface="Calibri" pitchFamily="34" charset="0"/>
              <a:cs typeface="Calibri" pitchFamily="34" charset="0"/>
            </a:endParaRPr>
          </a:p>
        </p:txBody>
      </p:sp>
      <p:sp>
        <p:nvSpPr>
          <p:cNvPr id="11" name="Rectangle 10"/>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graphicFrame>
        <p:nvGraphicFramePr>
          <p:cNvPr id="10" name="Table 9"/>
          <p:cNvGraphicFramePr>
            <a:graphicFrameLocks noGrp="1"/>
          </p:cNvGraphicFramePr>
          <p:nvPr/>
        </p:nvGraphicFramePr>
        <p:xfrm>
          <a:off x="304801" y="3505200"/>
          <a:ext cx="5486400" cy="1260001"/>
        </p:xfrm>
        <a:graphic>
          <a:graphicData uri="http://schemas.openxmlformats.org/drawingml/2006/table">
            <a:tbl>
              <a:tblPr/>
              <a:tblGrid>
                <a:gridCol w="1458217">
                  <a:extLst>
                    <a:ext uri="{9D8B030D-6E8A-4147-A177-3AD203B41FA5}">
                      <a16:colId xmlns:a16="http://schemas.microsoft.com/office/drawing/2014/main" val="20000"/>
                    </a:ext>
                  </a:extLst>
                </a:gridCol>
                <a:gridCol w="1292058">
                  <a:extLst>
                    <a:ext uri="{9D8B030D-6E8A-4147-A177-3AD203B41FA5}">
                      <a16:colId xmlns:a16="http://schemas.microsoft.com/office/drawing/2014/main" val="20001"/>
                    </a:ext>
                  </a:extLst>
                </a:gridCol>
                <a:gridCol w="1360823">
                  <a:extLst>
                    <a:ext uri="{9D8B030D-6E8A-4147-A177-3AD203B41FA5}">
                      <a16:colId xmlns:a16="http://schemas.microsoft.com/office/drawing/2014/main" val="20002"/>
                    </a:ext>
                  </a:extLst>
                </a:gridCol>
                <a:gridCol w="1375302">
                  <a:extLst>
                    <a:ext uri="{9D8B030D-6E8A-4147-A177-3AD203B41FA5}">
                      <a16:colId xmlns:a16="http://schemas.microsoft.com/office/drawing/2014/main" val="20003"/>
                    </a:ext>
                  </a:extLst>
                </a:gridCol>
              </a:tblGrid>
              <a:tr h="438262">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 </a:t>
                      </a:r>
                    </a:p>
                  </a:txBody>
                  <a:tcPr marL="9525" marR="9525" marT="9525" marB="0" anchor="b">
                    <a:lnL w="6350" cap="flat" cmpd="sng" algn="ctr">
                      <a:noFill/>
                      <a:prstDash val="solid"/>
                      <a:round/>
                      <a:headEnd type="none" w="med" len="med"/>
                      <a:tailEnd type="none" w="med" len="med"/>
                    </a:lnL>
                    <a:lnR w="3175"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93CDCA"/>
                    </a:solidFill>
                  </a:tcPr>
                </a:tc>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Change of career</a:t>
                      </a:r>
                    </a:p>
                  </a:txBody>
                  <a:tcPr marL="9525" marR="9525" marT="9525" marB="0" anchor="b">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93CDCA"/>
                    </a:solidFill>
                  </a:tcPr>
                </a:tc>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Personal reasons</a:t>
                      </a:r>
                    </a:p>
                  </a:txBody>
                  <a:tcPr marL="9525" marR="9525" marT="9525" marB="0" anchor="b">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93CDCA"/>
                    </a:solidFill>
                  </a:tcPr>
                </a:tc>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Change of location</a:t>
                      </a:r>
                    </a:p>
                  </a:txBody>
                  <a:tcPr marL="9525" marR="9525" marT="9525" marB="0" anchor="b">
                    <a:lnL w="3175"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93CDCA"/>
                    </a:solidFill>
                  </a:tcPr>
                </a:tc>
                <a:extLst>
                  <a:ext uri="{0D108BD9-81ED-4DB2-BD59-A6C34878D82A}">
                    <a16:rowId xmlns:a16="http://schemas.microsoft.com/office/drawing/2014/main" val="10000"/>
                  </a:ext>
                </a:extLst>
              </a:tr>
              <a:tr h="273913">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Change of career</a:t>
                      </a:r>
                    </a:p>
                  </a:txBody>
                  <a:tcPr marL="9525" marR="9525" marT="9525" marB="0" anchor="b">
                    <a:lnL w="635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 </a:t>
                      </a:r>
                    </a:p>
                  </a:txBody>
                  <a:tcPr marL="9525" marR="9525" marT="9525" marB="0" anchor="b">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914400" rtl="0" eaLnBrk="1" fontAlgn="t" latinLnBrk="0" hangingPunct="1"/>
                      <a:r>
                        <a:rPr lang="en-US" sz="1100" b="0" i="0" u="none" strike="noStrike" kern="1200" dirty="0">
                          <a:solidFill>
                            <a:srgbClr val="FF0000"/>
                          </a:solidFill>
                          <a:latin typeface="Calibri" pitchFamily="34" charset="0"/>
                          <a:ea typeface="+mn-ea"/>
                          <a:cs typeface="Calibri" pitchFamily="34" charset="0"/>
                        </a:rPr>
                        <a:t>0.61</a:t>
                      </a:r>
                    </a:p>
                  </a:txBody>
                  <a:tcPr marL="9525" marR="9525" marT="9525" marB="0" anchor="b">
                    <a:lnL w="635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0.01</a:t>
                      </a:r>
                    </a:p>
                  </a:txBody>
                  <a:tcPr marL="9525" marR="9525" marT="9525" marB="0" anchor="b">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73913">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Personal reasons</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914400" rtl="0" eaLnBrk="1" fontAlgn="t" latinLnBrk="0" hangingPunct="1"/>
                      <a:r>
                        <a:rPr lang="en-US" sz="1100" b="0" i="0" u="none" strike="noStrike" kern="1200" dirty="0">
                          <a:solidFill>
                            <a:srgbClr val="FF0000"/>
                          </a:solidFill>
                          <a:latin typeface="Calibri" pitchFamily="34" charset="0"/>
                          <a:ea typeface="+mn-ea"/>
                          <a:cs typeface="Calibri" pitchFamily="34" charset="0"/>
                        </a:rPr>
                        <a:t>0.61</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 </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0.03</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73913">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Change of location</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0.01</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0.03</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914400" rtl="0" eaLnBrk="1" fontAlgn="t" latinLnBrk="0" hangingPunct="1"/>
                      <a:r>
                        <a:rPr lang="en-US" sz="1100" b="0" i="0" u="none" strike="noStrike" kern="1200" dirty="0">
                          <a:solidFill>
                            <a:srgbClr val="000000"/>
                          </a:solidFill>
                          <a:latin typeface="Calibri" pitchFamily="34" charset="0"/>
                          <a:ea typeface="+mn-ea"/>
                          <a:cs typeface="Calibri" pitchFamily="34" charset="0"/>
                        </a:rPr>
                        <a:t> </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bl>
          </a:graphicData>
        </a:graphic>
      </p:graphicFrame>
      <p:graphicFrame>
        <p:nvGraphicFramePr>
          <p:cNvPr id="12" name="Table 11"/>
          <p:cNvGraphicFramePr>
            <a:graphicFrameLocks noGrp="1"/>
          </p:cNvGraphicFramePr>
          <p:nvPr/>
        </p:nvGraphicFramePr>
        <p:xfrm>
          <a:off x="228600" y="5257800"/>
          <a:ext cx="5486400" cy="1260001"/>
        </p:xfrm>
        <a:graphic>
          <a:graphicData uri="http://schemas.openxmlformats.org/drawingml/2006/table">
            <a:tbl>
              <a:tblPr/>
              <a:tblGrid>
                <a:gridCol w="1603717">
                  <a:extLst>
                    <a:ext uri="{9D8B030D-6E8A-4147-A177-3AD203B41FA5}">
                      <a16:colId xmlns:a16="http://schemas.microsoft.com/office/drawing/2014/main" val="20000"/>
                    </a:ext>
                  </a:extLst>
                </a:gridCol>
                <a:gridCol w="2029237">
                  <a:extLst>
                    <a:ext uri="{9D8B030D-6E8A-4147-A177-3AD203B41FA5}">
                      <a16:colId xmlns:a16="http://schemas.microsoft.com/office/drawing/2014/main" val="20001"/>
                    </a:ext>
                  </a:extLst>
                </a:gridCol>
                <a:gridCol w="1853446">
                  <a:extLst>
                    <a:ext uri="{9D8B030D-6E8A-4147-A177-3AD203B41FA5}">
                      <a16:colId xmlns:a16="http://schemas.microsoft.com/office/drawing/2014/main" val="20002"/>
                    </a:ext>
                  </a:extLst>
                </a:gridCol>
              </a:tblGrid>
              <a:tr h="383101">
                <a:tc>
                  <a:txBody>
                    <a:bodyPr/>
                    <a:lstStyle/>
                    <a:p>
                      <a:pPr algn="l" fontAlgn="t"/>
                      <a:r>
                        <a:rPr lang="en-US" sz="1100" b="0" i="0" u="none" strike="noStrike" dirty="0">
                          <a:solidFill>
                            <a:srgbClr val="000000"/>
                          </a:solidFill>
                          <a:latin typeface="Calibri" pitchFamily="34" charset="0"/>
                          <a:cs typeface="Calibri" pitchFamily="34" charset="0"/>
                        </a:rPr>
                        <a:t> </a:t>
                      </a:r>
                    </a:p>
                  </a:txBody>
                  <a:tcPr marL="9525" marR="9525" marT="9525" marB="0">
                    <a:lnL w="6350" cap="flat" cmpd="sng" algn="ctr">
                      <a:noFill/>
                      <a:prstDash val="solid"/>
                      <a:round/>
                      <a:headEnd type="none" w="med" len="med"/>
                      <a:tailEnd type="none" w="med" len="med"/>
                    </a:lnL>
                    <a:lnR w="3175"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93CDCA"/>
                    </a:solidFill>
                  </a:tcPr>
                </a:tc>
                <a:tc>
                  <a:txBody>
                    <a:bodyPr/>
                    <a:lstStyle/>
                    <a:p>
                      <a:pPr algn="ctr" fontAlgn="t"/>
                      <a:r>
                        <a:rPr lang="en-US" sz="1100" b="0" i="0" u="none" strike="noStrike" dirty="0">
                          <a:solidFill>
                            <a:srgbClr val="000000"/>
                          </a:solidFill>
                          <a:latin typeface="Calibri" pitchFamily="34" charset="0"/>
                          <a:cs typeface="Calibri" pitchFamily="34" charset="0"/>
                        </a:rPr>
                        <a:t>Supervision related</a:t>
                      </a:r>
                    </a:p>
                  </a:txBody>
                  <a:tcPr marL="9525" marR="9525" marT="9525" marB="0" anchor="b">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93CDCA"/>
                    </a:solidFill>
                  </a:tcPr>
                </a:tc>
                <a:tc>
                  <a:txBody>
                    <a:bodyPr/>
                    <a:lstStyle/>
                    <a:p>
                      <a:pPr algn="ctr" fontAlgn="b"/>
                      <a:r>
                        <a:rPr lang="en-US" sz="1100" b="0" i="0" u="none" strike="noStrike" dirty="0">
                          <a:solidFill>
                            <a:srgbClr val="000000"/>
                          </a:solidFill>
                          <a:latin typeface="Calibri" pitchFamily="34" charset="0"/>
                          <a:cs typeface="Calibri" pitchFamily="34" charset="0"/>
                        </a:rPr>
                        <a:t>Work environment</a:t>
                      </a:r>
                    </a:p>
                  </a:txBody>
                  <a:tcPr marL="9525" marR="9525" marT="9525" marB="0" anchor="b">
                    <a:lnL w="3175"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93CDCA"/>
                    </a:solidFill>
                  </a:tcPr>
                </a:tc>
                <a:extLst>
                  <a:ext uri="{0D108BD9-81ED-4DB2-BD59-A6C34878D82A}">
                    <a16:rowId xmlns:a16="http://schemas.microsoft.com/office/drawing/2014/main" val="10000"/>
                  </a:ext>
                </a:extLst>
              </a:tr>
              <a:tr h="292300">
                <a:tc>
                  <a:txBody>
                    <a:bodyPr/>
                    <a:lstStyle/>
                    <a:p>
                      <a:pPr algn="ctr" fontAlgn="b"/>
                      <a:r>
                        <a:rPr lang="en-US" sz="1100" b="0" i="0" u="none" strike="noStrike" dirty="0">
                          <a:solidFill>
                            <a:srgbClr val="000000"/>
                          </a:solidFill>
                          <a:latin typeface="Calibri" pitchFamily="34" charset="0"/>
                          <a:cs typeface="Calibri" pitchFamily="34" charset="0"/>
                        </a:rPr>
                        <a:t>Change of career</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latin typeface="Calibri" pitchFamily="34" charset="0"/>
                          <a:cs typeface="Calibri" pitchFamily="34" charset="0"/>
                        </a:rPr>
                        <a:t>0.40</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FF0000"/>
                          </a:solidFill>
                          <a:latin typeface="Calibri" pitchFamily="34" charset="0"/>
                          <a:cs typeface="Calibri" pitchFamily="34" charset="0"/>
                        </a:rPr>
                        <a:t>0.71</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92300">
                <a:tc>
                  <a:txBody>
                    <a:bodyPr/>
                    <a:lstStyle/>
                    <a:p>
                      <a:pPr algn="ctr" fontAlgn="b"/>
                      <a:r>
                        <a:rPr lang="en-US" sz="1100" b="0" i="0" u="none" strike="noStrike" dirty="0">
                          <a:solidFill>
                            <a:srgbClr val="000000"/>
                          </a:solidFill>
                          <a:latin typeface="Calibri" pitchFamily="34" charset="0"/>
                          <a:cs typeface="Calibri" pitchFamily="34" charset="0"/>
                        </a:rPr>
                        <a:t>Personal reasons</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latin typeface="Calibri" pitchFamily="34" charset="0"/>
                          <a:cs typeface="Calibri" pitchFamily="34" charset="0"/>
                        </a:rPr>
                        <a:t>0.18</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latin typeface="Calibri" pitchFamily="34" charset="0"/>
                          <a:cs typeface="Calibri" pitchFamily="34" charset="0"/>
                        </a:rPr>
                        <a:t>0.38</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92300">
                <a:tc>
                  <a:txBody>
                    <a:bodyPr/>
                    <a:lstStyle/>
                    <a:p>
                      <a:pPr algn="ctr" fontAlgn="b"/>
                      <a:r>
                        <a:rPr lang="en-US" sz="1100" b="0" i="0" u="none" strike="noStrike" dirty="0">
                          <a:solidFill>
                            <a:srgbClr val="000000"/>
                          </a:solidFill>
                          <a:latin typeface="Calibri" pitchFamily="34" charset="0"/>
                          <a:cs typeface="Calibri" pitchFamily="34" charset="0"/>
                        </a:rPr>
                        <a:t>Change of location</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latin typeface="Calibri" pitchFamily="34" charset="0"/>
                          <a:cs typeface="Calibri" pitchFamily="34" charset="0"/>
                        </a:rPr>
                        <a:t>0.00</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latin typeface="Calibri" pitchFamily="34" charset="0"/>
                          <a:cs typeface="Calibri" pitchFamily="34" charset="0"/>
                        </a:rPr>
                        <a:t>0.00</a:t>
                      </a:r>
                    </a:p>
                  </a:txBody>
                  <a:tcPr marL="9525" marR="9525" marT="9525" marB="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bl>
          </a:graphicData>
        </a:graphic>
      </p:graphicFrame>
      <p:sp>
        <p:nvSpPr>
          <p:cNvPr id="13" name="TextBox 12"/>
          <p:cNvSpPr txBox="1"/>
          <p:nvPr/>
        </p:nvSpPr>
        <p:spPr>
          <a:xfrm>
            <a:off x="6019800" y="3505200"/>
            <a:ext cx="2895600" cy="2862322"/>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There is a reasonable statistical correlation between supervision with people leaving for “change or career”. A supervisors influence over attrition  is therefore higher than data reported. Problems with Supervisors manifests in exits due to change of career.</a:t>
            </a:r>
          </a:p>
          <a:p>
            <a:pPr>
              <a:buClr>
                <a:srgbClr val="C00000"/>
              </a:buClr>
            </a:pPr>
            <a:endParaRPr lang="en-US" sz="1200" dirty="0">
              <a:solidFill>
                <a:schemeClr val="accent1">
                  <a:lumMod val="25000"/>
                </a:schemeClr>
              </a:solidFill>
              <a:latin typeface="Calibri" pitchFamily="34" charset="0"/>
              <a:cs typeface="Calibri" pitchFamily="34" charset="0"/>
            </a:endParaRPr>
          </a:p>
          <a:p>
            <a:pPr>
              <a:buClr>
                <a:srgbClr val="C00000"/>
              </a:buClr>
            </a:pPr>
            <a:endParaRPr lang="en-US" sz="1200" dirty="0">
              <a:solidFill>
                <a:schemeClr val="accent1">
                  <a:lumMod val="25000"/>
                </a:schemeClr>
              </a:solidFill>
              <a:latin typeface="Calibri" pitchFamily="34" charset="0"/>
              <a:cs typeface="Calibri" pitchFamily="34" charset="0"/>
            </a:endParaRPr>
          </a:p>
          <a:p>
            <a:pPr>
              <a:buClr>
                <a:srgbClr val="C00000"/>
              </a:buClr>
            </a:pPr>
            <a:r>
              <a:rPr lang="en-US" sz="1200" dirty="0">
                <a:solidFill>
                  <a:schemeClr val="accent1">
                    <a:lumMod val="25000"/>
                  </a:schemeClr>
                </a:solidFill>
                <a:latin typeface="Calibri" pitchFamily="34" charset="0"/>
                <a:cs typeface="Calibri" pitchFamily="34" charset="0"/>
              </a:rPr>
              <a:t>There is also a strong correlation between the “work environment” and “Change of career”. Suggesting that employees consider work environment to be function specific and change careers to avoid a dissatisfactory work environment</a:t>
            </a:r>
          </a:p>
        </p:txBody>
      </p:sp>
      <p:graphicFrame>
        <p:nvGraphicFramePr>
          <p:cNvPr id="15" name="Table 14"/>
          <p:cNvGraphicFramePr>
            <a:graphicFrameLocks noGrp="1"/>
          </p:cNvGraphicFramePr>
          <p:nvPr/>
        </p:nvGraphicFramePr>
        <p:xfrm>
          <a:off x="9705975" y="3171825"/>
          <a:ext cx="208280" cy="365760"/>
        </p:xfrm>
        <a:graphic>
          <a:graphicData uri="http://schemas.openxmlformats.org/drawingml/2006/table">
            <a:tbl>
              <a:tblPr/>
              <a:tblGrid>
                <a:gridCol w="208280">
                  <a:extLst>
                    <a:ext uri="{9D8B030D-6E8A-4147-A177-3AD203B41FA5}">
                      <a16:colId xmlns:a16="http://schemas.microsoft.com/office/drawing/2014/main" val="20000"/>
                    </a:ext>
                  </a:extLst>
                </a:gridCol>
              </a:tblGrid>
              <a:tr h="0">
                <a:tc>
                  <a:txBody>
                    <a:bodyPr/>
                    <a:lstStyle/>
                    <a:p>
                      <a:endParaRPr lang="en-IN" dirty="0"/>
                    </a:p>
                  </a:txBody>
                  <a:tcPr>
                    <a:lnL w="3175" cmpd="sng">
                      <a:solidFill>
                        <a:schemeClr val="bg1"/>
                      </a:solidFill>
                      <a:prstDash val="solid"/>
                    </a:lnL>
                    <a:lnR w="3175" cmpd="sng">
                      <a:solidFill>
                        <a:schemeClr val="bg1"/>
                      </a:solidFill>
                      <a:prstDash val="solid"/>
                    </a:lnR>
                    <a:lnT w="3175" cmpd="sng">
                      <a:solidFill>
                        <a:schemeClr val="bg1"/>
                      </a:solidFill>
                      <a:prstDash val="solid"/>
                    </a:lnT>
                    <a:lnB w="3175" cmpd="sng">
                      <a:solidFill>
                        <a:schemeClr val="bg1"/>
                      </a:solidFill>
                      <a:prstDash val="solid"/>
                    </a:lnB>
                  </a:tcPr>
                </a:tc>
                <a:extLst>
                  <a:ext uri="{0D108BD9-81ED-4DB2-BD59-A6C34878D82A}">
                    <a16:rowId xmlns:a16="http://schemas.microsoft.com/office/drawing/2014/main" val="10000"/>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7" name="Table 6"/>
          <p:cNvGraphicFramePr>
            <a:graphicFrameLocks noGrp="1"/>
          </p:cNvGraphicFramePr>
          <p:nvPr>
            <p:extLst>
              <p:ext uri="{D42A27DB-BD31-4B8C-83A1-F6EECF244321}">
                <p14:modId xmlns:p14="http://schemas.microsoft.com/office/powerpoint/2010/main" val="1443133974"/>
              </p:ext>
            </p:extLst>
          </p:nvPr>
        </p:nvGraphicFramePr>
        <p:xfrm>
          <a:off x="381000" y="1676400"/>
          <a:ext cx="5943600" cy="5276236"/>
        </p:xfrm>
        <a:graphic>
          <a:graphicData uri="http://schemas.openxmlformats.org/drawingml/2006/table">
            <a:tbl>
              <a:tblPr>
                <a:tableStyleId>{2D5ABB26-0587-4C30-8999-92F81FD0307C}</a:tableStyleId>
              </a:tblPr>
              <a:tblGrid>
                <a:gridCol w="3675268">
                  <a:extLst>
                    <a:ext uri="{9D8B030D-6E8A-4147-A177-3AD203B41FA5}">
                      <a16:colId xmlns:a16="http://schemas.microsoft.com/office/drawing/2014/main" val="20000"/>
                    </a:ext>
                  </a:extLst>
                </a:gridCol>
                <a:gridCol w="565177">
                  <a:extLst>
                    <a:ext uri="{9D8B030D-6E8A-4147-A177-3AD203B41FA5}">
                      <a16:colId xmlns:a16="http://schemas.microsoft.com/office/drawing/2014/main" val="20001"/>
                    </a:ext>
                  </a:extLst>
                </a:gridCol>
                <a:gridCol w="1703155">
                  <a:extLst>
                    <a:ext uri="{9D8B030D-6E8A-4147-A177-3AD203B41FA5}">
                      <a16:colId xmlns:a16="http://schemas.microsoft.com/office/drawing/2014/main" val="20002"/>
                    </a:ext>
                  </a:extLst>
                </a:gridCol>
              </a:tblGrid>
              <a:tr h="687394">
                <a:tc>
                  <a:txBody>
                    <a:bodyPr/>
                    <a:lstStyle/>
                    <a:p>
                      <a:pPr algn="ctr" fontAlgn="ctr"/>
                      <a:r>
                        <a:rPr lang="en-US" sz="1200" b="1" u="none" strike="noStrike" dirty="0">
                          <a:latin typeface="Calibri" pitchFamily="34" charset="0"/>
                          <a:cs typeface="Calibri" pitchFamily="34" charset="0"/>
                        </a:rPr>
                        <a:t>Questions</a:t>
                      </a:r>
                      <a:endParaRPr lang="en-US" sz="1200" b="1" i="0" u="none" strike="noStrike" dirty="0">
                        <a:solidFill>
                          <a:srgbClr val="000000"/>
                        </a:solidFill>
                        <a:latin typeface="Calibri" pitchFamily="34" charset="0"/>
                        <a:cs typeface="Calibri" pitchFamily="34" charset="0"/>
                      </a:endParaRPr>
                    </a:p>
                  </a:txBody>
                  <a:tcPr marL="5773" marR="5773" marT="5773" marB="0" anchor="ctr">
                    <a:solidFill>
                      <a:srgbClr val="93CDCA"/>
                    </a:solidFill>
                  </a:tcPr>
                </a:tc>
                <a:tc>
                  <a:txBody>
                    <a:bodyPr/>
                    <a:lstStyle/>
                    <a:p>
                      <a:pPr algn="ctr" fontAlgn="ctr"/>
                      <a:r>
                        <a:rPr lang="en-US" sz="1200" u="none" strike="noStrike" dirty="0">
                          <a:latin typeface="Calibri" pitchFamily="34" charset="0"/>
                          <a:cs typeface="Calibri" pitchFamily="34" charset="0"/>
                        </a:rPr>
                        <a:t>Mean</a:t>
                      </a:r>
                      <a:endParaRPr lang="en-US" sz="1200" b="1" i="0" u="none" strike="noStrike" dirty="0">
                        <a:solidFill>
                          <a:srgbClr val="000000"/>
                        </a:solidFill>
                        <a:latin typeface="Calibri" pitchFamily="34" charset="0"/>
                        <a:cs typeface="Calibri" pitchFamily="34" charset="0"/>
                      </a:endParaRPr>
                    </a:p>
                  </a:txBody>
                  <a:tcPr marL="5773" marR="5773" marT="5773" marB="0" anchor="ctr">
                    <a:solidFill>
                      <a:srgbClr val="93CDCA"/>
                    </a:solidFill>
                  </a:tcPr>
                </a:tc>
                <a:tc>
                  <a:txBody>
                    <a:bodyPr/>
                    <a:lstStyle/>
                    <a:p>
                      <a:pPr algn="ctr" fontAlgn="ctr"/>
                      <a:r>
                        <a:rPr lang="en-US" sz="1200" u="none" strike="noStrike" dirty="0">
                          <a:latin typeface="Calibri" pitchFamily="34" charset="0"/>
                          <a:cs typeface="Calibri" pitchFamily="34" charset="0"/>
                        </a:rPr>
                        <a:t>Response rate</a:t>
                      </a:r>
                      <a:br>
                        <a:rPr lang="en-US" sz="1200" u="none" strike="noStrike" dirty="0">
                          <a:latin typeface="Calibri" pitchFamily="34" charset="0"/>
                          <a:cs typeface="Calibri" pitchFamily="34" charset="0"/>
                        </a:rPr>
                      </a:br>
                      <a:r>
                        <a:rPr lang="en-US" sz="1200" u="none" strike="noStrike" dirty="0">
                          <a:latin typeface="Calibri" pitchFamily="34" charset="0"/>
                          <a:cs typeface="Calibri" pitchFamily="34" charset="0"/>
                        </a:rPr>
                        <a:t> </a:t>
                      </a:r>
                      <a:r>
                        <a:rPr lang="en-US" sz="1100" u="none" strike="noStrike" dirty="0">
                          <a:latin typeface="Calibri" pitchFamily="34" charset="0"/>
                          <a:cs typeface="Calibri" pitchFamily="34" charset="0"/>
                        </a:rPr>
                        <a:t>(combined scores of good + very good + excellent)</a:t>
                      </a:r>
                      <a:endParaRPr lang="en-US" sz="1100" b="1" i="0" u="none" strike="noStrike" dirty="0">
                        <a:solidFill>
                          <a:srgbClr val="000000"/>
                        </a:solidFill>
                        <a:latin typeface="Calibri" pitchFamily="34" charset="0"/>
                        <a:cs typeface="Calibri" pitchFamily="34" charset="0"/>
                      </a:endParaRPr>
                    </a:p>
                  </a:txBody>
                  <a:tcPr marL="5773" marR="5773" marT="5773" marB="0" anchor="ctr">
                    <a:solidFill>
                      <a:srgbClr val="93CDCA"/>
                    </a:solidFill>
                  </a:tcPr>
                </a:tc>
                <a:extLst>
                  <a:ext uri="{0D108BD9-81ED-4DB2-BD59-A6C34878D82A}">
                    <a16:rowId xmlns:a16="http://schemas.microsoft.com/office/drawing/2014/main" val="10000"/>
                  </a:ext>
                </a:extLst>
              </a:tr>
              <a:tr h="246419">
                <a:tc>
                  <a:txBody>
                    <a:bodyPr/>
                    <a:lstStyle/>
                    <a:p>
                      <a:pPr algn="ctr" fontAlgn="t"/>
                      <a:endParaRPr lang="en-US" sz="1100" b="1" u="none" strike="noStrike" dirty="0">
                        <a:solidFill>
                          <a:srgbClr val="A50021"/>
                        </a:solidFill>
                        <a:latin typeface="Calibri" pitchFamily="34" charset="0"/>
                        <a:cs typeface="Calibri" pitchFamily="34" charset="0"/>
                      </a:endParaRPr>
                    </a:p>
                    <a:p>
                      <a:pPr algn="ctr" fontAlgn="t"/>
                      <a:r>
                        <a:rPr lang="en-US" sz="1100" b="1" u="none" strike="noStrike" dirty="0">
                          <a:solidFill>
                            <a:srgbClr val="A50021"/>
                          </a:solidFill>
                          <a:latin typeface="Calibri" pitchFamily="34" charset="0"/>
                          <a:cs typeface="Calibri" pitchFamily="34" charset="0"/>
                        </a:rPr>
                        <a:t>Supervision Related</a:t>
                      </a:r>
                      <a:endParaRPr lang="en-US" sz="1100" b="1" i="0" u="none" strike="noStrike" dirty="0">
                        <a:solidFill>
                          <a:srgbClr val="A50021"/>
                        </a:solidFill>
                        <a:latin typeface="Calibri" pitchFamily="34" charset="0"/>
                        <a:cs typeface="Calibri" pitchFamily="34" charset="0"/>
                      </a:endParaRPr>
                    </a:p>
                  </a:txBody>
                  <a:tcPr marL="5773" marR="5773" marT="5773" marB="0">
                    <a:lnB w="3175"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fontAlgn="t"/>
                      <a:r>
                        <a:rPr lang="en-US" sz="1100" b="1" u="none" strike="noStrike" dirty="0">
                          <a:solidFill>
                            <a:srgbClr val="A50021"/>
                          </a:solidFill>
                          <a:latin typeface="Calibri" pitchFamily="34" charset="0"/>
                          <a:cs typeface="Calibri" pitchFamily="34" charset="0"/>
                        </a:rPr>
                        <a:t>1.42</a:t>
                      </a:r>
                      <a:endParaRPr lang="en-US" sz="1100" b="1" i="0" u="none" strike="noStrike" dirty="0">
                        <a:solidFill>
                          <a:srgbClr val="A50021"/>
                        </a:solidFill>
                        <a:latin typeface="Calibri" pitchFamily="34" charset="0"/>
                        <a:cs typeface="Calibri" pitchFamily="34" charset="0"/>
                      </a:endParaRPr>
                    </a:p>
                  </a:txBody>
                  <a:tcPr marL="5773" marR="5773" marT="5773" marB="0" anchor="ctr">
                    <a:lnB w="3175"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fontAlgn="b"/>
                      <a:r>
                        <a:rPr lang="en-US" sz="1100" b="1" u="none" strike="noStrike" dirty="0">
                          <a:solidFill>
                            <a:srgbClr val="A50021"/>
                          </a:solidFill>
                          <a:latin typeface="Calibri" pitchFamily="34" charset="0"/>
                          <a:cs typeface="Calibri" pitchFamily="34" charset="0"/>
                        </a:rPr>
                        <a:t>15%</a:t>
                      </a:r>
                      <a:endParaRPr lang="en-US" sz="1100" b="1" i="0" u="none" strike="noStrike" dirty="0">
                        <a:solidFill>
                          <a:srgbClr val="A50021"/>
                        </a:solidFill>
                        <a:latin typeface="Calibri" pitchFamily="34" charset="0"/>
                        <a:cs typeface="Calibri" pitchFamily="34" charset="0"/>
                      </a:endParaRPr>
                    </a:p>
                  </a:txBody>
                  <a:tcPr marL="5773" marR="5773" marT="5773" marB="0" anchor="ctr">
                    <a:lnB w="3175"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10001"/>
                  </a:ext>
                </a:extLst>
              </a:tr>
              <a:tr h="387224">
                <a:tc>
                  <a:txBody>
                    <a:bodyPr/>
                    <a:lstStyle/>
                    <a:p>
                      <a:pPr algn="ctr" fontAlgn="t"/>
                      <a:endParaRPr lang="en-US" sz="1100" u="none" strike="noStrike" dirty="0">
                        <a:latin typeface="Calibri" pitchFamily="34" charset="0"/>
                        <a:cs typeface="Calibri" pitchFamily="34" charset="0"/>
                      </a:endParaRPr>
                    </a:p>
                    <a:p>
                      <a:pPr algn="ctr" fontAlgn="t"/>
                      <a:r>
                        <a:rPr lang="en-US" sz="1100" u="none" strike="noStrike" dirty="0">
                          <a:latin typeface="Calibri" pitchFamily="34" charset="0"/>
                          <a:cs typeface="Calibri" pitchFamily="34" charset="0"/>
                        </a:rPr>
                        <a:t>Were you happy with the quality of supervision you received?</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1.44</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15%</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63220">
                <a:tc>
                  <a:txBody>
                    <a:bodyPr/>
                    <a:lstStyle/>
                    <a:p>
                      <a:pPr algn="ctr" fontAlgn="t"/>
                      <a:r>
                        <a:rPr lang="en-US" sz="1100" u="none" strike="noStrike" dirty="0">
                          <a:latin typeface="Calibri" pitchFamily="34" charset="0"/>
                          <a:cs typeface="Calibri" pitchFamily="34" charset="0"/>
                        </a:rPr>
                        <a:t>How would you rate your line manager/supervisor against the following: Providing goals and expectations</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1.39</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14%</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46419">
                <a:tc>
                  <a:txBody>
                    <a:bodyPr/>
                    <a:lstStyle/>
                    <a:p>
                      <a:pPr algn="ctr" fontAlgn="t"/>
                      <a:r>
                        <a:rPr lang="en-US" sz="1100" u="none" strike="noStrike" dirty="0">
                          <a:latin typeface="Calibri" pitchFamily="34" charset="0"/>
                          <a:cs typeface="Calibri" pitchFamily="34" charset="0"/>
                        </a:rPr>
                        <a:t>Providing  direction, guidance &amp; feedback</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1.42</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15%</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8149">
                <a:tc>
                  <a:txBody>
                    <a:bodyPr/>
                    <a:lstStyle/>
                    <a:p>
                      <a:pPr algn="ctr" fontAlgn="t"/>
                      <a:r>
                        <a:rPr lang="en-US" sz="1100" u="none" strike="noStrike" dirty="0">
                          <a:latin typeface="Calibri" pitchFamily="34" charset="0"/>
                          <a:cs typeface="Calibri" pitchFamily="34" charset="0"/>
                        </a:rPr>
                        <a:t>Communicative and sharing</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1.43</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16%</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387224">
                <a:tc>
                  <a:txBody>
                    <a:bodyPr/>
                    <a:lstStyle/>
                    <a:p>
                      <a:pPr algn="ctr" fontAlgn="t"/>
                      <a:r>
                        <a:rPr lang="en-US" sz="1100" u="none" strike="noStrike" dirty="0">
                          <a:latin typeface="Calibri" pitchFamily="34" charset="0"/>
                          <a:cs typeface="Calibri" pitchFamily="34" charset="0"/>
                        </a:rPr>
                        <a:t>Participative &amp; inclusive  (inviting ideas and suggestions )</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1.42</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14%</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375494">
                <a:tc>
                  <a:txBody>
                    <a:bodyPr/>
                    <a:lstStyle/>
                    <a:p>
                      <a:pPr algn="ctr" fontAlgn="t"/>
                      <a:r>
                        <a:rPr lang="en-US" sz="1100" u="none" strike="noStrike" dirty="0">
                          <a:latin typeface="Calibri" pitchFamily="34" charset="0"/>
                          <a:cs typeface="Calibri" pitchFamily="34" charset="0"/>
                        </a:rPr>
                        <a:t>Concerned about you as an individual / team member</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1.43</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15%</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34691">
                <a:tc>
                  <a:txBody>
                    <a:bodyPr/>
                    <a:lstStyle/>
                    <a:p>
                      <a:pPr algn="ctr" fontAlgn="t"/>
                      <a:r>
                        <a:rPr lang="en-US" sz="1100" u="none" strike="noStrike" dirty="0">
                          <a:latin typeface="Calibri" pitchFamily="34" charset="0"/>
                          <a:cs typeface="Calibri" pitchFamily="34" charset="0"/>
                        </a:rPr>
                        <a:t>Mentoring  you to develop in your role</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1.42</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16%</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r h="234691">
                <a:tc>
                  <a:txBody>
                    <a:bodyPr/>
                    <a:lstStyle/>
                    <a:p>
                      <a:pPr algn="ctr" fontAlgn="t"/>
                      <a:r>
                        <a:rPr lang="en-US" sz="1100" u="none" strike="noStrike" dirty="0">
                          <a:latin typeface="Calibri" pitchFamily="34" charset="0"/>
                          <a:cs typeface="Calibri" pitchFamily="34" charset="0"/>
                        </a:rPr>
                        <a:t>Providing adequate training and coaching</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1.44</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16%</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9"/>
                  </a:ext>
                </a:extLst>
              </a:tr>
              <a:tr h="234691">
                <a:tc>
                  <a:txBody>
                    <a:bodyPr/>
                    <a:lstStyle/>
                    <a:p>
                      <a:pPr algn="ctr" fontAlgn="t"/>
                      <a:r>
                        <a:rPr lang="en-US" sz="1100" u="none" strike="noStrike" dirty="0">
                          <a:latin typeface="Calibri" pitchFamily="34" charset="0"/>
                          <a:cs typeface="Calibri" pitchFamily="34" charset="0"/>
                        </a:rPr>
                        <a:t>Demonstrating fairness  and objectivity</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1.41</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15%</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0"/>
                  </a:ext>
                </a:extLst>
              </a:tr>
              <a:tr h="375494">
                <a:tc>
                  <a:txBody>
                    <a:bodyPr/>
                    <a:lstStyle/>
                    <a:p>
                      <a:pPr algn="ctr" fontAlgn="t"/>
                      <a:r>
                        <a:rPr lang="en-US" sz="1100" u="none" strike="noStrike" dirty="0">
                          <a:latin typeface="Calibri" pitchFamily="34" charset="0"/>
                          <a:cs typeface="Calibri" pitchFamily="34" charset="0"/>
                        </a:rPr>
                        <a:t>Allowing  freedom and space for initiative &amp; creative thinking</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1.40</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14%</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1"/>
                  </a:ext>
                </a:extLst>
              </a:tr>
              <a:tr h="234691">
                <a:tc>
                  <a:txBody>
                    <a:bodyPr/>
                    <a:lstStyle/>
                    <a:p>
                      <a:pPr algn="ctr" fontAlgn="t"/>
                      <a:r>
                        <a:rPr lang="en-US" sz="1100" u="none" strike="noStrike" dirty="0">
                          <a:latin typeface="Calibri" pitchFamily="34" charset="0"/>
                          <a:cs typeface="Calibri" pitchFamily="34" charset="0"/>
                        </a:rPr>
                        <a:t>Delegating and empowering</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1.42</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15%</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2"/>
                  </a:ext>
                </a:extLst>
              </a:tr>
              <a:tr h="246419">
                <a:tc>
                  <a:txBody>
                    <a:bodyPr/>
                    <a:lstStyle/>
                    <a:p>
                      <a:pPr algn="ctr" fontAlgn="b"/>
                      <a:endParaRPr lang="en-US" sz="1100" b="0" i="0" u="none" strike="noStrike" dirty="0">
                        <a:solidFill>
                          <a:srgbClr val="000000"/>
                        </a:solidFill>
                        <a:latin typeface="Calibri" pitchFamily="34" charset="0"/>
                        <a:cs typeface="Calibri" pitchFamily="34" charset="0"/>
                      </a:endParaRPr>
                    </a:p>
                  </a:txBody>
                  <a:tcPr marL="5773" marR="5773" marT="5773" marB="0" anchor="b">
                    <a:lnT w="3175" cap="flat" cmpd="sng" algn="ctr">
                      <a:solidFill>
                        <a:schemeClr val="tx1"/>
                      </a:solidFill>
                      <a:prstDash val="solid"/>
                      <a:round/>
                      <a:headEnd type="none" w="med" len="med"/>
                      <a:tailEnd type="none" w="med" len="med"/>
                    </a:lnT>
                  </a:tcPr>
                </a:tc>
                <a:tc>
                  <a:txBody>
                    <a:bodyPr/>
                    <a:lstStyle/>
                    <a:p>
                      <a:pPr algn="ctr" fontAlgn="b"/>
                      <a:endParaRPr lang="en-US" sz="1100" b="0" i="0" u="none" strike="noStrike">
                        <a:solidFill>
                          <a:srgbClr val="000000"/>
                        </a:solidFill>
                        <a:latin typeface="Calibri" pitchFamily="34" charset="0"/>
                        <a:cs typeface="Calibri" pitchFamily="34" charset="0"/>
                      </a:endParaRPr>
                    </a:p>
                  </a:txBody>
                  <a:tcPr marL="5773" marR="5773" marT="5773" marB="0" anchor="b">
                    <a:lnT w="3175" cap="flat" cmpd="sng" algn="ctr">
                      <a:solidFill>
                        <a:schemeClr val="tx1"/>
                      </a:solidFill>
                      <a:prstDash val="solid"/>
                      <a:round/>
                      <a:headEnd type="none" w="med" len="med"/>
                      <a:tailEnd type="none" w="med" len="med"/>
                    </a:lnT>
                  </a:tcPr>
                </a:tc>
                <a:tc>
                  <a:txBody>
                    <a:bodyPr/>
                    <a:lstStyle/>
                    <a:p>
                      <a:pPr algn="ctr" fontAlgn="b"/>
                      <a:endParaRPr lang="en-US" sz="1100" b="0" i="0" u="none" strike="noStrike" dirty="0">
                        <a:solidFill>
                          <a:srgbClr val="000000"/>
                        </a:solidFill>
                        <a:latin typeface="Calibri" pitchFamily="34" charset="0"/>
                        <a:cs typeface="Calibri" pitchFamily="34" charset="0"/>
                      </a:endParaRPr>
                    </a:p>
                  </a:txBody>
                  <a:tcPr marL="5773" marR="5773" marT="5773" marB="0" anchor="b">
                    <a:lnT w="31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13"/>
                  </a:ext>
                </a:extLst>
              </a:tr>
              <a:tr h="234691">
                <a:tc>
                  <a:txBody>
                    <a:bodyPr/>
                    <a:lstStyle/>
                    <a:p>
                      <a:pPr algn="l" fontAlgn="b"/>
                      <a:endParaRPr lang="en-US" sz="1100" b="0" i="0" u="none" strike="noStrike">
                        <a:solidFill>
                          <a:srgbClr val="000000"/>
                        </a:solidFill>
                        <a:latin typeface="Calibri" pitchFamily="34" charset="0"/>
                        <a:cs typeface="Calibri" pitchFamily="34" charset="0"/>
                      </a:endParaRPr>
                    </a:p>
                  </a:txBody>
                  <a:tcPr marL="5773" marR="5773" marT="5773" marB="0" anchor="b"/>
                </a:tc>
                <a:tc>
                  <a:txBody>
                    <a:bodyPr/>
                    <a:lstStyle/>
                    <a:p>
                      <a:pPr algn="l" fontAlgn="b"/>
                      <a:endParaRPr lang="en-US" sz="1100" b="0" i="0" u="none" strike="noStrike">
                        <a:solidFill>
                          <a:srgbClr val="000000"/>
                        </a:solidFill>
                        <a:latin typeface="Calibri" pitchFamily="34" charset="0"/>
                        <a:cs typeface="Calibri" pitchFamily="34" charset="0"/>
                      </a:endParaRPr>
                    </a:p>
                  </a:txBody>
                  <a:tcPr marL="5773" marR="5773" marT="5773" marB="0" anchor="b"/>
                </a:tc>
                <a:tc>
                  <a:txBody>
                    <a:bodyPr/>
                    <a:lstStyle/>
                    <a:p>
                      <a:pPr algn="l" fontAlgn="b"/>
                      <a:endParaRPr lang="en-US" sz="1100" b="0" i="0" u="none" strike="noStrike" dirty="0">
                        <a:solidFill>
                          <a:srgbClr val="000000"/>
                        </a:solidFill>
                        <a:latin typeface="Calibri" pitchFamily="34" charset="0"/>
                        <a:cs typeface="Calibri" pitchFamily="34" charset="0"/>
                      </a:endParaRPr>
                    </a:p>
                  </a:txBody>
                  <a:tcPr marL="5773" marR="5773" marT="5773" marB="0" anchor="b"/>
                </a:tc>
                <a:extLst>
                  <a:ext uri="{0D108BD9-81ED-4DB2-BD59-A6C34878D82A}">
                    <a16:rowId xmlns:a16="http://schemas.microsoft.com/office/drawing/2014/main" val="10014"/>
                  </a:ext>
                </a:extLst>
              </a:tr>
              <a:tr h="234691">
                <a:tc>
                  <a:txBody>
                    <a:bodyPr/>
                    <a:lstStyle/>
                    <a:p>
                      <a:pPr algn="l" fontAlgn="b"/>
                      <a:endParaRPr lang="en-US" sz="1100" b="0" i="0" u="none" strike="noStrike">
                        <a:solidFill>
                          <a:srgbClr val="000000"/>
                        </a:solidFill>
                        <a:latin typeface="Calibri" pitchFamily="34" charset="0"/>
                        <a:cs typeface="Calibri" pitchFamily="34" charset="0"/>
                      </a:endParaRPr>
                    </a:p>
                  </a:txBody>
                  <a:tcPr marL="5773" marR="5773" marT="5773" marB="0" anchor="b"/>
                </a:tc>
                <a:tc>
                  <a:txBody>
                    <a:bodyPr/>
                    <a:lstStyle/>
                    <a:p>
                      <a:pPr algn="l" fontAlgn="b"/>
                      <a:endParaRPr lang="en-US" sz="1100" b="0" i="0" u="none" strike="noStrike">
                        <a:solidFill>
                          <a:srgbClr val="000000"/>
                        </a:solidFill>
                        <a:latin typeface="Calibri" pitchFamily="34" charset="0"/>
                        <a:cs typeface="Calibri" pitchFamily="34" charset="0"/>
                      </a:endParaRPr>
                    </a:p>
                  </a:txBody>
                  <a:tcPr marL="5773" marR="5773" marT="5773" marB="0" anchor="b"/>
                </a:tc>
                <a:tc>
                  <a:txBody>
                    <a:bodyPr/>
                    <a:lstStyle/>
                    <a:p>
                      <a:pPr algn="l" fontAlgn="b"/>
                      <a:endParaRPr lang="en-US" sz="1100" b="0" i="0" u="none" strike="noStrike" dirty="0">
                        <a:solidFill>
                          <a:srgbClr val="000000"/>
                        </a:solidFill>
                        <a:latin typeface="Calibri" pitchFamily="34" charset="0"/>
                        <a:cs typeface="Calibri" pitchFamily="34" charset="0"/>
                      </a:endParaRPr>
                    </a:p>
                  </a:txBody>
                  <a:tcPr marL="5773" marR="5773" marT="5773" marB="0" anchor="b"/>
                </a:tc>
                <a:extLst>
                  <a:ext uri="{0D108BD9-81ED-4DB2-BD59-A6C34878D82A}">
                    <a16:rowId xmlns:a16="http://schemas.microsoft.com/office/drawing/2014/main" val="10015"/>
                  </a:ext>
                </a:extLst>
              </a:tr>
            </a:tbl>
          </a:graphicData>
        </a:graphic>
      </p:graphicFrame>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11</a:t>
            </a:fld>
            <a:endParaRPr lang="en-US" dirty="0"/>
          </a:p>
        </p:txBody>
      </p:sp>
      <p:sp>
        <p:nvSpPr>
          <p:cNvPr id="8" name="TextBox 7"/>
          <p:cNvSpPr txBox="1"/>
          <p:nvPr/>
        </p:nvSpPr>
        <p:spPr>
          <a:xfrm>
            <a:off x="6629400" y="1447800"/>
            <a:ext cx="2438400" cy="4782847"/>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endParaRPr lang="en-US" sz="1200" dirty="0">
              <a:solidFill>
                <a:schemeClr val="accent1">
                  <a:lumMod val="25000"/>
                </a:schemeClr>
              </a:solidFill>
              <a:latin typeface="Calibri" pitchFamily="34" charset="0"/>
              <a:cs typeface="Calibri" pitchFamily="34" charset="0"/>
            </a:endParaRPr>
          </a:p>
          <a:p>
            <a:pPr>
              <a:lnSpc>
                <a:spcPct val="120000"/>
              </a:lnSpc>
              <a:buClr>
                <a:srgbClr val="C00000"/>
              </a:buClr>
            </a:pPr>
            <a:r>
              <a:rPr lang="en-US" sz="1200" dirty="0">
                <a:solidFill>
                  <a:schemeClr val="accent1">
                    <a:lumMod val="25000"/>
                  </a:schemeClr>
                </a:solidFill>
                <a:latin typeface="Calibri" pitchFamily="34" charset="0"/>
                <a:cs typeface="Calibri" pitchFamily="34" charset="0"/>
              </a:rPr>
              <a:t> Any mean value &lt;2.5  implies a negative influence</a:t>
            </a:r>
          </a:p>
          <a:p>
            <a:pPr>
              <a:lnSpc>
                <a:spcPct val="120000"/>
              </a:lnSpc>
              <a:buClr>
                <a:srgbClr val="C00000"/>
              </a:buClr>
            </a:pPr>
            <a:r>
              <a:rPr lang="en-US" sz="1200" dirty="0">
                <a:solidFill>
                  <a:schemeClr val="accent1">
                    <a:lumMod val="25000"/>
                  </a:schemeClr>
                </a:solidFill>
                <a:latin typeface="Calibri" pitchFamily="34" charset="0"/>
                <a:cs typeface="Calibri" pitchFamily="34" charset="0"/>
              </a:rPr>
              <a:t>1-1.5 = highly negative influence</a:t>
            </a:r>
          </a:p>
          <a:p>
            <a:pPr>
              <a:lnSpc>
                <a:spcPct val="120000"/>
              </a:lnSpc>
              <a:buClr>
                <a:srgbClr val="C00000"/>
              </a:buClr>
            </a:pPr>
            <a:r>
              <a:rPr lang="en-US" sz="1200" dirty="0">
                <a:solidFill>
                  <a:schemeClr val="accent1">
                    <a:lumMod val="25000"/>
                  </a:schemeClr>
                </a:solidFill>
                <a:latin typeface="Calibri" pitchFamily="34" charset="0"/>
                <a:cs typeface="Calibri" pitchFamily="34" charset="0"/>
              </a:rPr>
              <a:t>1.5-2 = medium negative influence</a:t>
            </a:r>
          </a:p>
          <a:p>
            <a:pPr>
              <a:lnSpc>
                <a:spcPct val="120000"/>
              </a:lnSpc>
              <a:buClr>
                <a:srgbClr val="C00000"/>
              </a:buClr>
            </a:pPr>
            <a:r>
              <a:rPr lang="en-US" sz="1200" dirty="0">
                <a:solidFill>
                  <a:schemeClr val="accent1">
                    <a:lumMod val="25000"/>
                  </a:schemeClr>
                </a:solidFill>
                <a:latin typeface="Calibri" pitchFamily="34" charset="0"/>
                <a:cs typeface="Calibri" pitchFamily="34" charset="0"/>
              </a:rPr>
              <a:t>2.1 -2.5 = low positive influence</a:t>
            </a:r>
          </a:p>
          <a:p>
            <a:pPr>
              <a:lnSpc>
                <a:spcPct val="120000"/>
              </a:lnSpc>
              <a:buClr>
                <a:srgbClr val="C00000"/>
              </a:buClr>
            </a:pPr>
            <a:endParaRPr lang="en-US" sz="1200" dirty="0">
              <a:solidFill>
                <a:schemeClr val="accent1">
                  <a:lumMod val="25000"/>
                </a:schemeClr>
              </a:solidFill>
              <a:latin typeface="Calibri" pitchFamily="34" charset="0"/>
              <a:cs typeface="Calibri" pitchFamily="34" charset="0"/>
            </a:endParaRPr>
          </a:p>
          <a:p>
            <a:pPr>
              <a:lnSpc>
                <a:spcPct val="120000"/>
              </a:lnSpc>
              <a:buClr>
                <a:srgbClr val="C00000"/>
              </a:buClr>
            </a:pPr>
            <a:r>
              <a:rPr lang="en-US" sz="1200" dirty="0">
                <a:solidFill>
                  <a:schemeClr val="accent1">
                    <a:lumMod val="25000"/>
                  </a:schemeClr>
                </a:solidFill>
                <a:latin typeface="Calibri" pitchFamily="34" charset="0"/>
                <a:cs typeface="Calibri" pitchFamily="34" charset="0"/>
              </a:rPr>
              <a:t> Supervision  has an average mean score of 1.42 which qualifies as a highly negative influence  </a:t>
            </a:r>
          </a:p>
          <a:p>
            <a:pPr>
              <a:lnSpc>
                <a:spcPct val="120000"/>
              </a:lnSpc>
              <a:buClr>
                <a:srgbClr val="C00000"/>
              </a:buClr>
            </a:pPr>
            <a:endParaRPr lang="en-US" sz="1200" dirty="0">
              <a:solidFill>
                <a:schemeClr val="accent1">
                  <a:lumMod val="25000"/>
                </a:schemeClr>
              </a:solidFill>
              <a:latin typeface="Calibri" pitchFamily="34" charset="0"/>
              <a:cs typeface="Calibri" pitchFamily="34" charset="0"/>
            </a:endParaRPr>
          </a:p>
          <a:p>
            <a:pPr>
              <a:lnSpc>
                <a:spcPct val="120000"/>
              </a:lnSpc>
              <a:buClr>
                <a:srgbClr val="C00000"/>
              </a:buClr>
            </a:pPr>
            <a:r>
              <a:rPr lang="en-US" sz="1200" dirty="0">
                <a:solidFill>
                  <a:schemeClr val="accent1">
                    <a:lumMod val="25000"/>
                  </a:schemeClr>
                </a:solidFill>
                <a:latin typeface="Calibri" pitchFamily="34" charset="0"/>
                <a:cs typeface="Calibri" pitchFamily="34" charset="0"/>
              </a:rPr>
              <a:t>Work environment has an average mean value of 2.32 which is low positive influence</a:t>
            </a:r>
          </a:p>
          <a:p>
            <a:pPr>
              <a:lnSpc>
                <a:spcPct val="120000"/>
              </a:lnSpc>
              <a:buClr>
                <a:srgbClr val="C00000"/>
              </a:buClr>
            </a:pPr>
            <a:endParaRPr lang="en-US" sz="1200" dirty="0">
              <a:solidFill>
                <a:schemeClr val="accent1">
                  <a:lumMod val="25000"/>
                </a:schemeClr>
              </a:solidFill>
              <a:latin typeface="Calibri" pitchFamily="34" charset="0"/>
              <a:cs typeface="Calibri" pitchFamily="34" charset="0"/>
            </a:endParaRPr>
          </a:p>
          <a:p>
            <a:pPr>
              <a:lnSpc>
                <a:spcPct val="120000"/>
              </a:lnSpc>
              <a:buClr>
                <a:srgbClr val="C00000"/>
              </a:buClr>
            </a:pPr>
            <a:r>
              <a:rPr lang="en-US" sz="1200" dirty="0">
                <a:solidFill>
                  <a:schemeClr val="accent1">
                    <a:lumMod val="25000"/>
                  </a:schemeClr>
                </a:solidFill>
                <a:latin typeface="Calibri" pitchFamily="34" charset="0"/>
                <a:cs typeface="Calibri" pitchFamily="34" charset="0"/>
              </a:rPr>
              <a:t>Low advancement opportunity has a score of 2.42 which is also low positive  influence.</a:t>
            </a:r>
          </a:p>
          <a:p>
            <a:pPr>
              <a:buClr>
                <a:srgbClr val="C00000"/>
              </a:buClr>
            </a:pPr>
            <a:endParaRPr lang="en-US" sz="1200" dirty="0">
              <a:solidFill>
                <a:schemeClr val="accent1">
                  <a:lumMod val="25000"/>
                </a:schemeClr>
              </a:solidFill>
              <a:latin typeface="Calibri" pitchFamily="34" charset="0"/>
              <a:cs typeface="Calibri" pitchFamily="34" charset="0"/>
            </a:endParaRPr>
          </a:p>
          <a:p>
            <a:pPr>
              <a:buClr>
                <a:srgbClr val="C00000"/>
              </a:buClr>
            </a:pPr>
            <a:endParaRPr lang="en-US" sz="1200" dirty="0">
              <a:solidFill>
                <a:schemeClr val="accent1">
                  <a:lumMod val="25000"/>
                </a:schemeClr>
              </a:solidFill>
              <a:latin typeface="Calibri" pitchFamily="34" charset="0"/>
              <a:cs typeface="Calibri" pitchFamily="34" charset="0"/>
            </a:endParaRPr>
          </a:p>
          <a:p>
            <a:pPr>
              <a:buClr>
                <a:srgbClr val="C00000"/>
              </a:buClr>
            </a:pPr>
            <a:endParaRPr lang="en-US" sz="1200" dirty="0">
              <a:solidFill>
                <a:schemeClr val="accent1">
                  <a:lumMod val="25000"/>
                </a:schemeClr>
              </a:solidFill>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p:txBody>
      </p:sp>
      <p:sp>
        <p:nvSpPr>
          <p:cNvPr id="12" name="Rectangle 11"/>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0" name="TextBox 9"/>
          <p:cNvSpPr txBox="1"/>
          <p:nvPr/>
        </p:nvSpPr>
        <p:spPr>
          <a:xfrm>
            <a:off x="0" y="0"/>
            <a:ext cx="9296400" cy="1015663"/>
          </a:xfrm>
          <a:prstGeom prst="rect">
            <a:avLst/>
          </a:prstGeom>
          <a:effectLst/>
        </p:spPr>
        <p:style>
          <a:lnRef idx="2">
            <a:schemeClr val="accent3"/>
          </a:lnRef>
          <a:fillRef idx="1">
            <a:schemeClr val="lt1"/>
          </a:fillRef>
          <a:effectRef idx="0">
            <a:schemeClr val="accent3"/>
          </a:effectRef>
          <a:fontRef idx="minor">
            <a:schemeClr val="dk1"/>
          </a:fontRef>
        </p:style>
        <p:txBody>
          <a:bodyPr wrap="square" rtlCol="0">
            <a:spAutoFit/>
          </a:bodyPr>
          <a:lstStyle/>
          <a:p>
            <a:pPr algn="ctr" eaLnBrk="0" hangingPunct="0">
              <a:defRPr/>
            </a:pPr>
            <a:r>
              <a:rPr lang="en-US" dirty="0">
                <a:solidFill>
                  <a:srgbClr val="CC0000"/>
                </a:solidFill>
                <a:latin typeface="Calibri" pitchFamily="34" charset="0"/>
                <a:ea typeface="ＭＳ Ｐゴシック" pitchFamily="34" charset="-128"/>
                <a:cs typeface="Calibri" pitchFamily="34" charset="0"/>
              </a:rPr>
              <a:t>Finding 4</a:t>
            </a:r>
          </a:p>
          <a:p>
            <a:pPr algn="ctr" eaLnBrk="0" hangingPunct="0">
              <a:defRPr/>
            </a:pPr>
            <a:r>
              <a:rPr lang="en-US" sz="1400" dirty="0">
                <a:solidFill>
                  <a:srgbClr val="1E4649"/>
                </a:solidFill>
                <a:latin typeface="Calibri" pitchFamily="34" charset="0"/>
                <a:ea typeface="ＭＳ Ｐゴシック" pitchFamily="34" charset="-128"/>
              </a:rPr>
              <a:t>While the overall statistics show “job opportunity” to be the single largest reason for exit, but when co-related with other factors Supervision emerges as the single biggest influencer of attrition.  Work environment &amp; inadequate advancement opportunity also have a negative influence but comparatively lower</a:t>
            </a:r>
          </a:p>
        </p:txBody>
      </p:sp>
      <p:sp>
        <p:nvSpPr>
          <p:cNvPr id="2" name="TextBox 1"/>
          <p:cNvSpPr txBox="1"/>
          <p:nvPr/>
        </p:nvSpPr>
        <p:spPr>
          <a:xfrm>
            <a:off x="381000" y="1295400"/>
            <a:ext cx="1941557" cy="307777"/>
          </a:xfrm>
          <a:prstGeom prst="rect">
            <a:avLst/>
          </a:prstGeom>
          <a:noFill/>
        </p:spPr>
        <p:txBody>
          <a:bodyPr wrap="none" rtlCol="0">
            <a:spAutoFit/>
          </a:bodyPr>
          <a:lstStyle/>
          <a:p>
            <a:r>
              <a:rPr lang="en-US" sz="1400" b="1" dirty="0">
                <a:solidFill>
                  <a:srgbClr val="1E4649"/>
                </a:solidFill>
                <a:latin typeface="Calibri"/>
                <a:cs typeface="Calibri"/>
              </a:rPr>
              <a:t>Response Rate Analysis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7" name="Table 6"/>
          <p:cNvGraphicFramePr>
            <a:graphicFrameLocks noGrp="1"/>
          </p:cNvGraphicFramePr>
          <p:nvPr>
            <p:extLst>
              <p:ext uri="{D42A27DB-BD31-4B8C-83A1-F6EECF244321}">
                <p14:modId xmlns:p14="http://schemas.microsoft.com/office/powerpoint/2010/main" val="1799040591"/>
              </p:ext>
            </p:extLst>
          </p:nvPr>
        </p:nvGraphicFramePr>
        <p:xfrm>
          <a:off x="381000" y="1447800"/>
          <a:ext cx="6324600" cy="5296855"/>
        </p:xfrm>
        <a:graphic>
          <a:graphicData uri="http://schemas.openxmlformats.org/drawingml/2006/table">
            <a:tbl>
              <a:tblPr>
                <a:tableStyleId>{2D5ABB26-0587-4C30-8999-92F81FD0307C}</a:tableStyleId>
              </a:tblPr>
              <a:tblGrid>
                <a:gridCol w="3048704">
                  <a:extLst>
                    <a:ext uri="{9D8B030D-6E8A-4147-A177-3AD203B41FA5}">
                      <a16:colId xmlns:a16="http://schemas.microsoft.com/office/drawing/2014/main" val="20000"/>
                    </a:ext>
                  </a:extLst>
                </a:gridCol>
                <a:gridCol w="1244369">
                  <a:extLst>
                    <a:ext uri="{9D8B030D-6E8A-4147-A177-3AD203B41FA5}">
                      <a16:colId xmlns:a16="http://schemas.microsoft.com/office/drawing/2014/main" val="20001"/>
                    </a:ext>
                  </a:extLst>
                </a:gridCol>
                <a:gridCol w="2031527">
                  <a:extLst>
                    <a:ext uri="{9D8B030D-6E8A-4147-A177-3AD203B41FA5}">
                      <a16:colId xmlns:a16="http://schemas.microsoft.com/office/drawing/2014/main" val="20002"/>
                    </a:ext>
                  </a:extLst>
                </a:gridCol>
              </a:tblGrid>
              <a:tr h="381000">
                <a:tc>
                  <a:txBody>
                    <a:bodyPr/>
                    <a:lstStyle/>
                    <a:p>
                      <a:pPr algn="ctr" fontAlgn="ctr"/>
                      <a:r>
                        <a:rPr lang="en-US" sz="1200" b="1" i="0" u="none" strike="noStrike" dirty="0">
                          <a:solidFill>
                            <a:srgbClr val="000000"/>
                          </a:solidFill>
                          <a:latin typeface="Calibri" pitchFamily="34" charset="0"/>
                          <a:cs typeface="Calibri" pitchFamily="34" charset="0"/>
                        </a:rPr>
                        <a:t>Questions</a:t>
                      </a:r>
                      <a:endParaRPr lang="en-US" sz="1200" b="0" i="0" u="none" strike="noStrike" dirty="0">
                        <a:solidFill>
                          <a:srgbClr val="000000"/>
                        </a:solidFill>
                        <a:latin typeface="Calibri" pitchFamily="34" charset="0"/>
                        <a:cs typeface="Calibri" pitchFamily="34" charset="0"/>
                      </a:endParaRPr>
                    </a:p>
                  </a:txBody>
                  <a:tcPr marL="5773" marR="5773" marT="5773" marB="0" anchor="ctr">
                    <a:lnR w="3175" cap="flat" cmpd="sng" algn="ctr">
                      <a:solidFill>
                        <a:schemeClr val="bg1"/>
                      </a:solidFill>
                      <a:prstDash val="solid"/>
                      <a:round/>
                      <a:headEnd type="none" w="med" len="med"/>
                      <a:tailEnd type="none" w="med" len="med"/>
                    </a:lnR>
                    <a:solidFill>
                      <a:srgbClr val="93CDCA"/>
                    </a:solidFill>
                  </a:tcPr>
                </a:tc>
                <a:tc>
                  <a:txBody>
                    <a:bodyPr/>
                    <a:lstStyle/>
                    <a:p>
                      <a:pPr algn="ctr" fontAlgn="ctr"/>
                      <a:r>
                        <a:rPr lang="en-US" sz="1200" u="none" strike="noStrike" dirty="0">
                          <a:latin typeface="Calibri" pitchFamily="34" charset="0"/>
                          <a:cs typeface="Calibri" pitchFamily="34" charset="0"/>
                        </a:rPr>
                        <a:t>Mean</a:t>
                      </a:r>
                      <a:endParaRPr lang="en-US" sz="1200" b="1" i="0" u="none" strike="noStrike" dirty="0">
                        <a:solidFill>
                          <a:srgbClr val="000000"/>
                        </a:solidFill>
                        <a:latin typeface="Calibri" pitchFamily="34" charset="0"/>
                        <a:cs typeface="Calibri" pitchFamily="34" charset="0"/>
                      </a:endParaRPr>
                    </a:p>
                  </a:txBody>
                  <a:tcPr marL="5773" marR="5773" marT="5773"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solidFill>
                      <a:srgbClr val="93CDCA"/>
                    </a:solidFill>
                  </a:tcPr>
                </a:tc>
                <a:tc>
                  <a:txBody>
                    <a:bodyPr/>
                    <a:lstStyle/>
                    <a:p>
                      <a:pPr algn="ctr" fontAlgn="ctr"/>
                      <a:r>
                        <a:rPr lang="en-US" sz="1200" u="none" strike="noStrike" dirty="0">
                          <a:latin typeface="Calibri" pitchFamily="34" charset="0"/>
                          <a:cs typeface="Calibri" pitchFamily="34" charset="0"/>
                        </a:rPr>
                        <a:t>Response rate</a:t>
                      </a:r>
                      <a:endParaRPr lang="en-US" sz="1200" b="1" i="0" u="none" strike="noStrike" dirty="0">
                        <a:solidFill>
                          <a:srgbClr val="000000"/>
                        </a:solidFill>
                        <a:latin typeface="Calibri" pitchFamily="34" charset="0"/>
                        <a:cs typeface="Calibri" pitchFamily="34" charset="0"/>
                      </a:endParaRPr>
                    </a:p>
                  </a:txBody>
                  <a:tcPr marL="5773" marR="5773" marT="5773" marB="0" anchor="ctr">
                    <a:lnL w="3175" cap="flat" cmpd="sng" algn="ctr">
                      <a:solidFill>
                        <a:schemeClr val="bg1"/>
                      </a:solidFill>
                      <a:prstDash val="solid"/>
                      <a:round/>
                      <a:headEnd type="none" w="med" len="med"/>
                      <a:tailEnd type="none" w="med" len="med"/>
                    </a:lnL>
                    <a:solidFill>
                      <a:srgbClr val="93CDCA"/>
                    </a:solidFill>
                  </a:tcPr>
                </a:tc>
                <a:extLst>
                  <a:ext uri="{0D108BD9-81ED-4DB2-BD59-A6C34878D82A}">
                    <a16:rowId xmlns:a16="http://schemas.microsoft.com/office/drawing/2014/main" val="10000"/>
                  </a:ext>
                </a:extLst>
              </a:tr>
              <a:tr h="231717">
                <a:tc>
                  <a:txBody>
                    <a:bodyPr/>
                    <a:lstStyle/>
                    <a:p>
                      <a:pPr algn="ctr" fontAlgn="t"/>
                      <a:r>
                        <a:rPr lang="en-US" sz="1100" b="1" u="none" strike="noStrike" dirty="0">
                          <a:solidFill>
                            <a:schemeClr val="accent1">
                              <a:lumMod val="10000"/>
                            </a:schemeClr>
                          </a:solidFill>
                          <a:latin typeface="Calibri" pitchFamily="34" charset="0"/>
                          <a:cs typeface="Calibri" pitchFamily="34" charset="0"/>
                        </a:rPr>
                        <a:t>Work Environment</a:t>
                      </a:r>
                      <a:endParaRPr lang="en-US" sz="1100" b="1" i="0" u="none" strike="noStrike" dirty="0">
                        <a:solidFill>
                          <a:schemeClr val="accent1">
                            <a:lumMod val="10000"/>
                          </a:schemeClr>
                        </a:solidFill>
                        <a:latin typeface="Calibri" pitchFamily="34" charset="0"/>
                        <a:cs typeface="Calibri" pitchFamily="34" charset="0"/>
                      </a:endParaRPr>
                    </a:p>
                  </a:txBody>
                  <a:tcPr marL="5773" marR="5773" marT="5773" marB="0" anchor="ctr">
                    <a:lnB w="3175"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fontAlgn="t"/>
                      <a:r>
                        <a:rPr lang="en-US" sz="1100" b="1" u="none" strike="noStrike" dirty="0">
                          <a:solidFill>
                            <a:schemeClr val="accent1">
                              <a:lumMod val="10000"/>
                            </a:schemeClr>
                          </a:solidFill>
                          <a:latin typeface="Calibri" pitchFamily="34" charset="0"/>
                          <a:cs typeface="Calibri" pitchFamily="34" charset="0"/>
                        </a:rPr>
                        <a:t>2.30</a:t>
                      </a:r>
                      <a:endParaRPr lang="en-US" sz="1100" b="1" i="0" u="none" strike="noStrike" dirty="0">
                        <a:solidFill>
                          <a:schemeClr val="accent1">
                            <a:lumMod val="10000"/>
                          </a:schemeClr>
                        </a:solidFill>
                        <a:latin typeface="Calibri" pitchFamily="34" charset="0"/>
                        <a:cs typeface="Calibri" pitchFamily="34" charset="0"/>
                      </a:endParaRPr>
                    </a:p>
                  </a:txBody>
                  <a:tcPr marL="5773" marR="5773" marT="5773" marB="0" anchor="ctr">
                    <a:lnB w="3175"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fontAlgn="b"/>
                      <a:r>
                        <a:rPr lang="en-US" sz="1100" b="1" u="none" strike="noStrike" dirty="0">
                          <a:solidFill>
                            <a:schemeClr val="accent1">
                              <a:lumMod val="10000"/>
                            </a:schemeClr>
                          </a:solidFill>
                          <a:latin typeface="Calibri" pitchFamily="34" charset="0"/>
                          <a:cs typeface="Calibri" pitchFamily="34" charset="0"/>
                        </a:rPr>
                        <a:t>33%</a:t>
                      </a:r>
                      <a:endParaRPr lang="en-US" sz="1100" b="1" i="0" u="none" strike="noStrike" dirty="0">
                        <a:solidFill>
                          <a:schemeClr val="accent1">
                            <a:lumMod val="10000"/>
                          </a:schemeClr>
                        </a:solidFill>
                        <a:latin typeface="Calibri" pitchFamily="34" charset="0"/>
                        <a:cs typeface="Calibri" pitchFamily="34" charset="0"/>
                      </a:endParaRPr>
                    </a:p>
                  </a:txBody>
                  <a:tcPr marL="5773" marR="5773" marT="5773" marB="0" anchor="ctr">
                    <a:lnB w="3175"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10001"/>
                  </a:ext>
                </a:extLst>
              </a:tr>
              <a:tr h="371437">
                <a:tc>
                  <a:txBody>
                    <a:bodyPr/>
                    <a:lstStyle/>
                    <a:p>
                      <a:pPr algn="l" fontAlgn="t"/>
                      <a:r>
                        <a:rPr lang="en-US" sz="1100" u="none" strike="noStrike" dirty="0">
                          <a:solidFill>
                            <a:srgbClr val="1E4649"/>
                          </a:solidFill>
                          <a:latin typeface="Calibri" pitchFamily="34" charset="0"/>
                          <a:cs typeface="Calibri" pitchFamily="34" charset="0"/>
                        </a:rPr>
                        <a:t>Assess organizations  working environment with respect to the following :- </a:t>
                      </a:r>
                      <a:endParaRPr lang="en-US" sz="1100" u="none" strike="noStrike" dirty="0">
                        <a:latin typeface="Calibri" pitchFamily="34" charset="0"/>
                        <a:cs typeface="Calibri" pitchFamily="34" charset="0"/>
                      </a:endParaRPr>
                    </a:p>
                    <a:p>
                      <a:pPr algn="ctr" fontAlgn="t"/>
                      <a:r>
                        <a:rPr lang="en-US" sz="1100" u="none" strike="noStrike" baseline="0" dirty="0">
                          <a:latin typeface="Calibri" pitchFamily="34" charset="0"/>
                          <a:cs typeface="Calibri" pitchFamily="34" charset="0"/>
                        </a:rPr>
                        <a:t> I</a:t>
                      </a:r>
                      <a:r>
                        <a:rPr lang="en-US" sz="1100" u="none" strike="noStrike" dirty="0">
                          <a:latin typeface="Calibri" pitchFamily="34" charset="0"/>
                          <a:cs typeface="Calibri" pitchFamily="34" charset="0"/>
                        </a:rPr>
                        <a:t>nfrastructure</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2.26</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30%</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8862">
                <a:tc>
                  <a:txBody>
                    <a:bodyPr/>
                    <a:lstStyle/>
                    <a:p>
                      <a:pPr algn="ctr" fontAlgn="t"/>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bg1"/>
                      </a:solidFill>
                      <a:prstDash val="solid"/>
                      <a:round/>
                      <a:headEnd type="none" w="med" len="med"/>
                      <a:tailEnd type="none" w="med" len="med"/>
                    </a:lnB>
                  </a:tcPr>
                </a:tc>
                <a:tc>
                  <a:txBody>
                    <a:bodyPr/>
                    <a:lstStyle/>
                    <a:p>
                      <a:pPr algn="ctr" fontAlgn="t"/>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bg1"/>
                      </a:solidFill>
                      <a:prstDash val="solid"/>
                      <a:round/>
                      <a:headEnd type="none" w="med" len="med"/>
                      <a:tailEnd type="none" w="med" len="med"/>
                    </a:lnB>
                  </a:tcPr>
                </a:tc>
                <a:tc>
                  <a:txBody>
                    <a:bodyPr/>
                    <a:lstStyle/>
                    <a:p>
                      <a:pPr algn="ctr" fontAlgn="b"/>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188862">
                <a:tc>
                  <a:txBody>
                    <a:bodyPr/>
                    <a:lstStyle/>
                    <a:p>
                      <a:pPr algn="ctr" fontAlgn="t"/>
                      <a:r>
                        <a:rPr lang="en-US" sz="1100" u="none" strike="noStrike" dirty="0">
                          <a:latin typeface="Calibri" pitchFamily="34" charset="0"/>
                          <a:cs typeface="Calibri" pitchFamily="34" charset="0"/>
                        </a:rPr>
                        <a:t>Work life balance </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2.31</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31%</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188862">
                <a:tc>
                  <a:txBody>
                    <a:bodyPr/>
                    <a:lstStyle/>
                    <a:p>
                      <a:pPr algn="ctr" fontAlgn="t"/>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bg1"/>
                      </a:solidFill>
                      <a:prstDash val="solid"/>
                      <a:round/>
                      <a:headEnd type="none" w="med" len="med"/>
                      <a:tailEnd type="none" w="med" len="med"/>
                    </a:lnB>
                  </a:tcPr>
                </a:tc>
                <a:tc>
                  <a:txBody>
                    <a:bodyPr/>
                    <a:lstStyle/>
                    <a:p>
                      <a:pPr algn="ctr" fontAlgn="t"/>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bg1"/>
                      </a:solidFill>
                      <a:prstDash val="solid"/>
                      <a:round/>
                      <a:headEnd type="none" w="med" len="med"/>
                      <a:tailEnd type="none" w="med" len="med"/>
                    </a:lnB>
                  </a:tcPr>
                </a:tc>
                <a:tc>
                  <a:txBody>
                    <a:bodyPr/>
                    <a:lstStyle/>
                    <a:p>
                      <a:pPr algn="ctr" fontAlgn="b"/>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201477">
                <a:tc>
                  <a:txBody>
                    <a:bodyPr/>
                    <a:lstStyle/>
                    <a:p>
                      <a:pPr algn="ctr" fontAlgn="t"/>
                      <a:r>
                        <a:rPr lang="en-US" sz="1100" u="none" strike="noStrike" dirty="0">
                          <a:latin typeface="Calibri" pitchFamily="34" charset="0"/>
                          <a:cs typeface="Calibri" pitchFamily="34" charset="0"/>
                        </a:rPr>
                        <a:t>Employee orientation</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2.36</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37%</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11068">
                <a:tc>
                  <a:txBody>
                    <a:bodyPr/>
                    <a:lstStyle/>
                    <a:p>
                      <a:pPr algn="ctr" fontAlgn="t"/>
                      <a:r>
                        <a:rPr lang="en-US" sz="1100" u="none" strike="noStrike" dirty="0">
                          <a:latin typeface="Calibri" pitchFamily="34" charset="0"/>
                          <a:cs typeface="Calibri" pitchFamily="34" charset="0"/>
                        </a:rPr>
                        <a:t>Quality of work life</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2.30</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33%</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316602">
                <a:tc>
                  <a:txBody>
                    <a:bodyPr/>
                    <a:lstStyle/>
                    <a:p>
                      <a:pPr algn="ctr" fontAlgn="t"/>
                      <a:r>
                        <a:rPr lang="en-US" sz="1100" u="none" strike="noStrike" dirty="0">
                          <a:latin typeface="Calibri" pitchFamily="34" charset="0"/>
                          <a:cs typeface="Calibri" pitchFamily="34" charset="0"/>
                        </a:rPr>
                        <a:t>Providing</a:t>
                      </a:r>
                      <a:r>
                        <a:rPr lang="en-US" sz="1100" u="none" strike="noStrike" baseline="0" dirty="0">
                          <a:latin typeface="Calibri" pitchFamily="34" charset="0"/>
                          <a:cs typeface="Calibri" pitchFamily="34" charset="0"/>
                        </a:rPr>
                        <a:t> </a:t>
                      </a:r>
                      <a:r>
                        <a:rPr lang="en-US" sz="1100" u="none" strike="noStrike" dirty="0">
                          <a:latin typeface="Calibri" pitchFamily="34" charset="0"/>
                          <a:cs typeface="Calibri" pitchFamily="34" charset="0"/>
                        </a:rPr>
                        <a:t>support</a:t>
                      </a:r>
                      <a:r>
                        <a:rPr lang="en-US" sz="1100" u="none" strike="noStrike" baseline="0" dirty="0">
                          <a:latin typeface="Calibri" pitchFamily="34" charset="0"/>
                          <a:cs typeface="Calibri" pitchFamily="34" charset="0"/>
                        </a:rPr>
                        <a:t> &amp;</a:t>
                      </a:r>
                      <a:r>
                        <a:rPr lang="en-US" sz="1100" u="none" strike="noStrike" dirty="0">
                          <a:latin typeface="Calibri" pitchFamily="34" charset="0"/>
                          <a:cs typeface="Calibri" pitchFamily="34" charset="0"/>
                        </a:rPr>
                        <a:t> value add</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2.37</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35%</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r h="307011">
                <a:tc>
                  <a:txBody>
                    <a:bodyPr/>
                    <a:lstStyle/>
                    <a:p>
                      <a:pPr algn="ctr" fontAlgn="t"/>
                      <a:r>
                        <a:rPr lang="en-US" sz="1100" u="none" strike="noStrike" dirty="0">
                          <a:latin typeface="Calibri" pitchFamily="34" charset="0"/>
                          <a:cs typeface="Calibri" pitchFamily="34" charset="0"/>
                        </a:rPr>
                        <a:t>Empowerment / transparency</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latin typeface="Calibri" pitchFamily="34" charset="0"/>
                          <a:cs typeface="Calibri" pitchFamily="34" charset="0"/>
                        </a:rPr>
                        <a:t>2.35</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latin typeface="Calibri" pitchFamily="34" charset="0"/>
                          <a:cs typeface="Calibri" pitchFamily="34" charset="0"/>
                        </a:rPr>
                        <a:t>35%</a:t>
                      </a:r>
                      <a:endParaRPr lang="en-US" sz="1100" b="0" i="0" u="none" strike="noStrike" dirty="0">
                        <a:solidFill>
                          <a:srgbClr val="000000"/>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9"/>
                  </a:ext>
                </a:extLst>
              </a:tr>
              <a:tr h="191888">
                <a:tc>
                  <a:txBody>
                    <a:bodyPr/>
                    <a:lstStyle/>
                    <a:p>
                      <a:pPr algn="ctr" fontAlgn="t"/>
                      <a:endParaRPr lang="en-US" sz="1100" b="1" u="none" strike="noStrike" dirty="0">
                        <a:solidFill>
                          <a:schemeClr val="accent1">
                            <a:lumMod val="10000"/>
                          </a:schemeClr>
                        </a:solidFill>
                        <a:latin typeface="Calibri" pitchFamily="34" charset="0"/>
                        <a:cs typeface="Calibri" pitchFamily="34" charset="0"/>
                      </a:endParaRPr>
                    </a:p>
                    <a:p>
                      <a:pPr algn="ctr" fontAlgn="t"/>
                      <a:r>
                        <a:rPr lang="en-US" sz="1100" b="1" u="none" strike="noStrike" dirty="0">
                          <a:solidFill>
                            <a:schemeClr val="accent1">
                              <a:lumMod val="10000"/>
                            </a:schemeClr>
                          </a:solidFill>
                          <a:latin typeface="Calibri" pitchFamily="34" charset="0"/>
                          <a:cs typeface="Calibri" pitchFamily="34" charset="0"/>
                        </a:rPr>
                        <a:t>Low Advancement Opportunity</a:t>
                      </a:r>
                      <a:endParaRPr lang="en-US" sz="1100" b="1"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fontAlgn="t"/>
                      <a:endParaRPr lang="en-US" sz="1100" b="1" u="none" strike="noStrike" dirty="0">
                        <a:solidFill>
                          <a:schemeClr val="accent1">
                            <a:lumMod val="10000"/>
                          </a:schemeClr>
                        </a:solidFill>
                        <a:latin typeface="Calibri" pitchFamily="34" charset="0"/>
                        <a:cs typeface="Calibri" pitchFamily="34" charset="0"/>
                      </a:endParaRPr>
                    </a:p>
                    <a:p>
                      <a:pPr algn="ctr" fontAlgn="t"/>
                      <a:r>
                        <a:rPr lang="en-US" sz="1100" b="1" u="none" strike="noStrike" dirty="0">
                          <a:solidFill>
                            <a:schemeClr val="accent1">
                              <a:lumMod val="10000"/>
                            </a:schemeClr>
                          </a:solidFill>
                          <a:latin typeface="Calibri" pitchFamily="34" charset="0"/>
                          <a:cs typeface="Calibri" pitchFamily="34" charset="0"/>
                        </a:rPr>
                        <a:t>2.42</a:t>
                      </a:r>
                      <a:endParaRPr lang="en-US" sz="1100" b="1"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fontAlgn="b"/>
                      <a:r>
                        <a:rPr lang="en-US" sz="1100" b="1" u="none" strike="noStrike" dirty="0">
                          <a:solidFill>
                            <a:schemeClr val="accent1">
                              <a:lumMod val="10000"/>
                            </a:schemeClr>
                          </a:solidFill>
                          <a:latin typeface="Calibri" pitchFamily="34" charset="0"/>
                          <a:cs typeface="Calibri" pitchFamily="34" charset="0"/>
                        </a:rPr>
                        <a:t>44%</a:t>
                      </a:r>
                      <a:endParaRPr lang="en-US" sz="1100" b="1"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10010"/>
                  </a:ext>
                </a:extLst>
              </a:tr>
              <a:tr h="436758">
                <a:tc>
                  <a:txBody>
                    <a:bodyPr/>
                    <a:lstStyle/>
                    <a:p>
                      <a:pPr algn="l" fontAlgn="t"/>
                      <a:r>
                        <a:rPr lang="en-US" sz="1100" u="none" strike="noStrike" dirty="0">
                          <a:solidFill>
                            <a:srgbClr val="1E4649"/>
                          </a:solidFill>
                          <a:latin typeface="Calibri" pitchFamily="34" charset="0"/>
                          <a:cs typeface="Calibri" pitchFamily="34" charset="0"/>
                        </a:rPr>
                        <a:t>How would you rate company’s: </a:t>
                      </a:r>
                      <a:endParaRPr lang="en-US" sz="1100" u="none" strike="noStrike" dirty="0">
                        <a:solidFill>
                          <a:schemeClr val="accent1">
                            <a:lumMod val="10000"/>
                          </a:schemeClr>
                        </a:solidFill>
                        <a:latin typeface="Calibri" pitchFamily="34" charset="0"/>
                        <a:cs typeface="Calibri" pitchFamily="34" charset="0"/>
                      </a:endParaRPr>
                    </a:p>
                    <a:p>
                      <a:pPr algn="ctr" fontAlgn="t"/>
                      <a:r>
                        <a:rPr lang="en-US" sz="1100" u="none" strike="noStrike" dirty="0">
                          <a:solidFill>
                            <a:schemeClr val="accent1">
                              <a:lumMod val="10000"/>
                            </a:schemeClr>
                          </a:solidFill>
                          <a:latin typeface="Calibri" pitchFamily="34" charset="0"/>
                          <a:cs typeface="Calibri" pitchFamily="34" charset="0"/>
                        </a:rPr>
                        <a:t>HR policies</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endParaRPr lang="en-US" sz="1100" u="none" strike="noStrike" dirty="0">
                        <a:solidFill>
                          <a:schemeClr val="accent1">
                            <a:lumMod val="10000"/>
                          </a:schemeClr>
                        </a:solidFill>
                        <a:latin typeface="Calibri" pitchFamily="34" charset="0"/>
                        <a:cs typeface="Calibri" pitchFamily="34" charset="0"/>
                      </a:endParaRPr>
                    </a:p>
                    <a:p>
                      <a:pPr algn="ctr" fontAlgn="t"/>
                      <a:endParaRPr lang="en-US" sz="1100" u="none" strike="noStrike" dirty="0">
                        <a:solidFill>
                          <a:schemeClr val="accent1">
                            <a:lumMod val="10000"/>
                          </a:schemeClr>
                        </a:solidFill>
                        <a:latin typeface="Calibri" pitchFamily="34" charset="0"/>
                        <a:cs typeface="Calibri" pitchFamily="34" charset="0"/>
                      </a:endParaRPr>
                    </a:p>
                    <a:p>
                      <a:pPr algn="ctr" fontAlgn="t"/>
                      <a:r>
                        <a:rPr lang="en-US" sz="1100" u="none" strike="noStrike" dirty="0">
                          <a:solidFill>
                            <a:schemeClr val="accent1">
                              <a:lumMod val="10000"/>
                            </a:schemeClr>
                          </a:solidFill>
                          <a:latin typeface="Calibri" pitchFamily="34" charset="0"/>
                          <a:cs typeface="Calibri" pitchFamily="34" charset="0"/>
                        </a:rPr>
                        <a:t>2.40</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endParaRPr lang="en-US" sz="1100" u="none" strike="noStrike" dirty="0">
                        <a:solidFill>
                          <a:schemeClr val="accent1">
                            <a:lumMod val="10000"/>
                          </a:schemeClr>
                        </a:solidFill>
                        <a:latin typeface="Calibri" pitchFamily="34" charset="0"/>
                        <a:cs typeface="Calibri" pitchFamily="34" charset="0"/>
                      </a:endParaRPr>
                    </a:p>
                    <a:p>
                      <a:pPr algn="ctr" fontAlgn="b"/>
                      <a:r>
                        <a:rPr lang="en-US" sz="1100" u="none" strike="noStrike" dirty="0">
                          <a:solidFill>
                            <a:schemeClr val="accent1">
                              <a:lumMod val="10000"/>
                            </a:schemeClr>
                          </a:solidFill>
                          <a:latin typeface="Calibri" pitchFamily="34" charset="0"/>
                          <a:cs typeface="Calibri" pitchFamily="34" charset="0"/>
                        </a:rPr>
                        <a:t>39%</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1"/>
                  </a:ext>
                </a:extLst>
              </a:tr>
              <a:tr h="307011">
                <a:tc>
                  <a:txBody>
                    <a:bodyPr/>
                    <a:lstStyle/>
                    <a:p>
                      <a:pPr algn="ctr" fontAlgn="t"/>
                      <a:r>
                        <a:rPr lang="en-US" sz="1100" u="none" strike="noStrike" dirty="0">
                          <a:solidFill>
                            <a:schemeClr val="accent1">
                              <a:lumMod val="10000"/>
                            </a:schemeClr>
                          </a:solidFill>
                          <a:latin typeface="Calibri" pitchFamily="34" charset="0"/>
                          <a:cs typeface="Calibri" pitchFamily="34" charset="0"/>
                        </a:rPr>
                        <a:t>Rewards &amp; recognition program</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solidFill>
                            <a:schemeClr val="accent1">
                              <a:lumMod val="10000"/>
                            </a:schemeClr>
                          </a:solidFill>
                          <a:latin typeface="Calibri" pitchFamily="34" charset="0"/>
                          <a:cs typeface="Calibri" pitchFamily="34" charset="0"/>
                        </a:rPr>
                        <a:t>2.50</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solidFill>
                            <a:schemeClr val="accent1">
                              <a:lumMod val="10000"/>
                            </a:schemeClr>
                          </a:solidFill>
                          <a:latin typeface="Calibri" pitchFamily="34" charset="0"/>
                          <a:cs typeface="Calibri" pitchFamily="34" charset="0"/>
                        </a:rPr>
                        <a:t>49%</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2"/>
                  </a:ext>
                </a:extLst>
              </a:tr>
              <a:tr h="191888">
                <a:tc>
                  <a:txBody>
                    <a:bodyPr/>
                    <a:lstStyle/>
                    <a:p>
                      <a:pPr algn="ctr" fontAlgn="t"/>
                      <a:r>
                        <a:rPr lang="en-US" sz="1100" u="none" strike="noStrike" dirty="0">
                          <a:solidFill>
                            <a:schemeClr val="accent1">
                              <a:lumMod val="10000"/>
                            </a:schemeClr>
                          </a:solidFill>
                          <a:latin typeface="Calibri" pitchFamily="34" charset="0"/>
                          <a:cs typeface="Calibri" pitchFamily="34" charset="0"/>
                        </a:rPr>
                        <a:t>Self development opportunities</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solidFill>
                            <a:schemeClr val="accent1">
                              <a:lumMod val="10000"/>
                            </a:schemeClr>
                          </a:solidFill>
                          <a:latin typeface="Calibri" pitchFamily="34" charset="0"/>
                          <a:cs typeface="Calibri" pitchFamily="34" charset="0"/>
                        </a:rPr>
                        <a:t>2.49</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solidFill>
                            <a:schemeClr val="accent1">
                              <a:lumMod val="10000"/>
                            </a:schemeClr>
                          </a:solidFill>
                          <a:latin typeface="Calibri" pitchFamily="34" charset="0"/>
                          <a:cs typeface="Calibri" pitchFamily="34" charset="0"/>
                        </a:rPr>
                        <a:t>47%</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3"/>
                  </a:ext>
                </a:extLst>
              </a:tr>
              <a:tr h="267366">
                <a:tc>
                  <a:txBody>
                    <a:bodyPr/>
                    <a:lstStyle/>
                    <a:p>
                      <a:pPr algn="ctr" fontAlgn="t"/>
                      <a:r>
                        <a:rPr lang="en-US" sz="1100" u="none" strike="noStrike" dirty="0">
                          <a:solidFill>
                            <a:schemeClr val="accent1">
                              <a:lumMod val="10000"/>
                            </a:schemeClr>
                          </a:solidFill>
                          <a:latin typeface="Calibri" pitchFamily="34" charset="0"/>
                          <a:cs typeface="Calibri" pitchFamily="34" charset="0"/>
                        </a:rPr>
                        <a:t>Communication.</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solidFill>
                            <a:schemeClr val="accent1">
                              <a:lumMod val="10000"/>
                            </a:schemeClr>
                          </a:solidFill>
                          <a:latin typeface="Calibri" pitchFamily="34" charset="0"/>
                          <a:cs typeface="Calibri" pitchFamily="34" charset="0"/>
                        </a:rPr>
                        <a:t>2.43</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solidFill>
                            <a:schemeClr val="accent1">
                              <a:lumMod val="10000"/>
                            </a:schemeClr>
                          </a:solidFill>
                          <a:latin typeface="Calibri" pitchFamily="34" charset="0"/>
                          <a:cs typeface="Calibri" pitchFamily="34" charset="0"/>
                        </a:rPr>
                        <a:t>44%</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4"/>
                  </a:ext>
                </a:extLst>
              </a:tr>
              <a:tr h="371437">
                <a:tc>
                  <a:txBody>
                    <a:bodyPr/>
                    <a:lstStyle/>
                    <a:p>
                      <a:pPr algn="ctr" fontAlgn="t"/>
                      <a:r>
                        <a:rPr lang="en-US" sz="1100" u="none" strike="noStrike" dirty="0">
                          <a:solidFill>
                            <a:schemeClr val="accent1">
                              <a:lumMod val="10000"/>
                            </a:schemeClr>
                          </a:solidFill>
                          <a:latin typeface="Calibri" pitchFamily="34" charset="0"/>
                          <a:cs typeface="Calibri" pitchFamily="34" charset="0"/>
                        </a:rPr>
                        <a:t>Diversity</a:t>
                      </a:r>
                      <a:r>
                        <a:rPr lang="en-US" sz="1100" u="none" strike="noStrike" baseline="0" dirty="0">
                          <a:solidFill>
                            <a:schemeClr val="accent1">
                              <a:lumMod val="10000"/>
                            </a:schemeClr>
                          </a:solidFill>
                          <a:latin typeface="Calibri" pitchFamily="34" charset="0"/>
                          <a:cs typeface="Calibri" pitchFamily="34" charset="0"/>
                        </a:rPr>
                        <a:t> &amp; equal opportunity</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dirty="0">
                          <a:solidFill>
                            <a:schemeClr val="accent1">
                              <a:lumMod val="10000"/>
                            </a:schemeClr>
                          </a:solidFill>
                          <a:latin typeface="Calibri" pitchFamily="34" charset="0"/>
                          <a:cs typeface="Calibri" pitchFamily="34" charset="0"/>
                        </a:rPr>
                        <a:t>2.40</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solidFill>
                            <a:schemeClr val="accent1">
                              <a:lumMod val="10000"/>
                            </a:schemeClr>
                          </a:solidFill>
                          <a:latin typeface="Calibri" pitchFamily="34" charset="0"/>
                          <a:cs typeface="Calibri" pitchFamily="34" charset="0"/>
                        </a:rPr>
                        <a:t>42%</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r h="201477">
                <a:tc>
                  <a:txBody>
                    <a:bodyPr/>
                    <a:lstStyle/>
                    <a:p>
                      <a:pPr algn="ctr" fontAlgn="t"/>
                      <a:r>
                        <a:rPr lang="en-US" sz="1100" u="none" strike="noStrike" dirty="0">
                          <a:solidFill>
                            <a:schemeClr val="accent1">
                              <a:lumMod val="10000"/>
                            </a:schemeClr>
                          </a:solidFill>
                          <a:latin typeface="Calibri" pitchFamily="34" charset="0"/>
                          <a:cs typeface="Calibri" pitchFamily="34" charset="0"/>
                        </a:rPr>
                        <a:t>Career development Initiatives</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a:solidFill>
                            <a:schemeClr val="accent1">
                              <a:lumMod val="10000"/>
                            </a:schemeClr>
                          </a:solidFill>
                          <a:latin typeface="Calibri" pitchFamily="34" charset="0"/>
                          <a:cs typeface="Calibri" pitchFamily="34" charset="0"/>
                        </a:rPr>
                        <a:t>2.45</a:t>
                      </a:r>
                      <a:endParaRPr lang="en-US" sz="1100" b="0" i="0" u="none" strike="noStrike">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solidFill>
                            <a:schemeClr val="accent1">
                              <a:lumMod val="10000"/>
                            </a:schemeClr>
                          </a:solidFill>
                          <a:latin typeface="Calibri" pitchFamily="34" charset="0"/>
                          <a:cs typeface="Calibri" pitchFamily="34" charset="0"/>
                        </a:rPr>
                        <a:t>44%</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91888">
                <a:tc>
                  <a:txBody>
                    <a:bodyPr/>
                    <a:lstStyle/>
                    <a:p>
                      <a:pPr algn="ctr" fontAlgn="t"/>
                      <a:r>
                        <a:rPr lang="en-US" sz="1100" u="none" strike="noStrike" dirty="0">
                          <a:solidFill>
                            <a:schemeClr val="accent1">
                              <a:lumMod val="10000"/>
                            </a:schemeClr>
                          </a:solidFill>
                          <a:latin typeface="Calibri" pitchFamily="34" charset="0"/>
                          <a:cs typeface="Calibri" pitchFamily="34" charset="0"/>
                        </a:rPr>
                        <a:t>Salary/benefits &amp; incentives</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en-US" sz="1100" u="none" strike="noStrike">
                          <a:solidFill>
                            <a:schemeClr val="accent1">
                              <a:lumMod val="10000"/>
                            </a:schemeClr>
                          </a:solidFill>
                          <a:latin typeface="Calibri" pitchFamily="34" charset="0"/>
                          <a:cs typeface="Calibri" pitchFamily="34" charset="0"/>
                        </a:rPr>
                        <a:t>2.71</a:t>
                      </a:r>
                      <a:endParaRPr lang="en-US" sz="1100" b="0" i="0" u="none" strike="noStrike">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r>
                        <a:rPr lang="en-US" sz="1100" u="none" strike="noStrike" dirty="0">
                          <a:solidFill>
                            <a:schemeClr val="accent1">
                              <a:lumMod val="10000"/>
                            </a:schemeClr>
                          </a:solidFill>
                          <a:latin typeface="Calibri" pitchFamily="34" charset="0"/>
                          <a:cs typeface="Calibri" pitchFamily="34" charset="0"/>
                        </a:rPr>
                        <a:t>57%</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7"/>
                  </a:ext>
                </a:extLst>
              </a:tr>
              <a:tr h="191888">
                <a:tc>
                  <a:txBody>
                    <a:bodyPr/>
                    <a:lstStyle/>
                    <a:p>
                      <a:pPr algn="ctr" fontAlgn="t"/>
                      <a:r>
                        <a:rPr lang="en-US" sz="1100" u="none" strike="noStrike" dirty="0">
                          <a:solidFill>
                            <a:schemeClr val="accent1">
                              <a:lumMod val="10000"/>
                            </a:schemeClr>
                          </a:solidFill>
                          <a:latin typeface="Calibri" pitchFamily="34" charset="0"/>
                          <a:cs typeface="Calibri" pitchFamily="34" charset="0"/>
                        </a:rPr>
                        <a:t>Performance management process</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tcPr>
                </a:tc>
                <a:tc>
                  <a:txBody>
                    <a:bodyPr/>
                    <a:lstStyle/>
                    <a:p>
                      <a:pPr algn="ctr" fontAlgn="t"/>
                      <a:r>
                        <a:rPr lang="en-US" sz="1100" u="none" strike="noStrike">
                          <a:solidFill>
                            <a:schemeClr val="accent1">
                              <a:lumMod val="10000"/>
                            </a:schemeClr>
                          </a:solidFill>
                          <a:latin typeface="Calibri" pitchFamily="34" charset="0"/>
                          <a:cs typeface="Calibri" pitchFamily="34" charset="0"/>
                        </a:rPr>
                        <a:t>2.46</a:t>
                      </a:r>
                      <a:endParaRPr lang="en-US" sz="1100" b="0" i="0" u="none" strike="noStrike">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tcPr>
                </a:tc>
                <a:tc>
                  <a:txBody>
                    <a:bodyPr/>
                    <a:lstStyle/>
                    <a:p>
                      <a:pPr algn="ctr" fontAlgn="b"/>
                      <a:r>
                        <a:rPr lang="en-US" sz="1100" u="none" strike="noStrike" dirty="0">
                          <a:solidFill>
                            <a:schemeClr val="accent1">
                              <a:lumMod val="10000"/>
                            </a:schemeClr>
                          </a:solidFill>
                          <a:latin typeface="Calibri" pitchFamily="34" charset="0"/>
                          <a:cs typeface="Calibri" pitchFamily="34" charset="0"/>
                        </a:rPr>
                        <a:t>47%</a:t>
                      </a:r>
                      <a:endParaRPr lang="en-US" sz="1100" b="0" i="0" u="none" strike="noStrike" dirty="0">
                        <a:solidFill>
                          <a:schemeClr val="accent1">
                            <a:lumMod val="10000"/>
                          </a:schemeClr>
                        </a:solidFill>
                        <a:latin typeface="Calibri" pitchFamily="34" charset="0"/>
                        <a:cs typeface="Calibri" pitchFamily="34" charset="0"/>
                      </a:endParaRPr>
                    </a:p>
                  </a:txBody>
                  <a:tcPr marL="5773" marR="5773" marT="5773" marB="0" anchor="ctr">
                    <a:lnT w="31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18"/>
                  </a:ext>
                </a:extLst>
              </a:tr>
            </a:tbl>
          </a:graphicData>
        </a:graphic>
      </p:graphicFrame>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12</a:t>
            </a:fld>
            <a:endParaRPr lang="en-US" dirty="0"/>
          </a:p>
        </p:txBody>
      </p:sp>
      <p:sp>
        <p:nvSpPr>
          <p:cNvPr id="8" name="TextBox 7"/>
          <p:cNvSpPr txBox="1"/>
          <p:nvPr/>
        </p:nvSpPr>
        <p:spPr>
          <a:xfrm>
            <a:off x="6781800" y="1524000"/>
            <a:ext cx="2362200" cy="3194720"/>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lnSpc>
                <a:spcPct val="120000"/>
              </a:lnSpc>
              <a:buClr>
                <a:srgbClr val="C00000"/>
              </a:buClr>
            </a:pPr>
            <a:endParaRPr lang="en-US" sz="1200" dirty="0">
              <a:solidFill>
                <a:schemeClr val="accent1">
                  <a:lumMod val="25000"/>
                </a:schemeClr>
              </a:solidFill>
              <a:latin typeface="Calibri" pitchFamily="34" charset="0"/>
              <a:cs typeface="Calibri" pitchFamily="34" charset="0"/>
            </a:endParaRPr>
          </a:p>
          <a:p>
            <a:pPr>
              <a:lnSpc>
                <a:spcPct val="120000"/>
              </a:lnSpc>
              <a:buClr>
                <a:srgbClr val="C00000"/>
              </a:buClr>
            </a:pPr>
            <a:r>
              <a:rPr lang="en-US" sz="1200" dirty="0">
                <a:solidFill>
                  <a:schemeClr val="accent1">
                    <a:lumMod val="25000"/>
                  </a:schemeClr>
                </a:solidFill>
                <a:latin typeface="Calibri" pitchFamily="34" charset="0"/>
                <a:cs typeface="Calibri" pitchFamily="34" charset="0"/>
              </a:rPr>
              <a:t>1-1.5 = highly negative influence</a:t>
            </a:r>
          </a:p>
          <a:p>
            <a:pPr>
              <a:lnSpc>
                <a:spcPct val="120000"/>
              </a:lnSpc>
              <a:buClr>
                <a:srgbClr val="C00000"/>
              </a:buClr>
            </a:pPr>
            <a:r>
              <a:rPr lang="en-US" sz="1200" dirty="0">
                <a:solidFill>
                  <a:schemeClr val="accent1">
                    <a:lumMod val="25000"/>
                  </a:schemeClr>
                </a:solidFill>
                <a:latin typeface="Calibri" pitchFamily="34" charset="0"/>
                <a:cs typeface="Calibri" pitchFamily="34" charset="0"/>
              </a:rPr>
              <a:t>1.5-2 = medium negative influence</a:t>
            </a:r>
          </a:p>
          <a:p>
            <a:pPr>
              <a:lnSpc>
                <a:spcPct val="120000"/>
              </a:lnSpc>
              <a:buClr>
                <a:srgbClr val="C00000"/>
              </a:buClr>
            </a:pPr>
            <a:r>
              <a:rPr lang="en-US" sz="1200" dirty="0">
                <a:solidFill>
                  <a:schemeClr val="accent1">
                    <a:lumMod val="25000"/>
                  </a:schemeClr>
                </a:solidFill>
                <a:latin typeface="Calibri" pitchFamily="34" charset="0"/>
                <a:cs typeface="Calibri" pitchFamily="34" charset="0"/>
              </a:rPr>
              <a:t>2.1 -2.5 = low positive influence</a:t>
            </a:r>
          </a:p>
          <a:p>
            <a:pPr>
              <a:buClr>
                <a:srgbClr val="C00000"/>
              </a:buClr>
            </a:pPr>
            <a:endParaRPr lang="en-US" sz="1200" dirty="0">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a:p>
            <a:pPr>
              <a:buClr>
                <a:srgbClr val="C00000"/>
              </a:buClr>
            </a:pPr>
            <a:endParaRPr lang="en-US" sz="1200" dirty="0">
              <a:latin typeface="Calibri" pitchFamily="34" charset="0"/>
              <a:cs typeface="Calibri" pitchFamily="34" charset="0"/>
            </a:endParaRPr>
          </a:p>
        </p:txBody>
      </p:sp>
      <p:sp>
        <p:nvSpPr>
          <p:cNvPr id="9" name="TextBox 8"/>
          <p:cNvSpPr txBox="1"/>
          <p:nvPr/>
        </p:nvSpPr>
        <p:spPr>
          <a:xfrm>
            <a:off x="0" y="457200"/>
            <a:ext cx="9144000" cy="646331"/>
          </a:xfrm>
          <a:prstGeom prst="rect">
            <a:avLst/>
          </a:prstGeom>
          <a:noFill/>
        </p:spPr>
        <p:txBody>
          <a:bodyPr wrap="square" rtlCol="0">
            <a:spAutoFit/>
          </a:bodyPr>
          <a:lstStyle/>
          <a:p>
            <a:pPr algn="ctr"/>
            <a:r>
              <a:rPr lang="en-US" dirty="0">
                <a:solidFill>
                  <a:srgbClr val="C00000"/>
                </a:solidFill>
                <a:latin typeface="Calibri" pitchFamily="34" charset="0"/>
                <a:cs typeface="Calibri" pitchFamily="34" charset="0"/>
              </a:rPr>
              <a:t>Finding 4 </a:t>
            </a:r>
            <a:r>
              <a:rPr lang="en-US" dirty="0" err="1">
                <a:solidFill>
                  <a:srgbClr val="C00000"/>
                </a:solidFill>
                <a:latin typeface="Calibri" pitchFamily="34" charset="0"/>
                <a:cs typeface="Calibri" pitchFamily="34" charset="0"/>
              </a:rPr>
              <a:t>contd</a:t>
            </a:r>
            <a:r>
              <a:rPr lang="en-US" dirty="0">
                <a:solidFill>
                  <a:srgbClr val="C00000"/>
                </a:solidFill>
                <a:latin typeface="Calibri" pitchFamily="34" charset="0"/>
                <a:cs typeface="Calibri" pitchFamily="34" charset="0"/>
              </a:rPr>
              <a:t>…….</a:t>
            </a:r>
          </a:p>
          <a:p>
            <a:pPr algn="ctr"/>
            <a:endParaRPr lang="en-US" dirty="0">
              <a:solidFill>
                <a:srgbClr val="C00000"/>
              </a:solidFill>
              <a:effectLst>
                <a:outerShdw blurRad="38100" dist="38100" dir="2700000" algn="tl">
                  <a:srgbClr val="000000">
                    <a:alpha val="43137"/>
                  </a:srgbClr>
                </a:outerShdw>
              </a:effectLst>
              <a:latin typeface="Calibri" pitchFamily="34" charset="0"/>
              <a:cs typeface="Calibri" pitchFamily="34" charset="0"/>
            </a:endParaRPr>
          </a:p>
        </p:txBody>
      </p:sp>
      <p:sp>
        <p:nvSpPr>
          <p:cNvPr id="12" name="Rectangle 11"/>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13</a:t>
            </a:fld>
            <a:endParaRPr lang="en-US" dirty="0"/>
          </a:p>
        </p:txBody>
      </p:sp>
      <p:graphicFrame>
        <p:nvGraphicFramePr>
          <p:cNvPr id="4" name="Diagram 3"/>
          <p:cNvGraphicFramePr/>
          <p:nvPr/>
        </p:nvGraphicFramePr>
        <p:xfrm>
          <a:off x="1600200" y="1524000"/>
          <a:ext cx="5142412" cy="347662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TextBox 7"/>
          <p:cNvSpPr txBox="1"/>
          <p:nvPr/>
        </p:nvSpPr>
        <p:spPr>
          <a:xfrm>
            <a:off x="6096000" y="4038600"/>
            <a:ext cx="3048000" cy="430887"/>
          </a:xfrm>
          <a:prstGeom prst="rect">
            <a:avLst/>
          </a:prstGeom>
          <a:noFill/>
        </p:spPr>
        <p:txBody>
          <a:bodyPr wrap="square" rtlCol="0">
            <a:spAutoFit/>
          </a:bodyPr>
          <a:lstStyle/>
          <a:p>
            <a:r>
              <a:rPr lang="en-US" sz="1100" dirty="0">
                <a:latin typeface="Calibri" pitchFamily="34" charset="0"/>
                <a:cs typeface="Calibri" pitchFamily="34" charset="0"/>
              </a:rPr>
              <a:t>Encouraging &amp; fostering initiative &amp; creative idea </a:t>
            </a:r>
            <a:r>
              <a:rPr lang="en-US" sz="1100" dirty="0">
                <a:solidFill>
                  <a:srgbClr val="FF0000"/>
                </a:solidFill>
                <a:latin typeface="Calibri" pitchFamily="34" charset="0"/>
                <a:cs typeface="Calibri" pitchFamily="34" charset="0"/>
              </a:rPr>
              <a:t>(.938)</a:t>
            </a:r>
          </a:p>
        </p:txBody>
      </p:sp>
      <p:sp>
        <p:nvSpPr>
          <p:cNvPr id="9" name="TextBox 8"/>
          <p:cNvSpPr txBox="1"/>
          <p:nvPr/>
        </p:nvSpPr>
        <p:spPr>
          <a:xfrm>
            <a:off x="4572000" y="2057400"/>
            <a:ext cx="1890261" cy="261610"/>
          </a:xfrm>
          <a:prstGeom prst="rect">
            <a:avLst/>
          </a:prstGeom>
          <a:noFill/>
        </p:spPr>
        <p:txBody>
          <a:bodyPr wrap="none" rtlCol="0">
            <a:spAutoFit/>
          </a:bodyPr>
          <a:lstStyle/>
          <a:p>
            <a:r>
              <a:rPr lang="en-US" sz="1100" dirty="0">
                <a:latin typeface="Calibri" pitchFamily="34" charset="0"/>
                <a:cs typeface="Calibri" pitchFamily="34" charset="0"/>
              </a:rPr>
              <a:t> Fairness  and objective </a:t>
            </a:r>
            <a:r>
              <a:rPr lang="en-US" sz="1100" dirty="0">
                <a:solidFill>
                  <a:srgbClr val="FF0000"/>
                </a:solidFill>
                <a:latin typeface="Calibri" pitchFamily="34" charset="0"/>
                <a:cs typeface="Calibri" pitchFamily="34" charset="0"/>
              </a:rPr>
              <a:t>(.983)</a:t>
            </a:r>
          </a:p>
        </p:txBody>
      </p:sp>
      <p:sp>
        <p:nvSpPr>
          <p:cNvPr id="10" name="TextBox 9"/>
          <p:cNvSpPr txBox="1"/>
          <p:nvPr/>
        </p:nvSpPr>
        <p:spPr>
          <a:xfrm>
            <a:off x="5213113" y="2832556"/>
            <a:ext cx="2167581" cy="261610"/>
          </a:xfrm>
          <a:prstGeom prst="rect">
            <a:avLst/>
          </a:prstGeom>
          <a:noFill/>
        </p:spPr>
        <p:txBody>
          <a:bodyPr wrap="none" rtlCol="0">
            <a:spAutoFit/>
          </a:bodyPr>
          <a:lstStyle/>
          <a:p>
            <a:r>
              <a:rPr lang="en-US" sz="1100" dirty="0">
                <a:latin typeface="Calibri" pitchFamily="34" charset="0"/>
                <a:cs typeface="Calibri" pitchFamily="34" charset="0"/>
              </a:rPr>
              <a:t>Delegating and empowering </a:t>
            </a:r>
            <a:r>
              <a:rPr lang="en-US" sz="1100" dirty="0">
                <a:solidFill>
                  <a:srgbClr val="FF0000"/>
                </a:solidFill>
                <a:latin typeface="Calibri" pitchFamily="34" charset="0"/>
                <a:cs typeface="Calibri" pitchFamily="34" charset="0"/>
              </a:rPr>
              <a:t>(.977)</a:t>
            </a:r>
          </a:p>
        </p:txBody>
      </p:sp>
      <p:sp>
        <p:nvSpPr>
          <p:cNvPr id="11" name="TextBox 10"/>
          <p:cNvSpPr txBox="1"/>
          <p:nvPr/>
        </p:nvSpPr>
        <p:spPr>
          <a:xfrm>
            <a:off x="4267200" y="1600200"/>
            <a:ext cx="3797835" cy="261610"/>
          </a:xfrm>
          <a:prstGeom prst="rect">
            <a:avLst/>
          </a:prstGeom>
          <a:noFill/>
        </p:spPr>
        <p:txBody>
          <a:bodyPr wrap="none" rtlCol="0">
            <a:spAutoFit/>
          </a:bodyPr>
          <a:lstStyle/>
          <a:p>
            <a:r>
              <a:rPr lang="en-US" sz="1100" dirty="0">
                <a:latin typeface="Calibri" pitchFamily="34" charset="0"/>
                <a:cs typeface="Calibri" pitchFamily="34" charset="0"/>
              </a:rPr>
              <a:t>Participative &amp; inclusive  (inviting ideas and suggestions ) </a:t>
            </a:r>
            <a:r>
              <a:rPr lang="en-US" sz="1100" dirty="0">
                <a:solidFill>
                  <a:srgbClr val="FF0000"/>
                </a:solidFill>
                <a:latin typeface="Calibri" pitchFamily="34" charset="0"/>
                <a:cs typeface="Calibri" pitchFamily="34" charset="0"/>
              </a:rPr>
              <a:t>(.987)</a:t>
            </a:r>
          </a:p>
        </p:txBody>
      </p:sp>
      <p:sp>
        <p:nvSpPr>
          <p:cNvPr id="12" name="TextBox 11"/>
          <p:cNvSpPr txBox="1"/>
          <p:nvPr/>
        </p:nvSpPr>
        <p:spPr>
          <a:xfrm>
            <a:off x="5671460" y="3487579"/>
            <a:ext cx="2909771" cy="261610"/>
          </a:xfrm>
          <a:prstGeom prst="rect">
            <a:avLst/>
          </a:prstGeom>
          <a:noFill/>
        </p:spPr>
        <p:txBody>
          <a:bodyPr wrap="none" rtlCol="0">
            <a:spAutoFit/>
          </a:bodyPr>
          <a:lstStyle/>
          <a:p>
            <a:r>
              <a:rPr lang="en-US" sz="1100" dirty="0">
                <a:latin typeface="Calibri" pitchFamily="34" charset="0"/>
                <a:cs typeface="Calibri" pitchFamily="34" charset="0"/>
              </a:rPr>
              <a:t>Overall rating of line manager/supervisor </a:t>
            </a:r>
            <a:r>
              <a:rPr lang="en-US" sz="1100" dirty="0">
                <a:solidFill>
                  <a:srgbClr val="FF0000"/>
                </a:solidFill>
                <a:latin typeface="Calibri" pitchFamily="34" charset="0"/>
                <a:cs typeface="Calibri" pitchFamily="34" charset="0"/>
              </a:rPr>
              <a:t>(.953)</a:t>
            </a:r>
          </a:p>
        </p:txBody>
      </p:sp>
      <p:sp>
        <p:nvSpPr>
          <p:cNvPr id="13" name="TextBox 12"/>
          <p:cNvSpPr txBox="1"/>
          <p:nvPr/>
        </p:nvSpPr>
        <p:spPr>
          <a:xfrm>
            <a:off x="5341298" y="3030379"/>
            <a:ext cx="2933816" cy="261610"/>
          </a:xfrm>
          <a:prstGeom prst="rect">
            <a:avLst/>
          </a:prstGeom>
          <a:noFill/>
        </p:spPr>
        <p:txBody>
          <a:bodyPr wrap="none" rtlCol="0">
            <a:spAutoFit/>
          </a:bodyPr>
          <a:lstStyle/>
          <a:p>
            <a:r>
              <a:rPr lang="en-US" sz="1100" dirty="0">
                <a:latin typeface="Calibri" pitchFamily="34" charset="0"/>
                <a:cs typeface="Calibri" pitchFamily="34" charset="0"/>
              </a:rPr>
              <a:t>Providing  direction, guidance &amp; feedback </a:t>
            </a:r>
            <a:r>
              <a:rPr lang="en-US" sz="1100" dirty="0">
                <a:solidFill>
                  <a:srgbClr val="FF0000"/>
                </a:solidFill>
                <a:latin typeface="Calibri" pitchFamily="34" charset="0"/>
                <a:cs typeface="Calibri" pitchFamily="34" charset="0"/>
              </a:rPr>
              <a:t>(.975)</a:t>
            </a:r>
          </a:p>
        </p:txBody>
      </p:sp>
      <p:sp>
        <p:nvSpPr>
          <p:cNvPr id="14" name="TextBox 13"/>
          <p:cNvSpPr txBox="1"/>
          <p:nvPr/>
        </p:nvSpPr>
        <p:spPr>
          <a:xfrm>
            <a:off x="5046116" y="2649379"/>
            <a:ext cx="2574975" cy="261610"/>
          </a:xfrm>
          <a:prstGeom prst="rect">
            <a:avLst/>
          </a:prstGeom>
          <a:noFill/>
        </p:spPr>
        <p:txBody>
          <a:bodyPr wrap="none" rtlCol="0">
            <a:spAutoFit/>
          </a:bodyPr>
          <a:lstStyle/>
          <a:p>
            <a:r>
              <a:rPr lang="en-US" sz="1100" dirty="0">
                <a:latin typeface="Calibri" pitchFamily="34" charset="0"/>
                <a:cs typeface="Calibri" pitchFamily="34" charset="0"/>
              </a:rPr>
              <a:t>Mentoring  to develop in ones role </a:t>
            </a:r>
            <a:r>
              <a:rPr lang="en-US" sz="1100" dirty="0">
                <a:solidFill>
                  <a:srgbClr val="FF0000"/>
                </a:solidFill>
                <a:latin typeface="Calibri" pitchFamily="34" charset="0"/>
                <a:cs typeface="Calibri" pitchFamily="34" charset="0"/>
              </a:rPr>
              <a:t>(.977)</a:t>
            </a:r>
          </a:p>
        </p:txBody>
      </p:sp>
      <p:sp>
        <p:nvSpPr>
          <p:cNvPr id="15" name="TextBox 14"/>
          <p:cNvSpPr txBox="1"/>
          <p:nvPr/>
        </p:nvSpPr>
        <p:spPr>
          <a:xfrm>
            <a:off x="4419600" y="1828800"/>
            <a:ext cx="2143536" cy="261610"/>
          </a:xfrm>
          <a:prstGeom prst="rect">
            <a:avLst/>
          </a:prstGeom>
          <a:noFill/>
        </p:spPr>
        <p:txBody>
          <a:bodyPr wrap="none" rtlCol="0">
            <a:spAutoFit/>
          </a:bodyPr>
          <a:lstStyle/>
          <a:p>
            <a:r>
              <a:rPr lang="en-US" sz="1100" dirty="0">
                <a:latin typeface="Calibri" pitchFamily="34" charset="0"/>
                <a:cs typeface="Calibri" pitchFamily="34" charset="0"/>
              </a:rPr>
              <a:t>Communicative and sharing </a:t>
            </a:r>
            <a:r>
              <a:rPr lang="en-US" sz="1100" dirty="0">
                <a:solidFill>
                  <a:srgbClr val="FF0000"/>
                </a:solidFill>
                <a:latin typeface="Calibri" pitchFamily="34" charset="0"/>
                <a:cs typeface="Calibri" pitchFamily="34" charset="0"/>
              </a:rPr>
              <a:t>(.984)</a:t>
            </a:r>
          </a:p>
        </p:txBody>
      </p:sp>
      <p:sp>
        <p:nvSpPr>
          <p:cNvPr id="16" name="TextBox 15"/>
          <p:cNvSpPr txBox="1"/>
          <p:nvPr/>
        </p:nvSpPr>
        <p:spPr>
          <a:xfrm>
            <a:off x="4800600" y="2286000"/>
            <a:ext cx="1804907" cy="261610"/>
          </a:xfrm>
          <a:prstGeom prst="rect">
            <a:avLst/>
          </a:prstGeom>
          <a:noFill/>
        </p:spPr>
        <p:txBody>
          <a:bodyPr wrap="none" rtlCol="0">
            <a:spAutoFit/>
          </a:bodyPr>
          <a:lstStyle/>
          <a:p>
            <a:r>
              <a:rPr lang="en-US" sz="1100" dirty="0">
                <a:latin typeface="Calibri" pitchFamily="34" charset="0"/>
                <a:cs typeface="Calibri" pitchFamily="34" charset="0"/>
              </a:rPr>
              <a:t>Training and coaching </a:t>
            </a:r>
            <a:r>
              <a:rPr lang="en-US" sz="1100" dirty="0">
                <a:solidFill>
                  <a:srgbClr val="FF0000"/>
                </a:solidFill>
                <a:latin typeface="Calibri" pitchFamily="34" charset="0"/>
                <a:cs typeface="Calibri" pitchFamily="34" charset="0"/>
              </a:rPr>
              <a:t>(.981)</a:t>
            </a:r>
          </a:p>
        </p:txBody>
      </p:sp>
      <p:sp>
        <p:nvSpPr>
          <p:cNvPr id="17" name="TextBox 16"/>
          <p:cNvSpPr txBox="1"/>
          <p:nvPr/>
        </p:nvSpPr>
        <p:spPr>
          <a:xfrm>
            <a:off x="6477000" y="4419600"/>
            <a:ext cx="2949617" cy="430887"/>
          </a:xfrm>
          <a:prstGeom prst="rect">
            <a:avLst/>
          </a:prstGeom>
          <a:noFill/>
        </p:spPr>
        <p:txBody>
          <a:bodyPr wrap="square" rtlCol="0">
            <a:spAutoFit/>
          </a:bodyPr>
          <a:lstStyle/>
          <a:p>
            <a:r>
              <a:rPr lang="en-US" sz="1100" dirty="0">
                <a:latin typeface="Calibri" pitchFamily="34" charset="0"/>
                <a:cs typeface="Calibri" pitchFamily="34" charset="0"/>
              </a:rPr>
              <a:t>Satisfaction with the quality of supervision received</a:t>
            </a:r>
            <a:r>
              <a:rPr lang="en-US" sz="1100" dirty="0">
                <a:solidFill>
                  <a:srgbClr val="FF0000"/>
                </a:solidFill>
                <a:latin typeface="Calibri" pitchFamily="34" charset="0"/>
                <a:cs typeface="Calibri" pitchFamily="34" charset="0"/>
              </a:rPr>
              <a:t>(.935)</a:t>
            </a:r>
          </a:p>
        </p:txBody>
      </p:sp>
      <p:sp>
        <p:nvSpPr>
          <p:cNvPr id="18" name="TextBox 17"/>
          <p:cNvSpPr txBox="1"/>
          <p:nvPr/>
        </p:nvSpPr>
        <p:spPr>
          <a:xfrm>
            <a:off x="5477038" y="3276600"/>
            <a:ext cx="2635658" cy="261610"/>
          </a:xfrm>
          <a:prstGeom prst="rect">
            <a:avLst/>
          </a:prstGeom>
          <a:noFill/>
        </p:spPr>
        <p:txBody>
          <a:bodyPr wrap="none" rtlCol="0">
            <a:spAutoFit/>
          </a:bodyPr>
          <a:lstStyle/>
          <a:p>
            <a:r>
              <a:rPr lang="en-US" sz="1100" dirty="0">
                <a:latin typeface="Calibri" pitchFamily="34" charset="0"/>
                <a:cs typeface="Calibri" pitchFamily="34" charset="0"/>
              </a:rPr>
              <a:t>Empathy and care for team member </a:t>
            </a:r>
            <a:r>
              <a:rPr lang="en-US" sz="1100" dirty="0">
                <a:solidFill>
                  <a:srgbClr val="FF0000"/>
                </a:solidFill>
                <a:latin typeface="Calibri" pitchFamily="34" charset="0"/>
                <a:cs typeface="Calibri" pitchFamily="34" charset="0"/>
              </a:rPr>
              <a:t>(.961)</a:t>
            </a:r>
          </a:p>
        </p:txBody>
      </p:sp>
      <p:sp>
        <p:nvSpPr>
          <p:cNvPr id="19" name="TextBox 18"/>
          <p:cNvSpPr txBox="1"/>
          <p:nvPr/>
        </p:nvSpPr>
        <p:spPr>
          <a:xfrm>
            <a:off x="228600" y="5486400"/>
            <a:ext cx="8686800" cy="646331"/>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latin typeface="Calibri" pitchFamily="34" charset="0"/>
                <a:cs typeface="Calibri" pitchFamily="34" charset="0"/>
              </a:rPr>
              <a:t>Overall Supervision is the second highest contributor of attrition (28% contribution). But the mean score &amp; the factor analysis score show that it is the single largest factor and the one with the  highest  influence on employee and attrition. Added to that the analysis also relates its influence over certain “push factors” like change of location and career changes makes it a fairly serious and large issue . </a:t>
            </a:r>
          </a:p>
        </p:txBody>
      </p:sp>
      <p:sp>
        <p:nvSpPr>
          <p:cNvPr id="21" name="TextBox 20"/>
          <p:cNvSpPr txBox="1"/>
          <p:nvPr/>
        </p:nvSpPr>
        <p:spPr>
          <a:xfrm>
            <a:off x="152400" y="0"/>
            <a:ext cx="8763000" cy="1292662"/>
          </a:xfrm>
          <a:prstGeom prst="rect">
            <a:avLst/>
          </a:prstGeom>
          <a:noFill/>
        </p:spPr>
        <p:txBody>
          <a:bodyPr wrap="square" rtlCol="0">
            <a:spAutoFit/>
          </a:bodyPr>
          <a:lstStyle/>
          <a:p>
            <a:pPr algn="ctr"/>
            <a:r>
              <a:rPr lang="en-US" dirty="0">
                <a:solidFill>
                  <a:srgbClr val="C00000"/>
                </a:solidFill>
                <a:latin typeface="Calibri" pitchFamily="34" charset="0"/>
                <a:cs typeface="Calibri" pitchFamily="34" charset="0"/>
              </a:rPr>
              <a:t>Finding 5</a:t>
            </a:r>
          </a:p>
          <a:p>
            <a:pPr algn="ctr" eaLnBrk="0" hangingPunct="0">
              <a:defRPr/>
            </a:pPr>
            <a:r>
              <a:rPr lang="en-US" sz="1500" dirty="0">
                <a:solidFill>
                  <a:srgbClr val="1E4649"/>
                </a:solidFill>
                <a:latin typeface="Calibri" pitchFamily="34" charset="0"/>
              </a:rPr>
              <a:t> </a:t>
            </a:r>
            <a:r>
              <a:rPr lang="en-US" sz="1400" dirty="0">
                <a:solidFill>
                  <a:srgbClr val="1E4649"/>
                </a:solidFill>
                <a:latin typeface="Calibri" pitchFamily="34" charset="0"/>
              </a:rPr>
              <a:t>Supervision issue is unique &amp; stands out as a factor with a high negative score in all its elements </a:t>
            </a:r>
            <a:r>
              <a:rPr lang="en-US" sz="1400" dirty="0" err="1">
                <a:solidFill>
                  <a:srgbClr val="1E4649"/>
                </a:solidFill>
                <a:latin typeface="Calibri" pitchFamily="34" charset="0"/>
              </a:rPr>
              <a:t>i.e</a:t>
            </a:r>
            <a:r>
              <a:rPr lang="en-US" sz="1400" dirty="0">
                <a:solidFill>
                  <a:srgbClr val="1E4649"/>
                </a:solidFill>
                <a:latin typeface="Calibri" pitchFamily="34" charset="0"/>
              </a:rPr>
              <a:t> every element or subset of supervision is a high concern area for employees. The complete way in which employees are managed or handled is reported as a very high concern and therefore a cause of attrition. A transformational initiative is required to transform the Style of Management in order to retain talent. </a:t>
            </a:r>
          </a:p>
        </p:txBody>
      </p:sp>
      <p:sp>
        <p:nvSpPr>
          <p:cNvPr id="23" name="Rectangle 22"/>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2" name="TextBox 1"/>
          <p:cNvSpPr txBox="1"/>
          <p:nvPr/>
        </p:nvSpPr>
        <p:spPr>
          <a:xfrm>
            <a:off x="304800" y="1371600"/>
            <a:ext cx="2849045" cy="307777"/>
          </a:xfrm>
          <a:prstGeom prst="rect">
            <a:avLst/>
          </a:prstGeom>
          <a:noFill/>
        </p:spPr>
        <p:txBody>
          <a:bodyPr wrap="none" rtlCol="0">
            <a:spAutoFit/>
          </a:bodyPr>
          <a:lstStyle/>
          <a:p>
            <a:r>
              <a:rPr lang="en-US" sz="1400" b="1" dirty="0">
                <a:solidFill>
                  <a:schemeClr val="accent1">
                    <a:lumMod val="25000"/>
                  </a:schemeClr>
                </a:solidFill>
                <a:latin typeface="Calibri"/>
                <a:cs typeface="Calibri"/>
              </a:rPr>
              <a:t>Push Analysis – Supervision Related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14</a:t>
            </a:fld>
            <a:endParaRPr lang="en-US" dirty="0"/>
          </a:p>
        </p:txBody>
      </p:sp>
      <p:sp>
        <p:nvSpPr>
          <p:cNvPr id="8" name="TextBox 7"/>
          <p:cNvSpPr txBox="1"/>
          <p:nvPr/>
        </p:nvSpPr>
        <p:spPr>
          <a:xfrm>
            <a:off x="5105400" y="2438400"/>
            <a:ext cx="3505200" cy="1754326"/>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The 3 key factors of attrition (Supervision, Low advancement opportunity and Work environment) together has an impact of 0.662. </a:t>
            </a:r>
          </a:p>
          <a:p>
            <a:pPr>
              <a:buClr>
                <a:srgbClr val="C00000"/>
              </a:buClr>
            </a:pPr>
            <a:endParaRPr lang="en-US" sz="1200" dirty="0">
              <a:solidFill>
                <a:schemeClr val="accent1">
                  <a:lumMod val="25000"/>
                </a:schemeClr>
              </a:solidFill>
              <a:latin typeface="Calibri" pitchFamily="34" charset="0"/>
              <a:cs typeface="Calibri" pitchFamily="34" charset="0"/>
            </a:endParaRPr>
          </a:p>
          <a:p>
            <a:pPr>
              <a:buClr>
                <a:srgbClr val="C00000"/>
              </a:buClr>
            </a:pPr>
            <a:r>
              <a:rPr lang="en-US" sz="1200" dirty="0">
                <a:solidFill>
                  <a:schemeClr val="accent1">
                    <a:lumMod val="25000"/>
                  </a:schemeClr>
                </a:solidFill>
                <a:latin typeface="Calibri" pitchFamily="34" charset="0"/>
                <a:cs typeface="Calibri" pitchFamily="34" charset="0"/>
              </a:rPr>
              <a:t>Controlling supervision influence will bring down that impact to 0.440.</a:t>
            </a:r>
          </a:p>
          <a:p>
            <a:pPr>
              <a:buClr>
                <a:srgbClr val="C00000"/>
              </a:buClr>
            </a:pPr>
            <a:endParaRPr lang="en-US" sz="1200" dirty="0">
              <a:solidFill>
                <a:schemeClr val="accent1">
                  <a:lumMod val="25000"/>
                </a:schemeClr>
              </a:solidFill>
              <a:latin typeface="Calibri" pitchFamily="34" charset="0"/>
              <a:cs typeface="Calibri" pitchFamily="34" charset="0"/>
            </a:endParaRPr>
          </a:p>
          <a:p>
            <a:pPr>
              <a:buClr>
                <a:srgbClr val="C00000"/>
              </a:buClr>
            </a:pPr>
            <a:r>
              <a:rPr lang="en-US" sz="1200" dirty="0">
                <a:solidFill>
                  <a:schemeClr val="accent1">
                    <a:lumMod val="25000"/>
                  </a:schemeClr>
                </a:solidFill>
                <a:latin typeface="Calibri" pitchFamily="34" charset="0"/>
                <a:cs typeface="Calibri" pitchFamily="34" charset="0"/>
              </a:rPr>
              <a:t>Which implies reducing issues related to supervision would bring down attrition by 22%. </a:t>
            </a:r>
          </a:p>
        </p:txBody>
      </p:sp>
      <p:graphicFrame>
        <p:nvGraphicFramePr>
          <p:cNvPr id="9" name="Chart 8"/>
          <p:cNvGraphicFramePr/>
          <p:nvPr/>
        </p:nvGraphicFramePr>
        <p:xfrm>
          <a:off x="152400" y="2133600"/>
          <a:ext cx="457200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10" name="TextBox 9"/>
          <p:cNvSpPr txBox="1"/>
          <p:nvPr/>
        </p:nvSpPr>
        <p:spPr>
          <a:xfrm>
            <a:off x="685800" y="3657600"/>
            <a:ext cx="2971800" cy="600164"/>
          </a:xfrm>
          <a:prstGeom prst="rect">
            <a:avLst/>
          </a:prstGeom>
          <a:noFill/>
        </p:spPr>
        <p:txBody>
          <a:bodyPr wrap="square" rtlCol="0">
            <a:spAutoFit/>
          </a:bodyPr>
          <a:lstStyle/>
          <a:p>
            <a:r>
              <a:rPr lang="en-US" sz="1100" dirty="0"/>
              <a:t>Overall= (Supervision Issues, Better /  Advancement Opportunity, Work Environment</a:t>
            </a:r>
            <a:r>
              <a:rPr lang="en-US" sz="1000" dirty="0"/>
              <a:t>)</a:t>
            </a:r>
          </a:p>
        </p:txBody>
      </p:sp>
      <p:sp>
        <p:nvSpPr>
          <p:cNvPr id="11" name="TextBox 10"/>
          <p:cNvSpPr txBox="1"/>
          <p:nvPr/>
        </p:nvSpPr>
        <p:spPr>
          <a:xfrm rot="16200000">
            <a:off x="174865" y="3247574"/>
            <a:ext cx="607859" cy="261610"/>
          </a:xfrm>
          <a:prstGeom prst="rect">
            <a:avLst/>
          </a:prstGeom>
          <a:noFill/>
        </p:spPr>
        <p:txBody>
          <a:bodyPr wrap="none" rtlCol="0">
            <a:spAutoFit/>
          </a:bodyPr>
          <a:lstStyle/>
          <a:p>
            <a:r>
              <a:rPr lang="en-US" sz="1100" b="1" dirty="0">
                <a:latin typeface="Calibri" pitchFamily="34" charset="0"/>
                <a:cs typeface="Calibri" pitchFamily="34" charset="0"/>
              </a:rPr>
              <a:t>Overall</a:t>
            </a:r>
          </a:p>
        </p:txBody>
      </p:sp>
      <p:sp>
        <p:nvSpPr>
          <p:cNvPr id="15" name="Rectangle 14"/>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6" name="TextBox 15"/>
          <p:cNvSpPr txBox="1"/>
          <p:nvPr/>
        </p:nvSpPr>
        <p:spPr>
          <a:xfrm>
            <a:off x="152400" y="609600"/>
            <a:ext cx="8763000" cy="553998"/>
          </a:xfrm>
          <a:prstGeom prst="rect">
            <a:avLst/>
          </a:prstGeom>
          <a:noFill/>
        </p:spPr>
        <p:txBody>
          <a:bodyPr wrap="square" rtlCol="0">
            <a:spAutoFit/>
          </a:bodyPr>
          <a:lstStyle/>
          <a:p>
            <a:pPr algn="ctr" eaLnBrk="0" hangingPunct="0">
              <a:defRPr/>
            </a:pPr>
            <a:r>
              <a:rPr lang="en-US" sz="1500" dirty="0">
                <a:solidFill>
                  <a:srgbClr val="1E4649"/>
                </a:solidFill>
                <a:latin typeface="Calibri" pitchFamily="34" charset="0"/>
              </a:rPr>
              <a:t>Cause and effect results  indicate addressing Supervision related concerns alone has a potential   to  bring down attrition by  22%  </a:t>
            </a:r>
          </a:p>
        </p:txBody>
      </p:sp>
      <p:sp>
        <p:nvSpPr>
          <p:cNvPr id="12" name="TextBox 11"/>
          <p:cNvSpPr txBox="1"/>
          <p:nvPr/>
        </p:nvSpPr>
        <p:spPr>
          <a:xfrm>
            <a:off x="304800" y="1371600"/>
            <a:ext cx="2849045" cy="307777"/>
          </a:xfrm>
          <a:prstGeom prst="rect">
            <a:avLst/>
          </a:prstGeom>
          <a:noFill/>
        </p:spPr>
        <p:txBody>
          <a:bodyPr wrap="none" rtlCol="0">
            <a:spAutoFit/>
          </a:bodyPr>
          <a:lstStyle/>
          <a:p>
            <a:r>
              <a:rPr lang="en-US" sz="1400" b="1" dirty="0">
                <a:solidFill>
                  <a:srgbClr val="1E4649"/>
                </a:solidFill>
                <a:latin typeface="Calibri"/>
                <a:cs typeface="Calibri"/>
              </a:rPr>
              <a:t>Push Analysis – Supervision Related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15</a:t>
            </a:fld>
            <a:endParaRPr lang="en-US" dirty="0"/>
          </a:p>
        </p:txBody>
      </p:sp>
      <p:sp>
        <p:nvSpPr>
          <p:cNvPr id="16" name="TextBox 15"/>
          <p:cNvSpPr txBox="1"/>
          <p:nvPr/>
        </p:nvSpPr>
        <p:spPr>
          <a:xfrm>
            <a:off x="1600200" y="5867400"/>
            <a:ext cx="5486400" cy="830997"/>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Exclusion of supervision issues shows more prominent impact on:-</a:t>
            </a:r>
          </a:p>
          <a:p>
            <a:pPr>
              <a:buClr>
                <a:srgbClr val="C00000"/>
              </a:buClr>
            </a:pPr>
            <a:endParaRPr lang="en-US" sz="1200" dirty="0">
              <a:solidFill>
                <a:schemeClr val="accent1">
                  <a:lumMod val="25000"/>
                </a:schemeClr>
              </a:solidFill>
              <a:latin typeface="Calibri" pitchFamily="34" charset="0"/>
              <a:cs typeface="Calibri" pitchFamily="34" charset="0"/>
            </a:endParaRPr>
          </a:p>
          <a:p>
            <a:pPr>
              <a:buClr>
                <a:srgbClr val="C00000"/>
              </a:buClr>
            </a:pPr>
            <a:r>
              <a:rPr lang="en-US" sz="1200" dirty="0">
                <a:solidFill>
                  <a:schemeClr val="accent1">
                    <a:lumMod val="25000"/>
                  </a:schemeClr>
                </a:solidFill>
                <a:latin typeface="Calibri" pitchFamily="34" charset="0"/>
                <a:cs typeface="Calibri" pitchFamily="34" charset="0"/>
              </a:rPr>
              <a:t> 1.East Zone: Bringing down attrition by 33%  2.Field Force by 23%</a:t>
            </a:r>
          </a:p>
          <a:p>
            <a:pPr>
              <a:buClr>
                <a:srgbClr val="C00000"/>
              </a:buClr>
            </a:pPr>
            <a:r>
              <a:rPr lang="en-US" sz="1200" dirty="0">
                <a:solidFill>
                  <a:schemeClr val="accent1">
                    <a:lumMod val="25000"/>
                  </a:schemeClr>
                </a:solidFill>
                <a:latin typeface="Calibri" pitchFamily="34" charset="0"/>
                <a:cs typeface="Calibri" pitchFamily="34" charset="0"/>
              </a:rPr>
              <a:t> 3. 30-40 years  category: Bringing down attrition by 28%  4. Male employees by 22%</a:t>
            </a:r>
          </a:p>
        </p:txBody>
      </p:sp>
      <p:sp>
        <p:nvSpPr>
          <p:cNvPr id="11" name="Rectangle 10"/>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3" name="TextBox 12"/>
          <p:cNvSpPr txBox="1"/>
          <p:nvPr/>
        </p:nvSpPr>
        <p:spPr>
          <a:xfrm>
            <a:off x="914400" y="304800"/>
            <a:ext cx="7010400" cy="553998"/>
          </a:xfrm>
          <a:prstGeom prst="rect">
            <a:avLst/>
          </a:prstGeom>
          <a:noFill/>
        </p:spPr>
        <p:txBody>
          <a:bodyPr wrap="square" rtlCol="0">
            <a:spAutoFit/>
          </a:bodyPr>
          <a:lstStyle/>
          <a:p>
            <a:pPr algn="ctr" eaLnBrk="0" hangingPunct="0">
              <a:defRPr/>
            </a:pPr>
            <a:r>
              <a:rPr lang="en-US" sz="1500" dirty="0">
                <a:solidFill>
                  <a:srgbClr val="1E4649"/>
                </a:solidFill>
                <a:latin typeface="Calibri" pitchFamily="34" charset="0"/>
              </a:rPr>
              <a:t>The most affected demographic group due to supervision are East zone, Field Force, 30-40 years age category and male employee.</a:t>
            </a:r>
          </a:p>
        </p:txBody>
      </p:sp>
      <p:sp>
        <p:nvSpPr>
          <p:cNvPr id="17" name="Rectangle 16"/>
          <p:cNvSpPr/>
          <p:nvPr/>
        </p:nvSpPr>
        <p:spPr>
          <a:xfrm>
            <a:off x="3657600" y="1295400"/>
            <a:ext cx="6400800" cy="276999"/>
          </a:xfrm>
          <a:prstGeom prst="rect">
            <a:avLst/>
          </a:prstGeom>
        </p:spPr>
        <p:txBody>
          <a:bodyPr wrap="square">
            <a:spAutoFit/>
          </a:bodyPr>
          <a:lstStyle/>
          <a:p>
            <a:r>
              <a:rPr lang="en-US" sz="1200" dirty="0">
                <a:latin typeface="Calibri" pitchFamily="34" charset="0"/>
                <a:cs typeface="Calibri" pitchFamily="34" charset="0"/>
              </a:rPr>
              <a:t>( Reduction in attrition if “Supervision” factor is excluded) </a:t>
            </a:r>
          </a:p>
        </p:txBody>
      </p:sp>
      <p:graphicFrame>
        <p:nvGraphicFramePr>
          <p:cNvPr id="18" name="Chart 17"/>
          <p:cNvGraphicFramePr/>
          <p:nvPr>
            <p:extLst>
              <p:ext uri="{D42A27DB-BD31-4B8C-83A1-F6EECF244321}">
                <p14:modId xmlns:p14="http://schemas.microsoft.com/office/powerpoint/2010/main" val="1998905654"/>
              </p:ext>
            </p:extLst>
          </p:nvPr>
        </p:nvGraphicFramePr>
        <p:xfrm>
          <a:off x="457200" y="1905000"/>
          <a:ext cx="3240000" cy="180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9" name="Chart 18"/>
          <p:cNvGraphicFramePr/>
          <p:nvPr>
            <p:extLst>
              <p:ext uri="{D42A27DB-BD31-4B8C-83A1-F6EECF244321}">
                <p14:modId xmlns:p14="http://schemas.microsoft.com/office/powerpoint/2010/main" val="3138580402"/>
              </p:ext>
            </p:extLst>
          </p:nvPr>
        </p:nvGraphicFramePr>
        <p:xfrm>
          <a:off x="5029200" y="1905000"/>
          <a:ext cx="3240000" cy="1728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Chart 19"/>
          <p:cNvGraphicFramePr/>
          <p:nvPr>
            <p:extLst>
              <p:ext uri="{D42A27DB-BD31-4B8C-83A1-F6EECF244321}">
                <p14:modId xmlns:p14="http://schemas.microsoft.com/office/powerpoint/2010/main" val="2120392961"/>
              </p:ext>
            </p:extLst>
          </p:nvPr>
        </p:nvGraphicFramePr>
        <p:xfrm>
          <a:off x="381000" y="4038600"/>
          <a:ext cx="3240000" cy="1728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1" name="Chart 20"/>
          <p:cNvGraphicFramePr/>
          <p:nvPr>
            <p:extLst>
              <p:ext uri="{D42A27DB-BD31-4B8C-83A1-F6EECF244321}">
                <p14:modId xmlns:p14="http://schemas.microsoft.com/office/powerpoint/2010/main" val="3148546665"/>
              </p:ext>
            </p:extLst>
          </p:nvPr>
        </p:nvGraphicFramePr>
        <p:xfrm>
          <a:off x="4953000" y="4114800"/>
          <a:ext cx="3240000" cy="1728000"/>
        </p:xfrm>
        <a:graphic>
          <a:graphicData uri="http://schemas.openxmlformats.org/drawingml/2006/chart">
            <c:chart xmlns:c="http://schemas.openxmlformats.org/drawingml/2006/chart" xmlns:r="http://schemas.openxmlformats.org/officeDocument/2006/relationships" r:id="rId5"/>
          </a:graphicData>
        </a:graphic>
      </p:graphicFrame>
      <p:sp>
        <p:nvSpPr>
          <p:cNvPr id="22" name="TextBox 21"/>
          <p:cNvSpPr txBox="1"/>
          <p:nvPr/>
        </p:nvSpPr>
        <p:spPr>
          <a:xfrm>
            <a:off x="304800" y="1676400"/>
            <a:ext cx="1447800" cy="261610"/>
          </a:xfrm>
          <a:prstGeom prst="rect">
            <a:avLst/>
          </a:prstGeom>
          <a:noFill/>
        </p:spPr>
        <p:txBody>
          <a:bodyPr wrap="square" rtlCol="0">
            <a:spAutoFit/>
          </a:bodyPr>
          <a:lstStyle/>
          <a:p>
            <a:r>
              <a:rPr lang="en-US" sz="1100" u="sng" dirty="0">
                <a:latin typeface="Calibri" pitchFamily="34" charset="0"/>
              </a:rPr>
              <a:t>Region wise</a:t>
            </a:r>
          </a:p>
        </p:txBody>
      </p:sp>
      <p:sp>
        <p:nvSpPr>
          <p:cNvPr id="23" name="TextBox 22"/>
          <p:cNvSpPr txBox="1"/>
          <p:nvPr/>
        </p:nvSpPr>
        <p:spPr>
          <a:xfrm>
            <a:off x="4953000" y="1676400"/>
            <a:ext cx="1447800" cy="261610"/>
          </a:xfrm>
          <a:prstGeom prst="rect">
            <a:avLst/>
          </a:prstGeom>
          <a:noFill/>
        </p:spPr>
        <p:txBody>
          <a:bodyPr wrap="square" rtlCol="0">
            <a:spAutoFit/>
          </a:bodyPr>
          <a:lstStyle/>
          <a:p>
            <a:r>
              <a:rPr lang="en-US" sz="1100" u="sng" dirty="0">
                <a:latin typeface="Calibri" pitchFamily="34" charset="0"/>
              </a:rPr>
              <a:t>Function wise</a:t>
            </a:r>
          </a:p>
        </p:txBody>
      </p:sp>
      <p:sp>
        <p:nvSpPr>
          <p:cNvPr id="24" name="TextBox 23"/>
          <p:cNvSpPr txBox="1"/>
          <p:nvPr/>
        </p:nvSpPr>
        <p:spPr>
          <a:xfrm>
            <a:off x="381000" y="3733800"/>
            <a:ext cx="1447800" cy="261610"/>
          </a:xfrm>
          <a:prstGeom prst="rect">
            <a:avLst/>
          </a:prstGeom>
          <a:noFill/>
        </p:spPr>
        <p:txBody>
          <a:bodyPr wrap="square" rtlCol="0">
            <a:spAutoFit/>
          </a:bodyPr>
          <a:lstStyle/>
          <a:p>
            <a:r>
              <a:rPr lang="en-US" sz="1100" u="sng" dirty="0">
                <a:latin typeface="Calibri" pitchFamily="34" charset="0"/>
              </a:rPr>
              <a:t>Age wise</a:t>
            </a:r>
          </a:p>
        </p:txBody>
      </p:sp>
      <p:sp>
        <p:nvSpPr>
          <p:cNvPr id="25" name="TextBox 24"/>
          <p:cNvSpPr txBox="1"/>
          <p:nvPr/>
        </p:nvSpPr>
        <p:spPr>
          <a:xfrm>
            <a:off x="5029200" y="3733800"/>
            <a:ext cx="1447800" cy="261610"/>
          </a:xfrm>
          <a:prstGeom prst="rect">
            <a:avLst/>
          </a:prstGeom>
          <a:noFill/>
        </p:spPr>
        <p:txBody>
          <a:bodyPr wrap="square" rtlCol="0">
            <a:spAutoFit/>
          </a:bodyPr>
          <a:lstStyle/>
          <a:p>
            <a:r>
              <a:rPr lang="en-US" sz="1100" u="sng" dirty="0">
                <a:latin typeface="Calibri" pitchFamily="34" charset="0"/>
              </a:rPr>
              <a:t>Gender wise</a:t>
            </a:r>
          </a:p>
        </p:txBody>
      </p:sp>
      <p:sp>
        <p:nvSpPr>
          <p:cNvPr id="15" name="TextBox 14"/>
          <p:cNvSpPr txBox="1"/>
          <p:nvPr/>
        </p:nvSpPr>
        <p:spPr>
          <a:xfrm>
            <a:off x="304800" y="1292423"/>
            <a:ext cx="3330935" cy="307777"/>
          </a:xfrm>
          <a:prstGeom prst="rect">
            <a:avLst/>
          </a:prstGeom>
          <a:noFill/>
        </p:spPr>
        <p:txBody>
          <a:bodyPr wrap="none" rtlCol="0">
            <a:spAutoFit/>
          </a:bodyPr>
          <a:lstStyle/>
          <a:p>
            <a:r>
              <a:rPr lang="en-US" sz="1400" b="1" dirty="0">
                <a:solidFill>
                  <a:srgbClr val="1E4649"/>
                </a:solidFill>
              </a:rPr>
              <a:t>Push Analysis – Supervision Related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16</a:t>
            </a:fld>
            <a:endParaRPr lang="en-US" dirty="0"/>
          </a:p>
        </p:txBody>
      </p:sp>
      <p:graphicFrame>
        <p:nvGraphicFramePr>
          <p:cNvPr id="6" name="Diagram 5"/>
          <p:cNvGraphicFramePr/>
          <p:nvPr/>
        </p:nvGraphicFramePr>
        <p:xfrm>
          <a:off x="1600200" y="1524000"/>
          <a:ext cx="5142412" cy="347662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TextBox 7"/>
          <p:cNvSpPr txBox="1"/>
          <p:nvPr/>
        </p:nvSpPr>
        <p:spPr>
          <a:xfrm>
            <a:off x="4267200" y="1447800"/>
            <a:ext cx="2331087" cy="261610"/>
          </a:xfrm>
          <a:prstGeom prst="rect">
            <a:avLst/>
          </a:prstGeom>
          <a:noFill/>
        </p:spPr>
        <p:txBody>
          <a:bodyPr wrap="none" rtlCol="0">
            <a:spAutoFit/>
          </a:bodyPr>
          <a:lstStyle/>
          <a:p>
            <a:r>
              <a:rPr lang="en-US" sz="1100" dirty="0">
                <a:latin typeface="Calibri" pitchFamily="34" charset="0"/>
                <a:cs typeface="Calibri" pitchFamily="34" charset="0"/>
              </a:rPr>
              <a:t>Career Development Initiatives </a:t>
            </a:r>
            <a:r>
              <a:rPr lang="en-US" sz="1100" dirty="0">
                <a:solidFill>
                  <a:srgbClr val="FF0000"/>
                </a:solidFill>
                <a:latin typeface="Calibri" pitchFamily="34" charset="0"/>
                <a:cs typeface="Calibri" pitchFamily="34" charset="0"/>
              </a:rPr>
              <a:t>(.896)</a:t>
            </a:r>
          </a:p>
        </p:txBody>
      </p:sp>
      <p:sp>
        <p:nvSpPr>
          <p:cNvPr id="9" name="TextBox 8"/>
          <p:cNvSpPr txBox="1"/>
          <p:nvPr/>
        </p:nvSpPr>
        <p:spPr>
          <a:xfrm>
            <a:off x="4419600" y="1752600"/>
            <a:ext cx="2563522" cy="261610"/>
          </a:xfrm>
          <a:prstGeom prst="rect">
            <a:avLst/>
          </a:prstGeom>
          <a:noFill/>
        </p:spPr>
        <p:txBody>
          <a:bodyPr wrap="none" rtlCol="0">
            <a:spAutoFit/>
          </a:bodyPr>
          <a:lstStyle/>
          <a:p>
            <a:r>
              <a:rPr lang="en-US" sz="1100" dirty="0">
                <a:latin typeface="Calibri" pitchFamily="34" charset="0"/>
                <a:cs typeface="Calibri" pitchFamily="34" charset="0"/>
              </a:rPr>
              <a:t>Performance Management Process </a:t>
            </a:r>
            <a:r>
              <a:rPr lang="en-US" sz="1100" dirty="0">
                <a:solidFill>
                  <a:srgbClr val="FF0000"/>
                </a:solidFill>
                <a:latin typeface="Calibri" pitchFamily="34" charset="0"/>
                <a:cs typeface="Calibri" pitchFamily="34" charset="0"/>
              </a:rPr>
              <a:t>(.813)</a:t>
            </a:r>
          </a:p>
        </p:txBody>
      </p:sp>
      <p:sp>
        <p:nvSpPr>
          <p:cNvPr id="10" name="TextBox 9"/>
          <p:cNvSpPr txBox="1"/>
          <p:nvPr/>
        </p:nvSpPr>
        <p:spPr>
          <a:xfrm>
            <a:off x="4572000" y="1981200"/>
            <a:ext cx="3523722" cy="261610"/>
          </a:xfrm>
          <a:prstGeom prst="rect">
            <a:avLst/>
          </a:prstGeom>
          <a:noFill/>
        </p:spPr>
        <p:txBody>
          <a:bodyPr wrap="none" rtlCol="0">
            <a:spAutoFit/>
          </a:bodyPr>
          <a:lstStyle/>
          <a:p>
            <a:r>
              <a:rPr lang="en-US" sz="1100" dirty="0">
                <a:latin typeface="Calibri" pitchFamily="34" charset="0"/>
                <a:cs typeface="Calibri" pitchFamily="34" charset="0"/>
              </a:rPr>
              <a:t>Diversity management -fair &amp; equal treatment to all (.779)</a:t>
            </a:r>
          </a:p>
        </p:txBody>
      </p:sp>
      <p:sp>
        <p:nvSpPr>
          <p:cNvPr id="11" name="TextBox 10"/>
          <p:cNvSpPr txBox="1"/>
          <p:nvPr/>
        </p:nvSpPr>
        <p:spPr>
          <a:xfrm>
            <a:off x="4749615" y="2222956"/>
            <a:ext cx="2377574" cy="261610"/>
          </a:xfrm>
          <a:prstGeom prst="rect">
            <a:avLst/>
          </a:prstGeom>
          <a:noFill/>
        </p:spPr>
        <p:txBody>
          <a:bodyPr wrap="none" rtlCol="0">
            <a:spAutoFit/>
          </a:bodyPr>
          <a:lstStyle/>
          <a:p>
            <a:r>
              <a:rPr lang="en-US" sz="1100" dirty="0">
                <a:latin typeface="Calibri" pitchFamily="34" charset="0"/>
                <a:cs typeface="Calibri" pitchFamily="34" charset="0"/>
              </a:rPr>
              <a:t>Self Development opportunities (.687)</a:t>
            </a:r>
          </a:p>
        </p:txBody>
      </p:sp>
      <p:sp>
        <p:nvSpPr>
          <p:cNvPr id="12" name="TextBox 11"/>
          <p:cNvSpPr txBox="1"/>
          <p:nvPr/>
        </p:nvSpPr>
        <p:spPr>
          <a:xfrm>
            <a:off x="5029200" y="2438400"/>
            <a:ext cx="3962399" cy="430887"/>
          </a:xfrm>
          <a:prstGeom prst="rect">
            <a:avLst/>
          </a:prstGeom>
          <a:noFill/>
        </p:spPr>
        <p:txBody>
          <a:bodyPr wrap="square" rtlCol="0">
            <a:spAutoFit/>
          </a:bodyPr>
          <a:lstStyle/>
          <a:p>
            <a:r>
              <a:rPr lang="en-US" sz="1100" dirty="0">
                <a:latin typeface="Calibri" pitchFamily="34" charset="0"/>
                <a:cs typeface="Calibri" pitchFamily="34" charset="0"/>
              </a:rPr>
              <a:t>Communication (employee information, management direction, vision and mission. (.604)</a:t>
            </a:r>
          </a:p>
        </p:txBody>
      </p:sp>
      <p:sp>
        <p:nvSpPr>
          <p:cNvPr id="14" name="TextBox 13"/>
          <p:cNvSpPr txBox="1"/>
          <p:nvPr/>
        </p:nvSpPr>
        <p:spPr>
          <a:xfrm>
            <a:off x="5638800" y="2971800"/>
            <a:ext cx="1911101" cy="261610"/>
          </a:xfrm>
          <a:prstGeom prst="rect">
            <a:avLst/>
          </a:prstGeom>
          <a:noFill/>
        </p:spPr>
        <p:txBody>
          <a:bodyPr wrap="none" rtlCol="0">
            <a:spAutoFit/>
          </a:bodyPr>
          <a:lstStyle/>
          <a:p>
            <a:r>
              <a:rPr lang="en-US" sz="1100" dirty="0">
                <a:latin typeface="Calibri" pitchFamily="34" charset="0"/>
                <a:cs typeface="Calibri" pitchFamily="34" charset="0"/>
              </a:rPr>
              <a:t> Company’s: HR Policies </a:t>
            </a:r>
            <a:r>
              <a:rPr lang="en-US" sz="1100" dirty="0">
                <a:solidFill>
                  <a:srgbClr val="FF0000"/>
                </a:solidFill>
                <a:latin typeface="Calibri" pitchFamily="34" charset="0"/>
                <a:cs typeface="Calibri" pitchFamily="34" charset="0"/>
              </a:rPr>
              <a:t>(.909)</a:t>
            </a:r>
          </a:p>
        </p:txBody>
      </p:sp>
      <p:sp>
        <p:nvSpPr>
          <p:cNvPr id="15" name="TextBox 14"/>
          <p:cNvSpPr txBox="1"/>
          <p:nvPr/>
        </p:nvSpPr>
        <p:spPr>
          <a:xfrm>
            <a:off x="5493983" y="3200400"/>
            <a:ext cx="2409634" cy="261610"/>
          </a:xfrm>
          <a:prstGeom prst="rect">
            <a:avLst/>
          </a:prstGeom>
          <a:noFill/>
        </p:spPr>
        <p:txBody>
          <a:bodyPr wrap="none" rtlCol="0">
            <a:spAutoFit/>
          </a:bodyPr>
          <a:lstStyle/>
          <a:p>
            <a:r>
              <a:rPr lang="en-US" sz="1100" dirty="0">
                <a:latin typeface="Calibri" pitchFamily="34" charset="0"/>
                <a:cs typeface="Calibri" pitchFamily="34" charset="0"/>
              </a:rPr>
              <a:t>Rewards &amp; Recognition Program (.528)</a:t>
            </a:r>
          </a:p>
        </p:txBody>
      </p:sp>
      <p:sp>
        <p:nvSpPr>
          <p:cNvPr id="16" name="TextBox 15"/>
          <p:cNvSpPr txBox="1"/>
          <p:nvPr/>
        </p:nvSpPr>
        <p:spPr>
          <a:xfrm>
            <a:off x="6196442" y="4204156"/>
            <a:ext cx="2159566" cy="261610"/>
          </a:xfrm>
          <a:prstGeom prst="rect">
            <a:avLst/>
          </a:prstGeom>
          <a:noFill/>
        </p:spPr>
        <p:txBody>
          <a:bodyPr wrap="none" rtlCol="0">
            <a:spAutoFit/>
          </a:bodyPr>
          <a:lstStyle/>
          <a:p>
            <a:r>
              <a:rPr lang="en-US" sz="1100" dirty="0">
                <a:latin typeface="Calibri" pitchFamily="34" charset="0"/>
                <a:cs typeface="Calibri" pitchFamily="34" charset="0"/>
              </a:rPr>
              <a:t>Salary/benefits &amp; Incentives </a:t>
            </a:r>
            <a:r>
              <a:rPr lang="en-US" sz="1100" dirty="0">
                <a:solidFill>
                  <a:srgbClr val="FF0000"/>
                </a:solidFill>
                <a:latin typeface="Calibri" pitchFamily="34" charset="0"/>
                <a:cs typeface="Calibri" pitchFamily="34" charset="0"/>
              </a:rPr>
              <a:t>(.955)</a:t>
            </a:r>
          </a:p>
        </p:txBody>
      </p:sp>
      <p:sp>
        <p:nvSpPr>
          <p:cNvPr id="17" name="TextBox 16"/>
          <p:cNvSpPr txBox="1"/>
          <p:nvPr/>
        </p:nvSpPr>
        <p:spPr>
          <a:xfrm>
            <a:off x="533400" y="228600"/>
            <a:ext cx="7924800" cy="1308050"/>
          </a:xfrm>
          <a:prstGeom prst="rect">
            <a:avLst/>
          </a:prstGeom>
          <a:noFill/>
        </p:spPr>
        <p:txBody>
          <a:bodyPr wrap="square" rtlCol="0">
            <a:spAutoFit/>
          </a:bodyPr>
          <a:lstStyle/>
          <a:p>
            <a:pPr algn="ctr"/>
            <a:r>
              <a:rPr lang="en-US" dirty="0">
                <a:solidFill>
                  <a:srgbClr val="C00000"/>
                </a:solidFill>
                <a:latin typeface="Calibri" pitchFamily="34" charset="0"/>
                <a:cs typeface="Calibri" pitchFamily="34" charset="0"/>
              </a:rPr>
              <a:t>Finding 6</a:t>
            </a:r>
          </a:p>
          <a:p>
            <a:pPr algn="ctr" eaLnBrk="0" hangingPunct="0">
              <a:defRPr/>
            </a:pPr>
            <a:r>
              <a:rPr lang="en-US" sz="1500" dirty="0">
                <a:solidFill>
                  <a:schemeClr val="accent1">
                    <a:lumMod val="25000"/>
                  </a:schemeClr>
                </a:solidFill>
                <a:latin typeface="Calibri" pitchFamily="34" charset="0"/>
              </a:rPr>
              <a:t>Employees visibility of his future in the organization &amp; his confidence to receive growth &amp; development through performance  is the next big area of  concern for employees. The HR policies that provide a framework and direction for the above are a concern for employees</a:t>
            </a:r>
          </a:p>
          <a:p>
            <a:pPr algn="ctr" eaLnBrk="0" hangingPunct="0">
              <a:defRPr/>
            </a:pPr>
            <a:r>
              <a:rPr lang="en-US" sz="1600" dirty="0">
                <a:solidFill>
                  <a:schemeClr val="accent5">
                    <a:lumMod val="10000"/>
                  </a:schemeClr>
                </a:solidFill>
                <a:effectLst>
                  <a:outerShdw blurRad="38100" dist="38100" dir="2700000" algn="tl">
                    <a:srgbClr val="000000">
                      <a:alpha val="43137"/>
                    </a:srgbClr>
                  </a:outerShdw>
                </a:effectLst>
                <a:latin typeface="Calibri" pitchFamily="34" charset="0"/>
                <a:ea typeface="ＭＳ Ｐゴシック" charset="0"/>
                <a:cs typeface="Calibri" pitchFamily="34" charset="0"/>
              </a:rPr>
              <a:t> </a:t>
            </a:r>
          </a:p>
        </p:txBody>
      </p:sp>
      <p:sp>
        <p:nvSpPr>
          <p:cNvPr id="21" name="Rectangle 20"/>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8" name="TextBox 17"/>
          <p:cNvSpPr txBox="1"/>
          <p:nvPr/>
        </p:nvSpPr>
        <p:spPr>
          <a:xfrm>
            <a:off x="76200" y="1371600"/>
            <a:ext cx="3365024" cy="307777"/>
          </a:xfrm>
          <a:prstGeom prst="rect">
            <a:avLst/>
          </a:prstGeom>
          <a:noFill/>
        </p:spPr>
        <p:txBody>
          <a:bodyPr wrap="none" rtlCol="0">
            <a:spAutoFit/>
          </a:bodyPr>
          <a:lstStyle/>
          <a:p>
            <a:r>
              <a:rPr lang="en-US" sz="1400" b="1" dirty="0">
                <a:solidFill>
                  <a:srgbClr val="1E4649"/>
                </a:solidFill>
                <a:latin typeface="Calibri"/>
                <a:cs typeface="Calibri"/>
              </a:rPr>
              <a:t>Push Analysis – Advancement Opportunity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17</a:t>
            </a:fld>
            <a:endParaRPr lang="en-US" dirty="0"/>
          </a:p>
        </p:txBody>
      </p:sp>
      <p:graphicFrame>
        <p:nvGraphicFramePr>
          <p:cNvPr id="11" name="Chart 10"/>
          <p:cNvGraphicFramePr/>
          <p:nvPr/>
        </p:nvGraphicFramePr>
        <p:xfrm>
          <a:off x="381000" y="1905000"/>
          <a:ext cx="3528000" cy="1944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p:cNvSpPr txBox="1"/>
          <p:nvPr/>
        </p:nvSpPr>
        <p:spPr>
          <a:xfrm>
            <a:off x="685800" y="5715000"/>
            <a:ext cx="7467600" cy="1015663"/>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Total attrition impact is (including all the sub-factors) .924 and after excluding TOP high concern sub-factors the impact has  reduced to .763. It means attrition can be reduced by 16% by reducing the sub factors identified &amp; categorized  under “High concern area”. Exclusion of the top sub factors shows considerable reduction in attrition in the following demographics:-</a:t>
            </a:r>
          </a:p>
          <a:p>
            <a:pPr>
              <a:buClr>
                <a:srgbClr val="C00000"/>
              </a:buClr>
            </a:pPr>
            <a:r>
              <a:rPr lang="en-US" sz="1200" dirty="0">
                <a:solidFill>
                  <a:schemeClr val="accent1">
                    <a:lumMod val="25000"/>
                  </a:schemeClr>
                </a:solidFill>
                <a:latin typeface="Calibri" pitchFamily="34" charset="0"/>
                <a:cs typeface="Calibri" pitchFamily="34" charset="0"/>
              </a:rPr>
              <a:t>1. East zone by 24%.  2. Field Management” by 24% 3. “Poor performer” category by 31%</a:t>
            </a:r>
          </a:p>
        </p:txBody>
      </p:sp>
      <p:graphicFrame>
        <p:nvGraphicFramePr>
          <p:cNvPr id="8" name="Chart 7"/>
          <p:cNvGraphicFramePr/>
          <p:nvPr/>
        </p:nvGraphicFramePr>
        <p:xfrm>
          <a:off x="5257800" y="1828800"/>
          <a:ext cx="3456000" cy="1800000"/>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tangle 14"/>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4" name="TextBox 13"/>
          <p:cNvSpPr txBox="1"/>
          <p:nvPr/>
        </p:nvSpPr>
        <p:spPr>
          <a:xfrm>
            <a:off x="533400" y="304800"/>
            <a:ext cx="8382000" cy="553998"/>
          </a:xfrm>
          <a:prstGeom prst="rect">
            <a:avLst/>
          </a:prstGeom>
          <a:noFill/>
        </p:spPr>
        <p:txBody>
          <a:bodyPr wrap="square" rtlCol="0">
            <a:spAutoFit/>
          </a:bodyPr>
          <a:lstStyle/>
          <a:p>
            <a:pPr algn="ctr"/>
            <a:r>
              <a:rPr lang="en-US" sz="1500" dirty="0">
                <a:solidFill>
                  <a:schemeClr val="accent1">
                    <a:lumMod val="25000"/>
                  </a:schemeClr>
                </a:solidFill>
                <a:latin typeface="Calibri" pitchFamily="34" charset="0"/>
              </a:rPr>
              <a:t>The most affected demographic groups due to advancement opportunity are East zone ,Field management , Poor performer category</a:t>
            </a:r>
          </a:p>
        </p:txBody>
      </p:sp>
      <p:sp>
        <p:nvSpPr>
          <p:cNvPr id="13" name="TextBox 12"/>
          <p:cNvSpPr txBox="1"/>
          <p:nvPr/>
        </p:nvSpPr>
        <p:spPr>
          <a:xfrm>
            <a:off x="304800" y="1676400"/>
            <a:ext cx="1447800" cy="261610"/>
          </a:xfrm>
          <a:prstGeom prst="rect">
            <a:avLst/>
          </a:prstGeom>
          <a:noFill/>
        </p:spPr>
        <p:txBody>
          <a:bodyPr wrap="square" rtlCol="0">
            <a:spAutoFit/>
          </a:bodyPr>
          <a:lstStyle/>
          <a:p>
            <a:r>
              <a:rPr lang="en-US" sz="1100" u="sng" dirty="0">
                <a:latin typeface="Calibri" pitchFamily="34" charset="0"/>
              </a:rPr>
              <a:t>Overall</a:t>
            </a:r>
          </a:p>
        </p:txBody>
      </p:sp>
      <p:sp>
        <p:nvSpPr>
          <p:cNvPr id="16" name="TextBox 15"/>
          <p:cNvSpPr txBox="1"/>
          <p:nvPr/>
        </p:nvSpPr>
        <p:spPr>
          <a:xfrm>
            <a:off x="5181600" y="1524000"/>
            <a:ext cx="1447800" cy="261610"/>
          </a:xfrm>
          <a:prstGeom prst="rect">
            <a:avLst/>
          </a:prstGeom>
          <a:noFill/>
        </p:spPr>
        <p:txBody>
          <a:bodyPr wrap="square" rtlCol="0">
            <a:spAutoFit/>
          </a:bodyPr>
          <a:lstStyle/>
          <a:p>
            <a:r>
              <a:rPr lang="en-US" sz="1100" u="sng" dirty="0">
                <a:latin typeface="Calibri" pitchFamily="34" charset="0"/>
              </a:rPr>
              <a:t>Region wise</a:t>
            </a:r>
          </a:p>
        </p:txBody>
      </p:sp>
      <p:graphicFrame>
        <p:nvGraphicFramePr>
          <p:cNvPr id="18" name="Chart 17"/>
          <p:cNvGraphicFramePr/>
          <p:nvPr/>
        </p:nvGraphicFramePr>
        <p:xfrm>
          <a:off x="304800" y="3810000"/>
          <a:ext cx="3456000" cy="180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Chart 18"/>
          <p:cNvGraphicFramePr/>
          <p:nvPr/>
        </p:nvGraphicFramePr>
        <p:xfrm>
          <a:off x="5334000" y="3810000"/>
          <a:ext cx="3456000" cy="1800000"/>
        </p:xfrm>
        <a:graphic>
          <a:graphicData uri="http://schemas.openxmlformats.org/drawingml/2006/chart">
            <c:chart xmlns:c="http://schemas.openxmlformats.org/drawingml/2006/chart" xmlns:r="http://schemas.openxmlformats.org/officeDocument/2006/relationships" r:id="rId5"/>
          </a:graphicData>
        </a:graphic>
      </p:graphicFrame>
      <p:sp>
        <p:nvSpPr>
          <p:cNvPr id="20" name="TextBox 19"/>
          <p:cNvSpPr txBox="1"/>
          <p:nvPr/>
        </p:nvSpPr>
        <p:spPr>
          <a:xfrm>
            <a:off x="304800" y="3581400"/>
            <a:ext cx="1447800" cy="261610"/>
          </a:xfrm>
          <a:prstGeom prst="rect">
            <a:avLst/>
          </a:prstGeom>
          <a:noFill/>
        </p:spPr>
        <p:txBody>
          <a:bodyPr wrap="square" rtlCol="0">
            <a:spAutoFit/>
          </a:bodyPr>
          <a:lstStyle/>
          <a:p>
            <a:r>
              <a:rPr lang="en-US" sz="1100" u="sng" dirty="0">
                <a:latin typeface="Calibri" pitchFamily="34" charset="0"/>
              </a:rPr>
              <a:t>Function wise</a:t>
            </a:r>
          </a:p>
        </p:txBody>
      </p:sp>
      <p:sp>
        <p:nvSpPr>
          <p:cNvPr id="21" name="TextBox 20"/>
          <p:cNvSpPr txBox="1"/>
          <p:nvPr/>
        </p:nvSpPr>
        <p:spPr>
          <a:xfrm>
            <a:off x="5334000" y="3581400"/>
            <a:ext cx="1447800" cy="261610"/>
          </a:xfrm>
          <a:prstGeom prst="rect">
            <a:avLst/>
          </a:prstGeom>
          <a:noFill/>
        </p:spPr>
        <p:txBody>
          <a:bodyPr wrap="square" rtlCol="0">
            <a:spAutoFit/>
          </a:bodyPr>
          <a:lstStyle/>
          <a:p>
            <a:r>
              <a:rPr lang="en-US" sz="1100" u="sng" dirty="0">
                <a:latin typeface="Calibri" pitchFamily="34" charset="0"/>
              </a:rPr>
              <a:t>Performance wise</a:t>
            </a:r>
          </a:p>
        </p:txBody>
      </p:sp>
      <p:sp>
        <p:nvSpPr>
          <p:cNvPr id="22" name="TextBox 21"/>
          <p:cNvSpPr txBox="1"/>
          <p:nvPr/>
        </p:nvSpPr>
        <p:spPr>
          <a:xfrm>
            <a:off x="228600" y="1295400"/>
            <a:ext cx="6905130" cy="307777"/>
          </a:xfrm>
          <a:prstGeom prst="rect">
            <a:avLst/>
          </a:prstGeom>
          <a:noFill/>
        </p:spPr>
        <p:txBody>
          <a:bodyPr wrap="none" rtlCol="0">
            <a:spAutoFit/>
          </a:bodyPr>
          <a:lstStyle/>
          <a:p>
            <a:r>
              <a:rPr lang="en-US" sz="1400" b="1" dirty="0">
                <a:solidFill>
                  <a:srgbClr val="1E4649"/>
                </a:solidFill>
                <a:latin typeface="Calibri"/>
                <a:cs typeface="Calibri"/>
              </a:rPr>
              <a:t>Push Analysis – Advancement Opportunity </a:t>
            </a:r>
            <a:r>
              <a:rPr lang="en-US" sz="1200" dirty="0">
                <a:latin typeface="Calibri"/>
                <a:cs typeface="Calibri"/>
              </a:rPr>
              <a:t>( impact on attrition if top high concerns are eliminated ) </a:t>
            </a:r>
            <a:endParaRPr lang="en-US" sz="1400" dirty="0">
              <a:latin typeface="Calibri"/>
              <a:cs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18</a:t>
            </a:fld>
            <a:endParaRPr lang="en-US" dirty="0"/>
          </a:p>
        </p:txBody>
      </p:sp>
      <p:graphicFrame>
        <p:nvGraphicFramePr>
          <p:cNvPr id="6" name="Diagram 5"/>
          <p:cNvGraphicFramePr/>
          <p:nvPr/>
        </p:nvGraphicFramePr>
        <p:xfrm>
          <a:off x="1600200" y="1524000"/>
          <a:ext cx="5142412" cy="347662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TextBox 7"/>
          <p:cNvSpPr txBox="1"/>
          <p:nvPr/>
        </p:nvSpPr>
        <p:spPr>
          <a:xfrm>
            <a:off x="4354856" y="1689556"/>
            <a:ext cx="2233304" cy="261610"/>
          </a:xfrm>
          <a:prstGeom prst="rect">
            <a:avLst/>
          </a:prstGeom>
          <a:noFill/>
        </p:spPr>
        <p:txBody>
          <a:bodyPr wrap="none" rtlCol="0">
            <a:spAutoFit/>
          </a:bodyPr>
          <a:lstStyle/>
          <a:p>
            <a:r>
              <a:rPr lang="en-US" sz="1100" dirty="0">
                <a:latin typeface="Calibri" pitchFamily="34" charset="0"/>
                <a:cs typeface="Calibri" pitchFamily="34" charset="0"/>
              </a:rPr>
              <a:t> Empowered and transparent </a:t>
            </a:r>
            <a:r>
              <a:rPr lang="en-US" sz="1100" dirty="0">
                <a:solidFill>
                  <a:srgbClr val="FF0000"/>
                </a:solidFill>
                <a:latin typeface="Calibri" pitchFamily="34" charset="0"/>
                <a:cs typeface="Calibri" pitchFamily="34" charset="0"/>
              </a:rPr>
              <a:t>(.848)</a:t>
            </a:r>
          </a:p>
        </p:txBody>
      </p:sp>
      <p:sp>
        <p:nvSpPr>
          <p:cNvPr id="9" name="TextBox 8"/>
          <p:cNvSpPr txBox="1"/>
          <p:nvPr/>
        </p:nvSpPr>
        <p:spPr>
          <a:xfrm>
            <a:off x="4572000" y="1905000"/>
            <a:ext cx="2182008" cy="261610"/>
          </a:xfrm>
          <a:prstGeom prst="rect">
            <a:avLst/>
          </a:prstGeom>
          <a:noFill/>
        </p:spPr>
        <p:txBody>
          <a:bodyPr wrap="none" rtlCol="0">
            <a:spAutoFit/>
          </a:bodyPr>
          <a:lstStyle/>
          <a:p>
            <a:r>
              <a:rPr lang="en-US" sz="1100" dirty="0">
                <a:latin typeface="Calibri" pitchFamily="34" charset="0"/>
                <a:cs typeface="Calibri" pitchFamily="34" charset="0"/>
              </a:rPr>
              <a:t>Supportive and value adding </a:t>
            </a:r>
            <a:r>
              <a:rPr lang="en-US" sz="1100" dirty="0">
                <a:solidFill>
                  <a:srgbClr val="FF0000"/>
                </a:solidFill>
                <a:latin typeface="Calibri" pitchFamily="34" charset="0"/>
                <a:cs typeface="Calibri" pitchFamily="34" charset="0"/>
              </a:rPr>
              <a:t>(.843)</a:t>
            </a:r>
          </a:p>
        </p:txBody>
      </p:sp>
      <p:sp>
        <p:nvSpPr>
          <p:cNvPr id="10" name="TextBox 9"/>
          <p:cNvSpPr txBox="1"/>
          <p:nvPr/>
        </p:nvSpPr>
        <p:spPr>
          <a:xfrm>
            <a:off x="4800600" y="2133600"/>
            <a:ext cx="1645002" cy="261610"/>
          </a:xfrm>
          <a:prstGeom prst="rect">
            <a:avLst/>
          </a:prstGeom>
          <a:noFill/>
        </p:spPr>
        <p:txBody>
          <a:bodyPr wrap="none" rtlCol="0">
            <a:spAutoFit/>
          </a:bodyPr>
          <a:lstStyle/>
          <a:p>
            <a:r>
              <a:rPr lang="en-US" sz="1100" dirty="0">
                <a:latin typeface="Calibri" pitchFamily="34" charset="0"/>
                <a:cs typeface="Calibri" pitchFamily="34" charset="0"/>
              </a:rPr>
              <a:t>Quality of work life (.763)</a:t>
            </a:r>
          </a:p>
        </p:txBody>
      </p:sp>
      <p:sp>
        <p:nvSpPr>
          <p:cNvPr id="11" name="TextBox 10"/>
          <p:cNvSpPr txBox="1"/>
          <p:nvPr/>
        </p:nvSpPr>
        <p:spPr>
          <a:xfrm>
            <a:off x="4953000" y="2362200"/>
            <a:ext cx="1811714" cy="261610"/>
          </a:xfrm>
          <a:prstGeom prst="rect">
            <a:avLst/>
          </a:prstGeom>
          <a:noFill/>
        </p:spPr>
        <p:txBody>
          <a:bodyPr wrap="none" rtlCol="0">
            <a:spAutoFit/>
          </a:bodyPr>
          <a:lstStyle/>
          <a:p>
            <a:r>
              <a:rPr lang="en-US" sz="1100" dirty="0">
                <a:latin typeface="Calibri" pitchFamily="34" charset="0"/>
                <a:cs typeface="Calibri" pitchFamily="34" charset="0"/>
              </a:rPr>
              <a:t>Employee Orientation (.564)</a:t>
            </a:r>
          </a:p>
        </p:txBody>
      </p:sp>
      <p:sp>
        <p:nvSpPr>
          <p:cNvPr id="12" name="TextBox 11"/>
          <p:cNvSpPr txBox="1"/>
          <p:nvPr/>
        </p:nvSpPr>
        <p:spPr>
          <a:xfrm>
            <a:off x="5375989" y="2971800"/>
            <a:ext cx="3691811" cy="261610"/>
          </a:xfrm>
          <a:prstGeom prst="rect">
            <a:avLst/>
          </a:prstGeom>
          <a:noFill/>
        </p:spPr>
        <p:txBody>
          <a:bodyPr wrap="square" rtlCol="0">
            <a:spAutoFit/>
          </a:bodyPr>
          <a:lstStyle/>
          <a:p>
            <a:r>
              <a:rPr lang="en-US" sz="1100" dirty="0">
                <a:latin typeface="Calibri" pitchFamily="34" charset="0"/>
                <a:cs typeface="Calibri" pitchFamily="34" charset="0"/>
              </a:rPr>
              <a:t>“Working Environment” in terms of infrastructure </a:t>
            </a:r>
            <a:r>
              <a:rPr lang="en-US" sz="1100" dirty="0">
                <a:solidFill>
                  <a:srgbClr val="FF0000"/>
                </a:solidFill>
                <a:latin typeface="Calibri" pitchFamily="34" charset="0"/>
                <a:cs typeface="Calibri" pitchFamily="34" charset="0"/>
              </a:rPr>
              <a:t>(.893)</a:t>
            </a:r>
          </a:p>
        </p:txBody>
      </p:sp>
      <p:sp>
        <p:nvSpPr>
          <p:cNvPr id="13" name="TextBox 12"/>
          <p:cNvSpPr txBox="1"/>
          <p:nvPr/>
        </p:nvSpPr>
        <p:spPr>
          <a:xfrm>
            <a:off x="6214189" y="4204156"/>
            <a:ext cx="1553630" cy="261610"/>
          </a:xfrm>
          <a:prstGeom prst="rect">
            <a:avLst/>
          </a:prstGeom>
          <a:noFill/>
        </p:spPr>
        <p:txBody>
          <a:bodyPr wrap="none" rtlCol="0">
            <a:spAutoFit/>
          </a:bodyPr>
          <a:lstStyle/>
          <a:p>
            <a:r>
              <a:rPr lang="en-US" sz="1100" dirty="0">
                <a:latin typeface="Calibri" pitchFamily="34" charset="0"/>
                <a:cs typeface="Calibri" pitchFamily="34" charset="0"/>
              </a:rPr>
              <a:t>Work life balance </a:t>
            </a:r>
            <a:r>
              <a:rPr lang="en-US" sz="1100" dirty="0">
                <a:solidFill>
                  <a:srgbClr val="FF0000"/>
                </a:solidFill>
                <a:latin typeface="Calibri" pitchFamily="34" charset="0"/>
                <a:cs typeface="Calibri" pitchFamily="34" charset="0"/>
              </a:rPr>
              <a:t>(.856)</a:t>
            </a:r>
          </a:p>
        </p:txBody>
      </p:sp>
      <p:sp>
        <p:nvSpPr>
          <p:cNvPr id="15" name="TextBox 14"/>
          <p:cNvSpPr txBox="1"/>
          <p:nvPr/>
        </p:nvSpPr>
        <p:spPr>
          <a:xfrm>
            <a:off x="1600200" y="5638800"/>
            <a:ext cx="5486400" cy="461665"/>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Employee empowerment &amp; improvement in their quality of work life will reduce the attrition caused by non conducive work environment.</a:t>
            </a:r>
          </a:p>
        </p:txBody>
      </p:sp>
      <p:sp>
        <p:nvSpPr>
          <p:cNvPr id="16" name="TextBox 15"/>
          <p:cNvSpPr txBox="1"/>
          <p:nvPr/>
        </p:nvSpPr>
        <p:spPr>
          <a:xfrm>
            <a:off x="0" y="381000"/>
            <a:ext cx="8953687" cy="1061829"/>
          </a:xfrm>
          <a:prstGeom prst="rect">
            <a:avLst/>
          </a:prstGeom>
          <a:noFill/>
        </p:spPr>
        <p:txBody>
          <a:bodyPr wrap="none" rtlCol="0">
            <a:spAutoFit/>
          </a:bodyPr>
          <a:lstStyle/>
          <a:p>
            <a:pPr algn="ctr"/>
            <a:r>
              <a:rPr lang="en-US" dirty="0">
                <a:solidFill>
                  <a:srgbClr val="C00000"/>
                </a:solidFill>
                <a:latin typeface="Calibri" pitchFamily="34" charset="0"/>
                <a:cs typeface="Calibri" pitchFamily="34" charset="0"/>
              </a:rPr>
              <a:t>Finding 7</a:t>
            </a:r>
          </a:p>
          <a:p>
            <a:pPr algn="ctr"/>
            <a:r>
              <a:rPr lang="en-US" sz="1500" dirty="0">
                <a:solidFill>
                  <a:srgbClr val="1E4649"/>
                </a:solidFill>
                <a:latin typeface="Calibri" pitchFamily="34" charset="0"/>
              </a:rPr>
              <a:t>Work environment  the third highest influencer of  attrition. Transparency, empowerment , performance support </a:t>
            </a:r>
          </a:p>
          <a:p>
            <a:pPr algn="ctr"/>
            <a:r>
              <a:rPr lang="en-US" sz="1500" dirty="0">
                <a:solidFill>
                  <a:srgbClr val="1E4649"/>
                </a:solidFill>
                <a:latin typeface="Calibri" pitchFamily="34" charset="0"/>
              </a:rPr>
              <a:t>mechanisms &amp; infrastructure  are concerns</a:t>
            </a:r>
          </a:p>
          <a:p>
            <a:pPr algn="ctr"/>
            <a:endParaRPr lang="en-US" sz="1500" dirty="0">
              <a:solidFill>
                <a:srgbClr val="1E4649"/>
              </a:solidFill>
              <a:latin typeface="Calibri" pitchFamily="34" charset="0"/>
            </a:endParaRPr>
          </a:p>
        </p:txBody>
      </p:sp>
      <p:sp>
        <p:nvSpPr>
          <p:cNvPr id="18" name="Rectangle 17"/>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4" name="TextBox 13"/>
          <p:cNvSpPr txBox="1"/>
          <p:nvPr/>
        </p:nvSpPr>
        <p:spPr>
          <a:xfrm>
            <a:off x="76200" y="1371600"/>
            <a:ext cx="2826415" cy="307777"/>
          </a:xfrm>
          <a:prstGeom prst="rect">
            <a:avLst/>
          </a:prstGeom>
          <a:noFill/>
        </p:spPr>
        <p:txBody>
          <a:bodyPr wrap="none" rtlCol="0">
            <a:spAutoFit/>
          </a:bodyPr>
          <a:lstStyle/>
          <a:p>
            <a:r>
              <a:rPr lang="en-US" sz="1400" b="1" dirty="0">
                <a:solidFill>
                  <a:srgbClr val="1E4649"/>
                </a:solidFill>
                <a:latin typeface="Calibri"/>
                <a:cs typeface="Calibri"/>
              </a:rPr>
              <a:t>Push  Analysis – Work Environment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19</a:t>
            </a:fld>
            <a:endParaRPr lang="en-US" dirty="0"/>
          </a:p>
        </p:txBody>
      </p:sp>
      <p:graphicFrame>
        <p:nvGraphicFramePr>
          <p:cNvPr id="8" name="Chart 7"/>
          <p:cNvGraphicFramePr/>
          <p:nvPr>
            <p:extLst>
              <p:ext uri="{D42A27DB-BD31-4B8C-83A1-F6EECF244321}">
                <p14:modId xmlns:p14="http://schemas.microsoft.com/office/powerpoint/2010/main" val="1174634581"/>
              </p:ext>
            </p:extLst>
          </p:nvPr>
        </p:nvGraphicFramePr>
        <p:xfrm>
          <a:off x="381000" y="1447800"/>
          <a:ext cx="3733800" cy="2064600"/>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p:cNvSpPr txBox="1"/>
          <p:nvPr/>
        </p:nvSpPr>
        <p:spPr>
          <a:xfrm>
            <a:off x="838200" y="5715000"/>
            <a:ext cx="6934200" cy="830997"/>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Total attrition impact is (including all the sub-factors) .947 and after excluding TOP high concern sub-factors the impact has .857. It means the impact has reduced .09 by removing top concern sub-factors. </a:t>
            </a:r>
          </a:p>
          <a:p>
            <a:pPr>
              <a:buClr>
                <a:srgbClr val="C00000"/>
              </a:buClr>
            </a:pPr>
            <a:r>
              <a:rPr lang="en-US" sz="1200" dirty="0">
                <a:solidFill>
                  <a:schemeClr val="accent1">
                    <a:lumMod val="25000"/>
                  </a:schemeClr>
                </a:solidFill>
                <a:latin typeface="Calibri" pitchFamily="34" charset="0"/>
                <a:cs typeface="Calibri" pitchFamily="34" charset="0"/>
              </a:rPr>
              <a:t>Exclusion of the top sub factors shows considerable reduction in attrition in the following demographics:-</a:t>
            </a:r>
          </a:p>
          <a:p>
            <a:pPr>
              <a:buClr>
                <a:srgbClr val="C00000"/>
              </a:buClr>
            </a:pPr>
            <a:r>
              <a:rPr lang="en-US" sz="1200" dirty="0">
                <a:solidFill>
                  <a:schemeClr val="accent1">
                    <a:lumMod val="25000"/>
                  </a:schemeClr>
                </a:solidFill>
                <a:latin typeface="Calibri" pitchFamily="34" charset="0"/>
                <a:cs typeface="Calibri" pitchFamily="34" charset="0"/>
              </a:rPr>
              <a:t>1. High performer category by 32%.  2.West zone by 11% 3. 31-40 years category by 22% </a:t>
            </a:r>
          </a:p>
        </p:txBody>
      </p:sp>
      <p:graphicFrame>
        <p:nvGraphicFramePr>
          <p:cNvPr id="13" name="Chart 12"/>
          <p:cNvGraphicFramePr/>
          <p:nvPr>
            <p:extLst>
              <p:ext uri="{D42A27DB-BD31-4B8C-83A1-F6EECF244321}">
                <p14:modId xmlns:p14="http://schemas.microsoft.com/office/powerpoint/2010/main" val="1461301439"/>
              </p:ext>
            </p:extLst>
          </p:nvPr>
        </p:nvGraphicFramePr>
        <p:xfrm>
          <a:off x="4876800" y="1752600"/>
          <a:ext cx="3564000" cy="1728000"/>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p:cNvSpPr txBox="1"/>
          <p:nvPr/>
        </p:nvSpPr>
        <p:spPr>
          <a:xfrm>
            <a:off x="5257800" y="3352800"/>
            <a:ext cx="3061159" cy="276999"/>
          </a:xfrm>
          <a:prstGeom prst="rect">
            <a:avLst/>
          </a:prstGeom>
          <a:noFill/>
        </p:spPr>
        <p:txBody>
          <a:bodyPr wrap="none" rtlCol="0">
            <a:spAutoFit/>
          </a:bodyPr>
          <a:lstStyle/>
          <a:p>
            <a:r>
              <a:rPr lang="en-US" sz="1200" dirty="0">
                <a:solidFill>
                  <a:schemeClr val="bg1"/>
                </a:solidFill>
                <a:latin typeface="Calibri" pitchFamily="34" charset="0"/>
                <a:cs typeface="Calibri" pitchFamily="34" charset="0"/>
              </a:rPr>
              <a:t>Impact , exclude TOP high concern sub-factors</a:t>
            </a:r>
          </a:p>
        </p:txBody>
      </p:sp>
      <p:sp>
        <p:nvSpPr>
          <p:cNvPr id="12" name="Rectangle 11"/>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0" name="TextBox 9"/>
          <p:cNvSpPr txBox="1"/>
          <p:nvPr/>
        </p:nvSpPr>
        <p:spPr>
          <a:xfrm>
            <a:off x="762000" y="228600"/>
            <a:ext cx="7543800" cy="830997"/>
          </a:xfrm>
          <a:prstGeom prst="rect">
            <a:avLst/>
          </a:prstGeom>
          <a:noFill/>
        </p:spPr>
        <p:txBody>
          <a:bodyPr wrap="square" rtlCol="0">
            <a:spAutoFit/>
          </a:bodyPr>
          <a:lstStyle/>
          <a:p>
            <a:pPr algn="ctr"/>
            <a:endParaRPr lang="en-US" dirty="0">
              <a:solidFill>
                <a:srgbClr val="C00000"/>
              </a:solidFill>
              <a:latin typeface="Calibri" pitchFamily="34" charset="0"/>
              <a:cs typeface="Calibri" pitchFamily="34" charset="0"/>
            </a:endParaRPr>
          </a:p>
          <a:p>
            <a:pPr algn="ctr"/>
            <a:r>
              <a:rPr lang="en-US" sz="1500" dirty="0">
                <a:solidFill>
                  <a:srgbClr val="1E4649"/>
                </a:solidFill>
                <a:latin typeface="Calibri" pitchFamily="34" charset="0"/>
              </a:rPr>
              <a:t>The most affected demographic group by work environment is High performers, </a:t>
            </a:r>
            <a:r>
              <a:rPr lang="en-US" sz="1500" dirty="0">
                <a:solidFill>
                  <a:schemeClr val="accent1">
                    <a:lumMod val="25000"/>
                  </a:schemeClr>
                </a:solidFill>
                <a:latin typeface="Calibri" pitchFamily="34" charset="0"/>
              </a:rPr>
              <a:t>West</a:t>
            </a:r>
            <a:r>
              <a:rPr lang="en-US" sz="1500" dirty="0">
                <a:solidFill>
                  <a:srgbClr val="1E4649"/>
                </a:solidFill>
                <a:latin typeface="Calibri" pitchFamily="34" charset="0"/>
              </a:rPr>
              <a:t> zone 3</a:t>
            </a:r>
            <a:r>
              <a:rPr lang="en-US" sz="1500" dirty="0">
                <a:solidFill>
                  <a:schemeClr val="accent1">
                    <a:lumMod val="25000"/>
                  </a:schemeClr>
                </a:solidFill>
                <a:latin typeface="Calibri" pitchFamily="34" charset="0"/>
              </a:rPr>
              <a:t>0 to 40 </a:t>
            </a:r>
            <a:r>
              <a:rPr lang="en-US" sz="1500" dirty="0">
                <a:solidFill>
                  <a:srgbClr val="1E4649"/>
                </a:solidFill>
                <a:latin typeface="Calibri" pitchFamily="34" charset="0"/>
              </a:rPr>
              <a:t>years category.</a:t>
            </a:r>
          </a:p>
        </p:txBody>
      </p:sp>
      <p:graphicFrame>
        <p:nvGraphicFramePr>
          <p:cNvPr id="11" name="Chart 10"/>
          <p:cNvGraphicFramePr/>
          <p:nvPr/>
        </p:nvGraphicFramePr>
        <p:xfrm>
          <a:off x="457200" y="3733800"/>
          <a:ext cx="3456000" cy="180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Chart 14"/>
          <p:cNvGraphicFramePr/>
          <p:nvPr/>
        </p:nvGraphicFramePr>
        <p:xfrm>
          <a:off x="4953000" y="3657600"/>
          <a:ext cx="3456000" cy="1800000"/>
        </p:xfrm>
        <a:graphic>
          <a:graphicData uri="http://schemas.openxmlformats.org/drawingml/2006/chart">
            <c:chart xmlns:c="http://schemas.openxmlformats.org/drawingml/2006/chart" xmlns:r="http://schemas.openxmlformats.org/officeDocument/2006/relationships" r:id="rId5"/>
          </a:graphicData>
        </a:graphic>
      </p:graphicFrame>
      <p:sp>
        <p:nvSpPr>
          <p:cNvPr id="17" name="TextBox 16"/>
          <p:cNvSpPr txBox="1"/>
          <p:nvPr/>
        </p:nvSpPr>
        <p:spPr>
          <a:xfrm>
            <a:off x="457200" y="1447800"/>
            <a:ext cx="1447800" cy="261610"/>
          </a:xfrm>
          <a:prstGeom prst="rect">
            <a:avLst/>
          </a:prstGeom>
          <a:noFill/>
        </p:spPr>
        <p:txBody>
          <a:bodyPr wrap="square" rtlCol="0">
            <a:spAutoFit/>
          </a:bodyPr>
          <a:lstStyle/>
          <a:p>
            <a:r>
              <a:rPr lang="en-US" sz="1100" u="sng" dirty="0">
                <a:latin typeface="Calibri" pitchFamily="34" charset="0"/>
              </a:rPr>
              <a:t>Overall</a:t>
            </a:r>
          </a:p>
        </p:txBody>
      </p:sp>
      <p:sp>
        <p:nvSpPr>
          <p:cNvPr id="18" name="TextBox 17"/>
          <p:cNvSpPr txBox="1"/>
          <p:nvPr/>
        </p:nvSpPr>
        <p:spPr>
          <a:xfrm>
            <a:off x="5105400" y="3505200"/>
            <a:ext cx="914400" cy="261610"/>
          </a:xfrm>
          <a:prstGeom prst="rect">
            <a:avLst/>
          </a:prstGeom>
          <a:noFill/>
        </p:spPr>
        <p:txBody>
          <a:bodyPr wrap="square" rtlCol="0">
            <a:spAutoFit/>
          </a:bodyPr>
          <a:lstStyle/>
          <a:p>
            <a:r>
              <a:rPr lang="en-US" sz="1100" u="sng" dirty="0">
                <a:latin typeface="Calibri" pitchFamily="34" charset="0"/>
              </a:rPr>
              <a:t>Age wise</a:t>
            </a:r>
          </a:p>
        </p:txBody>
      </p:sp>
      <p:sp>
        <p:nvSpPr>
          <p:cNvPr id="19" name="TextBox 18"/>
          <p:cNvSpPr txBox="1"/>
          <p:nvPr/>
        </p:nvSpPr>
        <p:spPr>
          <a:xfrm>
            <a:off x="4876800" y="1371600"/>
            <a:ext cx="1447800" cy="261610"/>
          </a:xfrm>
          <a:prstGeom prst="rect">
            <a:avLst/>
          </a:prstGeom>
          <a:noFill/>
        </p:spPr>
        <p:txBody>
          <a:bodyPr wrap="square" rtlCol="0">
            <a:spAutoFit/>
          </a:bodyPr>
          <a:lstStyle/>
          <a:p>
            <a:r>
              <a:rPr lang="en-US" sz="1100" u="sng" dirty="0">
                <a:latin typeface="Calibri" pitchFamily="34" charset="0"/>
              </a:rPr>
              <a:t>Performance wise</a:t>
            </a:r>
          </a:p>
        </p:txBody>
      </p:sp>
      <p:sp>
        <p:nvSpPr>
          <p:cNvPr id="20" name="TextBox 19"/>
          <p:cNvSpPr txBox="1"/>
          <p:nvPr/>
        </p:nvSpPr>
        <p:spPr>
          <a:xfrm>
            <a:off x="457200" y="3429000"/>
            <a:ext cx="1447800" cy="261610"/>
          </a:xfrm>
          <a:prstGeom prst="rect">
            <a:avLst/>
          </a:prstGeom>
          <a:noFill/>
        </p:spPr>
        <p:txBody>
          <a:bodyPr wrap="square" rtlCol="0">
            <a:spAutoFit/>
          </a:bodyPr>
          <a:lstStyle/>
          <a:p>
            <a:r>
              <a:rPr lang="en-US" sz="1100" u="sng" dirty="0">
                <a:latin typeface="Calibri" pitchFamily="34" charset="0"/>
              </a:rPr>
              <a:t>Zone wise</a:t>
            </a:r>
          </a:p>
        </p:txBody>
      </p:sp>
      <p:sp>
        <p:nvSpPr>
          <p:cNvPr id="2" name="Rectangle 1"/>
          <p:cNvSpPr/>
          <p:nvPr/>
        </p:nvSpPr>
        <p:spPr>
          <a:xfrm>
            <a:off x="1295400" y="1295400"/>
            <a:ext cx="4572000" cy="276999"/>
          </a:xfrm>
          <a:prstGeom prst="rect">
            <a:avLst/>
          </a:prstGeom>
        </p:spPr>
        <p:txBody>
          <a:bodyPr>
            <a:spAutoFit/>
          </a:bodyPr>
          <a:lstStyle/>
          <a:p>
            <a:r>
              <a:rPr lang="en-US" sz="1200" dirty="0">
                <a:latin typeface="Calibri"/>
                <a:cs typeface="Calibri"/>
              </a:rPr>
              <a:t>impact on attrition if top high concerns are eliminated </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20</a:t>
            </a:fld>
            <a:endParaRPr lang="en-US" dirty="0"/>
          </a:p>
        </p:txBody>
      </p:sp>
      <p:graphicFrame>
        <p:nvGraphicFramePr>
          <p:cNvPr id="7" name="Diagram 6"/>
          <p:cNvGraphicFramePr/>
          <p:nvPr/>
        </p:nvGraphicFramePr>
        <p:xfrm>
          <a:off x="1524000" y="1676400"/>
          <a:ext cx="5142412" cy="347662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TextBox 38"/>
          <p:cNvSpPr txBox="1"/>
          <p:nvPr/>
        </p:nvSpPr>
        <p:spPr>
          <a:xfrm>
            <a:off x="5334000" y="3276600"/>
            <a:ext cx="1872629" cy="261610"/>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US" dirty="0">
                <a:latin typeface="Calibri" pitchFamily="34" charset="0"/>
                <a:cs typeface="Calibri" pitchFamily="34" charset="0"/>
              </a:rPr>
              <a:t>Family circumstances </a:t>
            </a:r>
            <a:r>
              <a:rPr lang="en-US" b="0" i="0" u="none" strike="noStrike" dirty="0">
                <a:solidFill>
                  <a:srgbClr val="FF0000"/>
                </a:solidFill>
                <a:latin typeface="Calibri" pitchFamily="34" charset="0"/>
                <a:cs typeface="Calibri" pitchFamily="34" charset="0"/>
              </a:rPr>
              <a:t>(15.8%)</a:t>
            </a:r>
            <a:endParaRPr lang="en-US" b="0" dirty="0">
              <a:solidFill>
                <a:srgbClr val="FF0000"/>
              </a:solidFill>
              <a:latin typeface="Calibri" pitchFamily="34" charset="0"/>
              <a:cs typeface="Calibri" pitchFamily="34" charset="0"/>
            </a:endParaRPr>
          </a:p>
        </p:txBody>
      </p:sp>
      <p:sp>
        <p:nvSpPr>
          <p:cNvPr id="9" name="TextBox 39"/>
          <p:cNvSpPr txBox="1"/>
          <p:nvPr/>
        </p:nvSpPr>
        <p:spPr>
          <a:xfrm>
            <a:off x="5127924" y="2971800"/>
            <a:ext cx="1542410" cy="261610"/>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US" dirty="0">
                <a:latin typeface="Calibri" pitchFamily="34" charset="0"/>
                <a:cs typeface="Calibri" pitchFamily="34" charset="0"/>
              </a:rPr>
              <a:t>Job enrichment </a:t>
            </a:r>
            <a:r>
              <a:rPr lang="en-US" b="0" i="0" u="none" strike="noStrike" dirty="0">
                <a:solidFill>
                  <a:srgbClr val="FF0000"/>
                </a:solidFill>
                <a:latin typeface="Calibri" pitchFamily="34" charset="0"/>
                <a:cs typeface="Calibri" pitchFamily="34" charset="0"/>
              </a:rPr>
              <a:t>(15.8%)</a:t>
            </a:r>
            <a:endParaRPr lang="en-US" dirty="0">
              <a:solidFill>
                <a:srgbClr val="FF0000"/>
              </a:solidFill>
              <a:latin typeface="Calibri" pitchFamily="34" charset="0"/>
              <a:cs typeface="Calibri" pitchFamily="34" charset="0"/>
            </a:endParaRPr>
          </a:p>
        </p:txBody>
      </p:sp>
      <p:sp>
        <p:nvSpPr>
          <p:cNvPr id="10" name="TextBox 43"/>
          <p:cNvSpPr txBox="1"/>
          <p:nvPr/>
        </p:nvSpPr>
        <p:spPr>
          <a:xfrm>
            <a:off x="6194554" y="4495800"/>
            <a:ext cx="2335896" cy="261610"/>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US" dirty="0">
                <a:latin typeface="Calibri" pitchFamily="34" charset="0"/>
                <a:cs typeface="Calibri" pitchFamily="34" charset="0"/>
              </a:rPr>
              <a:t>Higher salary with better role </a:t>
            </a:r>
            <a:r>
              <a:rPr lang="en-US" b="0" i="0" u="none" strike="noStrike" dirty="0">
                <a:latin typeface="Calibri" pitchFamily="34" charset="0"/>
                <a:cs typeface="Calibri" pitchFamily="34" charset="0"/>
              </a:rPr>
              <a:t>(</a:t>
            </a:r>
            <a:r>
              <a:rPr lang="en-US" b="0" i="0" u="none" strike="noStrike" dirty="0">
                <a:solidFill>
                  <a:srgbClr val="FF0000"/>
                </a:solidFill>
                <a:latin typeface="Calibri" pitchFamily="34" charset="0"/>
                <a:cs typeface="Calibri" pitchFamily="34" charset="0"/>
              </a:rPr>
              <a:t>25.8%)</a:t>
            </a:r>
            <a:endParaRPr lang="en-US" dirty="0">
              <a:solidFill>
                <a:srgbClr val="FF0000"/>
              </a:solidFill>
              <a:latin typeface="Calibri" pitchFamily="34" charset="0"/>
              <a:cs typeface="Calibri" pitchFamily="34" charset="0"/>
            </a:endParaRPr>
          </a:p>
        </p:txBody>
      </p:sp>
      <p:sp>
        <p:nvSpPr>
          <p:cNvPr id="11" name="TextBox 39"/>
          <p:cNvSpPr txBox="1"/>
          <p:nvPr/>
        </p:nvSpPr>
        <p:spPr>
          <a:xfrm>
            <a:off x="4267200" y="1752600"/>
            <a:ext cx="1505540" cy="246221"/>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US" sz="1000" dirty="0">
                <a:latin typeface="Calibri" pitchFamily="34" charset="0"/>
                <a:cs typeface="Calibri" pitchFamily="34" charset="0"/>
              </a:rPr>
              <a:t>To  start a business </a:t>
            </a:r>
            <a:r>
              <a:rPr lang="en-US" sz="1000" b="0" i="0" u="none" strike="noStrike" dirty="0">
                <a:solidFill>
                  <a:srgbClr val="FF0000"/>
                </a:solidFill>
                <a:latin typeface="Calibri" pitchFamily="34" charset="0"/>
                <a:cs typeface="Calibri" pitchFamily="34" charset="0"/>
              </a:rPr>
              <a:t>(15%)</a:t>
            </a:r>
            <a:endParaRPr lang="en-US" sz="1000" dirty="0">
              <a:solidFill>
                <a:srgbClr val="FF0000"/>
              </a:solidFill>
              <a:latin typeface="Calibri" pitchFamily="34" charset="0"/>
              <a:cs typeface="Calibri" pitchFamily="34" charset="0"/>
            </a:endParaRPr>
          </a:p>
        </p:txBody>
      </p:sp>
      <p:sp>
        <p:nvSpPr>
          <p:cNvPr id="16" name="TextBox 38"/>
          <p:cNvSpPr txBox="1"/>
          <p:nvPr/>
        </p:nvSpPr>
        <p:spPr>
          <a:xfrm>
            <a:off x="4343400" y="1905000"/>
            <a:ext cx="1566454" cy="261610"/>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US" dirty="0">
                <a:latin typeface="Calibri" pitchFamily="34" charset="0"/>
                <a:cs typeface="Calibri" pitchFamily="34" charset="0"/>
              </a:rPr>
              <a:t>change of location</a:t>
            </a:r>
            <a:r>
              <a:rPr lang="en-US" b="0" i="0" u="none" strike="noStrike" dirty="0">
                <a:solidFill>
                  <a:srgbClr val="FF0000"/>
                </a:solidFill>
                <a:latin typeface="Calibri" pitchFamily="34" charset="0"/>
                <a:cs typeface="Calibri" pitchFamily="34" charset="0"/>
              </a:rPr>
              <a:t>(10%)</a:t>
            </a:r>
            <a:endParaRPr lang="en-US" b="0" dirty="0">
              <a:solidFill>
                <a:srgbClr val="FF0000"/>
              </a:solidFill>
              <a:latin typeface="Calibri" pitchFamily="34" charset="0"/>
              <a:cs typeface="Calibri" pitchFamily="34" charset="0"/>
            </a:endParaRPr>
          </a:p>
        </p:txBody>
      </p:sp>
      <p:sp>
        <p:nvSpPr>
          <p:cNvPr id="17" name="TextBox 38"/>
          <p:cNvSpPr txBox="1"/>
          <p:nvPr/>
        </p:nvSpPr>
        <p:spPr>
          <a:xfrm>
            <a:off x="4572000" y="2133600"/>
            <a:ext cx="1426994" cy="261610"/>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US" dirty="0">
                <a:latin typeface="Calibri" pitchFamily="34" charset="0"/>
                <a:cs typeface="Calibri" pitchFamily="34" charset="0"/>
              </a:rPr>
              <a:t>Higher education</a:t>
            </a:r>
            <a:r>
              <a:rPr lang="en-US" b="0" i="0" u="none" strike="noStrike" dirty="0">
                <a:solidFill>
                  <a:srgbClr val="FF0000"/>
                </a:solidFill>
                <a:latin typeface="Calibri" pitchFamily="34" charset="0"/>
                <a:cs typeface="Calibri" pitchFamily="34" charset="0"/>
              </a:rPr>
              <a:t>(9%)</a:t>
            </a:r>
            <a:endParaRPr lang="en-US" b="0" dirty="0">
              <a:solidFill>
                <a:srgbClr val="FF0000"/>
              </a:solidFill>
              <a:latin typeface="Calibri" pitchFamily="34" charset="0"/>
              <a:cs typeface="Calibri" pitchFamily="34" charset="0"/>
            </a:endParaRPr>
          </a:p>
        </p:txBody>
      </p:sp>
      <p:sp>
        <p:nvSpPr>
          <p:cNvPr id="18" name="TextBox 38"/>
          <p:cNvSpPr txBox="1"/>
          <p:nvPr/>
        </p:nvSpPr>
        <p:spPr>
          <a:xfrm>
            <a:off x="4648200" y="2286000"/>
            <a:ext cx="1447832" cy="261610"/>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US" sz="1000" dirty="0">
                <a:latin typeface="Calibri" pitchFamily="34" charset="0"/>
                <a:cs typeface="Calibri" pitchFamily="34" charset="0"/>
              </a:rPr>
              <a:t>Choice Of </a:t>
            </a:r>
            <a:r>
              <a:rPr lang="en-US" dirty="0">
                <a:latin typeface="Calibri" pitchFamily="34" charset="0"/>
                <a:cs typeface="Calibri" pitchFamily="34" charset="0"/>
              </a:rPr>
              <a:t>industry</a:t>
            </a:r>
            <a:r>
              <a:rPr lang="en-US" sz="1000" dirty="0">
                <a:latin typeface="Calibri" pitchFamily="34" charset="0"/>
                <a:cs typeface="Calibri" pitchFamily="34" charset="0"/>
              </a:rPr>
              <a:t> </a:t>
            </a:r>
            <a:r>
              <a:rPr lang="en-US" sz="1000" b="0" i="0" u="none" strike="noStrike" dirty="0">
                <a:latin typeface="Calibri" pitchFamily="34" charset="0"/>
                <a:cs typeface="Calibri" pitchFamily="34" charset="0"/>
              </a:rPr>
              <a:t>(5%)</a:t>
            </a:r>
            <a:endParaRPr lang="en-US" sz="1000" b="0" dirty="0">
              <a:latin typeface="Calibri" pitchFamily="34" charset="0"/>
              <a:cs typeface="Calibri" pitchFamily="34" charset="0"/>
            </a:endParaRPr>
          </a:p>
        </p:txBody>
      </p:sp>
      <p:sp>
        <p:nvSpPr>
          <p:cNvPr id="19" name="TextBox 38"/>
          <p:cNvSpPr txBox="1"/>
          <p:nvPr/>
        </p:nvSpPr>
        <p:spPr>
          <a:xfrm>
            <a:off x="4724400" y="2438400"/>
            <a:ext cx="1789272" cy="261610"/>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US" dirty="0">
                <a:latin typeface="Calibri" pitchFamily="34" charset="0"/>
                <a:cs typeface="Calibri" pitchFamily="34" charset="0"/>
              </a:rPr>
              <a:t>Health reasons / issues </a:t>
            </a:r>
            <a:r>
              <a:rPr lang="en-US" b="0" i="0" u="none" strike="noStrike" dirty="0">
                <a:latin typeface="Calibri" pitchFamily="34" charset="0"/>
                <a:cs typeface="Calibri" pitchFamily="34" charset="0"/>
              </a:rPr>
              <a:t>(3%)</a:t>
            </a:r>
            <a:endParaRPr lang="en-US" b="0" dirty="0">
              <a:latin typeface="Calibri" pitchFamily="34" charset="0"/>
              <a:cs typeface="Calibri" pitchFamily="34" charset="0"/>
            </a:endParaRPr>
          </a:p>
        </p:txBody>
      </p:sp>
      <p:sp>
        <p:nvSpPr>
          <p:cNvPr id="15" name="TextBox 14"/>
          <p:cNvSpPr txBox="1"/>
          <p:nvPr/>
        </p:nvSpPr>
        <p:spPr>
          <a:xfrm>
            <a:off x="533400" y="0"/>
            <a:ext cx="8382000" cy="1061829"/>
          </a:xfrm>
          <a:prstGeom prst="rect">
            <a:avLst/>
          </a:prstGeom>
          <a:noFill/>
        </p:spPr>
        <p:txBody>
          <a:bodyPr wrap="square" rtlCol="0">
            <a:spAutoFit/>
          </a:bodyPr>
          <a:lstStyle/>
          <a:p>
            <a:pPr algn="ctr"/>
            <a:r>
              <a:rPr lang="en-US" dirty="0">
                <a:solidFill>
                  <a:srgbClr val="C00000"/>
                </a:solidFill>
                <a:latin typeface="Calibri" pitchFamily="34" charset="0"/>
                <a:cs typeface="Calibri" pitchFamily="34" charset="0"/>
              </a:rPr>
              <a:t>Finding 8:</a:t>
            </a:r>
          </a:p>
          <a:p>
            <a:pPr algn="ctr"/>
            <a:r>
              <a:rPr lang="en-US" sz="1500" dirty="0">
                <a:solidFill>
                  <a:srgbClr val="1E4649"/>
                </a:solidFill>
                <a:latin typeface="Calibri" pitchFamily="34" charset="0"/>
              </a:rPr>
              <a:t>Within Pull triggers, Change of career / location together  are the second key external trigger for attrition.</a:t>
            </a:r>
          </a:p>
          <a:p>
            <a:pPr algn="ctr"/>
            <a:r>
              <a:rPr lang="en-US" sz="1500" dirty="0">
                <a:solidFill>
                  <a:srgbClr val="1E4649"/>
                </a:solidFill>
                <a:latin typeface="Calibri" pitchFamily="34" charset="0"/>
              </a:rPr>
              <a:t>These are low hanging fruit and this kind of issues can be resolved easily by bringing some modifications in company policies and more HR intervention thus reducing attrition. </a:t>
            </a:r>
          </a:p>
        </p:txBody>
      </p:sp>
      <p:sp>
        <p:nvSpPr>
          <p:cNvPr id="22" name="TextBox 21"/>
          <p:cNvSpPr txBox="1"/>
          <p:nvPr/>
        </p:nvSpPr>
        <p:spPr>
          <a:xfrm>
            <a:off x="1371600" y="5638800"/>
            <a:ext cx="5486400" cy="861774"/>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Out of the 11% of attrition triggered by external pull, 42.5 % moved out to different Function/Industry/Department thus indicating there is a scope of improvement in competency mapping. </a:t>
            </a:r>
          </a:p>
          <a:p>
            <a:pPr>
              <a:buClr>
                <a:srgbClr val="C00000"/>
              </a:buClr>
            </a:pPr>
            <a:endParaRPr lang="en-US" sz="1200" dirty="0">
              <a:latin typeface="Calibri" pitchFamily="34" charset="0"/>
              <a:cs typeface="Calibri" pitchFamily="34" charset="0"/>
            </a:endParaRPr>
          </a:p>
        </p:txBody>
      </p:sp>
      <p:sp>
        <p:nvSpPr>
          <p:cNvPr id="23" name="Rectangle 22"/>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20" name="TextBox 19"/>
          <p:cNvSpPr txBox="1"/>
          <p:nvPr/>
        </p:nvSpPr>
        <p:spPr>
          <a:xfrm>
            <a:off x="381000" y="1371600"/>
            <a:ext cx="1159292" cy="307777"/>
          </a:xfrm>
          <a:prstGeom prst="rect">
            <a:avLst/>
          </a:prstGeom>
          <a:noFill/>
        </p:spPr>
        <p:txBody>
          <a:bodyPr wrap="none" rtlCol="0">
            <a:spAutoFit/>
          </a:bodyPr>
          <a:lstStyle/>
          <a:p>
            <a:r>
              <a:rPr lang="en-US" sz="1400" b="1" dirty="0">
                <a:solidFill>
                  <a:srgbClr val="1E4649"/>
                </a:solidFill>
                <a:latin typeface="Calibri"/>
                <a:cs typeface="Calibri"/>
              </a:rPr>
              <a:t>Pull  Analysis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838200" y="762000"/>
            <a:ext cx="7720640" cy="369332"/>
          </a:xfrm>
          <a:prstGeom prst="rect">
            <a:avLst/>
          </a:prstGeom>
          <a:noFill/>
        </p:spPr>
        <p:txBody>
          <a:bodyPr wrap="none" rtlCol="0">
            <a:spAutoFit/>
          </a:bodyPr>
          <a:lstStyle/>
          <a:p>
            <a:pPr algn="ctr"/>
            <a:r>
              <a:rPr lang="en-US" dirty="0">
                <a:solidFill>
                  <a:srgbClr val="C00000"/>
                </a:solidFill>
                <a:latin typeface="Calibri" pitchFamily="34" charset="0"/>
                <a:cs typeface="Calibri" pitchFamily="34" charset="0"/>
              </a:rPr>
              <a:t>C :Summary: </a:t>
            </a:r>
            <a:r>
              <a:rPr lang="en-US" sz="1600" dirty="0">
                <a:solidFill>
                  <a:srgbClr val="C00000"/>
                </a:solidFill>
                <a:latin typeface="Calibri" pitchFamily="34" charset="0"/>
                <a:cs typeface="Calibri" pitchFamily="34" charset="0"/>
              </a:rPr>
              <a:t>Demographically the key triggers of attrition that can be highlighted in 2015</a:t>
            </a:r>
            <a:endParaRPr lang="en-US" sz="1600" i="1" dirty="0">
              <a:solidFill>
                <a:srgbClr val="C00000"/>
              </a:solidFill>
              <a:latin typeface="Calibri" pitchFamily="34" charset="0"/>
              <a:cs typeface="Calibri" pitchFamily="34" charset="0"/>
            </a:endParaRPr>
          </a:p>
        </p:txBody>
      </p:sp>
      <p:graphicFrame>
        <p:nvGraphicFramePr>
          <p:cNvPr id="9" name="Table 8"/>
          <p:cNvGraphicFramePr>
            <a:graphicFrameLocks noGrp="1"/>
          </p:cNvGraphicFramePr>
          <p:nvPr>
            <p:extLst>
              <p:ext uri="{D42A27DB-BD31-4B8C-83A1-F6EECF244321}">
                <p14:modId xmlns:p14="http://schemas.microsoft.com/office/powerpoint/2010/main" val="644555924"/>
              </p:ext>
            </p:extLst>
          </p:nvPr>
        </p:nvGraphicFramePr>
        <p:xfrm>
          <a:off x="304800" y="1676400"/>
          <a:ext cx="7162800" cy="4826553"/>
        </p:xfrm>
        <a:graphic>
          <a:graphicData uri="http://schemas.openxmlformats.org/drawingml/2006/table">
            <a:tbl>
              <a:tblPr/>
              <a:tblGrid>
                <a:gridCol w="7162800">
                  <a:extLst>
                    <a:ext uri="{9D8B030D-6E8A-4147-A177-3AD203B41FA5}">
                      <a16:colId xmlns:a16="http://schemas.microsoft.com/office/drawing/2014/main" val="20000"/>
                    </a:ext>
                  </a:extLst>
                </a:gridCol>
              </a:tblGrid>
              <a:tr h="238411">
                <a:tc>
                  <a:txBody>
                    <a:bodyPr/>
                    <a:lstStyle/>
                    <a:p>
                      <a:pPr algn="l" fontAlgn="b"/>
                      <a:r>
                        <a:rPr lang="en-US" sz="1200" b="1" i="0" u="none" strike="noStrike" dirty="0">
                          <a:solidFill>
                            <a:srgbClr val="FFFFFF"/>
                          </a:solidFill>
                          <a:latin typeface="Calibri" pitchFamily="34" charset="0"/>
                          <a:cs typeface="Calibri" pitchFamily="34" charset="0"/>
                        </a:rPr>
                        <a:t>Supervision issues triggers</a:t>
                      </a:r>
                      <a:r>
                        <a:rPr lang="en-US" sz="1200" b="1" i="0" u="none" strike="noStrike" baseline="0" dirty="0">
                          <a:solidFill>
                            <a:srgbClr val="FFFFFF"/>
                          </a:solidFill>
                          <a:latin typeface="Calibri" pitchFamily="34" charset="0"/>
                          <a:cs typeface="Calibri" pitchFamily="34" charset="0"/>
                        </a:rPr>
                        <a:t> attrition when supervisor :-</a:t>
                      </a:r>
                      <a:endParaRPr lang="en-US" sz="1200" b="1" i="0" u="none" strike="noStrike" dirty="0">
                        <a:solidFill>
                          <a:srgbClr val="FFFFFF"/>
                        </a:solidFill>
                        <a:latin typeface="Calibri" pitchFamily="34" charset="0"/>
                        <a:cs typeface="Calibri" pitchFamily="34" charset="0"/>
                      </a:endParaRPr>
                    </a:p>
                  </a:txBody>
                  <a:tcPr marL="5864" marR="5864" marT="5864"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65000"/>
                        <a:lumOff val="35000"/>
                      </a:schemeClr>
                    </a:solidFill>
                  </a:tcPr>
                </a:tc>
                <a:extLst>
                  <a:ext uri="{0D108BD9-81ED-4DB2-BD59-A6C34878D82A}">
                    <a16:rowId xmlns:a16="http://schemas.microsoft.com/office/drawing/2014/main" val="10000"/>
                  </a:ext>
                </a:extLst>
              </a:tr>
              <a:tr h="369364">
                <a:tc>
                  <a:txBody>
                    <a:bodyPr/>
                    <a:lstStyle/>
                    <a:p>
                      <a:pPr algn="l" fontAlgn="b"/>
                      <a:r>
                        <a:rPr lang="en-US" sz="1200" b="0" i="0" u="none" strike="noStrike" dirty="0">
                          <a:solidFill>
                            <a:srgbClr val="000000"/>
                          </a:solidFill>
                          <a:latin typeface="Calibri" pitchFamily="34" charset="0"/>
                          <a:cs typeface="Calibri" pitchFamily="34" charset="0"/>
                        </a:rPr>
                        <a:t>Does not communicate effectively. Conflicting communication styles of supervisors leads to misunderstanding between employees and managers </a:t>
                      </a:r>
                      <a:r>
                        <a:rPr lang="en-US" sz="1200" b="0" i="0" u="none" strike="noStrike" baseline="0" dirty="0">
                          <a:solidFill>
                            <a:srgbClr val="000000"/>
                          </a:solidFill>
                          <a:latin typeface="Calibri" pitchFamily="34" charset="0"/>
                          <a:cs typeface="Calibri" pitchFamily="34" charset="0"/>
                        </a:rPr>
                        <a:t> </a:t>
                      </a:r>
                      <a:endParaRPr lang="en-US" sz="1200" b="0" i="0" u="none" strike="noStrike" dirty="0">
                        <a:solidFill>
                          <a:srgbClr val="000000"/>
                        </a:solidFill>
                        <a:latin typeface="Calibri" pitchFamily="34" charset="0"/>
                        <a:cs typeface="Calibri" pitchFamily="34" charset="0"/>
                      </a:endParaRPr>
                    </a:p>
                  </a:txBody>
                  <a:tcPr marL="5864" marR="5864" marT="5864"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87856">
                <a:tc>
                  <a:txBody>
                    <a:bodyPr/>
                    <a:lstStyle/>
                    <a:p>
                      <a:pPr algn="l" fontAlgn="b"/>
                      <a:r>
                        <a:rPr lang="en-US" sz="1200" b="0" i="0" u="none" strike="noStrike" baseline="0" dirty="0">
                          <a:solidFill>
                            <a:srgbClr val="000000"/>
                          </a:solidFill>
                          <a:latin typeface="Calibri" pitchFamily="34" charset="0"/>
                          <a:cs typeface="Calibri" pitchFamily="34" charset="0"/>
                        </a:rPr>
                        <a:t>Fails</a:t>
                      </a:r>
                      <a:r>
                        <a:rPr lang="en-US" sz="1200" b="0" i="0" u="none" strike="noStrike" dirty="0">
                          <a:solidFill>
                            <a:srgbClr val="000000"/>
                          </a:solidFill>
                          <a:latin typeface="Calibri" pitchFamily="34" charset="0"/>
                          <a:cs typeface="Calibri" pitchFamily="34" charset="0"/>
                        </a:rPr>
                        <a:t> to demonstrate fairness and objectivity in their actions and decisions impacting employees</a:t>
                      </a:r>
                    </a:p>
                  </a:txBody>
                  <a:tcPr marL="5864" marR="5864" marT="5864"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69364">
                <a:tc>
                  <a:txBody>
                    <a:bodyPr/>
                    <a:lstStyle/>
                    <a:p>
                      <a:pPr marL="0" marR="0" indent="0" algn="l" defTabSz="914400" rtl="0" eaLnBrk="1" fontAlgn="b" latinLnBrk="0" hangingPunct="1">
                        <a:lnSpc>
                          <a:spcPct val="100000"/>
                        </a:lnSpc>
                        <a:spcBef>
                          <a:spcPts val="0"/>
                        </a:spcBef>
                        <a:spcAft>
                          <a:spcPts val="0"/>
                        </a:spcAft>
                        <a:buClrTx/>
                        <a:buSzTx/>
                        <a:buFontTx/>
                        <a:buNone/>
                        <a:tabLst/>
                        <a:defRPr/>
                      </a:pPr>
                      <a:r>
                        <a:rPr lang="en-US" sz="1200" b="0" i="0" u="none" strike="noStrike" dirty="0">
                          <a:solidFill>
                            <a:srgbClr val="000000"/>
                          </a:solidFill>
                          <a:latin typeface="Calibri" pitchFamily="34" charset="0"/>
                          <a:cs typeface="Calibri" pitchFamily="34" charset="0"/>
                        </a:rPr>
                        <a:t>Does</a:t>
                      </a:r>
                      <a:r>
                        <a:rPr lang="en-US" sz="1200" b="0" i="0" u="none" strike="noStrike" baseline="0" dirty="0">
                          <a:solidFill>
                            <a:srgbClr val="000000"/>
                          </a:solidFill>
                          <a:latin typeface="Calibri" pitchFamily="34" charset="0"/>
                          <a:cs typeface="Calibri" pitchFamily="34" charset="0"/>
                        </a:rPr>
                        <a:t> </a:t>
                      </a:r>
                      <a:r>
                        <a:rPr lang="en-US" sz="1200" b="0" i="0" u="none" strike="noStrike" dirty="0">
                          <a:solidFill>
                            <a:srgbClr val="000000"/>
                          </a:solidFill>
                          <a:latin typeface="Calibri" pitchFamily="34" charset="0"/>
                          <a:cs typeface="Calibri" pitchFamily="34" charset="0"/>
                        </a:rPr>
                        <a:t>not provide guidance  training and coaching &amp; </a:t>
                      </a:r>
                      <a:r>
                        <a:rPr lang="en-US" sz="1200" b="0" i="0" u="none" strike="noStrike" baseline="0" dirty="0">
                          <a:solidFill>
                            <a:srgbClr val="000000"/>
                          </a:solidFill>
                          <a:latin typeface="Calibri" pitchFamily="34" charset="0"/>
                          <a:cs typeface="Calibri" pitchFamily="34" charset="0"/>
                        </a:rPr>
                        <a:t>m</a:t>
                      </a:r>
                      <a:r>
                        <a:rPr lang="en-US" sz="1200" b="0" i="0" u="none" strike="noStrike" dirty="0">
                          <a:solidFill>
                            <a:srgbClr val="000000"/>
                          </a:solidFill>
                          <a:latin typeface="Calibri" pitchFamily="34" charset="0"/>
                          <a:cs typeface="Calibri" pitchFamily="34" charset="0"/>
                        </a:rPr>
                        <a:t>entorship</a:t>
                      </a:r>
                      <a:r>
                        <a:rPr lang="en-US" sz="1200" b="0" i="0" u="none" strike="noStrike" baseline="0" dirty="0">
                          <a:solidFill>
                            <a:srgbClr val="000000"/>
                          </a:solidFill>
                          <a:latin typeface="Calibri" pitchFamily="34" charset="0"/>
                          <a:cs typeface="Calibri" pitchFamily="34" charset="0"/>
                        </a:rPr>
                        <a:t> to the team members </a:t>
                      </a:r>
                      <a:r>
                        <a:rPr lang="en-US" sz="1200" b="0" i="0" u="none" strike="noStrike" dirty="0">
                          <a:solidFill>
                            <a:srgbClr val="000000"/>
                          </a:solidFill>
                          <a:latin typeface="Calibri" pitchFamily="34" charset="0"/>
                          <a:cs typeface="Calibri" pitchFamily="34" charset="0"/>
                        </a:rPr>
                        <a:t>to meet their goals &amp; to develop in their role</a:t>
                      </a:r>
                    </a:p>
                  </a:txBody>
                  <a:tcPr marL="5864" marR="5864" marT="5864"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87856">
                <a:tc>
                  <a:txBody>
                    <a:bodyPr/>
                    <a:lstStyle/>
                    <a:p>
                      <a:pPr algn="l" fontAlgn="b"/>
                      <a:r>
                        <a:rPr lang="en-US" sz="1200" b="0" i="0" u="none" strike="noStrike" dirty="0">
                          <a:solidFill>
                            <a:srgbClr val="000000"/>
                          </a:solidFill>
                          <a:latin typeface="Calibri" pitchFamily="34" charset="0"/>
                          <a:cs typeface="Calibri" pitchFamily="34" charset="0"/>
                        </a:rPr>
                        <a:t>Fails to provide direction, guidance &amp; feedback in a professional manner </a:t>
                      </a:r>
                    </a:p>
                  </a:txBody>
                  <a:tcPr marL="5864" marR="5864" marT="5864"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87856">
                <a:tc>
                  <a:txBody>
                    <a:bodyPr/>
                    <a:lstStyle/>
                    <a:p>
                      <a:pPr algn="l" fontAlgn="b"/>
                      <a:r>
                        <a:rPr lang="en-US" sz="1200" b="0" i="0" u="none" strike="noStrike" dirty="0">
                          <a:solidFill>
                            <a:srgbClr val="000000"/>
                          </a:solidFill>
                          <a:latin typeface="Calibri" pitchFamily="34" charset="0"/>
                          <a:cs typeface="Calibri" pitchFamily="34" charset="0"/>
                        </a:rPr>
                        <a:t>Does</a:t>
                      </a:r>
                      <a:r>
                        <a:rPr lang="en-US" sz="1200" b="0" i="0" u="none" strike="noStrike" baseline="0" dirty="0">
                          <a:solidFill>
                            <a:srgbClr val="000000"/>
                          </a:solidFill>
                          <a:latin typeface="Calibri" pitchFamily="34" charset="0"/>
                          <a:cs typeface="Calibri" pitchFamily="34" charset="0"/>
                        </a:rPr>
                        <a:t> </a:t>
                      </a:r>
                      <a:r>
                        <a:rPr lang="en-US" sz="1200" b="0" i="0" u="none" strike="noStrike" dirty="0">
                          <a:solidFill>
                            <a:srgbClr val="000000"/>
                          </a:solidFill>
                          <a:latin typeface="Calibri" pitchFamily="34" charset="0"/>
                          <a:cs typeface="Calibri" pitchFamily="34" charset="0"/>
                        </a:rPr>
                        <a:t>not show empathy</a:t>
                      </a:r>
                      <a:r>
                        <a:rPr lang="en-US" sz="1200" b="0" i="0" u="none" strike="noStrike" baseline="0" dirty="0">
                          <a:solidFill>
                            <a:srgbClr val="000000"/>
                          </a:solidFill>
                          <a:latin typeface="Calibri" pitchFamily="34" charset="0"/>
                          <a:cs typeface="Calibri" pitchFamily="34" charset="0"/>
                        </a:rPr>
                        <a:t> &amp; c</a:t>
                      </a:r>
                      <a:r>
                        <a:rPr lang="en-US" sz="1200" b="0" i="0" u="none" strike="noStrike" dirty="0">
                          <a:solidFill>
                            <a:srgbClr val="000000"/>
                          </a:solidFill>
                          <a:latin typeface="Calibri" pitchFamily="34" charset="0"/>
                          <a:cs typeface="Calibri" pitchFamily="34" charset="0"/>
                        </a:rPr>
                        <a:t>oncern</a:t>
                      </a:r>
                      <a:r>
                        <a:rPr lang="en-US" sz="1200" b="0" i="0" u="none" strike="noStrike" baseline="0" dirty="0">
                          <a:solidFill>
                            <a:srgbClr val="000000"/>
                          </a:solidFill>
                          <a:latin typeface="Calibri" pitchFamily="34" charset="0"/>
                          <a:cs typeface="Calibri" pitchFamily="34" charset="0"/>
                        </a:rPr>
                        <a:t> towards his team member </a:t>
                      </a:r>
                      <a:r>
                        <a:rPr lang="en-US" sz="1200" b="0" i="0" u="none" strike="noStrike" dirty="0">
                          <a:solidFill>
                            <a:srgbClr val="000000"/>
                          </a:solidFill>
                          <a:latin typeface="Calibri" pitchFamily="34" charset="0"/>
                          <a:cs typeface="Calibri" pitchFamily="34" charset="0"/>
                        </a:rPr>
                        <a:t>or treat</a:t>
                      </a:r>
                      <a:r>
                        <a:rPr lang="en-US" sz="1200" b="0" i="0" u="none" strike="noStrike" baseline="0" dirty="0">
                          <a:solidFill>
                            <a:srgbClr val="000000"/>
                          </a:solidFill>
                          <a:latin typeface="Calibri" pitchFamily="34" charset="0"/>
                          <a:cs typeface="Calibri" pitchFamily="34" charset="0"/>
                        </a:rPr>
                        <a:t> him as an individual with self respect or identify their unique engagement drivers</a:t>
                      </a:r>
                      <a:endParaRPr lang="en-US" sz="1200" b="0" i="0" u="none" strike="noStrike" dirty="0">
                        <a:solidFill>
                          <a:srgbClr val="000000"/>
                        </a:solidFill>
                        <a:latin typeface="Calibri" pitchFamily="34" charset="0"/>
                        <a:cs typeface="Calibri" pitchFamily="34" charset="0"/>
                      </a:endParaRPr>
                    </a:p>
                  </a:txBody>
                  <a:tcPr marL="5864" marR="5864" marT="5864"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87856">
                <a:tc>
                  <a:txBody>
                    <a:bodyPr/>
                    <a:lstStyle/>
                    <a:p>
                      <a:pPr algn="l" fontAlgn="b"/>
                      <a:r>
                        <a:rPr lang="en-US" sz="1200" b="0" i="0" u="none" strike="noStrike" dirty="0">
                          <a:solidFill>
                            <a:srgbClr val="000000"/>
                          </a:solidFill>
                          <a:latin typeface="Calibri" pitchFamily="34" charset="0"/>
                          <a:cs typeface="Calibri" pitchFamily="34" charset="0"/>
                        </a:rPr>
                        <a:t>Fails to  give </a:t>
                      </a:r>
                      <a:r>
                        <a:rPr lang="en-US" sz="1200" b="0" i="0" u="none" strike="noStrike" baseline="0" dirty="0">
                          <a:solidFill>
                            <a:srgbClr val="000000"/>
                          </a:solidFill>
                          <a:latin typeface="Calibri" pitchFamily="34" charset="0"/>
                          <a:cs typeface="Calibri" pitchFamily="34" charset="0"/>
                        </a:rPr>
                        <a:t>a vision of a future, confidence of being nurtured &amp; assurance of growth as a reward for performance</a:t>
                      </a:r>
                      <a:endParaRPr lang="en-US" sz="1200" b="0" i="0" u="none" strike="noStrike" dirty="0">
                        <a:solidFill>
                          <a:srgbClr val="000000"/>
                        </a:solidFill>
                        <a:latin typeface="Calibri" pitchFamily="34" charset="0"/>
                        <a:cs typeface="Calibri" pitchFamily="34" charset="0"/>
                      </a:endParaRPr>
                    </a:p>
                  </a:txBody>
                  <a:tcPr marL="5864" marR="5864" marT="5864"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87856">
                <a:tc>
                  <a:txBody>
                    <a:bodyPr/>
                    <a:lstStyle/>
                    <a:p>
                      <a:pPr algn="l" fontAlgn="b"/>
                      <a:r>
                        <a:rPr lang="en-US" sz="1200" b="0" i="0" u="none" strike="noStrike" dirty="0">
                          <a:solidFill>
                            <a:srgbClr val="000000"/>
                          </a:solidFill>
                          <a:latin typeface="Calibri" pitchFamily="34" charset="0"/>
                          <a:cs typeface="Calibri" pitchFamily="34" charset="0"/>
                        </a:rPr>
                        <a:t>Does</a:t>
                      </a:r>
                      <a:r>
                        <a:rPr lang="en-US" sz="1200" b="0" i="0" u="none" strike="noStrike" baseline="0" dirty="0">
                          <a:solidFill>
                            <a:srgbClr val="000000"/>
                          </a:solidFill>
                          <a:latin typeface="Calibri" pitchFamily="34" charset="0"/>
                          <a:cs typeface="Calibri" pitchFamily="34" charset="0"/>
                        </a:rPr>
                        <a:t> </a:t>
                      </a:r>
                      <a:r>
                        <a:rPr lang="en-US" sz="1200" b="0" i="0" u="none" strike="noStrike" dirty="0">
                          <a:solidFill>
                            <a:srgbClr val="000000"/>
                          </a:solidFill>
                          <a:latin typeface="Calibri" pitchFamily="34" charset="0"/>
                          <a:cs typeface="Calibri" pitchFamily="34" charset="0"/>
                        </a:rPr>
                        <a:t>not foster freedom, independent thinking,</a:t>
                      </a:r>
                      <a:r>
                        <a:rPr lang="en-US" sz="1200" b="0" i="0" u="none" strike="noStrike" baseline="0" dirty="0">
                          <a:solidFill>
                            <a:srgbClr val="000000"/>
                          </a:solidFill>
                          <a:latin typeface="Calibri" pitchFamily="34" charset="0"/>
                          <a:cs typeface="Calibri" pitchFamily="34" charset="0"/>
                        </a:rPr>
                        <a:t> provide </a:t>
                      </a:r>
                      <a:r>
                        <a:rPr lang="en-US" sz="1200" b="0" i="0" u="none" strike="noStrike" dirty="0">
                          <a:solidFill>
                            <a:srgbClr val="000000"/>
                          </a:solidFill>
                          <a:latin typeface="Calibri" pitchFamily="34" charset="0"/>
                          <a:cs typeface="Calibri" pitchFamily="34" charset="0"/>
                        </a:rPr>
                        <a:t>space for initiative,</a:t>
                      </a:r>
                      <a:r>
                        <a:rPr lang="en-US" sz="1200" b="0" i="0" u="none" strike="noStrike" baseline="0" dirty="0">
                          <a:solidFill>
                            <a:srgbClr val="000000"/>
                          </a:solidFill>
                          <a:latin typeface="Calibri" pitchFamily="34" charset="0"/>
                          <a:cs typeface="Calibri" pitchFamily="34" charset="0"/>
                        </a:rPr>
                        <a:t> create motivations to bring out the best in their employees</a:t>
                      </a:r>
                      <a:endParaRPr lang="en-US" sz="1200" b="0" i="0" u="none" strike="noStrike" dirty="0">
                        <a:solidFill>
                          <a:srgbClr val="000000"/>
                        </a:solidFill>
                        <a:latin typeface="Calibri" pitchFamily="34" charset="0"/>
                        <a:cs typeface="Calibri" pitchFamily="34" charset="0"/>
                      </a:endParaRPr>
                    </a:p>
                  </a:txBody>
                  <a:tcPr marL="5864" marR="5864" marT="5864"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38411">
                <a:tc>
                  <a:txBody>
                    <a:bodyPr/>
                    <a:lstStyle/>
                    <a:p>
                      <a:pPr marL="0" algn="l" defTabSz="914400" rtl="0" eaLnBrk="1" fontAlgn="b" latinLnBrk="0" hangingPunct="1"/>
                      <a:r>
                        <a:rPr lang="en-US" sz="1200" b="1" i="0" u="none" strike="noStrike" kern="1200" dirty="0">
                          <a:solidFill>
                            <a:srgbClr val="FFFFFF"/>
                          </a:solidFill>
                          <a:latin typeface="Calibri" pitchFamily="34" charset="0"/>
                          <a:ea typeface="+mn-ea"/>
                          <a:cs typeface="Calibri" pitchFamily="34" charset="0"/>
                        </a:rPr>
                        <a:t>Lack of advancement opportunity triggers attrition when :-</a:t>
                      </a:r>
                    </a:p>
                  </a:txBody>
                  <a:tcPr marL="5864" marR="5864" marT="5864"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65000"/>
                        <a:lumOff val="35000"/>
                      </a:schemeClr>
                    </a:solidFill>
                  </a:tcPr>
                </a:tc>
                <a:extLst>
                  <a:ext uri="{0D108BD9-81ED-4DB2-BD59-A6C34878D82A}">
                    <a16:rowId xmlns:a16="http://schemas.microsoft.com/office/drawing/2014/main" val="10008"/>
                  </a:ext>
                </a:extLst>
              </a:tr>
              <a:tr h="187856">
                <a:tc>
                  <a:txBody>
                    <a:bodyPr/>
                    <a:lstStyle/>
                    <a:p>
                      <a:pPr algn="l" fontAlgn="ctr"/>
                      <a:r>
                        <a:rPr lang="en-US" sz="1200" b="0" i="0" u="none" strike="noStrike" dirty="0">
                          <a:solidFill>
                            <a:srgbClr val="000000"/>
                          </a:solidFill>
                          <a:latin typeface="Calibri" pitchFamily="34" charset="0"/>
                          <a:cs typeface="Calibri" pitchFamily="34" charset="0"/>
                        </a:rPr>
                        <a:t>Employees</a:t>
                      </a:r>
                      <a:r>
                        <a:rPr lang="en-US" sz="1200" b="0" i="0" u="none" strike="noStrike" baseline="0" dirty="0">
                          <a:solidFill>
                            <a:srgbClr val="000000"/>
                          </a:solidFill>
                          <a:latin typeface="Calibri" pitchFamily="34" charset="0"/>
                          <a:cs typeface="Calibri" pitchFamily="34" charset="0"/>
                        </a:rPr>
                        <a:t> cannot see a future and how their contribution to organization benefits them personally in their c</a:t>
                      </a:r>
                      <a:r>
                        <a:rPr lang="en-US" sz="1200" b="0" i="0" u="none" strike="noStrike" dirty="0">
                          <a:solidFill>
                            <a:srgbClr val="000000"/>
                          </a:solidFill>
                          <a:latin typeface="Calibri" pitchFamily="34" charset="0"/>
                          <a:cs typeface="Calibri" pitchFamily="34" charset="0"/>
                        </a:rPr>
                        <a:t>areer or</a:t>
                      </a:r>
                      <a:r>
                        <a:rPr lang="en-US" sz="1200" b="0" i="0" u="none" strike="noStrike" baseline="0" dirty="0">
                          <a:solidFill>
                            <a:srgbClr val="000000"/>
                          </a:solidFill>
                          <a:latin typeface="Calibri" pitchFamily="34" charset="0"/>
                          <a:cs typeface="Calibri" pitchFamily="34" charset="0"/>
                        </a:rPr>
                        <a:t> s</a:t>
                      </a:r>
                      <a:r>
                        <a:rPr lang="en-US" sz="1200" b="0" i="0" u="none" strike="noStrike" dirty="0">
                          <a:solidFill>
                            <a:srgbClr val="000000"/>
                          </a:solidFill>
                          <a:latin typeface="Calibri" pitchFamily="34" charset="0"/>
                          <a:cs typeface="Calibri" pitchFamily="34" charset="0"/>
                        </a:rPr>
                        <a:t>elf</a:t>
                      </a:r>
                      <a:r>
                        <a:rPr lang="en-US" sz="1200" b="0" i="0" u="none" strike="noStrike" baseline="0" dirty="0">
                          <a:solidFill>
                            <a:srgbClr val="000000"/>
                          </a:solidFill>
                          <a:latin typeface="Calibri" pitchFamily="34" charset="0"/>
                          <a:cs typeface="Calibri" pitchFamily="34" charset="0"/>
                        </a:rPr>
                        <a:t>  development</a:t>
                      </a:r>
                      <a:endParaRPr lang="en-US" sz="1200" b="0" i="0" u="none" strike="noStrike" dirty="0">
                        <a:solidFill>
                          <a:srgbClr val="000000"/>
                        </a:solidFill>
                        <a:latin typeface="Calibri" pitchFamily="34" charset="0"/>
                        <a:cs typeface="Calibri" pitchFamily="34" charset="0"/>
                      </a:endParaRPr>
                    </a:p>
                  </a:txBody>
                  <a:tcPr marL="5864" marR="5864" marT="586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87856">
                <a:tc>
                  <a:txBody>
                    <a:bodyPr/>
                    <a:lstStyle/>
                    <a:p>
                      <a:pPr algn="l" fontAlgn="ctr"/>
                      <a:r>
                        <a:rPr lang="en-US" sz="1200" b="0" i="0" u="none" strike="noStrike" dirty="0">
                          <a:solidFill>
                            <a:srgbClr val="000000"/>
                          </a:solidFill>
                          <a:latin typeface="Calibri" pitchFamily="34" charset="0"/>
                          <a:cs typeface="Calibri" pitchFamily="34" charset="0"/>
                        </a:rPr>
                        <a:t>An</a:t>
                      </a:r>
                      <a:r>
                        <a:rPr lang="en-US" sz="1200" b="0" i="0" u="none" strike="noStrike" baseline="0" dirty="0">
                          <a:solidFill>
                            <a:srgbClr val="000000"/>
                          </a:solidFill>
                          <a:latin typeface="Calibri" pitchFamily="34" charset="0"/>
                          <a:cs typeface="Calibri" pitchFamily="34" charset="0"/>
                        </a:rPr>
                        <a:t> ineffective </a:t>
                      </a:r>
                      <a:r>
                        <a:rPr lang="en-US" sz="1200" b="0" i="0" u="none" strike="noStrike" dirty="0">
                          <a:solidFill>
                            <a:srgbClr val="000000"/>
                          </a:solidFill>
                          <a:latin typeface="Calibri" pitchFamily="34" charset="0"/>
                          <a:cs typeface="Calibri" pitchFamily="34" charset="0"/>
                        </a:rPr>
                        <a:t>Performance Management Process cannot capture true performance &amp; further link the same with employee growth and reward</a:t>
                      </a:r>
                    </a:p>
                  </a:txBody>
                  <a:tcPr marL="5864" marR="5864" marT="586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187856">
                <a:tc>
                  <a:txBody>
                    <a:bodyPr/>
                    <a:lstStyle/>
                    <a:p>
                      <a:pPr algn="l" fontAlgn="ctr"/>
                      <a:r>
                        <a:rPr lang="en-US" sz="1200" b="0" i="0" u="none" strike="noStrike" dirty="0">
                          <a:solidFill>
                            <a:srgbClr val="000000"/>
                          </a:solidFill>
                          <a:latin typeface="Calibri" pitchFamily="34" charset="0"/>
                          <a:cs typeface="Calibri" pitchFamily="34" charset="0"/>
                        </a:rPr>
                        <a:t>Personal biases, override objectivity, decision are not fact based,  and  judgments</a:t>
                      </a:r>
                      <a:r>
                        <a:rPr lang="en-US" sz="1200" b="0" i="0" u="none" strike="noStrike" baseline="0" dirty="0">
                          <a:solidFill>
                            <a:srgbClr val="000000"/>
                          </a:solidFill>
                          <a:latin typeface="Calibri" pitchFamily="34" charset="0"/>
                          <a:cs typeface="Calibri" pitchFamily="34" charset="0"/>
                        </a:rPr>
                        <a:t> seen to l</a:t>
                      </a:r>
                      <a:r>
                        <a:rPr lang="en-US" sz="1200" b="0" i="0" u="none" strike="noStrike" dirty="0">
                          <a:solidFill>
                            <a:srgbClr val="000000"/>
                          </a:solidFill>
                          <a:latin typeface="Calibri" pitchFamily="34" charset="0"/>
                          <a:cs typeface="Calibri" pitchFamily="34" charset="0"/>
                        </a:rPr>
                        <a:t>ack </a:t>
                      </a:r>
                      <a:r>
                        <a:rPr lang="en-US" sz="1200" b="0" i="0" u="none" strike="noStrike" baseline="0" dirty="0">
                          <a:solidFill>
                            <a:srgbClr val="000000"/>
                          </a:solidFill>
                          <a:latin typeface="Calibri" pitchFamily="34" charset="0"/>
                          <a:cs typeface="Calibri" pitchFamily="34" charset="0"/>
                        </a:rPr>
                        <a:t>fairness</a:t>
                      </a:r>
                      <a:endParaRPr lang="en-US" sz="1200" b="0" i="0" u="none" strike="noStrike" dirty="0">
                        <a:solidFill>
                          <a:srgbClr val="000000"/>
                        </a:solidFill>
                        <a:latin typeface="Calibri" pitchFamily="34" charset="0"/>
                        <a:cs typeface="Calibri" pitchFamily="34" charset="0"/>
                      </a:endParaRPr>
                    </a:p>
                  </a:txBody>
                  <a:tcPr marL="5864" marR="5864" marT="586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1"/>
                  </a:ext>
                </a:extLst>
              </a:tr>
              <a:tr h="369364">
                <a:tc>
                  <a:txBody>
                    <a:bodyPr/>
                    <a:lstStyle/>
                    <a:p>
                      <a:pPr algn="l" fontAlgn="ctr"/>
                      <a:r>
                        <a:rPr lang="en-US" sz="1200" b="0" i="0" u="none" strike="noStrike" dirty="0">
                          <a:solidFill>
                            <a:srgbClr val="000000"/>
                          </a:solidFill>
                          <a:latin typeface="Calibri" pitchFamily="34" charset="0"/>
                          <a:cs typeface="Calibri" pitchFamily="34" charset="0"/>
                        </a:rPr>
                        <a:t>Lack of concise  communication when the</a:t>
                      </a:r>
                      <a:r>
                        <a:rPr lang="en-US" sz="1200" b="0" i="0" u="none" strike="noStrike" baseline="0" dirty="0">
                          <a:solidFill>
                            <a:srgbClr val="000000"/>
                          </a:solidFill>
                          <a:latin typeface="Calibri" pitchFamily="34" charset="0"/>
                          <a:cs typeface="Calibri" pitchFamily="34" charset="0"/>
                        </a:rPr>
                        <a:t> objective is not clear, communication is</a:t>
                      </a:r>
                      <a:r>
                        <a:rPr lang="en-US" sz="1200" b="0" i="0" u="none" strike="noStrike" dirty="0">
                          <a:solidFill>
                            <a:srgbClr val="000000"/>
                          </a:solidFill>
                          <a:latin typeface="Calibri" pitchFamily="34" charset="0"/>
                          <a:cs typeface="Calibri" pitchFamily="34" charset="0"/>
                        </a:rPr>
                        <a:t> not a two way process, information is not shared regularly, visibility</a:t>
                      </a:r>
                      <a:r>
                        <a:rPr lang="en-US" sz="1200" b="0" i="0" u="none" strike="noStrike" baseline="0" dirty="0">
                          <a:solidFill>
                            <a:srgbClr val="000000"/>
                          </a:solidFill>
                          <a:latin typeface="Calibri" pitchFamily="34" charset="0"/>
                          <a:cs typeface="Calibri" pitchFamily="34" charset="0"/>
                        </a:rPr>
                        <a:t> of direction, action and sense of purpose is low</a:t>
                      </a:r>
                      <a:endParaRPr lang="en-US" sz="1200" b="0" i="0" u="none" strike="noStrike" dirty="0">
                        <a:solidFill>
                          <a:srgbClr val="000000"/>
                        </a:solidFill>
                        <a:latin typeface="Calibri" pitchFamily="34" charset="0"/>
                        <a:cs typeface="Calibri" pitchFamily="34" charset="0"/>
                      </a:endParaRPr>
                    </a:p>
                  </a:txBody>
                  <a:tcPr marL="5864" marR="5864" marT="586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238411">
                <a:tc>
                  <a:txBody>
                    <a:bodyPr/>
                    <a:lstStyle/>
                    <a:p>
                      <a:pPr marL="0" algn="l" defTabSz="914400" rtl="0" eaLnBrk="1" fontAlgn="b" latinLnBrk="0" hangingPunct="1"/>
                      <a:r>
                        <a:rPr lang="en-US" sz="1200" b="1" i="0" u="none" strike="noStrike" kern="1200" dirty="0">
                          <a:solidFill>
                            <a:srgbClr val="FFFFFF"/>
                          </a:solidFill>
                          <a:latin typeface="Calibri" pitchFamily="34" charset="0"/>
                          <a:ea typeface="+mn-ea"/>
                          <a:cs typeface="Calibri" pitchFamily="34" charset="0"/>
                        </a:rPr>
                        <a:t>Work environment triggers attrition when:-</a:t>
                      </a:r>
                    </a:p>
                  </a:txBody>
                  <a:tcPr marL="5864" marR="5864" marT="5864"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65000"/>
                        <a:lumOff val="35000"/>
                      </a:schemeClr>
                    </a:solidFill>
                  </a:tcPr>
                </a:tc>
                <a:extLst>
                  <a:ext uri="{0D108BD9-81ED-4DB2-BD59-A6C34878D82A}">
                    <a16:rowId xmlns:a16="http://schemas.microsoft.com/office/drawing/2014/main" val="10013"/>
                  </a:ext>
                </a:extLst>
              </a:tr>
              <a:tr h="187856">
                <a:tc>
                  <a:txBody>
                    <a:bodyPr/>
                    <a:lstStyle/>
                    <a:p>
                      <a:pPr algn="l" fontAlgn="ctr"/>
                      <a:r>
                        <a:rPr lang="en-US" sz="1200" b="0" i="0" u="none" strike="noStrike" dirty="0">
                          <a:solidFill>
                            <a:srgbClr val="000000"/>
                          </a:solidFill>
                          <a:latin typeface="Calibri" pitchFamily="34" charset="0"/>
                          <a:cs typeface="Calibri" pitchFamily="34" charset="0"/>
                        </a:rPr>
                        <a:t>People don</a:t>
                      </a:r>
                      <a:r>
                        <a:rPr lang="fr-FR" sz="1200" b="0" i="0" u="none" strike="noStrike" dirty="0">
                          <a:solidFill>
                            <a:srgbClr val="000000"/>
                          </a:solidFill>
                          <a:latin typeface="Calibri" pitchFamily="34" charset="0"/>
                          <a:cs typeface="Calibri" pitchFamily="34" charset="0"/>
                        </a:rPr>
                        <a:t>’</a:t>
                      </a:r>
                      <a:r>
                        <a:rPr lang="en-US" sz="1200" b="0" i="0" u="none" strike="noStrike" dirty="0">
                          <a:solidFill>
                            <a:srgbClr val="000000"/>
                          </a:solidFill>
                          <a:latin typeface="Calibri" pitchFamily="34" charset="0"/>
                          <a:cs typeface="Calibri" pitchFamily="34" charset="0"/>
                        </a:rPr>
                        <a:t>t feel empowered and motivated to take decisions that enable</a:t>
                      </a:r>
                      <a:r>
                        <a:rPr lang="en-US" sz="1200" b="0" i="0" u="none" strike="noStrike" baseline="0" dirty="0">
                          <a:solidFill>
                            <a:srgbClr val="000000"/>
                          </a:solidFill>
                          <a:latin typeface="Calibri" pitchFamily="34" charset="0"/>
                          <a:cs typeface="Calibri" pitchFamily="34" charset="0"/>
                        </a:rPr>
                        <a:t> them in their role</a:t>
                      </a:r>
                      <a:endParaRPr lang="en-US" sz="1200" b="0" i="0" u="none" strike="noStrike" dirty="0">
                        <a:solidFill>
                          <a:srgbClr val="000000"/>
                        </a:solidFill>
                        <a:latin typeface="Calibri" pitchFamily="34" charset="0"/>
                        <a:cs typeface="Calibri" pitchFamily="34" charset="0"/>
                      </a:endParaRPr>
                    </a:p>
                  </a:txBody>
                  <a:tcPr marL="5864" marR="5864" marT="586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87856">
                <a:tc>
                  <a:txBody>
                    <a:bodyPr/>
                    <a:lstStyle/>
                    <a:p>
                      <a:pPr algn="l" fontAlgn="ctr"/>
                      <a:r>
                        <a:rPr lang="en-US" sz="1200" b="0" i="0" u="none" strike="noStrike" dirty="0">
                          <a:solidFill>
                            <a:srgbClr val="000000"/>
                          </a:solidFill>
                          <a:latin typeface="Calibri" pitchFamily="34" charset="0"/>
                          <a:cs typeface="Calibri" pitchFamily="34" charset="0"/>
                        </a:rPr>
                        <a:t>They are made accountable without the authority, support</a:t>
                      </a:r>
                      <a:r>
                        <a:rPr lang="en-US" sz="1200" b="0" i="0" u="none" strike="noStrike" baseline="0" dirty="0">
                          <a:solidFill>
                            <a:srgbClr val="000000"/>
                          </a:solidFill>
                          <a:latin typeface="Calibri" pitchFamily="34" charset="0"/>
                          <a:cs typeface="Calibri" pitchFamily="34" charset="0"/>
                        </a:rPr>
                        <a:t>,  motivation &amp; appreciation</a:t>
                      </a:r>
                      <a:endParaRPr lang="en-US" sz="1200" b="0" i="0" u="none" strike="noStrike" dirty="0">
                        <a:solidFill>
                          <a:srgbClr val="000000"/>
                        </a:solidFill>
                        <a:latin typeface="Calibri" pitchFamily="34" charset="0"/>
                        <a:cs typeface="Calibri" pitchFamily="34" charset="0"/>
                      </a:endParaRPr>
                    </a:p>
                  </a:txBody>
                  <a:tcPr marL="5864" marR="5864" marT="586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87856">
                <a:tc>
                  <a:txBody>
                    <a:bodyPr/>
                    <a:lstStyle/>
                    <a:p>
                      <a:pPr algn="l" fontAlgn="ctr"/>
                      <a:r>
                        <a:rPr lang="en-US" sz="1200" b="0" i="0" u="none" strike="noStrike" dirty="0">
                          <a:solidFill>
                            <a:srgbClr val="000000"/>
                          </a:solidFill>
                          <a:latin typeface="Calibri" pitchFamily="34" charset="0"/>
                          <a:cs typeface="Calibri" pitchFamily="34" charset="0"/>
                        </a:rPr>
                        <a:t>They are expected to make work their only priority</a:t>
                      </a:r>
                    </a:p>
                  </a:txBody>
                  <a:tcPr marL="5864" marR="5864" marT="586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87856">
                <a:tc>
                  <a:txBody>
                    <a:bodyPr/>
                    <a:lstStyle/>
                    <a:p>
                      <a:pPr algn="l" fontAlgn="ctr"/>
                      <a:r>
                        <a:rPr lang="en-US" sz="1200" b="0" i="0" u="none" strike="noStrike" dirty="0">
                          <a:solidFill>
                            <a:srgbClr val="000000"/>
                          </a:solidFill>
                          <a:latin typeface="Calibri" pitchFamily="34" charset="0"/>
                          <a:cs typeface="Calibri" pitchFamily="34" charset="0"/>
                        </a:rPr>
                        <a:t>The employee employer relation is</a:t>
                      </a:r>
                      <a:r>
                        <a:rPr lang="en-US" sz="1200" b="0" i="0" u="none" strike="noStrike" baseline="0" dirty="0">
                          <a:solidFill>
                            <a:srgbClr val="000000"/>
                          </a:solidFill>
                          <a:latin typeface="Calibri" pitchFamily="34" charset="0"/>
                          <a:cs typeface="Calibri" pitchFamily="34" charset="0"/>
                        </a:rPr>
                        <a:t> only “give” based and “</a:t>
                      </a:r>
                      <a:r>
                        <a:rPr lang="en-US" sz="1200" b="0" i="0" u="none" strike="noStrike" dirty="0">
                          <a:solidFill>
                            <a:srgbClr val="000000"/>
                          </a:solidFill>
                          <a:latin typeface="Calibri" pitchFamily="34" charset="0"/>
                          <a:cs typeface="Calibri" pitchFamily="34" charset="0"/>
                        </a:rPr>
                        <a:t>take</a:t>
                      </a:r>
                      <a:r>
                        <a:rPr lang="en-US" sz="1200" b="0" i="0" u="none" strike="noStrike" baseline="0" dirty="0">
                          <a:solidFill>
                            <a:srgbClr val="000000"/>
                          </a:solidFill>
                          <a:latin typeface="Calibri" pitchFamily="34" charset="0"/>
                          <a:cs typeface="Calibri" pitchFamily="34" charset="0"/>
                        </a:rPr>
                        <a:t> back” is imbalanced</a:t>
                      </a:r>
                      <a:endParaRPr lang="en-US" sz="1200" b="0" i="0" u="none" strike="noStrike" dirty="0">
                        <a:solidFill>
                          <a:srgbClr val="000000"/>
                        </a:solidFill>
                        <a:latin typeface="Calibri" pitchFamily="34" charset="0"/>
                        <a:cs typeface="Calibri" pitchFamily="34" charset="0"/>
                      </a:endParaRPr>
                    </a:p>
                  </a:txBody>
                  <a:tcPr marL="5864" marR="5864" marT="586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sp>
        <p:nvSpPr>
          <p:cNvPr id="8" name="Right Brace 7"/>
          <p:cNvSpPr/>
          <p:nvPr/>
        </p:nvSpPr>
        <p:spPr>
          <a:xfrm>
            <a:off x="7467600" y="5791200"/>
            <a:ext cx="381000" cy="914400"/>
          </a:xfrm>
          <a:prstGeom prst="rightBrace">
            <a:avLst>
              <a:gd name="adj1" fmla="val 32823"/>
              <a:gd name="adj2" fmla="val 50000"/>
            </a:avLst>
          </a:prstGeom>
          <a:noFill/>
          <a:ln w="19050">
            <a:solidFill>
              <a:schemeClr val="tx2">
                <a:lumMod val="85000"/>
                <a:lumOff val="1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12" name="Rectangle 11"/>
          <p:cNvSpPr/>
          <p:nvPr/>
        </p:nvSpPr>
        <p:spPr>
          <a:xfrm>
            <a:off x="7924800" y="4267200"/>
            <a:ext cx="1219200" cy="1066800"/>
          </a:xfrm>
          <a:prstGeom prst="rect">
            <a:avLst/>
          </a:prstGeom>
          <a:solidFill>
            <a:schemeClr val="bg2">
              <a:lumMod val="20000"/>
              <a:lumOff val="80000"/>
            </a:schemeClr>
          </a:solidFill>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200" kern="1200" dirty="0">
                <a:latin typeface="Calibri" pitchFamily="34" charset="0"/>
                <a:cs typeface="Calibri" pitchFamily="34" charset="0"/>
              </a:rPr>
              <a:t>East</a:t>
            </a:r>
          </a:p>
          <a:p>
            <a:pPr marL="171450" lvl="1" indent="-171450" algn="l" defTabSz="711200">
              <a:lnSpc>
                <a:spcPct val="90000"/>
              </a:lnSpc>
              <a:spcBef>
                <a:spcPct val="0"/>
              </a:spcBef>
              <a:spcAft>
                <a:spcPct val="15000"/>
              </a:spcAft>
              <a:buChar char="••"/>
            </a:pPr>
            <a:r>
              <a:rPr lang="en-US" sz="1200" kern="1200" dirty="0">
                <a:latin typeface="Calibri" pitchFamily="34" charset="0"/>
                <a:cs typeface="Calibri" pitchFamily="34" charset="0"/>
              </a:rPr>
              <a:t>Field Management</a:t>
            </a:r>
          </a:p>
          <a:p>
            <a:pPr marL="171450" lvl="1" indent="-171450" algn="l" defTabSz="711200">
              <a:lnSpc>
                <a:spcPct val="90000"/>
              </a:lnSpc>
              <a:spcBef>
                <a:spcPct val="0"/>
              </a:spcBef>
              <a:spcAft>
                <a:spcPct val="15000"/>
              </a:spcAft>
              <a:buChar char="••"/>
            </a:pPr>
            <a:r>
              <a:rPr lang="en-US" sz="1200" kern="1200" dirty="0">
                <a:latin typeface="Calibri" pitchFamily="34" charset="0"/>
                <a:cs typeface="Calibri" pitchFamily="34" charset="0"/>
              </a:rPr>
              <a:t>Poor Performers</a:t>
            </a:r>
          </a:p>
          <a:p>
            <a:pPr marL="171450" lvl="1" indent="-171450" algn="l" defTabSz="711200">
              <a:lnSpc>
                <a:spcPct val="90000"/>
              </a:lnSpc>
              <a:spcBef>
                <a:spcPct val="0"/>
              </a:spcBef>
              <a:spcAft>
                <a:spcPct val="15000"/>
              </a:spcAft>
              <a:buChar char="••"/>
            </a:pPr>
            <a:endParaRPr lang="en-US" sz="1600" kern="1200" dirty="0">
              <a:latin typeface="Calibri" pitchFamily="34" charset="0"/>
              <a:cs typeface="Calibri" pitchFamily="34" charset="0"/>
            </a:endParaRPr>
          </a:p>
        </p:txBody>
      </p:sp>
      <p:grpSp>
        <p:nvGrpSpPr>
          <p:cNvPr id="13" name="Group 12"/>
          <p:cNvGrpSpPr/>
          <p:nvPr/>
        </p:nvGrpSpPr>
        <p:grpSpPr>
          <a:xfrm>
            <a:off x="7848600" y="5638800"/>
            <a:ext cx="1295400" cy="990600"/>
            <a:chOff x="7389494" y="1372325"/>
            <a:chExt cx="992505" cy="1123835"/>
          </a:xfrm>
          <a:solidFill>
            <a:schemeClr val="bg2">
              <a:lumMod val="20000"/>
              <a:lumOff val="80000"/>
            </a:schemeClr>
          </a:solidFill>
        </p:grpSpPr>
        <p:sp>
          <p:nvSpPr>
            <p:cNvPr id="14" name="Rectangle 13"/>
            <p:cNvSpPr/>
            <p:nvPr/>
          </p:nvSpPr>
          <p:spPr>
            <a:xfrm>
              <a:off x="7389494" y="1372325"/>
              <a:ext cx="992501" cy="1123835"/>
            </a:xfrm>
            <a:prstGeom prst="rect">
              <a:avLst/>
            </a:prstGeom>
            <a:grpFill/>
          </p:spPr>
          <p:style>
            <a:lnRef idx="2">
              <a:schemeClr val="accent1">
                <a:alpha val="90000"/>
                <a:tint val="40000"/>
                <a:hueOff val="0"/>
                <a:satOff val="0"/>
                <a:lumOff val="0"/>
                <a:alphaOff val="0"/>
              </a:schemeClr>
            </a:lnRef>
            <a:fillRef idx="1">
              <a:schemeClr val="accent1">
                <a:alpha val="90000"/>
                <a:tint val="40000"/>
                <a:hueOff val="0"/>
                <a:satOff val="0"/>
                <a:lumOff val="0"/>
                <a:alphaOff val="0"/>
              </a:schemeClr>
            </a:fillRef>
            <a:effectRef idx="0">
              <a:schemeClr val="accent1">
                <a:alpha val="90000"/>
                <a:tint val="40000"/>
                <a:hueOff val="0"/>
                <a:satOff val="0"/>
                <a:lumOff val="0"/>
                <a:alphaOff val="0"/>
              </a:schemeClr>
            </a:effectRef>
            <a:fontRef idx="minor">
              <a:schemeClr val="dk1">
                <a:hueOff val="0"/>
                <a:satOff val="0"/>
                <a:lumOff val="0"/>
                <a:alphaOff val="0"/>
              </a:schemeClr>
            </a:fontRef>
          </p:style>
        </p:sp>
        <p:sp>
          <p:nvSpPr>
            <p:cNvPr id="15" name="Rectangle 14"/>
            <p:cNvSpPr/>
            <p:nvPr/>
          </p:nvSpPr>
          <p:spPr>
            <a:xfrm>
              <a:off x="7447878" y="1372325"/>
              <a:ext cx="934121" cy="1048913"/>
            </a:xfrm>
            <a:prstGeom prst="rect">
              <a:avLst/>
            </a:prstGeom>
            <a:grpFill/>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200" kern="1200" dirty="0">
                  <a:latin typeface="Calibri" pitchFamily="34" charset="0"/>
                  <a:cs typeface="Calibri" pitchFamily="34" charset="0"/>
                </a:rPr>
                <a:t>High Performers</a:t>
              </a:r>
            </a:p>
            <a:p>
              <a:pPr marL="171450" lvl="1" indent="-171450" algn="l" defTabSz="711200">
                <a:lnSpc>
                  <a:spcPct val="90000"/>
                </a:lnSpc>
                <a:spcBef>
                  <a:spcPct val="0"/>
                </a:spcBef>
                <a:spcAft>
                  <a:spcPct val="15000"/>
                </a:spcAft>
                <a:buChar char="••"/>
              </a:pPr>
              <a:r>
                <a:rPr lang="en-US" sz="1200" kern="1200" dirty="0">
                  <a:latin typeface="Calibri" pitchFamily="34" charset="0"/>
                  <a:cs typeface="Calibri" pitchFamily="34" charset="0"/>
                </a:rPr>
                <a:t>West</a:t>
              </a:r>
            </a:p>
            <a:p>
              <a:pPr marL="171450" lvl="1" indent="-171450" algn="l" defTabSz="711200">
                <a:lnSpc>
                  <a:spcPct val="90000"/>
                </a:lnSpc>
                <a:spcBef>
                  <a:spcPct val="0"/>
                </a:spcBef>
                <a:spcAft>
                  <a:spcPct val="15000"/>
                </a:spcAft>
                <a:buChar char="••"/>
              </a:pPr>
              <a:r>
                <a:rPr lang="en-US" sz="1200" kern="1200" dirty="0">
                  <a:latin typeface="Calibri" pitchFamily="34" charset="0"/>
                  <a:cs typeface="Calibri" pitchFamily="34" charset="0"/>
                </a:rPr>
                <a:t>31-40 years</a:t>
              </a:r>
            </a:p>
          </p:txBody>
        </p:sp>
      </p:grpSp>
      <p:sp>
        <p:nvSpPr>
          <p:cNvPr id="18" name="Right Brace 17"/>
          <p:cNvSpPr/>
          <p:nvPr/>
        </p:nvSpPr>
        <p:spPr>
          <a:xfrm>
            <a:off x="7543800" y="4191000"/>
            <a:ext cx="381000" cy="1219200"/>
          </a:xfrm>
          <a:prstGeom prst="rightBrace">
            <a:avLst>
              <a:gd name="adj1" fmla="val 30596"/>
              <a:gd name="adj2" fmla="val 50000"/>
            </a:avLst>
          </a:prstGeom>
          <a:noFill/>
          <a:ln w="19050">
            <a:solidFill>
              <a:schemeClr val="tx2">
                <a:lumMod val="85000"/>
                <a:lumOff val="1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20" name="Group 19"/>
          <p:cNvGrpSpPr/>
          <p:nvPr/>
        </p:nvGrpSpPr>
        <p:grpSpPr>
          <a:xfrm>
            <a:off x="7924800" y="2362200"/>
            <a:ext cx="1219200" cy="1219200"/>
            <a:chOff x="0" y="1257108"/>
            <a:chExt cx="2553890" cy="1273680"/>
          </a:xfrm>
          <a:solidFill>
            <a:schemeClr val="bg2">
              <a:lumMod val="20000"/>
              <a:lumOff val="80000"/>
            </a:schemeClr>
          </a:solidFill>
        </p:grpSpPr>
        <p:sp>
          <p:nvSpPr>
            <p:cNvPr id="21" name="Rectangle 20"/>
            <p:cNvSpPr/>
            <p:nvPr/>
          </p:nvSpPr>
          <p:spPr>
            <a:xfrm>
              <a:off x="0" y="1257108"/>
              <a:ext cx="2553890" cy="1273680"/>
            </a:xfrm>
            <a:prstGeom prst="rect">
              <a:avLst/>
            </a:prstGeom>
            <a:grpFill/>
          </p:spPr>
          <p:style>
            <a:lnRef idx="2">
              <a:schemeClr val="accent1">
                <a:alpha val="90000"/>
                <a:tint val="40000"/>
                <a:hueOff val="0"/>
                <a:satOff val="0"/>
                <a:lumOff val="0"/>
                <a:alphaOff val="0"/>
              </a:schemeClr>
            </a:lnRef>
            <a:fillRef idx="1">
              <a:schemeClr val="accent1">
                <a:alpha val="90000"/>
                <a:tint val="40000"/>
                <a:hueOff val="0"/>
                <a:satOff val="0"/>
                <a:lumOff val="0"/>
                <a:alphaOff val="0"/>
              </a:schemeClr>
            </a:fillRef>
            <a:effectRef idx="0">
              <a:schemeClr val="accent1">
                <a:alpha val="90000"/>
                <a:tint val="40000"/>
                <a:hueOff val="0"/>
                <a:satOff val="0"/>
                <a:lumOff val="0"/>
                <a:alphaOff val="0"/>
              </a:schemeClr>
            </a:effectRef>
            <a:fontRef idx="minor">
              <a:schemeClr val="dk1">
                <a:hueOff val="0"/>
                <a:satOff val="0"/>
                <a:lumOff val="0"/>
                <a:alphaOff val="0"/>
              </a:schemeClr>
            </a:fontRef>
          </p:style>
        </p:sp>
        <p:sp>
          <p:nvSpPr>
            <p:cNvPr id="22" name="Rectangle 21"/>
            <p:cNvSpPr/>
            <p:nvPr/>
          </p:nvSpPr>
          <p:spPr>
            <a:xfrm>
              <a:off x="0" y="1257108"/>
              <a:ext cx="2209800" cy="1273680"/>
            </a:xfrm>
            <a:prstGeom prst="rect">
              <a:avLst/>
            </a:prstGeom>
            <a:grpFill/>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200" kern="1200" dirty="0">
                  <a:latin typeface="Calibri" pitchFamily="34" charset="0"/>
                  <a:cs typeface="Calibri" pitchFamily="34" charset="0"/>
                </a:rPr>
                <a:t>East</a:t>
              </a:r>
            </a:p>
            <a:p>
              <a:pPr marL="171450" lvl="1" indent="-171450" algn="l" defTabSz="711200">
                <a:lnSpc>
                  <a:spcPct val="90000"/>
                </a:lnSpc>
                <a:spcBef>
                  <a:spcPct val="0"/>
                </a:spcBef>
                <a:spcAft>
                  <a:spcPct val="15000"/>
                </a:spcAft>
                <a:buChar char="••"/>
              </a:pPr>
              <a:r>
                <a:rPr lang="en-US" sz="1200" kern="1200" dirty="0">
                  <a:latin typeface="Calibri" pitchFamily="34" charset="0"/>
                  <a:cs typeface="Calibri" pitchFamily="34" charset="0"/>
                </a:rPr>
                <a:t>31-40 yrs</a:t>
              </a:r>
            </a:p>
            <a:p>
              <a:pPr marL="171450" lvl="1" indent="-171450" algn="l" defTabSz="711200">
                <a:lnSpc>
                  <a:spcPct val="90000"/>
                </a:lnSpc>
                <a:spcBef>
                  <a:spcPct val="0"/>
                </a:spcBef>
                <a:spcAft>
                  <a:spcPct val="15000"/>
                </a:spcAft>
                <a:buChar char="••"/>
              </a:pPr>
              <a:r>
                <a:rPr lang="en-US" sz="1200" kern="1200" dirty="0">
                  <a:latin typeface="Calibri" pitchFamily="34" charset="0"/>
                  <a:cs typeface="Calibri" pitchFamily="34" charset="0"/>
                </a:rPr>
                <a:t>Field Force</a:t>
              </a:r>
            </a:p>
            <a:p>
              <a:pPr marL="171450" lvl="1" indent="-171450" algn="l" defTabSz="711200">
                <a:lnSpc>
                  <a:spcPct val="90000"/>
                </a:lnSpc>
                <a:spcBef>
                  <a:spcPct val="0"/>
                </a:spcBef>
                <a:spcAft>
                  <a:spcPct val="15000"/>
                </a:spcAft>
                <a:buChar char="••"/>
              </a:pPr>
              <a:r>
                <a:rPr lang="en-US" sz="1200" kern="1200" dirty="0">
                  <a:latin typeface="Calibri" pitchFamily="34" charset="0"/>
                  <a:cs typeface="Calibri" pitchFamily="34" charset="0"/>
                </a:rPr>
                <a:t>Male</a:t>
              </a:r>
            </a:p>
          </p:txBody>
        </p:sp>
      </p:grpSp>
      <p:sp>
        <p:nvSpPr>
          <p:cNvPr id="23" name="TextBox 22"/>
          <p:cNvSpPr txBox="1"/>
          <p:nvPr/>
        </p:nvSpPr>
        <p:spPr>
          <a:xfrm>
            <a:off x="304800" y="1371600"/>
            <a:ext cx="7164000" cy="307777"/>
          </a:xfrm>
          <a:prstGeom prst="rect">
            <a:avLst/>
          </a:prstGeom>
          <a:solidFill>
            <a:srgbClr val="93CDCA"/>
          </a:solidFill>
        </p:spPr>
        <p:txBody>
          <a:bodyPr wrap="square" rtlCol="0">
            <a:spAutoFit/>
          </a:bodyPr>
          <a:lstStyle/>
          <a:p>
            <a:pPr algn="ctr"/>
            <a:r>
              <a:rPr lang="en-US" sz="1400" dirty="0">
                <a:latin typeface="Calibri" pitchFamily="34" charset="0"/>
                <a:cs typeface="Calibri" pitchFamily="34" charset="0"/>
              </a:rPr>
              <a:t>Demographics which is mostly affected by the respective triggers of attrition.</a:t>
            </a:r>
          </a:p>
        </p:txBody>
      </p:sp>
      <p:sp>
        <p:nvSpPr>
          <p:cNvPr id="24" name="Right Brace 23"/>
          <p:cNvSpPr/>
          <p:nvPr/>
        </p:nvSpPr>
        <p:spPr>
          <a:xfrm>
            <a:off x="7391400" y="2057400"/>
            <a:ext cx="533400" cy="1676400"/>
          </a:xfrm>
          <a:prstGeom prst="rightBrace">
            <a:avLst>
              <a:gd name="adj1" fmla="val 30596"/>
              <a:gd name="adj2" fmla="val 50000"/>
            </a:avLst>
          </a:prstGeom>
          <a:noFill/>
          <a:ln w="19050">
            <a:solidFill>
              <a:schemeClr val="tx2">
                <a:lumMod val="85000"/>
                <a:lumOff val="1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5" name="Rectangle 24"/>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22</a:t>
            </a:fld>
            <a:endParaRPr lang="en-US" dirty="0"/>
          </a:p>
        </p:txBody>
      </p:sp>
      <p:graphicFrame>
        <p:nvGraphicFramePr>
          <p:cNvPr id="8" name="Diagram 7"/>
          <p:cNvGraphicFramePr/>
          <p:nvPr/>
        </p:nvGraphicFramePr>
        <p:xfrm>
          <a:off x="228600" y="1447800"/>
          <a:ext cx="5562600" cy="3886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TextBox 8"/>
          <p:cNvSpPr txBox="1"/>
          <p:nvPr/>
        </p:nvSpPr>
        <p:spPr>
          <a:xfrm>
            <a:off x="2057400" y="2819400"/>
            <a:ext cx="762000" cy="430887"/>
          </a:xfrm>
          <a:prstGeom prst="rect">
            <a:avLst/>
          </a:prstGeom>
          <a:noFill/>
        </p:spPr>
        <p:txBody>
          <a:bodyPr wrap="square" rtlCol="0">
            <a:spAutoFit/>
          </a:bodyPr>
          <a:lstStyle/>
          <a:p>
            <a:r>
              <a:rPr lang="en-US" sz="1200" b="1" dirty="0">
                <a:solidFill>
                  <a:schemeClr val="bg1"/>
                </a:solidFill>
              </a:rPr>
              <a:t>     41</a:t>
            </a:r>
            <a:r>
              <a:rPr lang="en-US" sz="1100" dirty="0"/>
              <a:t> </a:t>
            </a:r>
            <a:r>
              <a:rPr lang="en-US" sz="1000" dirty="0"/>
              <a:t> increased</a:t>
            </a:r>
          </a:p>
        </p:txBody>
      </p:sp>
      <p:graphicFrame>
        <p:nvGraphicFramePr>
          <p:cNvPr id="15" name="Chart 14"/>
          <p:cNvGraphicFramePr/>
          <p:nvPr/>
        </p:nvGraphicFramePr>
        <p:xfrm>
          <a:off x="5257800" y="1447800"/>
          <a:ext cx="3840480" cy="2743200"/>
        </p:xfrm>
        <a:graphic>
          <a:graphicData uri="http://schemas.openxmlformats.org/drawingml/2006/chart">
            <c:chart xmlns:c="http://schemas.openxmlformats.org/drawingml/2006/chart" xmlns:r="http://schemas.openxmlformats.org/officeDocument/2006/relationships" r:id="rId8"/>
          </a:graphicData>
        </a:graphic>
      </p:graphicFrame>
      <p:sp>
        <p:nvSpPr>
          <p:cNvPr id="7" name="TextBox 6"/>
          <p:cNvSpPr txBox="1"/>
          <p:nvPr/>
        </p:nvSpPr>
        <p:spPr>
          <a:xfrm>
            <a:off x="609600" y="5029200"/>
            <a:ext cx="7391400" cy="646331"/>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Total number of attrition has increased by 41 numbers in 2015 as from 2014</a:t>
            </a:r>
          </a:p>
          <a:p>
            <a:pPr>
              <a:buClr>
                <a:srgbClr val="C00000"/>
              </a:buClr>
            </a:pPr>
            <a:r>
              <a:rPr lang="en-US" sz="1200" dirty="0">
                <a:solidFill>
                  <a:schemeClr val="accent1">
                    <a:lumMod val="25000"/>
                  </a:schemeClr>
                </a:solidFill>
                <a:latin typeface="Calibri" pitchFamily="34" charset="0"/>
                <a:cs typeface="Calibri" pitchFamily="34" charset="0"/>
              </a:rPr>
              <a:t>Pull factor as the cause of attrition has increased significantly by 17% since 2014 while Push factor as a cause has decreased equally </a:t>
            </a:r>
          </a:p>
        </p:txBody>
      </p:sp>
      <p:sp>
        <p:nvSpPr>
          <p:cNvPr id="11" name="TextBox 10"/>
          <p:cNvSpPr txBox="1"/>
          <p:nvPr/>
        </p:nvSpPr>
        <p:spPr>
          <a:xfrm>
            <a:off x="2133600" y="457200"/>
            <a:ext cx="4800600" cy="615553"/>
          </a:xfrm>
          <a:prstGeom prst="rect">
            <a:avLst/>
          </a:prstGeom>
          <a:noFill/>
        </p:spPr>
        <p:txBody>
          <a:bodyPr wrap="square" rtlCol="0">
            <a:spAutoFit/>
          </a:bodyPr>
          <a:lstStyle/>
          <a:p>
            <a:pPr algn="ctr"/>
            <a:r>
              <a:rPr lang="en-US" dirty="0">
                <a:solidFill>
                  <a:srgbClr val="C10B29"/>
                </a:solidFill>
                <a:latin typeface="Calibri" pitchFamily="34" charset="0"/>
                <a:cs typeface="Calibri" pitchFamily="34" charset="0"/>
              </a:rPr>
              <a:t>D:Comparative overview 2014 </a:t>
            </a:r>
            <a:r>
              <a:rPr lang="en-US" dirty="0" err="1">
                <a:solidFill>
                  <a:srgbClr val="C10B29"/>
                </a:solidFill>
                <a:latin typeface="Calibri" pitchFamily="34" charset="0"/>
                <a:cs typeface="Calibri" pitchFamily="34" charset="0"/>
              </a:rPr>
              <a:t>vs</a:t>
            </a:r>
            <a:r>
              <a:rPr lang="en-US" dirty="0">
                <a:solidFill>
                  <a:srgbClr val="C10B29"/>
                </a:solidFill>
                <a:latin typeface="Calibri" pitchFamily="34" charset="0"/>
                <a:cs typeface="Calibri" pitchFamily="34" charset="0"/>
              </a:rPr>
              <a:t> 2015</a:t>
            </a:r>
          </a:p>
          <a:p>
            <a:pPr algn="ctr"/>
            <a:r>
              <a:rPr lang="en-US" sz="1600" dirty="0">
                <a:solidFill>
                  <a:schemeClr val="accent1">
                    <a:lumMod val="25000"/>
                  </a:schemeClr>
                </a:solidFill>
                <a:latin typeface="Calibri" pitchFamily="34" charset="0"/>
                <a:ea typeface="ＭＳ Ｐゴシック" charset="0"/>
                <a:cs typeface="Calibri" pitchFamily="34" charset="0"/>
              </a:rPr>
              <a:t>Overall attrition and Push/ Pull factors causing attrition</a:t>
            </a:r>
          </a:p>
        </p:txBody>
      </p:sp>
      <p:sp>
        <p:nvSpPr>
          <p:cNvPr id="12" name="Rectangle 11"/>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23</a:t>
            </a:fld>
            <a:endParaRPr lang="en-US" dirty="0"/>
          </a:p>
        </p:txBody>
      </p:sp>
      <p:sp>
        <p:nvSpPr>
          <p:cNvPr id="8" name="Rectangle 7"/>
          <p:cNvSpPr/>
          <p:nvPr/>
        </p:nvSpPr>
        <p:spPr>
          <a:xfrm>
            <a:off x="5181600" y="1905000"/>
            <a:ext cx="21336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lumMod val="65000"/>
                    <a:lumOff val="35000"/>
                  </a:schemeClr>
                </a:solidFill>
                <a:latin typeface="Calibri" pitchFamily="34" charset="0"/>
                <a:cs typeface="Calibri" pitchFamily="34" charset="0"/>
              </a:rPr>
              <a:t>Grey bars</a:t>
            </a:r>
          </a:p>
          <a:p>
            <a:pPr algn="ctr"/>
            <a:r>
              <a:rPr lang="en-US" sz="1000" b="1" dirty="0">
                <a:solidFill>
                  <a:schemeClr val="tx1">
                    <a:lumMod val="65000"/>
                    <a:lumOff val="35000"/>
                  </a:schemeClr>
                </a:solidFill>
                <a:latin typeface="Calibri" pitchFamily="34" charset="0"/>
                <a:cs typeface="Calibri" pitchFamily="34" charset="0"/>
              </a:rPr>
              <a:t>Score is Higher than 2014 </a:t>
            </a:r>
          </a:p>
          <a:p>
            <a:pPr algn="ctr"/>
            <a:r>
              <a:rPr lang="en-US" sz="1000" i="1" dirty="0">
                <a:solidFill>
                  <a:schemeClr val="tx1">
                    <a:lumMod val="65000"/>
                    <a:lumOff val="35000"/>
                  </a:schemeClr>
                </a:solidFill>
                <a:latin typeface="Calibri" pitchFamily="34" charset="0"/>
                <a:cs typeface="Calibri" pitchFamily="34" charset="0"/>
              </a:rPr>
              <a:t>(has increased in 2015)</a:t>
            </a:r>
          </a:p>
        </p:txBody>
      </p:sp>
      <p:sp>
        <p:nvSpPr>
          <p:cNvPr id="9" name="Rectangle 8"/>
          <p:cNvSpPr/>
          <p:nvPr/>
        </p:nvSpPr>
        <p:spPr>
          <a:xfrm>
            <a:off x="5181600" y="4800600"/>
            <a:ext cx="19050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lumMod val="65000"/>
                    <a:lumOff val="35000"/>
                  </a:schemeClr>
                </a:solidFill>
                <a:latin typeface="Calibri" pitchFamily="34" charset="0"/>
                <a:cs typeface="Calibri" pitchFamily="34" charset="0"/>
              </a:rPr>
              <a:t>Green bars</a:t>
            </a:r>
          </a:p>
          <a:p>
            <a:pPr algn="ctr"/>
            <a:r>
              <a:rPr lang="en-US" sz="1000" b="1" dirty="0">
                <a:solidFill>
                  <a:schemeClr val="tx1">
                    <a:lumMod val="65000"/>
                    <a:lumOff val="35000"/>
                  </a:schemeClr>
                </a:solidFill>
                <a:latin typeface="Calibri" pitchFamily="34" charset="0"/>
                <a:cs typeface="Calibri" pitchFamily="34" charset="0"/>
              </a:rPr>
              <a:t>Score is Lower than 2014</a:t>
            </a:r>
          </a:p>
          <a:p>
            <a:pPr algn="ctr"/>
            <a:r>
              <a:rPr lang="en-US" sz="1000" i="1" dirty="0">
                <a:solidFill>
                  <a:schemeClr val="tx1">
                    <a:lumMod val="65000"/>
                    <a:lumOff val="35000"/>
                  </a:schemeClr>
                </a:solidFill>
                <a:latin typeface="Calibri" pitchFamily="34" charset="0"/>
                <a:cs typeface="Calibri" pitchFamily="34" charset="0"/>
              </a:rPr>
              <a:t>(has decreased in 2015)</a:t>
            </a:r>
            <a:endParaRPr lang="en-US" sz="1000" b="1" dirty="0">
              <a:solidFill>
                <a:schemeClr val="tx1">
                  <a:lumMod val="65000"/>
                  <a:lumOff val="35000"/>
                </a:schemeClr>
              </a:solidFill>
              <a:latin typeface="Calibri" pitchFamily="34" charset="0"/>
              <a:cs typeface="Calibri" pitchFamily="34" charset="0"/>
            </a:endParaRPr>
          </a:p>
        </p:txBody>
      </p:sp>
      <p:sp>
        <p:nvSpPr>
          <p:cNvPr id="13" name="TextBox 12"/>
          <p:cNvSpPr txBox="1"/>
          <p:nvPr/>
        </p:nvSpPr>
        <p:spPr>
          <a:xfrm>
            <a:off x="7162800" y="1524000"/>
            <a:ext cx="1828800" cy="4154983"/>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buFont typeface="Wingdings" pitchFamily="2" charset="2"/>
              <a:buChar char="Ø"/>
            </a:pPr>
            <a:r>
              <a:rPr lang="en-US" sz="1200" dirty="0">
                <a:solidFill>
                  <a:schemeClr val="accent1">
                    <a:lumMod val="25000"/>
                  </a:schemeClr>
                </a:solidFill>
                <a:latin typeface="Calibri" pitchFamily="34" charset="0"/>
                <a:cs typeface="Calibri" pitchFamily="34" charset="0"/>
              </a:rPr>
              <a:t>Exits for higher salaries &amp; better job role shows 8% increase in 2015 followed by factors related to change of career.</a:t>
            </a:r>
          </a:p>
          <a:p>
            <a:pPr>
              <a:buClr>
                <a:srgbClr val="C00000"/>
              </a:buClr>
              <a:buFont typeface="Wingdings" pitchFamily="2" charset="2"/>
              <a:buChar char="Ø"/>
            </a:pPr>
            <a:endParaRPr lang="en-US" sz="1200" dirty="0">
              <a:solidFill>
                <a:schemeClr val="accent1">
                  <a:lumMod val="25000"/>
                </a:schemeClr>
              </a:solidFill>
              <a:latin typeface="Calibri" pitchFamily="34" charset="0"/>
              <a:cs typeface="Calibri" pitchFamily="34" charset="0"/>
            </a:endParaRPr>
          </a:p>
          <a:p>
            <a:pPr>
              <a:buClr>
                <a:srgbClr val="C00000"/>
              </a:buClr>
            </a:pPr>
            <a:endParaRPr lang="en-US" sz="1200" dirty="0">
              <a:solidFill>
                <a:schemeClr val="accent1">
                  <a:lumMod val="25000"/>
                </a:schemeClr>
              </a:solidFill>
              <a:latin typeface="Calibri" pitchFamily="34" charset="0"/>
              <a:cs typeface="Calibri" pitchFamily="34" charset="0"/>
            </a:endParaRPr>
          </a:p>
          <a:p>
            <a:pPr>
              <a:buClr>
                <a:srgbClr val="C00000"/>
              </a:buClr>
              <a:buFont typeface="Wingdings" pitchFamily="2" charset="2"/>
              <a:buChar char="Ø"/>
            </a:pPr>
            <a:r>
              <a:rPr lang="en-US" sz="1200" dirty="0">
                <a:solidFill>
                  <a:schemeClr val="accent1">
                    <a:lumMod val="25000"/>
                  </a:schemeClr>
                </a:solidFill>
                <a:latin typeface="Calibri" pitchFamily="34" charset="0"/>
                <a:cs typeface="Calibri" pitchFamily="34" charset="0"/>
              </a:rPr>
              <a:t>Employee dissatisfaction with higher management has reduced but  the workplace relationship with their immediate supervisor has </a:t>
            </a:r>
            <a:r>
              <a:rPr lang="en-US" sz="1200" dirty="0" err="1">
                <a:solidFill>
                  <a:schemeClr val="accent1">
                    <a:lumMod val="25000"/>
                  </a:schemeClr>
                </a:solidFill>
                <a:latin typeface="Calibri" pitchFamily="34" charset="0"/>
                <a:cs typeface="Calibri" pitchFamily="34" charset="0"/>
              </a:rPr>
              <a:t>detitrioriated</a:t>
            </a:r>
            <a:r>
              <a:rPr lang="en-US" sz="1200" dirty="0">
                <a:solidFill>
                  <a:schemeClr val="accent1">
                    <a:lumMod val="25000"/>
                  </a:schemeClr>
                </a:solidFill>
                <a:latin typeface="Calibri" pitchFamily="34" charset="0"/>
                <a:cs typeface="Calibri" pitchFamily="34" charset="0"/>
              </a:rPr>
              <a:t> since 2014.</a:t>
            </a:r>
          </a:p>
          <a:p>
            <a:pPr>
              <a:buClr>
                <a:srgbClr val="C00000"/>
              </a:buClr>
              <a:buFont typeface="Wingdings" pitchFamily="2" charset="2"/>
              <a:buChar char="Ø"/>
            </a:pPr>
            <a:endParaRPr lang="en-US" sz="1200" dirty="0">
              <a:solidFill>
                <a:schemeClr val="accent1">
                  <a:lumMod val="25000"/>
                </a:schemeClr>
              </a:solidFill>
              <a:latin typeface="Calibri" pitchFamily="34" charset="0"/>
              <a:cs typeface="Calibri" pitchFamily="34" charset="0"/>
            </a:endParaRPr>
          </a:p>
          <a:p>
            <a:pPr>
              <a:buClr>
                <a:srgbClr val="C00000"/>
              </a:buClr>
              <a:buFont typeface="Wingdings" pitchFamily="2" charset="2"/>
              <a:buChar char="Ø"/>
            </a:pPr>
            <a:r>
              <a:rPr lang="en-US" sz="1200" dirty="0">
                <a:solidFill>
                  <a:schemeClr val="accent1">
                    <a:lumMod val="25000"/>
                  </a:schemeClr>
                </a:solidFill>
                <a:latin typeface="Calibri" pitchFamily="34" charset="0"/>
                <a:cs typeface="Calibri" pitchFamily="34" charset="0"/>
              </a:rPr>
              <a:t>There are some small positive changes in pull triggers – like change of jobs due to personal &amp; family reasons</a:t>
            </a:r>
          </a:p>
          <a:p>
            <a:pPr>
              <a:buClr>
                <a:srgbClr val="C00000"/>
              </a:buClr>
              <a:buFont typeface="Wingdings" pitchFamily="2" charset="2"/>
              <a:buChar char="Ø"/>
            </a:pPr>
            <a:endParaRPr lang="en-US" sz="1200" dirty="0">
              <a:solidFill>
                <a:schemeClr val="accent1">
                  <a:lumMod val="25000"/>
                </a:schemeClr>
              </a:solidFill>
              <a:latin typeface="Calibri" pitchFamily="34" charset="0"/>
              <a:cs typeface="Calibri" pitchFamily="34" charset="0"/>
            </a:endParaRPr>
          </a:p>
        </p:txBody>
      </p:sp>
      <p:sp>
        <p:nvSpPr>
          <p:cNvPr id="14" name="Rectangle 13"/>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0" name="TextBox 9"/>
          <p:cNvSpPr txBox="1"/>
          <p:nvPr/>
        </p:nvSpPr>
        <p:spPr>
          <a:xfrm>
            <a:off x="304800" y="533400"/>
            <a:ext cx="8458200" cy="830997"/>
          </a:xfrm>
          <a:prstGeom prst="rect">
            <a:avLst/>
          </a:prstGeom>
          <a:noFill/>
        </p:spPr>
        <p:txBody>
          <a:bodyPr wrap="square" rtlCol="0">
            <a:spAutoFit/>
          </a:bodyPr>
          <a:lstStyle/>
          <a:p>
            <a:pPr algn="ctr"/>
            <a:r>
              <a:rPr lang="en-US" dirty="0">
                <a:solidFill>
                  <a:srgbClr val="C10B29"/>
                </a:solidFill>
                <a:latin typeface="Calibri" pitchFamily="34" charset="0"/>
                <a:cs typeface="Calibri" pitchFamily="34" charset="0"/>
              </a:rPr>
              <a:t>D:Comparative overview 2014 </a:t>
            </a:r>
            <a:r>
              <a:rPr lang="en-US" dirty="0" err="1">
                <a:solidFill>
                  <a:srgbClr val="C10B29"/>
                </a:solidFill>
                <a:latin typeface="Calibri" pitchFamily="34" charset="0"/>
                <a:cs typeface="Calibri" pitchFamily="34" charset="0"/>
              </a:rPr>
              <a:t>vs</a:t>
            </a:r>
            <a:r>
              <a:rPr lang="en-US" dirty="0">
                <a:solidFill>
                  <a:srgbClr val="C10B29"/>
                </a:solidFill>
                <a:latin typeface="Calibri" pitchFamily="34" charset="0"/>
                <a:cs typeface="Calibri" pitchFamily="34" charset="0"/>
              </a:rPr>
              <a:t> 2015 </a:t>
            </a:r>
            <a:r>
              <a:rPr lang="en-US" dirty="0" err="1">
                <a:solidFill>
                  <a:srgbClr val="C10B29"/>
                </a:solidFill>
                <a:latin typeface="Calibri" pitchFamily="34" charset="0"/>
                <a:cs typeface="Calibri" pitchFamily="34" charset="0"/>
              </a:rPr>
              <a:t>contd</a:t>
            </a:r>
            <a:r>
              <a:rPr lang="en-US" dirty="0">
                <a:solidFill>
                  <a:srgbClr val="C10B29"/>
                </a:solidFill>
                <a:latin typeface="Calibri" pitchFamily="34" charset="0"/>
                <a:cs typeface="Calibri" pitchFamily="34" charset="0"/>
              </a:rPr>
              <a:t>…</a:t>
            </a:r>
          </a:p>
          <a:p>
            <a:pPr algn="ctr"/>
            <a:r>
              <a:rPr lang="en-US" sz="1500" dirty="0">
                <a:solidFill>
                  <a:schemeClr val="accent1">
                    <a:lumMod val="25000"/>
                  </a:schemeClr>
                </a:solidFill>
                <a:latin typeface="Calibri" pitchFamily="34" charset="0"/>
                <a:ea typeface="ＭＳ Ｐゴシック" charset="0"/>
                <a:cs typeface="Calibri" pitchFamily="34" charset="0"/>
              </a:rPr>
              <a:t>Sub factors of attrition – No significant change in trend. There are small shifts observed but no significant shift is identified</a:t>
            </a:r>
          </a:p>
        </p:txBody>
      </p:sp>
      <p:graphicFrame>
        <p:nvGraphicFramePr>
          <p:cNvPr id="11" name="Chart 10"/>
          <p:cNvGraphicFramePr/>
          <p:nvPr/>
        </p:nvGraphicFramePr>
        <p:xfrm>
          <a:off x="0" y="1295400"/>
          <a:ext cx="6248400" cy="556260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24</a:t>
            </a:fld>
            <a:endParaRPr lang="en-US" dirty="0"/>
          </a:p>
        </p:txBody>
      </p:sp>
      <p:graphicFrame>
        <p:nvGraphicFramePr>
          <p:cNvPr id="7" name="Chart 6"/>
          <p:cNvGraphicFramePr/>
          <p:nvPr/>
        </p:nvGraphicFramePr>
        <p:xfrm>
          <a:off x="1524000" y="1524000"/>
          <a:ext cx="5486400" cy="3962400"/>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p:cNvSpPr txBox="1"/>
          <p:nvPr/>
        </p:nvSpPr>
        <p:spPr>
          <a:xfrm>
            <a:off x="2590800" y="1371600"/>
            <a:ext cx="5562600" cy="276999"/>
          </a:xfrm>
          <a:prstGeom prst="rect">
            <a:avLst/>
          </a:prstGeom>
          <a:noFill/>
        </p:spPr>
        <p:txBody>
          <a:bodyPr wrap="square" rtlCol="0">
            <a:spAutoFit/>
          </a:bodyPr>
          <a:lstStyle/>
          <a:p>
            <a:r>
              <a:rPr lang="en-US" sz="1200" i="1" dirty="0">
                <a:latin typeface="Calibri" pitchFamily="34" charset="0"/>
                <a:cs typeface="Calibri" pitchFamily="34" charset="0"/>
              </a:rPr>
              <a:t>These are combined  % scores of Good+Very Good+Excellent</a:t>
            </a:r>
          </a:p>
        </p:txBody>
      </p:sp>
      <p:sp>
        <p:nvSpPr>
          <p:cNvPr id="10" name="TextBox 9"/>
          <p:cNvSpPr txBox="1"/>
          <p:nvPr/>
        </p:nvSpPr>
        <p:spPr>
          <a:xfrm rot="16200000">
            <a:off x="137852" y="3144148"/>
            <a:ext cx="3288080" cy="261610"/>
          </a:xfrm>
          <a:prstGeom prst="rect">
            <a:avLst/>
          </a:prstGeom>
          <a:noFill/>
        </p:spPr>
        <p:txBody>
          <a:bodyPr wrap="none" rtlCol="0">
            <a:spAutoFit/>
          </a:bodyPr>
          <a:lstStyle/>
          <a:p>
            <a:r>
              <a:rPr lang="en-US" sz="1000" i="1" dirty="0">
                <a:latin typeface="Calibri" pitchFamily="34" charset="0"/>
                <a:cs typeface="Calibri" pitchFamily="34" charset="0"/>
              </a:rPr>
              <a:t>Average &amp; </a:t>
            </a:r>
            <a:r>
              <a:rPr lang="en-US" sz="1100" i="1" dirty="0">
                <a:latin typeface="Calibri" pitchFamily="34" charset="0"/>
                <a:cs typeface="Calibri" pitchFamily="34" charset="0"/>
              </a:rPr>
              <a:t>mean</a:t>
            </a:r>
            <a:r>
              <a:rPr lang="en-US" sz="1000" i="1" dirty="0">
                <a:latin typeface="Calibri" pitchFamily="34" charset="0"/>
                <a:cs typeface="Calibri" pitchFamily="34" charset="0"/>
              </a:rPr>
              <a:t> scores are considered for all the questions</a:t>
            </a:r>
          </a:p>
        </p:txBody>
      </p:sp>
      <p:sp>
        <p:nvSpPr>
          <p:cNvPr id="11" name="TextBox 10"/>
          <p:cNvSpPr txBox="1"/>
          <p:nvPr/>
        </p:nvSpPr>
        <p:spPr>
          <a:xfrm>
            <a:off x="2127956" y="2819400"/>
            <a:ext cx="413896" cy="246221"/>
          </a:xfrm>
          <a:prstGeom prst="rect">
            <a:avLst/>
          </a:prstGeom>
          <a:noFill/>
        </p:spPr>
        <p:txBody>
          <a:bodyPr wrap="none" rtlCol="0">
            <a:spAutoFit/>
          </a:bodyPr>
          <a:lstStyle/>
          <a:p>
            <a:r>
              <a:rPr lang="en-US" sz="1000" dirty="0">
                <a:latin typeface="Calibri" pitchFamily="34" charset="0"/>
                <a:cs typeface="Calibri" pitchFamily="34" charset="0"/>
              </a:rPr>
              <a:t>2.49</a:t>
            </a:r>
          </a:p>
        </p:txBody>
      </p:sp>
      <p:sp>
        <p:nvSpPr>
          <p:cNvPr id="12" name="TextBox 11"/>
          <p:cNvSpPr txBox="1"/>
          <p:nvPr/>
        </p:nvSpPr>
        <p:spPr>
          <a:xfrm>
            <a:off x="2514600" y="4267200"/>
            <a:ext cx="402674" cy="230832"/>
          </a:xfrm>
          <a:prstGeom prst="rect">
            <a:avLst/>
          </a:prstGeom>
          <a:noFill/>
        </p:spPr>
        <p:txBody>
          <a:bodyPr wrap="none" rtlCol="0">
            <a:spAutoFit/>
          </a:bodyPr>
          <a:lstStyle/>
          <a:p>
            <a:r>
              <a:rPr lang="en-US" sz="900" b="1" dirty="0">
                <a:solidFill>
                  <a:srgbClr val="FF0000"/>
                </a:solidFill>
                <a:latin typeface="Calibri" pitchFamily="34" charset="0"/>
                <a:cs typeface="Calibri" pitchFamily="34" charset="0"/>
              </a:rPr>
              <a:t>1.42</a:t>
            </a:r>
          </a:p>
        </p:txBody>
      </p:sp>
      <p:sp>
        <p:nvSpPr>
          <p:cNvPr id="13" name="TextBox 12"/>
          <p:cNvSpPr txBox="1"/>
          <p:nvPr/>
        </p:nvSpPr>
        <p:spPr>
          <a:xfrm>
            <a:off x="3499556" y="3048000"/>
            <a:ext cx="413896" cy="246221"/>
          </a:xfrm>
          <a:prstGeom prst="rect">
            <a:avLst/>
          </a:prstGeom>
          <a:noFill/>
        </p:spPr>
        <p:txBody>
          <a:bodyPr wrap="none" rtlCol="0">
            <a:spAutoFit/>
          </a:bodyPr>
          <a:lstStyle/>
          <a:p>
            <a:r>
              <a:rPr lang="en-US" sz="1000" dirty="0">
                <a:latin typeface="Calibri" pitchFamily="34" charset="0"/>
                <a:cs typeface="Calibri" pitchFamily="34" charset="0"/>
              </a:rPr>
              <a:t>2.44</a:t>
            </a:r>
          </a:p>
        </p:txBody>
      </p:sp>
      <p:sp>
        <p:nvSpPr>
          <p:cNvPr id="14" name="TextBox 13"/>
          <p:cNvSpPr txBox="1"/>
          <p:nvPr/>
        </p:nvSpPr>
        <p:spPr>
          <a:xfrm>
            <a:off x="3886200" y="3061156"/>
            <a:ext cx="413896" cy="246221"/>
          </a:xfrm>
          <a:prstGeom prst="rect">
            <a:avLst/>
          </a:prstGeom>
          <a:noFill/>
        </p:spPr>
        <p:txBody>
          <a:bodyPr wrap="none" rtlCol="0">
            <a:spAutoFit/>
          </a:bodyPr>
          <a:lstStyle/>
          <a:p>
            <a:r>
              <a:rPr lang="en-US" sz="1000" dirty="0">
                <a:latin typeface="Calibri" pitchFamily="34" charset="0"/>
                <a:cs typeface="Calibri" pitchFamily="34" charset="0"/>
              </a:rPr>
              <a:t>2.42</a:t>
            </a:r>
          </a:p>
        </p:txBody>
      </p:sp>
      <p:sp>
        <p:nvSpPr>
          <p:cNvPr id="15" name="TextBox 14"/>
          <p:cNvSpPr txBox="1"/>
          <p:nvPr/>
        </p:nvSpPr>
        <p:spPr>
          <a:xfrm>
            <a:off x="4876800" y="3581400"/>
            <a:ext cx="413896" cy="246221"/>
          </a:xfrm>
          <a:prstGeom prst="rect">
            <a:avLst/>
          </a:prstGeom>
          <a:noFill/>
        </p:spPr>
        <p:txBody>
          <a:bodyPr wrap="none" rtlCol="0">
            <a:spAutoFit/>
          </a:bodyPr>
          <a:lstStyle/>
          <a:p>
            <a:r>
              <a:rPr lang="en-US" sz="1000" dirty="0">
                <a:latin typeface="Calibri" pitchFamily="34" charset="0"/>
                <a:cs typeface="Calibri" pitchFamily="34" charset="0"/>
              </a:rPr>
              <a:t>2.28</a:t>
            </a:r>
          </a:p>
        </p:txBody>
      </p:sp>
      <p:sp>
        <p:nvSpPr>
          <p:cNvPr id="16" name="TextBox 15"/>
          <p:cNvSpPr txBox="1"/>
          <p:nvPr/>
        </p:nvSpPr>
        <p:spPr>
          <a:xfrm>
            <a:off x="5257800" y="3594556"/>
            <a:ext cx="413896" cy="246221"/>
          </a:xfrm>
          <a:prstGeom prst="rect">
            <a:avLst/>
          </a:prstGeom>
          <a:noFill/>
        </p:spPr>
        <p:txBody>
          <a:bodyPr wrap="none" rtlCol="0">
            <a:spAutoFit/>
          </a:bodyPr>
          <a:lstStyle/>
          <a:p>
            <a:r>
              <a:rPr lang="en-US" sz="1000" dirty="0">
                <a:latin typeface="Calibri" pitchFamily="34" charset="0"/>
                <a:cs typeface="Calibri" pitchFamily="34" charset="0"/>
              </a:rPr>
              <a:t>2.30</a:t>
            </a:r>
          </a:p>
        </p:txBody>
      </p:sp>
      <p:sp>
        <p:nvSpPr>
          <p:cNvPr id="18" name="TextBox 17"/>
          <p:cNvSpPr txBox="1"/>
          <p:nvPr/>
        </p:nvSpPr>
        <p:spPr>
          <a:xfrm>
            <a:off x="1371600" y="5562600"/>
            <a:ext cx="5257800" cy="646331"/>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Response analysis of three key factors shows a strong increase in negative score (43%)  for “Supervision Related” issue. Dissatisfaction with the quality of supervision has increased several folds since 2014  </a:t>
            </a:r>
          </a:p>
        </p:txBody>
      </p:sp>
      <p:sp>
        <p:nvSpPr>
          <p:cNvPr id="20" name="Rectangle 19"/>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7" name="TextBox 16"/>
          <p:cNvSpPr txBox="1"/>
          <p:nvPr/>
        </p:nvSpPr>
        <p:spPr>
          <a:xfrm>
            <a:off x="76200" y="533400"/>
            <a:ext cx="9067800" cy="830997"/>
          </a:xfrm>
          <a:prstGeom prst="rect">
            <a:avLst/>
          </a:prstGeom>
          <a:noFill/>
        </p:spPr>
        <p:txBody>
          <a:bodyPr wrap="square" rtlCol="0">
            <a:spAutoFit/>
          </a:bodyPr>
          <a:lstStyle/>
          <a:p>
            <a:pPr algn="ctr"/>
            <a:r>
              <a:rPr lang="en-US" dirty="0">
                <a:solidFill>
                  <a:srgbClr val="C10B29"/>
                </a:solidFill>
                <a:latin typeface="Calibri" pitchFamily="34" charset="0"/>
                <a:cs typeface="Calibri" pitchFamily="34" charset="0"/>
              </a:rPr>
              <a:t>D:Comparative overview 2014 </a:t>
            </a:r>
            <a:r>
              <a:rPr lang="en-US" dirty="0" err="1">
                <a:solidFill>
                  <a:srgbClr val="C10B29"/>
                </a:solidFill>
                <a:latin typeface="Calibri" pitchFamily="34" charset="0"/>
                <a:cs typeface="Calibri" pitchFamily="34" charset="0"/>
              </a:rPr>
              <a:t>vs</a:t>
            </a:r>
            <a:r>
              <a:rPr lang="en-US" dirty="0">
                <a:solidFill>
                  <a:srgbClr val="C10B29"/>
                </a:solidFill>
                <a:latin typeface="Calibri" pitchFamily="34" charset="0"/>
                <a:cs typeface="Calibri" pitchFamily="34" charset="0"/>
              </a:rPr>
              <a:t> 2015 </a:t>
            </a:r>
            <a:r>
              <a:rPr lang="en-US" dirty="0" err="1">
                <a:solidFill>
                  <a:srgbClr val="C10B29"/>
                </a:solidFill>
                <a:latin typeface="Calibri" pitchFamily="34" charset="0"/>
                <a:cs typeface="Calibri" pitchFamily="34" charset="0"/>
              </a:rPr>
              <a:t>contd</a:t>
            </a:r>
            <a:r>
              <a:rPr lang="en-US" dirty="0">
                <a:solidFill>
                  <a:srgbClr val="C10B29"/>
                </a:solidFill>
                <a:latin typeface="Calibri" pitchFamily="34" charset="0"/>
                <a:cs typeface="Calibri" pitchFamily="34" charset="0"/>
              </a:rPr>
              <a:t>……</a:t>
            </a:r>
          </a:p>
          <a:p>
            <a:pPr algn="ctr"/>
            <a:r>
              <a:rPr lang="en-US" sz="1500" dirty="0">
                <a:solidFill>
                  <a:schemeClr val="accent1">
                    <a:lumMod val="25000"/>
                  </a:schemeClr>
                </a:solidFill>
                <a:latin typeface="Calibri" pitchFamily="34" charset="0"/>
                <a:ea typeface="ＭＳ Ｐゴシック" charset="0"/>
                <a:cs typeface="Calibri" pitchFamily="34" charset="0"/>
              </a:rPr>
              <a:t>Questionnaire analysis on the three key factors of attrition – Significant increase in the negative score for Supervision in 2015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25</a:t>
            </a:fld>
            <a:endParaRPr lang="en-US" dirty="0"/>
          </a:p>
        </p:txBody>
      </p:sp>
      <p:sp>
        <p:nvSpPr>
          <p:cNvPr id="6" name="Rectangle 5"/>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10" name="TextBox 9"/>
          <p:cNvSpPr txBox="1"/>
          <p:nvPr/>
        </p:nvSpPr>
        <p:spPr>
          <a:xfrm>
            <a:off x="1371600" y="5585936"/>
            <a:ext cx="5562600" cy="646331"/>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30% more employees have shifted to  non </a:t>
            </a:r>
            <a:r>
              <a:rPr lang="en-US" sz="1200" dirty="0" err="1">
                <a:solidFill>
                  <a:schemeClr val="accent1">
                    <a:lumMod val="25000"/>
                  </a:schemeClr>
                </a:solidFill>
                <a:latin typeface="Calibri" pitchFamily="34" charset="0"/>
                <a:cs typeface="Calibri" pitchFamily="34" charset="0"/>
              </a:rPr>
              <a:t>pharma</a:t>
            </a:r>
            <a:r>
              <a:rPr lang="en-US" sz="1200" dirty="0">
                <a:solidFill>
                  <a:schemeClr val="accent1">
                    <a:lumMod val="25000"/>
                  </a:schemeClr>
                </a:solidFill>
                <a:latin typeface="Calibri" pitchFamily="34" charset="0"/>
                <a:cs typeface="Calibri" pitchFamily="34" charset="0"/>
              </a:rPr>
              <a:t> industry in 2015  compared to 2014. Identifying fitment / suitability for the industry can reduce likely hood for the same</a:t>
            </a:r>
          </a:p>
        </p:txBody>
      </p:sp>
      <p:sp>
        <p:nvSpPr>
          <p:cNvPr id="11" name="TextBox 10"/>
          <p:cNvSpPr txBox="1"/>
          <p:nvPr/>
        </p:nvSpPr>
        <p:spPr>
          <a:xfrm>
            <a:off x="-30145" y="6604084"/>
            <a:ext cx="1935145" cy="253916"/>
          </a:xfrm>
          <a:prstGeom prst="rect">
            <a:avLst/>
          </a:prstGeom>
          <a:noFill/>
        </p:spPr>
        <p:txBody>
          <a:bodyPr wrap="none" rtlCol="0">
            <a:spAutoFit/>
          </a:bodyPr>
          <a:lstStyle/>
          <a:p>
            <a:r>
              <a:rPr lang="en-US" sz="1050" i="1" dirty="0">
                <a:solidFill>
                  <a:srgbClr val="FF0000"/>
                </a:solidFill>
                <a:latin typeface="Calibri" pitchFamily="34" charset="0"/>
                <a:cs typeface="Calibri" pitchFamily="34" charset="0"/>
              </a:rPr>
              <a:t>*Significant difference between.</a:t>
            </a:r>
          </a:p>
        </p:txBody>
      </p:sp>
      <p:graphicFrame>
        <p:nvGraphicFramePr>
          <p:cNvPr id="13" name="Chart 12"/>
          <p:cNvGraphicFramePr/>
          <p:nvPr/>
        </p:nvGraphicFramePr>
        <p:xfrm>
          <a:off x="1676400" y="1524000"/>
          <a:ext cx="5760720" cy="3657600"/>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p:cNvSpPr txBox="1"/>
          <p:nvPr/>
        </p:nvSpPr>
        <p:spPr>
          <a:xfrm>
            <a:off x="1371600" y="533400"/>
            <a:ext cx="6705600" cy="615553"/>
          </a:xfrm>
          <a:prstGeom prst="rect">
            <a:avLst/>
          </a:prstGeom>
          <a:noFill/>
        </p:spPr>
        <p:txBody>
          <a:bodyPr wrap="square" rtlCol="0">
            <a:spAutoFit/>
          </a:bodyPr>
          <a:lstStyle/>
          <a:p>
            <a:pPr algn="ctr"/>
            <a:r>
              <a:rPr lang="en-US" dirty="0">
                <a:solidFill>
                  <a:srgbClr val="C10B29"/>
                </a:solidFill>
                <a:latin typeface="Calibri" pitchFamily="34" charset="0"/>
                <a:cs typeface="Calibri" pitchFamily="34" charset="0"/>
              </a:rPr>
              <a:t>D:Comparative overview 2014 </a:t>
            </a:r>
            <a:r>
              <a:rPr lang="en-US" dirty="0" err="1">
                <a:solidFill>
                  <a:srgbClr val="C10B29"/>
                </a:solidFill>
                <a:latin typeface="Calibri" pitchFamily="34" charset="0"/>
                <a:cs typeface="Calibri" pitchFamily="34" charset="0"/>
              </a:rPr>
              <a:t>vs</a:t>
            </a:r>
            <a:r>
              <a:rPr lang="en-US" dirty="0">
                <a:solidFill>
                  <a:srgbClr val="C10B29"/>
                </a:solidFill>
                <a:latin typeface="Calibri" pitchFamily="34" charset="0"/>
                <a:cs typeface="Calibri" pitchFamily="34" charset="0"/>
              </a:rPr>
              <a:t> 2015 </a:t>
            </a:r>
            <a:r>
              <a:rPr lang="en-US" dirty="0" err="1">
                <a:solidFill>
                  <a:srgbClr val="C10B29"/>
                </a:solidFill>
                <a:latin typeface="Calibri" pitchFamily="34" charset="0"/>
                <a:cs typeface="Calibri" pitchFamily="34" charset="0"/>
              </a:rPr>
              <a:t>contd</a:t>
            </a:r>
            <a:r>
              <a:rPr lang="en-US" dirty="0">
                <a:solidFill>
                  <a:srgbClr val="C10B29"/>
                </a:solidFill>
                <a:latin typeface="Calibri" pitchFamily="34" charset="0"/>
                <a:cs typeface="Calibri" pitchFamily="34" charset="0"/>
              </a:rPr>
              <a:t>……</a:t>
            </a:r>
          </a:p>
          <a:p>
            <a:pPr algn="ctr"/>
            <a:r>
              <a:rPr lang="en-US" sz="1600" dirty="0">
                <a:solidFill>
                  <a:schemeClr val="accent1">
                    <a:lumMod val="25000"/>
                  </a:schemeClr>
                </a:solidFill>
                <a:latin typeface="Calibri" pitchFamily="34" charset="0"/>
                <a:ea typeface="ＭＳ Ｐゴシック" charset="0"/>
                <a:cs typeface="Calibri" pitchFamily="34" charset="0"/>
              </a:rPr>
              <a:t>Industries joined after leaving </a:t>
            </a:r>
            <a:r>
              <a:rPr lang="en-US" sz="1600" dirty="0" err="1">
                <a:solidFill>
                  <a:schemeClr val="accent1">
                    <a:lumMod val="25000"/>
                  </a:schemeClr>
                </a:solidFill>
                <a:latin typeface="Calibri" pitchFamily="34" charset="0"/>
                <a:ea typeface="ＭＳ Ｐゴシック" charset="0"/>
                <a:cs typeface="Calibri" pitchFamily="34" charset="0"/>
              </a:rPr>
              <a:t>xxxx</a:t>
            </a:r>
            <a:endParaRPr lang="en-US" sz="1600" dirty="0">
              <a:solidFill>
                <a:schemeClr val="accent1">
                  <a:lumMod val="25000"/>
                </a:schemeClr>
              </a:solidFill>
              <a:latin typeface="Calibri" pitchFamily="34" charset="0"/>
              <a:ea typeface="ＭＳ Ｐゴシック" charset="0"/>
              <a:cs typeface="Calibri"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672E3861-6787-4A23-97BF-3F6F7F42418E}" type="slidenum">
              <a:rPr lang="en-US" smtClean="0"/>
              <a:pPr>
                <a:defRPr/>
              </a:pPr>
              <a:t>26</a:t>
            </a:fld>
            <a:endParaRPr lang="en-US" dirty="0"/>
          </a:p>
        </p:txBody>
      </p:sp>
      <p:sp>
        <p:nvSpPr>
          <p:cNvPr id="9" name="TextBox 2"/>
          <p:cNvSpPr txBox="1">
            <a:spLocks noChangeArrowheads="1"/>
          </p:cNvSpPr>
          <p:nvPr/>
        </p:nvSpPr>
        <p:spPr bwMode="auto">
          <a:xfrm>
            <a:off x="4953000" y="1524000"/>
            <a:ext cx="3810000" cy="646331"/>
          </a:xfrm>
          <a:prstGeom prst="rect">
            <a:avLst/>
          </a:prstGeom>
          <a:noFill/>
          <a:ln w="9525">
            <a:noFill/>
            <a:miter lim="800000"/>
            <a:headEnd/>
            <a:tailEnd/>
          </a:ln>
        </p:spPr>
        <p:txBody>
          <a:bodyPr wrap="square">
            <a:spAutoFit/>
          </a:bodyPr>
          <a:lstStyle/>
          <a:p>
            <a:r>
              <a:rPr lang="en-US" sz="1200" dirty="0">
                <a:solidFill>
                  <a:schemeClr val="accent2">
                    <a:lumMod val="50000"/>
                  </a:schemeClr>
                </a:solidFill>
                <a:latin typeface="Calibri" pitchFamily="34" charset="0"/>
                <a:cs typeface="Calibri" pitchFamily="34" charset="0"/>
              </a:rPr>
              <a:t>Q1. Would you consider the compensation &amp; benefits offered by your new employer a deciding factor for taking up the new role ? </a:t>
            </a:r>
          </a:p>
        </p:txBody>
      </p:sp>
      <p:graphicFrame>
        <p:nvGraphicFramePr>
          <p:cNvPr id="11" name="Chart 10"/>
          <p:cNvGraphicFramePr/>
          <p:nvPr/>
        </p:nvGraphicFramePr>
        <p:xfrm>
          <a:off x="4800600" y="2514600"/>
          <a:ext cx="4191000" cy="24384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p:cNvSpPr txBox="1"/>
          <p:nvPr/>
        </p:nvSpPr>
        <p:spPr>
          <a:xfrm>
            <a:off x="5334000" y="4876800"/>
            <a:ext cx="3124200" cy="1015663"/>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Employee voices reflects they are not actually moving out for better pay package but other underlying dissatisfaction with the organization make them look out for opportunities outside </a:t>
            </a:r>
            <a:r>
              <a:rPr lang="en-US" sz="1200" dirty="0" err="1">
                <a:solidFill>
                  <a:schemeClr val="accent1">
                    <a:lumMod val="25000"/>
                  </a:schemeClr>
                </a:solidFill>
                <a:latin typeface="Calibri" pitchFamily="34" charset="0"/>
                <a:cs typeface="Calibri" pitchFamily="34" charset="0"/>
              </a:rPr>
              <a:t>xxxx</a:t>
            </a:r>
            <a:r>
              <a:rPr lang="en-US" sz="1200" dirty="0">
                <a:solidFill>
                  <a:schemeClr val="accent1">
                    <a:lumMod val="25000"/>
                  </a:schemeClr>
                </a:solidFill>
                <a:latin typeface="Calibri" pitchFamily="34" charset="0"/>
                <a:cs typeface="Calibri" pitchFamily="34" charset="0"/>
              </a:rPr>
              <a:t>.</a:t>
            </a:r>
          </a:p>
        </p:txBody>
      </p:sp>
      <p:sp>
        <p:nvSpPr>
          <p:cNvPr id="7" name="Rectangle 6"/>
          <p:cNvSpPr/>
          <p:nvPr/>
        </p:nvSpPr>
        <p:spPr>
          <a:xfrm>
            <a:off x="609600" y="533400"/>
            <a:ext cx="8077200" cy="615553"/>
          </a:xfrm>
          <a:prstGeom prst="rect">
            <a:avLst/>
          </a:prstGeom>
        </p:spPr>
        <p:txBody>
          <a:bodyPr wrap="square">
            <a:spAutoFit/>
          </a:bodyPr>
          <a:lstStyle/>
          <a:p>
            <a:pPr algn="ctr"/>
            <a:r>
              <a:rPr lang="en-US" dirty="0">
                <a:solidFill>
                  <a:srgbClr val="C10B29"/>
                </a:solidFill>
                <a:latin typeface="Calibri" pitchFamily="34" charset="0"/>
                <a:cs typeface="Calibri" pitchFamily="34" charset="0"/>
              </a:rPr>
              <a:t>E. Additional observation</a:t>
            </a:r>
          </a:p>
          <a:p>
            <a:pPr algn="ctr"/>
            <a:r>
              <a:rPr lang="en-US" sz="1600" dirty="0">
                <a:solidFill>
                  <a:schemeClr val="accent1">
                    <a:lumMod val="25000"/>
                  </a:schemeClr>
                </a:solidFill>
                <a:latin typeface="Calibri" pitchFamily="34" charset="0"/>
                <a:ea typeface="ＭＳ Ｐゴシック" charset="0"/>
                <a:cs typeface="Calibri" pitchFamily="34" charset="0"/>
              </a:rPr>
              <a:t>Supervision style and compensation</a:t>
            </a:r>
            <a:endParaRPr lang="en-IN" sz="1600" dirty="0">
              <a:solidFill>
                <a:schemeClr val="accent1">
                  <a:lumMod val="25000"/>
                </a:schemeClr>
              </a:solidFill>
              <a:latin typeface="Calibri" pitchFamily="34" charset="0"/>
              <a:ea typeface="ＭＳ Ｐゴシック" charset="0"/>
              <a:cs typeface="Calibri" pitchFamily="34" charset="0"/>
            </a:endParaRPr>
          </a:p>
        </p:txBody>
      </p:sp>
      <p:graphicFrame>
        <p:nvGraphicFramePr>
          <p:cNvPr id="10" name="Chart 9"/>
          <p:cNvGraphicFramePr/>
          <p:nvPr/>
        </p:nvGraphicFramePr>
        <p:xfrm>
          <a:off x="228600" y="2362200"/>
          <a:ext cx="4343400" cy="2667000"/>
        </p:xfrm>
        <a:graphic>
          <a:graphicData uri="http://schemas.openxmlformats.org/drawingml/2006/chart">
            <c:chart xmlns:c="http://schemas.openxmlformats.org/drawingml/2006/chart" xmlns:r="http://schemas.openxmlformats.org/officeDocument/2006/relationships" r:id="rId3"/>
          </a:graphicData>
        </a:graphic>
      </p:graphicFrame>
      <p:sp>
        <p:nvSpPr>
          <p:cNvPr id="13" name="TextBox 2"/>
          <p:cNvSpPr txBox="1">
            <a:spLocks noChangeArrowheads="1"/>
          </p:cNvSpPr>
          <p:nvPr/>
        </p:nvSpPr>
        <p:spPr bwMode="auto">
          <a:xfrm>
            <a:off x="838200" y="1600200"/>
            <a:ext cx="3429000" cy="461665"/>
          </a:xfrm>
          <a:prstGeom prst="rect">
            <a:avLst/>
          </a:prstGeom>
          <a:noFill/>
          <a:ln w="9525">
            <a:noFill/>
            <a:miter lim="800000"/>
            <a:headEnd/>
            <a:tailEnd/>
          </a:ln>
        </p:spPr>
        <p:txBody>
          <a:bodyPr wrap="square">
            <a:spAutoFit/>
          </a:bodyPr>
          <a:lstStyle/>
          <a:p>
            <a:r>
              <a:rPr lang="en-US" sz="1200" dirty="0">
                <a:solidFill>
                  <a:schemeClr val="accent2">
                    <a:lumMod val="50000"/>
                  </a:schemeClr>
                </a:solidFill>
                <a:latin typeface="Calibri" pitchFamily="34" charset="0"/>
                <a:cs typeface="Calibri" pitchFamily="34" charset="0"/>
              </a:rPr>
              <a:t>Q1.How would you define your supervisors style at work.</a:t>
            </a:r>
          </a:p>
        </p:txBody>
      </p:sp>
      <p:sp>
        <p:nvSpPr>
          <p:cNvPr id="14" name="TextBox 13"/>
          <p:cNvSpPr txBox="1"/>
          <p:nvPr/>
        </p:nvSpPr>
        <p:spPr>
          <a:xfrm>
            <a:off x="838200" y="4876800"/>
            <a:ext cx="3124200" cy="1015663"/>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52 % Employees perceiving managers as abdicating once again validates the point of misunderstanding between employees and their immediate supervisor due to lack of right kind of communication. </a:t>
            </a:r>
          </a:p>
        </p:txBody>
      </p:sp>
      <p:sp>
        <p:nvSpPr>
          <p:cNvPr id="16" name="Rectangle 15"/>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7" name="Chart 6"/>
          <p:cNvGraphicFramePr/>
          <p:nvPr/>
        </p:nvGraphicFramePr>
        <p:xfrm>
          <a:off x="1219200" y="1600200"/>
          <a:ext cx="6248400" cy="3276600"/>
        </p:xfrm>
        <a:graphic>
          <a:graphicData uri="http://schemas.openxmlformats.org/drawingml/2006/chart">
            <c:chart xmlns:c="http://schemas.openxmlformats.org/drawingml/2006/chart" xmlns:r="http://schemas.openxmlformats.org/officeDocument/2006/relationships" r:id="rId2"/>
          </a:graphicData>
        </a:graphic>
      </p:graphicFrame>
      <p:sp>
        <p:nvSpPr>
          <p:cNvPr id="9" name="Rectangle 2"/>
          <p:cNvSpPr>
            <a:spLocks noGrp="1" noChangeArrowheads="1"/>
          </p:cNvSpPr>
          <p:nvPr>
            <p:ph type="title" idx="4294967295"/>
          </p:nvPr>
        </p:nvSpPr>
        <p:spPr>
          <a:xfrm>
            <a:off x="609600" y="685800"/>
            <a:ext cx="8229600" cy="381000"/>
          </a:xfrm>
        </p:spPr>
        <p:txBody>
          <a:bodyPr/>
          <a:lstStyle/>
          <a:p>
            <a:pPr eaLnBrk="1" hangingPunct="1">
              <a:defRPr/>
            </a:pPr>
            <a:r>
              <a:rPr lang="en-US" sz="1800" dirty="0">
                <a:effectLst/>
                <a:latin typeface="Calibri" pitchFamily="34" charset="0"/>
                <a:ea typeface="ＭＳ Ｐゴシック" pitchFamily="34" charset="-128"/>
                <a:cs typeface="Calibri" pitchFamily="34" charset="0"/>
              </a:rPr>
              <a:t>E. Additional observation </a:t>
            </a:r>
            <a:r>
              <a:rPr lang="en-US" sz="1800" dirty="0" err="1">
                <a:effectLst/>
                <a:latin typeface="Calibri" pitchFamily="34" charset="0"/>
                <a:ea typeface="ＭＳ Ｐゴシック" pitchFamily="34" charset="-128"/>
                <a:cs typeface="Calibri" pitchFamily="34" charset="0"/>
              </a:rPr>
              <a:t>contd</a:t>
            </a:r>
            <a:r>
              <a:rPr lang="en-US" sz="1800" dirty="0">
                <a:effectLst/>
                <a:latin typeface="Calibri" pitchFamily="34" charset="0"/>
                <a:ea typeface="ＭＳ Ｐゴシック" pitchFamily="34" charset="-128"/>
                <a:cs typeface="Calibri" pitchFamily="34" charset="0"/>
              </a:rPr>
              <a:t>….</a:t>
            </a:r>
            <a:br>
              <a:rPr lang="en-US" sz="1800" dirty="0">
                <a:effectLst/>
                <a:latin typeface="Calibri" pitchFamily="34" charset="0"/>
                <a:ea typeface="ＭＳ Ｐゴシック" pitchFamily="34" charset="-128"/>
                <a:cs typeface="Calibri" pitchFamily="34" charset="0"/>
              </a:rPr>
            </a:br>
            <a:r>
              <a:rPr lang="en-US" sz="1600" kern="1200" dirty="0">
                <a:solidFill>
                  <a:schemeClr val="accent1">
                    <a:lumMod val="25000"/>
                  </a:schemeClr>
                </a:solidFill>
                <a:effectLst/>
                <a:latin typeface="Calibri" pitchFamily="34" charset="0"/>
                <a:cs typeface="Calibri" pitchFamily="34" charset="0"/>
              </a:rPr>
              <a:t>Organization practices</a:t>
            </a:r>
          </a:p>
        </p:txBody>
      </p:sp>
      <p:sp>
        <p:nvSpPr>
          <p:cNvPr id="5" name="Slide Number Placeholder 4"/>
          <p:cNvSpPr>
            <a:spLocks noGrp="1"/>
          </p:cNvSpPr>
          <p:nvPr>
            <p:ph type="sldNum" sz="quarter" idx="12"/>
          </p:nvPr>
        </p:nvSpPr>
        <p:spPr/>
        <p:txBody>
          <a:bodyPr/>
          <a:lstStyle/>
          <a:p>
            <a:pPr>
              <a:defRPr/>
            </a:pPr>
            <a:fld id="{672E3861-6787-4A23-97BF-3F6F7F42418E}" type="slidenum">
              <a:rPr lang="en-US" smtClean="0"/>
              <a:pPr>
                <a:defRPr/>
              </a:pPr>
              <a:t>27</a:t>
            </a:fld>
            <a:endParaRPr lang="en-US" dirty="0"/>
          </a:p>
        </p:txBody>
      </p:sp>
      <p:sp>
        <p:nvSpPr>
          <p:cNvPr id="8" name="TextBox 7"/>
          <p:cNvSpPr txBox="1"/>
          <p:nvPr/>
        </p:nvSpPr>
        <p:spPr>
          <a:xfrm>
            <a:off x="381000" y="4875074"/>
            <a:ext cx="8534400" cy="338554"/>
          </a:xfrm>
          <a:prstGeom prst="rect">
            <a:avLst/>
          </a:prstGeom>
          <a:noFill/>
        </p:spPr>
        <p:txBody>
          <a:bodyPr wrap="square" rtlCol="0">
            <a:spAutoFit/>
          </a:bodyPr>
          <a:lstStyle/>
          <a:p>
            <a:endParaRPr lang="en-US" sz="1600" dirty="0"/>
          </a:p>
        </p:txBody>
      </p:sp>
      <p:sp>
        <p:nvSpPr>
          <p:cNvPr id="6" name="Rectangle 5"/>
          <p:cNvSpPr/>
          <p:nvPr/>
        </p:nvSpPr>
        <p:spPr>
          <a:xfrm>
            <a:off x="1752600" y="5029200"/>
            <a:ext cx="4953000" cy="861774"/>
          </a:xfrm>
          <a:prstGeom prst="rect">
            <a:avLst/>
          </a:prstGeom>
          <a:noFill/>
          <a:ln w="9525">
            <a:noFill/>
            <a:miter lim="800000"/>
            <a:headEnd/>
            <a:tailEnd/>
          </a:ln>
          <a:effectLst>
            <a:prstShdw prst="shdw13" dist="53882" dir="13500000">
              <a:schemeClr val="bg2">
                <a:alpha val="50000"/>
              </a:schemeClr>
            </a:prstShdw>
          </a:effectLst>
        </p:spPr>
        <p:txBody>
          <a:bodyPr wrap="square">
            <a:spAutoFit/>
          </a:bodyPr>
          <a:lstStyle/>
          <a:p>
            <a:pPr>
              <a:buClr>
                <a:srgbClr val="C00000"/>
              </a:buClr>
            </a:pPr>
            <a:r>
              <a:rPr lang="en-US" sz="1200" dirty="0">
                <a:solidFill>
                  <a:schemeClr val="accent1">
                    <a:lumMod val="25000"/>
                  </a:schemeClr>
                </a:solidFill>
                <a:latin typeface="Calibri" pitchFamily="34" charset="0"/>
                <a:cs typeface="Calibri" pitchFamily="34" charset="0"/>
              </a:rPr>
              <a:t> 71% Employees mentioned “Respect” is the most practiced value in </a:t>
            </a:r>
            <a:r>
              <a:rPr lang="en-US" sz="1200" dirty="0" err="1">
                <a:solidFill>
                  <a:schemeClr val="accent1">
                    <a:lumMod val="25000"/>
                  </a:schemeClr>
                </a:solidFill>
                <a:latin typeface="Calibri" pitchFamily="34" charset="0"/>
                <a:cs typeface="Calibri" pitchFamily="34" charset="0"/>
              </a:rPr>
              <a:t>xxxx</a:t>
            </a:r>
            <a:r>
              <a:rPr lang="en-US" sz="1200" dirty="0">
                <a:solidFill>
                  <a:schemeClr val="accent1">
                    <a:lumMod val="25000"/>
                  </a:schemeClr>
                </a:solidFill>
                <a:latin typeface="Calibri" pitchFamily="34" charset="0"/>
                <a:cs typeface="Calibri" pitchFamily="34" charset="0"/>
              </a:rPr>
              <a:t>. Mutual respect helps in contributing to each others development.</a:t>
            </a:r>
          </a:p>
          <a:p>
            <a:pPr>
              <a:buClr>
                <a:srgbClr val="C00000"/>
              </a:buClr>
            </a:pPr>
            <a:r>
              <a:rPr lang="en-US" sz="1200" dirty="0">
                <a:solidFill>
                  <a:schemeClr val="accent1">
                    <a:lumMod val="25000"/>
                  </a:schemeClr>
                </a:solidFill>
                <a:latin typeface="Calibri" pitchFamily="34" charset="0"/>
                <a:cs typeface="Calibri" pitchFamily="34" charset="0"/>
              </a:rPr>
              <a:t>“Confidence” came out to be the least practiced value (84%) followed by Innovation &amp; Solidarity </a:t>
            </a:r>
            <a:endParaRPr lang="en-IN" sz="1200" dirty="0">
              <a:solidFill>
                <a:schemeClr val="accent1">
                  <a:lumMod val="25000"/>
                </a:schemeClr>
              </a:solidFill>
              <a:latin typeface="Calibri" pitchFamily="34" charset="0"/>
              <a:cs typeface="Calibri" pitchFamily="34" charset="0"/>
            </a:endParaRPr>
          </a:p>
        </p:txBody>
      </p:sp>
      <p:sp>
        <p:nvSpPr>
          <p:cNvPr id="10" name="TextBox 9"/>
          <p:cNvSpPr txBox="1"/>
          <p:nvPr/>
        </p:nvSpPr>
        <p:spPr>
          <a:xfrm>
            <a:off x="7696200" y="2133600"/>
            <a:ext cx="1219200" cy="400110"/>
          </a:xfrm>
          <a:prstGeom prst="rect">
            <a:avLst/>
          </a:prstGeom>
          <a:noFill/>
        </p:spPr>
        <p:txBody>
          <a:bodyPr wrap="square" rtlCol="0">
            <a:spAutoFit/>
          </a:bodyPr>
          <a:lstStyle/>
          <a:p>
            <a:r>
              <a:rPr lang="en-US" sz="1000" dirty="0">
                <a:latin typeface="Calibri" pitchFamily="34" charset="0"/>
              </a:rPr>
              <a:t>Most practiced</a:t>
            </a:r>
          </a:p>
          <a:p>
            <a:r>
              <a:rPr lang="en-US" sz="1000" dirty="0">
                <a:latin typeface="Calibri" pitchFamily="34" charset="0"/>
              </a:rPr>
              <a:t>Least Practiced</a:t>
            </a:r>
            <a:endParaRPr lang="en-IN" sz="1000" dirty="0">
              <a:latin typeface="Calibri" pitchFamily="34" charset="0"/>
            </a:endParaRPr>
          </a:p>
        </p:txBody>
      </p:sp>
      <p:sp>
        <p:nvSpPr>
          <p:cNvPr id="11" name="Rounded Rectangle 10"/>
          <p:cNvSpPr/>
          <p:nvPr/>
        </p:nvSpPr>
        <p:spPr>
          <a:xfrm>
            <a:off x="7543800" y="2209800"/>
            <a:ext cx="180000" cy="76200"/>
          </a:xfrm>
          <a:prstGeom prst="roundRect">
            <a:avLst/>
          </a:prstGeom>
          <a:solidFill>
            <a:srgbClr val="B45A00">
              <a:tint val="66000"/>
              <a:satMod val="1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2" name="Rounded Rectangle 11"/>
          <p:cNvSpPr/>
          <p:nvPr/>
        </p:nvSpPr>
        <p:spPr>
          <a:xfrm>
            <a:off x="7543800" y="2362200"/>
            <a:ext cx="180000" cy="72000"/>
          </a:xfrm>
          <a:prstGeom prst="roundRect">
            <a:avLst/>
          </a:prstGeom>
          <a:solidFill>
            <a:srgbClr val="17375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13"/>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28</a:t>
            </a:fld>
            <a:endParaRPr lang="en-US" dirty="0"/>
          </a:p>
        </p:txBody>
      </p:sp>
      <p:sp>
        <p:nvSpPr>
          <p:cNvPr id="6" name="Rectangle 5"/>
          <p:cNvSpPr/>
          <p:nvPr/>
        </p:nvSpPr>
        <p:spPr>
          <a:xfrm>
            <a:off x="304800" y="2133600"/>
            <a:ext cx="8382000" cy="3600985"/>
          </a:xfrm>
          <a:prstGeom prst="rect">
            <a:avLst/>
          </a:prstGeom>
        </p:spPr>
        <p:txBody>
          <a:bodyPr wrap="square">
            <a:spAutoFit/>
          </a:bodyPr>
          <a:lstStyle/>
          <a:p>
            <a:r>
              <a:rPr lang="en-US" sz="1200" dirty="0">
                <a:solidFill>
                  <a:schemeClr val="accent1">
                    <a:lumMod val="25000"/>
                  </a:schemeClr>
                </a:solidFill>
                <a:latin typeface="Calibri" pitchFamily="34" charset="0"/>
                <a:cs typeface="Calibri" pitchFamily="34" charset="0"/>
              </a:rPr>
              <a:t>Preliminary data shows” better opportunity “as a key cause of attrition. A deeper analysis however identifies “Supervision” as a key influence, which also  triggers attrition for other reasons as well -  mainly the bottom three factors – personal reasons, change of career, change of location.  Transforming leadership style is a time consuming process. However certain negative aspects of Supervision can be offset through </a:t>
            </a:r>
          </a:p>
          <a:p>
            <a:endParaRPr lang="en-US" sz="1200" dirty="0">
              <a:solidFill>
                <a:schemeClr val="accent1">
                  <a:lumMod val="25000"/>
                </a:schemeClr>
              </a:solidFill>
              <a:latin typeface="Calibri" pitchFamily="34" charset="0"/>
              <a:cs typeface="Calibri" pitchFamily="34" charset="0"/>
            </a:endParaRPr>
          </a:p>
          <a:p>
            <a:pPr marL="228600" indent="-228600">
              <a:buFont typeface="+mj-lt"/>
              <a:buAutoNum type="arabicPeriod"/>
            </a:pPr>
            <a:r>
              <a:rPr lang="en-US" sz="1200" dirty="0">
                <a:solidFill>
                  <a:schemeClr val="accent1">
                    <a:lumMod val="25000"/>
                  </a:schemeClr>
                </a:solidFill>
                <a:latin typeface="Calibri" pitchFamily="34" charset="0"/>
                <a:cs typeface="Calibri" pitchFamily="34" charset="0"/>
              </a:rPr>
              <a:t>The supervisors / manager’s style of management is identified as the big problem. All aspects of supervision have received a very negative score. Developing  a supervisor score card, identifying the lowest rated supervisor will localize the effigy and yield highest impact</a:t>
            </a:r>
          </a:p>
          <a:p>
            <a:pPr marL="228600" indent="-228600">
              <a:buFont typeface="+mj-lt"/>
              <a:buAutoNum type="arabicPeriod"/>
            </a:pPr>
            <a:r>
              <a:rPr lang="en-US" sz="1200" dirty="0">
                <a:solidFill>
                  <a:schemeClr val="accent1">
                    <a:lumMod val="25000"/>
                  </a:schemeClr>
                </a:solidFill>
                <a:latin typeface="Calibri" pitchFamily="34" charset="0"/>
                <a:cs typeface="Calibri" pitchFamily="34" charset="0"/>
              </a:rPr>
              <a:t>Reduce dependency on Supervisor for his teams well being through stronger HR / employee friendly policies driven, implemented and monitored by HR. e.g. compulsory leave, work from home, </a:t>
            </a:r>
            <a:r>
              <a:rPr lang="en-US" sz="1200" dirty="0" err="1">
                <a:solidFill>
                  <a:schemeClr val="accent1">
                    <a:lumMod val="25000"/>
                  </a:schemeClr>
                </a:solidFill>
                <a:latin typeface="Calibri" pitchFamily="34" charset="0"/>
                <a:cs typeface="Calibri" pitchFamily="34" charset="0"/>
              </a:rPr>
              <a:t>flexiible</a:t>
            </a:r>
            <a:r>
              <a:rPr lang="en-US" sz="1200" dirty="0">
                <a:solidFill>
                  <a:schemeClr val="accent1">
                    <a:lumMod val="25000"/>
                  </a:schemeClr>
                </a:solidFill>
                <a:latin typeface="Calibri" pitchFamily="34" charset="0"/>
                <a:cs typeface="Calibri" pitchFamily="34" charset="0"/>
              </a:rPr>
              <a:t> work hours ,  </a:t>
            </a:r>
          </a:p>
          <a:p>
            <a:pPr marL="228600" indent="-228600">
              <a:buFont typeface="+mj-lt"/>
              <a:buAutoNum type="arabicPeriod"/>
            </a:pPr>
            <a:r>
              <a:rPr lang="en-US" sz="1200" dirty="0">
                <a:solidFill>
                  <a:schemeClr val="accent1">
                    <a:lumMod val="25000"/>
                  </a:schemeClr>
                </a:solidFill>
                <a:latin typeface="Calibri" pitchFamily="34" charset="0"/>
                <a:cs typeface="Calibri" pitchFamily="34" charset="0"/>
              </a:rPr>
              <a:t>Make employee feedback one of the key elements of supervisors / managers assessment and development plan – this will sensitize them to their deficiencies and encourage self learning / change</a:t>
            </a:r>
            <a:endParaRPr lang="en-US" sz="1400" b="1" dirty="0">
              <a:solidFill>
                <a:schemeClr val="accent1">
                  <a:lumMod val="25000"/>
                </a:schemeClr>
              </a:solidFill>
              <a:latin typeface="Calibri" pitchFamily="34" charset="0"/>
              <a:cs typeface="Calibri" pitchFamily="34" charset="0"/>
            </a:endParaRPr>
          </a:p>
          <a:p>
            <a:pPr marL="228600" indent="-228600">
              <a:buFont typeface="+mj-lt"/>
              <a:buAutoNum type="arabicPeriod"/>
            </a:pPr>
            <a:r>
              <a:rPr lang="en-US" sz="1200" dirty="0">
                <a:solidFill>
                  <a:schemeClr val="accent1">
                    <a:lumMod val="25000"/>
                  </a:schemeClr>
                </a:solidFill>
                <a:latin typeface="Calibri" pitchFamily="34" charset="0"/>
                <a:cs typeface="Calibri" pitchFamily="34" charset="0"/>
              </a:rPr>
              <a:t>Decisions on postings to be taken with consideration at the time of recruitment. Focus on hiring local residents, employees with family, profiling the right hire, may help.</a:t>
            </a:r>
          </a:p>
          <a:p>
            <a:pPr marL="228600" indent="-228600">
              <a:buFont typeface="+mj-lt"/>
              <a:buAutoNum type="arabicPeriod"/>
            </a:pPr>
            <a:r>
              <a:rPr lang="en-US" sz="1200" dirty="0">
                <a:solidFill>
                  <a:schemeClr val="accent1">
                    <a:lumMod val="25000"/>
                  </a:schemeClr>
                </a:solidFill>
                <a:latin typeface="Calibri" pitchFamily="34" charset="0"/>
                <a:cs typeface="Calibri" pitchFamily="34" charset="0"/>
              </a:rPr>
              <a:t>Limitation of growth avenues can be off set by job rotation, and training for new roles which would be seen as value add by the employee.</a:t>
            </a:r>
          </a:p>
          <a:p>
            <a:pPr marL="228600" indent="-228600">
              <a:buFont typeface="+mj-lt"/>
              <a:buAutoNum type="arabicPeriod"/>
            </a:pPr>
            <a:r>
              <a:rPr lang="en-US" sz="1200" dirty="0">
                <a:solidFill>
                  <a:schemeClr val="accent1">
                    <a:lumMod val="25000"/>
                  </a:schemeClr>
                </a:solidFill>
                <a:latin typeface="Calibri" pitchFamily="34" charset="0"/>
                <a:cs typeface="Calibri" pitchFamily="34" charset="0"/>
              </a:rPr>
              <a:t>East Zone appears to be a problem area in various push analysis, can be a starting point for transformation</a:t>
            </a:r>
          </a:p>
          <a:p>
            <a:pPr marL="228600" indent="-228600">
              <a:buFont typeface="+mj-lt"/>
              <a:buAutoNum type="arabicPeriod"/>
            </a:pPr>
            <a:endParaRPr lang="en-US" sz="1200" dirty="0">
              <a:solidFill>
                <a:schemeClr val="accent1">
                  <a:lumMod val="25000"/>
                </a:schemeClr>
              </a:solidFill>
              <a:latin typeface="Calibri" pitchFamily="34" charset="0"/>
              <a:cs typeface="Calibri" pitchFamily="34" charset="0"/>
            </a:endParaRPr>
          </a:p>
          <a:p>
            <a:pPr marL="342900" indent="-342900"/>
            <a:endParaRPr lang="en-US" sz="1200" b="1" dirty="0">
              <a:solidFill>
                <a:schemeClr val="accent1">
                  <a:lumMod val="25000"/>
                </a:schemeClr>
              </a:solidFill>
              <a:latin typeface="Calibri" pitchFamily="34" charset="0"/>
              <a:cs typeface="Calibri" pitchFamily="34" charset="0"/>
            </a:endParaRPr>
          </a:p>
        </p:txBody>
      </p:sp>
      <p:sp>
        <p:nvSpPr>
          <p:cNvPr id="7" name="TextBox 6"/>
          <p:cNvSpPr txBox="1"/>
          <p:nvPr/>
        </p:nvSpPr>
        <p:spPr>
          <a:xfrm>
            <a:off x="2819400" y="762000"/>
            <a:ext cx="3345724" cy="369332"/>
          </a:xfrm>
          <a:prstGeom prst="rect">
            <a:avLst/>
          </a:prstGeom>
          <a:noFill/>
        </p:spPr>
        <p:txBody>
          <a:bodyPr wrap="none" rtlCol="0">
            <a:spAutoFit/>
          </a:bodyPr>
          <a:lstStyle/>
          <a:p>
            <a:pPr algn="ctr"/>
            <a:r>
              <a:rPr lang="en-US" dirty="0">
                <a:solidFill>
                  <a:srgbClr val="C00000"/>
                </a:solidFill>
                <a:latin typeface="Calibri" pitchFamily="34" charset="0"/>
                <a:cs typeface="Calibri" pitchFamily="34" charset="0"/>
              </a:rPr>
              <a:t>F:Conclusion &amp; Recommendation</a:t>
            </a:r>
          </a:p>
        </p:txBody>
      </p:sp>
      <p:sp>
        <p:nvSpPr>
          <p:cNvPr id="9" name="Rectangle 8"/>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7067277A-A215-4519-9D9C-79C46EB918B6}" type="slidenum">
              <a:rPr lang="en-US" smtClean="0"/>
              <a:pPr>
                <a:defRPr/>
              </a:pPr>
              <a:t>29</a:t>
            </a:fld>
            <a:endParaRPr lang="en-US" dirty="0"/>
          </a:p>
        </p:txBody>
      </p:sp>
      <p:sp>
        <p:nvSpPr>
          <p:cNvPr id="9" name="Rectangle 8"/>
          <p:cNvSpPr/>
          <p:nvPr/>
        </p:nvSpPr>
        <p:spPr>
          <a:xfrm>
            <a:off x="0" y="1295400"/>
            <a:ext cx="9144000" cy="45719"/>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chemeClr val="accent4">
                    <a:satMod val="175000"/>
                    <a:alpha val="40000"/>
                  </a:schemeClr>
                </a:glow>
              </a:effectLst>
            </a:endParaRPr>
          </a:p>
        </p:txBody>
      </p:sp>
      <p:sp>
        <p:nvSpPr>
          <p:cNvPr id="2" name="Rectangle 1"/>
          <p:cNvSpPr/>
          <p:nvPr/>
        </p:nvSpPr>
        <p:spPr>
          <a:xfrm>
            <a:off x="990600" y="1828800"/>
            <a:ext cx="7315200" cy="4204997"/>
          </a:xfrm>
          <a:prstGeom prst="rect">
            <a:avLst/>
          </a:prstGeom>
        </p:spPr>
        <p:txBody>
          <a:bodyPr wrap="square">
            <a:spAutoFit/>
          </a:bodyPr>
          <a:lstStyle/>
          <a:p>
            <a:pPr marL="342900" indent="-342900"/>
            <a:r>
              <a:rPr lang="en-US" sz="1600" b="1" dirty="0">
                <a:solidFill>
                  <a:schemeClr val="accent2">
                    <a:lumMod val="50000"/>
                  </a:schemeClr>
                </a:solidFill>
                <a:latin typeface="Calibri" pitchFamily="34" charset="0"/>
                <a:cs typeface="Calibri" pitchFamily="34" charset="0"/>
              </a:rPr>
              <a:t>Recommended strategies:-</a:t>
            </a:r>
          </a:p>
          <a:p>
            <a:pPr marL="381000" indent="-381000">
              <a:spcAft>
                <a:spcPct val="25000"/>
              </a:spcAft>
            </a:pPr>
            <a:endParaRPr lang="en-US" sz="500" dirty="0">
              <a:latin typeface="Calibri" pitchFamily="34" charset="0"/>
              <a:cs typeface="Calibri" pitchFamily="34" charset="0"/>
            </a:endParaRPr>
          </a:p>
          <a:p>
            <a:pPr marL="381000" indent="-381000">
              <a:spcAft>
                <a:spcPct val="25000"/>
              </a:spcAft>
              <a:buFontTx/>
              <a:buAutoNum type="arabicPeriod"/>
            </a:pPr>
            <a:r>
              <a:rPr lang="en-US" sz="1400" b="1" dirty="0">
                <a:latin typeface="Calibri" pitchFamily="34" charset="0"/>
                <a:cs typeface="Calibri" pitchFamily="34" charset="0"/>
              </a:rPr>
              <a:t>Communication</a:t>
            </a:r>
            <a:r>
              <a:rPr lang="en-US" sz="1400" dirty="0">
                <a:latin typeface="Calibri" pitchFamily="34" charset="0"/>
                <a:cs typeface="Calibri" pitchFamily="34" charset="0"/>
              </a:rPr>
              <a:t>: Multi –level communication about business goals and expectations will enthuse employees about their future in the </a:t>
            </a:r>
            <a:r>
              <a:rPr lang="en-US" sz="1400" dirty="0" err="1">
                <a:latin typeface="Calibri" pitchFamily="34" charset="0"/>
                <a:cs typeface="Calibri" pitchFamily="34" charset="0"/>
              </a:rPr>
              <a:t>organisation</a:t>
            </a:r>
            <a:r>
              <a:rPr lang="en-US" sz="1400" dirty="0">
                <a:latin typeface="Calibri" pitchFamily="34" charset="0"/>
                <a:cs typeface="Calibri" pitchFamily="34" charset="0"/>
              </a:rPr>
              <a:t>. “Walk the talk” by not only communicating the corporate strategy but also ensuring that it is applied consistently throughout the organization, including making the reward system objective &amp; consistent with strategic goals. Higher management should watch for and eliminate all inconsistencies between promoting a belief in employees and managerial behavior or policies that undermines that commitment.</a:t>
            </a:r>
          </a:p>
          <a:p>
            <a:pPr marL="381000" indent="-381000">
              <a:spcAft>
                <a:spcPct val="25000"/>
              </a:spcAft>
              <a:buFontTx/>
              <a:buAutoNum type="arabicPeriod"/>
            </a:pPr>
            <a:r>
              <a:rPr lang="en-US" sz="1400" b="1" dirty="0">
                <a:latin typeface="Calibri" pitchFamily="34" charset="0"/>
                <a:cs typeface="Calibri" pitchFamily="34" charset="0"/>
              </a:rPr>
              <a:t>Training:</a:t>
            </a:r>
            <a:r>
              <a:rPr lang="en-US" sz="1400" dirty="0">
                <a:latin typeface="Calibri" pitchFamily="34" charset="0"/>
                <a:cs typeface="Calibri" pitchFamily="34" charset="0"/>
              </a:rPr>
              <a:t> Smart &amp; relevant training should be given to “Field Force” to broaden their experiences and provide development opportunities. Talents can be identified and groomed at an early stage. Also  an ongoing process should be taken up to train and develop managers for future leadership roles.  </a:t>
            </a:r>
          </a:p>
          <a:p>
            <a:pPr marL="381000" indent="-381000">
              <a:spcAft>
                <a:spcPct val="25000"/>
              </a:spcAft>
              <a:buFontTx/>
              <a:buAutoNum type="arabicPeriod"/>
            </a:pPr>
            <a:r>
              <a:rPr lang="en-US" sz="1400" b="1" dirty="0">
                <a:latin typeface="Calibri" pitchFamily="34" charset="0"/>
                <a:cs typeface="Calibri" pitchFamily="34" charset="0"/>
              </a:rPr>
              <a:t>HR Role: </a:t>
            </a:r>
            <a:r>
              <a:rPr lang="en-US" sz="1400" dirty="0">
                <a:latin typeface="Calibri" pitchFamily="34" charset="0"/>
                <a:cs typeface="Calibri" pitchFamily="34" charset="0"/>
              </a:rPr>
              <a:t>HR department can be empowered and made to play a more active role in improving the work place relationship among the employees .The employee’s  perceive their work as demanding or flexible when a personal need arises. So if they get the understanding and support from the organization during their personal crisis situation they feel more positive about the organization. With empowerment HR department can handle and sort out issues with more empathy and concern.</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3074518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1443" name="Slide Number Placeholder 4"/>
          <p:cNvSpPr>
            <a:spLocks noGrp="1"/>
          </p:cNvSpPr>
          <p:nvPr>
            <p:ph type="sldNum" sz="quarter" idx="12"/>
          </p:nvPr>
        </p:nvSpPr>
        <p:spPr>
          <a:noFill/>
        </p:spPr>
        <p:txBody>
          <a:bodyPr/>
          <a:lstStyle/>
          <a:p>
            <a:fld id="{7027BB2B-ACF4-4DE0-BB9F-5C1475B51829}" type="slidenum">
              <a:rPr lang="en-US" smtClean="0"/>
              <a:pPr/>
              <a:t>30</a:t>
            </a:fld>
            <a:endParaRPr lang="en-US"/>
          </a:p>
        </p:txBody>
      </p:sp>
      <p:pic>
        <p:nvPicPr>
          <p:cNvPr id="2049" name="Picture 1" descr="D:\Sangram\My Work\PPT Image\thank u.jpg"/>
          <p:cNvPicPr>
            <a:picLocks noChangeAspect="1" noChangeArrowheads="1"/>
          </p:cNvPicPr>
          <p:nvPr/>
        </p:nvPicPr>
        <p:blipFill>
          <a:blip r:embed="rId3" cstate="print"/>
          <a:srcRect/>
          <a:stretch>
            <a:fillRect/>
          </a:stretch>
        </p:blipFill>
        <p:spPr bwMode="auto">
          <a:xfrm>
            <a:off x="914400" y="457200"/>
            <a:ext cx="6781800" cy="5725618"/>
          </a:xfrm>
          <a:prstGeom prst="rect">
            <a:avLst/>
          </a:prstGeom>
          <a:noFill/>
        </p:spPr>
      </p:pic>
    </p:spTree>
  </p:cSld>
  <p:clrMapOvr>
    <a:masterClrMapping/>
  </p:clrMapOvr>
  <p:transition/>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Swis721 Md BT"/>
        <a:ea typeface=""/>
        <a:cs typeface="Arial"/>
      </a:majorFont>
      <a:minorFont>
        <a:latin typeface="Swis721 Md BT"/>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10.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emplate>Equity</Template>
  <TotalTime>34640</TotalTime>
  <Words>4403</Words>
  <PresentationFormat>On-screen Show (4:3)</PresentationFormat>
  <Paragraphs>782</Paragraphs>
  <Slides>30</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ＭＳ Ｐゴシック</vt:lpstr>
      <vt:lpstr>Arial</vt:lpstr>
      <vt:lpstr>Calibri</vt:lpstr>
      <vt:lpstr>Swis721 Md BT</vt:lpstr>
      <vt:lpstr>Wingdings</vt:lpstr>
      <vt:lpstr>Default Design</vt:lpstr>
      <vt:lpstr>PowerPoint Presentation</vt:lpstr>
      <vt:lpstr>PowerPoint Presentation</vt:lpstr>
      <vt:lpstr>A. Contactability</vt:lpstr>
      <vt:lpstr>       A. Contactibility  contd….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 Additional observation contd…. Organization practices</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2009-04-18T07:45:38Z</dcterms:created>
  <dcterms:modified xsi:type="dcterms:W3CDTF">2025-09-10T11:58:09Z</dcterms:modified>
</cp:coreProperties>
</file>