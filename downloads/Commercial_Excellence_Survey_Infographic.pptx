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Inter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-32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B7585-D785-4946-9EA2-8441E1CFC98A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3D313-54EF-48F6-9AF6-CAF6CA517F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4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-9-8.svg"/><Relationship Id="rId13" Type="http://schemas.openxmlformats.org/officeDocument/2006/relationships/image" Target="../media/image22.png"/><Relationship Id="rId3" Type="http://schemas.openxmlformats.org/officeDocument/2006/relationships/image" Target="../media/image21.png"/><Relationship Id="rId12" Type="http://schemas.openxmlformats.org/officeDocument/2006/relationships/image" Target="../media/image-9-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6.svg"/><Relationship Id="rId5" Type="http://schemas.openxmlformats.org/officeDocument/2006/relationships/image" Target="../media/image-9-4.svg"/><Relationship Id="rId10" Type="http://schemas.openxmlformats.org/officeDocument/2006/relationships/image" Target="../media/image-9-10.svg"/><Relationship Id="rId4" Type="http://schemas.openxmlformats.org/officeDocument/2006/relationships/image" Target="../media/image-9-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6793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Commercial Excellence Survey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496119" y="1455241"/>
            <a:ext cx="1672754" cy="248692"/>
          </a:xfrm>
          <a:prstGeom prst="roundRect">
            <a:avLst>
              <a:gd name="adj" fmla="val 18196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576858" y="1495574"/>
            <a:ext cx="1511275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DELOITTE RESEARCH STUDY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236143" y="1450479"/>
            <a:ext cx="1428676" cy="258217"/>
          </a:xfrm>
          <a:prstGeom prst="roundRect">
            <a:avLst>
              <a:gd name="adj" fmla="val 17525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21644" y="1495574"/>
            <a:ext cx="1257672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 SENIOR EXECUTIVES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6119" y="1852613"/>
            <a:ext cx="4722763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comparative analysis of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Leaders, Contenders, and Laggards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86 Director-level and above commercial executives — revealing the measurable gap that separates top performers from the rest.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96119" y="2626742"/>
            <a:ext cx="2297385" cy="1196057"/>
          </a:xfrm>
          <a:prstGeom prst="roundRect">
            <a:avLst>
              <a:gd name="adj" fmla="val 472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496" y="2766120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🏆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Leaders (n=18)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496" y="3053209"/>
            <a:ext cx="2018630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achieved 12%+ revenue growth.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missed their goals.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21422" y="2626742"/>
            <a:ext cx="2297460" cy="1196057"/>
          </a:xfrm>
          <a:prstGeom prst="roundRect">
            <a:avLst>
              <a:gd name="adj" fmla="val 472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0799" y="2766120"/>
            <a:ext cx="182686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Contenders (n=43)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60799" y="3053209"/>
            <a:ext cx="201870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 achieved 12%+ growth. Mostly in the 3–6% range.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6119" y="3950717"/>
            <a:ext cx="4722763" cy="775915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496" y="409009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📉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Laggards (n=25)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496" y="4377184"/>
            <a:ext cx="444400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were flat or in revenue decline. Significant performance deficit.</a:t>
            </a:r>
            <a:endParaRPr lang="en-US" sz="1050" dirty="0"/>
          </a:p>
        </p:txBody>
      </p:sp>
      <p:sp>
        <p:nvSpPr>
          <p:cNvPr id="18" name="Rectangle 17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405"/>
            <a:ext cx="5793358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Respondent Profile — Who Participated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107728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86 respondents are Director-level and above, spanning Sales, Marketing, and Revenue Operations functions across three performance tiers.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503611"/>
            <a:ext cx="159893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 Level Distribution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6119" y="1807071"/>
            <a:ext cx="3928914" cy="1938189"/>
          </a:xfrm>
          <a:prstGeom prst="roundRect">
            <a:avLst>
              <a:gd name="adj" fmla="val 26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506" y="1877988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3697" y="18779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83507" y="18779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3317" y="1877988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506" y="2193354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Level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3697" y="219335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3507" y="219335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3317" y="2193354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506" y="2508721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3697" y="2508721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33.3%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83507" y="2508721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30.2%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3317" y="2508721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506" y="2824088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Director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03697" y="28240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83507" y="28240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3317" y="2824088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506" y="3317751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SVP / C-Level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3697" y="3317751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83507" y="3317751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3317" y="3317751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23730" y="1503611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Departments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23730" y="1807071"/>
            <a:ext cx="3928914" cy="1938189"/>
          </a:xfrm>
          <a:prstGeom prst="roundRect">
            <a:avLst>
              <a:gd name="adj" fmla="val 26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9118" y="1877988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31309" y="18779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1119" y="1877988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90929" y="1877988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9118" y="2193354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/ Biz Dev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31309" y="219335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38.9%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1119" y="219335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90929" y="2193354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9118" y="2687017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31309" y="2687017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1119" y="2687017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27.9%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90929" y="2687017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9118" y="3002384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Ops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31309" y="300238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1119" y="3002384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90929" y="3002384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9118" y="3496047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Ops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31309" y="3496047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11119" y="3496047"/>
            <a:ext cx="7340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25.6%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90929" y="3496047"/>
            <a:ext cx="7364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6119" y="3975646"/>
            <a:ext cx="8151763" cy="641375"/>
          </a:xfrm>
          <a:prstGeom prst="roundRect">
            <a:avLst>
              <a:gd name="adj" fmla="val 7891"/>
            </a:avLst>
          </a:prstGeom>
          <a:solidFill>
            <a:srgbClr val="B6D6FC"/>
          </a:solidFill>
          <a:ln/>
        </p:spPr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5" y="4154091"/>
            <a:ext cx="150614" cy="120476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87685" y="4108103"/>
            <a:ext cx="76397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 have stronger Sales and RevOps representation, indicating revenue-focused cross-functional leadership. Laggards show weaker Sales presence and </a:t>
            </a: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RevOps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representation.</a:t>
            </a:r>
            <a:endParaRPr lang="en-US" sz="900" dirty="0"/>
          </a:p>
        </p:txBody>
      </p:sp>
      <p:sp>
        <p:nvSpPr>
          <p:cNvPr id="51" name="Rectangle 50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954"/>
            <a:ext cx="482471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Organization Scale — Size &amp; Revenue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08683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 don't just outperform — they operate at a fundamentally different scale. Revenue and headcount advantages create a compounding investment capacity that fuels commercial excellence.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7484" y="1449139"/>
            <a:ext cx="1988046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$6.2B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156990" y="191288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Leaders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2126754"/>
            <a:ext cx="26507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annual revenue 2024 — 68% more than Laggards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77903" y="1449139"/>
            <a:ext cx="1988121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$5.4B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3893121" y="1912888"/>
            <a:ext cx="13576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Contenders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537" y="2126754"/>
            <a:ext cx="265085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annual revenue 2024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28395" y="1449139"/>
            <a:ext cx="1988121" cy="35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$3.7B</a:t>
            </a:r>
            <a:endParaRPr lang="en-US" sz="2750" dirty="0"/>
          </a:p>
        </p:txBody>
      </p:sp>
      <p:sp>
        <p:nvSpPr>
          <p:cNvPr id="11" name="Text 9"/>
          <p:cNvSpPr/>
          <p:nvPr/>
        </p:nvSpPr>
        <p:spPr>
          <a:xfrm>
            <a:off x="6657901" y="191288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Laggards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97029" y="2126754"/>
            <a:ext cx="265085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annual revenue 2024 — concentrated in mid-market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6119" y="2593777"/>
            <a:ext cx="138082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Size Bands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2849538"/>
            <a:ext cx="3946178" cy="1068884"/>
          </a:xfrm>
          <a:prstGeom prst="roundRect">
            <a:avLst>
              <a:gd name="adj" fmla="val 41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881" y="2854300"/>
            <a:ext cx="3936206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7591" y="29068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1892" y="2906837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33812" y="29068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0881" y="3108201"/>
            <a:ext cx="3936206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7591" y="3160737"/>
            <a:ext cx="109701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5,000–9,999 employees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21892" y="3160737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33812" y="31607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0881" y="3510930"/>
            <a:ext cx="3936206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7591" y="3563466"/>
            <a:ext cx="109701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1,000–4,999 employees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1892" y="3563466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33812" y="3563466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6466" y="2593777"/>
            <a:ext cx="147682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Bands (2024)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6466" y="2849538"/>
            <a:ext cx="3946178" cy="1025128"/>
          </a:xfrm>
          <a:prstGeom prst="roundRect">
            <a:avLst>
              <a:gd name="adj" fmla="val 43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1229" y="2854300"/>
            <a:ext cx="3936206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17938" y="29068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32240" y="2906837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44160" y="29068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11229" y="3108201"/>
            <a:ext cx="3936206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17938" y="31607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$10B+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32240" y="3160737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33.3%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44160" y="3160737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1229" y="3362102"/>
            <a:ext cx="3936206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17938" y="3414638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$5B–$9.9B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32240" y="3414638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44160" y="3414638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11229" y="3616003"/>
            <a:ext cx="3936206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17938" y="3668539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$1B–$4.9B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32240" y="3668539"/>
            <a:ext cx="109463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38.9%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44160" y="3668539"/>
            <a:ext cx="109701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6119" y="4097759"/>
            <a:ext cx="8151763" cy="528786"/>
          </a:xfrm>
          <a:prstGeom prst="roundRect">
            <a:avLst>
              <a:gd name="adj" fmla="val 8445"/>
            </a:avLst>
          </a:prstGeom>
          <a:solidFill>
            <a:srgbClr val="C7C9EA"/>
          </a:solidFill>
          <a:ln/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82" y="4251871"/>
            <a:ext cx="132904" cy="106263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41549" y="4204022"/>
            <a:ext cx="7700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 are disproportionately concentrated in the mid-market ($1–5B), limiting their resource base and investment capacity for commercial excellence capabilities.</a:t>
            </a:r>
            <a:endParaRPr lang="en-US" sz="800" dirty="0"/>
          </a:p>
        </p:txBody>
      </p:sp>
      <p:sp>
        <p:nvSpPr>
          <p:cNvPr id="48" name="Rectangle 47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364"/>
            <a:ext cx="736751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Performance — The Performance Chasm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17687"/>
            <a:ext cx="815176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between Leaders and Laggards is not incremental — it is structural. Leaders grow at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5–8x the rate of Laggards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not a single Leader missed their revenue goal.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591866"/>
            <a:ext cx="2813819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vs. Goal Attainment (Last FY)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045791"/>
            <a:ext cx="3339554" cy="18197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23730" y="1591866"/>
            <a:ext cx="2518842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 Revenue Growth Rate (Last FY)</a:t>
            </a:r>
            <a:endParaRPr lang="en-US" sz="11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730" y="2045791"/>
            <a:ext cx="3339554" cy="1819796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496119" y="4065761"/>
            <a:ext cx="8151763" cy="641375"/>
          </a:xfrm>
          <a:prstGeom prst="roundRect">
            <a:avLst>
              <a:gd name="adj" fmla="val 7891"/>
            </a:avLst>
          </a:prstGeom>
          <a:solidFill>
            <a:srgbClr val="B6FCB8"/>
          </a:solidFill>
          <a:ln/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95" y="4244206"/>
            <a:ext cx="150614" cy="12047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87685" y="4198218"/>
            <a:ext cx="7639720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excellence directly and measurably drives superior growth velocity. </a:t>
            </a: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Leaders missed their goals</a:t>
            </a: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28% of Laggards did. Leaders grow at 5–8x the rate of Laggards.</a:t>
            </a:r>
            <a:endParaRPr lang="en-US" sz="900" dirty="0"/>
          </a:p>
        </p:txBody>
      </p:sp>
      <p:sp>
        <p:nvSpPr>
          <p:cNvPr id="29" name="Rectangle 28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644"/>
            <a:ext cx="421243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Goals vs. Key Challenges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65659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all groups share topline revenue growth as their primary goal, the </a:t>
            </a: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maturity of their ambitions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diverges sharply — Leaders focus on win rates while Laggards are still building GTM foundations.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283196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Strategic Goals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516335"/>
            <a:ext cx="3954884" cy="2578001"/>
          </a:xfrm>
          <a:prstGeom prst="roundRect">
            <a:avLst>
              <a:gd name="adj" fmla="val 16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0298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586582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72866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59150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0298" y="1800151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Topline revenue growth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86582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55.6%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72866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55.8%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59150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52.0%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0298" y="2167756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win rates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86582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72866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39.5%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59150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0298" y="2535362"/>
            <a:ext cx="787896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marketing funnel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586582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38.9%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572866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34.9%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59150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0298" y="3037954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ops effectiveness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586582" y="3037954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72866" y="3037954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59150" y="3037954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0298" y="3405560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GTM planning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586582" y="3405560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72866" y="3405560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11.6%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59150" y="3405560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0298" y="3773165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CRM content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86582" y="3773165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72866" y="3773165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25.6%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59150" y="3773165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36.0%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97760" y="1283196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Challenges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97760" y="1516335"/>
            <a:ext cx="3954884" cy="2075408"/>
          </a:xfrm>
          <a:prstGeom prst="roundRect">
            <a:avLst>
              <a:gd name="adj" fmla="val 20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1939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88223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74507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760791" y="156753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01939" y="1800151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sales process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88223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74507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42.9%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760791" y="1800151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54.2%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1939" y="2167756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Prioritizing GTM offerings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88223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74507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45.2%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60791" y="2167756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37.5%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01939" y="2535362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constraints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88223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774507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31.0%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760791" y="253536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01939" y="2902967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GTM coordination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788223" y="2902967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38.9%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774507" y="2902967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19.0%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60791" y="2902967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801939" y="3270572"/>
            <a:ext cx="787896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&amp; enrichment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788223" y="327057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38.9%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774507" y="327057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28.6%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760791" y="3270572"/>
            <a:ext cx="78789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37.5%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6119" y="4250606"/>
            <a:ext cx="8151763" cy="476250"/>
          </a:xfrm>
          <a:prstGeom prst="roundRect">
            <a:avLst>
              <a:gd name="adj" fmla="val 8752"/>
            </a:avLst>
          </a:prstGeom>
          <a:solidFill>
            <a:srgbClr val="FCF2B5"/>
          </a:solidFill>
          <a:ln/>
        </p:spPr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4387751"/>
            <a:ext cx="123974" cy="99194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818480" y="4344814"/>
            <a:ext cx="7730207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Leaders' top unique challenge is </a:t>
            </a:r>
            <a:r>
              <a:rPr lang="en-US" sz="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coordination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sign of greater organizational complexity. Laggards haven't even reached this level of sophistication yet. Budget constraints (42%) cap Laggard investment capacity.</a:t>
            </a:r>
            <a:endParaRPr lang="en-US" sz="750" dirty="0"/>
          </a:p>
        </p:txBody>
      </p:sp>
      <p:sp>
        <p:nvSpPr>
          <p:cNvPr id="63" name="Rectangle 62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344" y="258514"/>
            <a:ext cx="3349377" cy="175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Technology — Stack Maturity &amp; Pain 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02344" y="478408"/>
            <a:ext cx="8539311" cy="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investment is a clear differentiator of commercial leadership. Leaders run complex, multi-tool stacks and face </a:t>
            </a:r>
            <a:r>
              <a:rPr lang="en-US" sz="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sophistication-level challenges</a:t>
            </a: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Laggards are still constrained by basic budget barriers.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1370856" y="931069"/>
            <a:ext cx="69063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44%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02" y="580132"/>
            <a:ext cx="842293" cy="842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8532" y="1458590"/>
            <a:ext cx="735434" cy="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Leaders Use 5+ Tools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302344" y="1559570"/>
            <a:ext cx="2827883" cy="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seller tool usage — highest complexity stack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226570" y="931069"/>
            <a:ext cx="69063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44%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816" y="580132"/>
            <a:ext cx="842293" cy="842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73438" y="1458590"/>
            <a:ext cx="797049" cy="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Laggards Use 1–2 Tools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3157984" y="1559570"/>
            <a:ext cx="2827958" cy="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tech stack — severely limiting commercial capability</a:t>
            </a:r>
            <a:endParaRPr lang="en-US" sz="400" dirty="0"/>
          </a:p>
        </p:txBody>
      </p:sp>
      <p:sp>
        <p:nvSpPr>
          <p:cNvPr id="12" name="Text 8"/>
          <p:cNvSpPr/>
          <p:nvPr/>
        </p:nvSpPr>
        <p:spPr>
          <a:xfrm>
            <a:off x="7082210" y="931069"/>
            <a:ext cx="69063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456" y="580132"/>
            <a:ext cx="842293" cy="842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9238" y="1458590"/>
            <a:ext cx="856729" cy="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Laggards: Budget Barrier</a:t>
            </a:r>
            <a:endParaRPr lang="en-US" sz="550" dirty="0"/>
          </a:p>
        </p:txBody>
      </p:sp>
      <p:sp>
        <p:nvSpPr>
          <p:cNvPr id="15" name="Text 10"/>
          <p:cNvSpPr/>
          <p:nvPr/>
        </p:nvSpPr>
        <p:spPr>
          <a:xfrm>
            <a:off x="6013698" y="1559570"/>
            <a:ext cx="2827883" cy="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budget is the #1 challenge — vs. only 16.7% for Leaders</a:t>
            </a:r>
            <a:endParaRPr lang="en-US" sz="400" dirty="0"/>
          </a:p>
        </p:txBody>
      </p:sp>
      <p:sp>
        <p:nvSpPr>
          <p:cNvPr id="16" name="Text 11"/>
          <p:cNvSpPr/>
          <p:nvPr/>
        </p:nvSpPr>
        <p:spPr>
          <a:xfrm>
            <a:off x="302344" y="1655638"/>
            <a:ext cx="1175296" cy="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Biggest Tech Challenges by Group</a:t>
            </a:r>
            <a:endParaRPr lang="en-US" sz="550" dirty="0"/>
          </a:p>
        </p:txBody>
      </p:sp>
      <p:sp>
        <p:nvSpPr>
          <p:cNvPr id="17" name="Shape 12"/>
          <p:cNvSpPr/>
          <p:nvPr/>
        </p:nvSpPr>
        <p:spPr>
          <a:xfrm>
            <a:off x="302344" y="1776636"/>
            <a:ext cx="355476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2" y="1799481"/>
            <a:ext cx="57150" cy="571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1882" y="1790923"/>
            <a:ext cx="21260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Leaders</a:t>
            </a:r>
            <a:endParaRPr lang="en-US" sz="450" dirty="0"/>
          </a:p>
        </p:txBody>
      </p:sp>
      <p:sp>
        <p:nvSpPr>
          <p:cNvPr id="20" name="Shape 14"/>
          <p:cNvSpPr/>
          <p:nvPr/>
        </p:nvSpPr>
        <p:spPr>
          <a:xfrm>
            <a:off x="695920" y="1776636"/>
            <a:ext cx="45548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58" y="1799481"/>
            <a:ext cx="57150" cy="571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5458" y="1790923"/>
            <a:ext cx="31261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Contenders</a:t>
            </a:r>
            <a:endParaRPr lang="en-US" sz="450" dirty="0"/>
          </a:p>
        </p:txBody>
      </p:sp>
      <p:sp>
        <p:nvSpPr>
          <p:cNvPr id="23" name="Shape 16"/>
          <p:cNvSpPr/>
          <p:nvPr/>
        </p:nvSpPr>
        <p:spPr>
          <a:xfrm>
            <a:off x="1189509" y="1776636"/>
            <a:ext cx="392237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846" y="1799481"/>
            <a:ext cx="57150" cy="571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99046" y="1790923"/>
            <a:ext cx="249362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Laggards</a:t>
            </a:r>
            <a:endParaRPr lang="en-US" sz="4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344" y="1927101"/>
            <a:ext cx="5550545" cy="2975893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792" y="230163"/>
            <a:ext cx="2078459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Adoption Maturity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86792" y="580951"/>
            <a:ext cx="8570416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maturity does not perfectly mirror commercial performance — but the risk is clear. </a:t>
            </a:r>
            <a:r>
              <a:rPr lang="en-US" sz="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 are most concentrated in early piloting</a:t>
            </a: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advantages compound for those who scale sooner.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92" y="737667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92" y="737667"/>
            <a:ext cx="655320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6792" y="4501828"/>
            <a:ext cx="4185270" cy="358229"/>
          </a:xfrm>
          <a:prstGeom prst="roundRect">
            <a:avLst>
              <a:gd name="adj" fmla="val 9609"/>
            </a:avLst>
          </a:prstGeom>
          <a:solidFill>
            <a:srgbClr val="FCF2B5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22" y="4613449"/>
            <a:ext cx="102394" cy="819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3045" y="4569619"/>
            <a:ext cx="3837087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 Risk:</a:t>
            </a: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56% of Laggards are still just piloting AI — the highest concentration at the earliest stage. As AI scaling compounds advantages, delayed action risks a permanent performance gap.</a:t>
            </a:r>
            <a:endParaRPr lang="en-US" sz="600" dirty="0"/>
          </a:p>
        </p:txBody>
      </p:sp>
      <p:sp>
        <p:nvSpPr>
          <p:cNvPr id="9" name="Shape 4"/>
          <p:cNvSpPr/>
          <p:nvPr/>
        </p:nvSpPr>
        <p:spPr>
          <a:xfrm>
            <a:off x="4676701" y="4501828"/>
            <a:ext cx="4185270" cy="358229"/>
          </a:xfrm>
          <a:prstGeom prst="roundRect">
            <a:avLst>
              <a:gd name="adj" fmla="val 9609"/>
            </a:avLst>
          </a:prstGeom>
          <a:solidFill>
            <a:srgbClr val="B6D6FC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630" y="4613449"/>
            <a:ext cx="102394" cy="819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2954" y="4569619"/>
            <a:ext cx="3837087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 Surprise:</a:t>
            </a: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Contenders lead in having fully scaled AI at 14% — outpacing both Leaders and Laggards. All groups remain in the early-to-mid AI journey overall.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477"/>
            <a:ext cx="6005587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Enablement — Ownership &amp; Governance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4205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enablement sits in the org chart signals its </a:t>
            </a: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and strategic priority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Leaders treat it as a revenue function; Laggards treat it as an operational afterthought.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9546" y="1291530"/>
            <a:ext cx="4099322" cy="2597125"/>
          </a:xfrm>
          <a:prstGeom prst="roundRect">
            <a:avLst>
              <a:gd name="adj" fmla="val 2948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525810" y="1371228"/>
            <a:ext cx="21408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 Oversees Sales Enablement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2073" y="167952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03772" y="167952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75471" y="167952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47170" y="167952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2073" y="1933426"/>
            <a:ext cx="7591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 / Head of Sales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3772" y="1933426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75471" y="1933426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46.5%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47170" y="1933426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2073" y="2336155"/>
            <a:ext cx="75917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Sales Ops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03772" y="233615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471" y="233615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27.9%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47170" y="233615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44.0%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2073" y="2738884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03772" y="2738884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75471" y="2738884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18.6%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47170" y="2738884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073" y="299278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3772" y="299278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75471" y="299278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47170" y="2992785"/>
            <a:ext cx="75917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06466" y="1371228"/>
            <a:ext cx="221582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Training Content is Governed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6466" y="1626989"/>
            <a:ext cx="3946178" cy="2171998"/>
          </a:xfrm>
          <a:prstGeom prst="roundRect">
            <a:avLst>
              <a:gd name="adj" fmla="val 20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1229" y="1631752"/>
            <a:ext cx="393665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17641" y="1684288"/>
            <a:ext cx="7692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Model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04148" y="1684288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8274" y="1684288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Contenders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1684288"/>
            <a:ext cx="769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11229" y="2034480"/>
            <a:ext cx="3936653" cy="5515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17641" y="2087017"/>
            <a:ext cx="76921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Leadership decides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04148" y="2087017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88274" y="2087017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39.5%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2087017"/>
            <a:ext cx="769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11229" y="2586038"/>
            <a:ext cx="393665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17641" y="2638574"/>
            <a:ext cx="7692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Enablement Board/Council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04148" y="2638574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88274" y="2638574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23.3%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2638574"/>
            <a:ext cx="769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11229" y="2988766"/>
            <a:ext cx="3936653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817641" y="3041303"/>
            <a:ext cx="7692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Product/Marketing decides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04148" y="3041303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88274" y="3041303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18.6%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0" y="3041303"/>
            <a:ext cx="769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36.0%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11229" y="3391495"/>
            <a:ext cx="3936653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817641" y="3444032"/>
            <a:ext cx="7692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strong governance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04148" y="3444032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88274" y="3444032"/>
            <a:ext cx="76683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772400" y="3444032"/>
            <a:ext cx="769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96119" y="3978325"/>
            <a:ext cx="4035996" cy="752624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1831" y="3978325"/>
            <a:ext cx="57150" cy="75262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55" name="Text 53"/>
          <p:cNvSpPr/>
          <p:nvPr/>
        </p:nvSpPr>
        <p:spPr>
          <a:xfrm>
            <a:off x="659532" y="4098875"/>
            <a:ext cx="19288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Leaders: Strategic Ownership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9532" y="4312741"/>
            <a:ext cx="37520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anchor enablement under CRO with formal governance boards (22%) — treating it as a </a:t>
            </a: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revenue function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611812" y="3978325"/>
            <a:ext cx="4036070" cy="752624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97524" y="3978325"/>
            <a:ext cx="57150" cy="75262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59" name="Text 57"/>
          <p:cNvSpPr/>
          <p:nvPr/>
        </p:nvSpPr>
        <p:spPr>
          <a:xfrm>
            <a:off x="4775225" y="4098875"/>
            <a:ext cx="175282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Laggards: Operational Drift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75225" y="4312741"/>
            <a:ext cx="375210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44% cede control to Sales Ops; 36% to Product/Marketing. Only 8% have a formal enablement board — treating it as </a:t>
            </a: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overhead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61" name="Rectangle 60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418"/>
            <a:ext cx="6739682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Imperatives — The Path to Commercial Leadership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45133"/>
            <a:ext cx="8151763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evidence-based imperatives separate Leaders from Laggards. These are not aspirational — they are the </a:t>
            </a:r>
            <a:r>
              <a:rPr lang="en-US" sz="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behaviors</a:t>
            </a: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drive 5–8x revenue growth differentials.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6119" y="113407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3006" y="123095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8982" y="1306934"/>
            <a:ext cx="124346" cy="1243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3006" y="1567160"/>
            <a:ext cx="154319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 the Performance Gap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3006" y="174701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 grew 12%+ while 60% of Laggards declined. Commercial excellence = measurable revenue advantage.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601914" y="113407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8802" y="123095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774778" y="1306934"/>
            <a:ext cx="124346" cy="1243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8802" y="1567160"/>
            <a:ext cx="1420267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Scale Enables Excellence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698802" y="174701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 average $6.2B vs $3.7B for Laggards. Scale creates investment capacity for capabilities that drive more growth.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96119" y="214692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3006" y="224380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8982" y="2319784"/>
            <a:ext cx="124346" cy="12434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3006" y="2580010"/>
            <a:ext cx="148977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 in Tech Stack Depth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93006" y="275986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 use 5+ tools with sophisticated integration. Laggards must break through the budget investment barrier.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601914" y="214692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98802" y="224380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774778" y="2319784"/>
            <a:ext cx="124346" cy="12434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98802" y="2580010"/>
            <a:ext cx="1631379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Is Table Stakes — Act Now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698802" y="275986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groups are still piloting. Laggards must accelerate AI scaling or risk falling permanently behind as advantages compound.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496119" y="315977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3006" y="325665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8982" y="3332634"/>
            <a:ext cx="124346" cy="12434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3006" y="3592860"/>
            <a:ext cx="1748358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Elevate Enablement Ownership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93006" y="377271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enablement from Sales Ops to CRO leadership. Establish formal enablement boards for strategic governance.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4601914" y="3159770"/>
            <a:ext cx="4045967" cy="953021"/>
          </a:xfrm>
          <a:prstGeom prst="roundRect">
            <a:avLst>
              <a:gd name="adj" fmla="val 40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698802" y="3256657"/>
            <a:ext cx="276374" cy="276374"/>
          </a:xfrm>
          <a:prstGeom prst="roundRect">
            <a:avLst>
              <a:gd name="adj" fmla="val 20676433"/>
            </a:avLst>
          </a:prstGeom>
          <a:solidFill>
            <a:srgbClr val="4950B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774778" y="3332634"/>
            <a:ext cx="124346" cy="12434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698802" y="3592860"/>
            <a:ext cx="160890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Internal Coordination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698802" y="3772719"/>
            <a:ext cx="3852193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Leaders' top pain point is cross-GTM coordination — Laggards haven't reached this complexity yet. Build the foundations first.</a:t>
            </a:r>
            <a:endParaRPr lang="en-US" sz="700" dirty="0"/>
          </a:p>
        </p:txBody>
      </p:sp>
      <p:sp>
        <p:nvSpPr>
          <p:cNvPr id="34" name="Shape 26"/>
          <p:cNvSpPr/>
          <p:nvPr/>
        </p:nvSpPr>
        <p:spPr>
          <a:xfrm>
            <a:off x="496119" y="4180136"/>
            <a:ext cx="8151763" cy="425946"/>
          </a:xfrm>
          <a:prstGeom prst="roundRect">
            <a:avLst>
              <a:gd name="adj" fmla="val 9086"/>
            </a:avLst>
          </a:prstGeom>
          <a:solidFill>
            <a:srgbClr val="B6FCB8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243" y="4305077"/>
            <a:ext cx="115119" cy="9212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95486" y="4262958"/>
            <a:ext cx="7760271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performance gap is real, measurable, and actionable. Organizations that invest in commercial excellence capabilities today will compound their advantages — widening the gap further every year.</a:t>
            </a:r>
            <a:endParaRPr lang="en-US" sz="700" dirty="0"/>
          </a:p>
        </p:txBody>
      </p:sp>
      <p:sp>
        <p:nvSpPr>
          <p:cNvPr id="37" name="Rectangle 36"/>
          <p:cNvSpPr/>
          <p:nvPr/>
        </p:nvSpPr>
        <p:spPr>
          <a:xfrm>
            <a:off x="8065008" y="4852416"/>
            <a:ext cx="1024128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1230</Words>
  <Application>Microsoft Office PowerPoint</Application>
  <PresentationFormat>On-screen Show (16:9)</PresentationFormat>
  <Paragraphs>249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Inter Bold</vt:lpstr>
      <vt:lpstr>Inter</vt:lpstr>
      <vt:lpstr>-apple-system, BlinkMacSystemFont, Segoe UI, Roboto, Helvetica Neue, Arial, sans-serif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</cp:lastModifiedBy>
  <cp:revision>2</cp:revision>
  <dcterms:created xsi:type="dcterms:W3CDTF">2026-05-10T01:54:36Z</dcterms:created>
  <dcterms:modified xsi:type="dcterms:W3CDTF">2026-05-10T02:00:12Z</dcterms:modified>
</cp:coreProperties>
</file>