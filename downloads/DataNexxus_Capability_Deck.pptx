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507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Data Into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Insight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Operations, Data Processing &amp;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Capabilities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Business Intelligence  |  AI Solutions</a:t>
            </a:r>
            <a:endParaRPr lang="en-US" sz="1600" dirty="0"/>
          </a:p>
        </p:txBody>
      </p:sp>
      <p:pic>
        <p:nvPicPr>
          <p:cNvPr id="5" name="Image 0" descr="image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526" y="2580299"/>
            <a:ext cx="2991394" cy="155502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3152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www.datanexxus.in   |   Empowering decisions through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B1A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Research Support Capabilities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21408" cy="44348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169164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8379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14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Management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35204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open-end coding, restructuring &amp; VBA automation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71216" y="1417320"/>
            <a:ext cx="2121408" cy="44348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18379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0944" y="2514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Tabulation &amp; Reporting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035808" y="35204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plans, advanced cross-tabs &amp; data weighting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93792" y="1417320"/>
            <a:ext cx="2121408" cy="44348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34456" y="169164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8379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2514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Statistical Analysis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358384" y="35204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analysis, factor/driver/regression, hypothesis testing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516368" y="1417320"/>
            <a:ext cx="2121408" cy="44348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57032" y="169164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18379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6096" y="2514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QC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0" y="35204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Questionnaire, survey programming, raw data &amp; report QC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838944" y="1417320"/>
            <a:ext cx="2121408" cy="44348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579608" y="169164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5912" y="183794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48672" y="251460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Strategic Reporting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0003536" y="352044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Visualization, trend analysis &amp; stakeholder-ready deliverables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boardroom-ready insight — DataNexxus supports every stage of the research lifecycle.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B1A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 Processing &amp; Management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26060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2704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6642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270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14016"/>
            <a:ext cx="4983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validation of raw survey data for accuracy, consistency &amp; completeness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correction of duplicates, invalid entries, missing values, logical inconsistencies &amp; outliers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and manual quality checks to maintain data integrity before analysis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325880"/>
            <a:ext cx="5440680" cy="26060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152704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166420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5270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 Data Coding &amp; Code Frame Prep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29400" y="2414016"/>
            <a:ext cx="4983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structured coding frameworks (code frames) for qualitative responses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AI-assisted coding of open-ended survey data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identification, sentiment categorization &amp; response classification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coding structures to support robust qualitative analysis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440680" cy="26060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45312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59028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531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Restructuring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77240" y="5340096"/>
            <a:ext cx="4983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and reorganization of datasets to meet analytical &amp; reporting requirements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Merging, splitting, recoding, stacking &amp; reshaping data files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Multi-country, multi-wave &amp; longitudinal data harmonization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of analysis-ready datasets compatible with statistical software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0" y="4251960"/>
            <a:ext cx="5440680" cy="26060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1968" y="445312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459028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4531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 Automation Solutions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29400" y="5340096"/>
            <a:ext cx="4983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VBA-based automation tools within Microsoft Excel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cleaning, reporting, dashboard generation &amp; file processing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manual effort through process optimization &amp; workflow automation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 for recurring research and operational tasks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Tabulation &amp; Reporting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structured data into clear, decision-ready outputs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93776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Tabulation &amp; Banner Plan Development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creation of comprehensive tabulation specifications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plans based on demographic, behavioral, attitudinal &amp; custom segmentation variables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of tabulation structures with research objectives &amp; stakeholder requirements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1554480"/>
            <a:ext cx="3657600" cy="493776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178308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9110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Cross-Tabulation Reporting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54880" y="324612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cross-tabulation reports with statistical significance testing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analysis across key target groups &amp; segments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report formatting with enhanced visualization &amp; executive-friendly presentation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of publication-ready tables and dashboards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1554480"/>
            <a:ext cx="3657600" cy="493776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15" name="Shape 11"/>
          <p:cNvSpPr/>
          <p:nvPr/>
        </p:nvSpPr>
        <p:spPr>
          <a:xfrm>
            <a:off x="8732520" y="178308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19110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Weighting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732520" y="324612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methodologies to improve sample representativeness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weighting, post-stratification weighting, rim weighting (raking) &amp; calibration techniques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weighted data &amp; assessment of weighting efficiency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weighting procedures and impact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B1A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Advanced Statistical Analysis —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657600" cy="46634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2704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6642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270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 (Qualitative Research)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14016"/>
            <a:ext cx="32004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evaluation of qualitative responses from surveys, interviews, focus groups &amp; social listening studies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recurring themes, customer sentiments, perceptions &amp; emerging trends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actionable insights from unstructured textual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34840" y="1325880"/>
            <a:ext cx="7178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Techniques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828800"/>
            <a:ext cx="7178040" cy="868680"/>
          </a:xfrm>
          <a:prstGeom prst="rect">
            <a:avLst/>
          </a:prstGeom>
          <a:solidFill>
            <a:srgbClr val="FDF6E9"/>
          </a:solidFill>
          <a:ln/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034540"/>
            <a:ext cx="457200" cy="45720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1259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901952"/>
            <a:ext cx="1920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178040" y="1901952"/>
            <a:ext cx="4297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underlying dimensions &amp; latent constructs for segmentation and strategic decisions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434840" y="2816352"/>
            <a:ext cx="7178040" cy="868680"/>
          </a:xfrm>
          <a:prstGeom prst="rect">
            <a:avLst/>
          </a:prstGeom>
          <a:solidFill>
            <a:srgbClr val="FDF6E9"/>
          </a:solidFill>
          <a:ln/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99432" y="3022092"/>
            <a:ext cx="457200" cy="45720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31135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2889504"/>
            <a:ext cx="1920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Analysis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78040" y="2889504"/>
            <a:ext cx="4297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influencing satisfaction, loyalty &amp; purchase intent, prioritized by impact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434840" y="3803904"/>
            <a:ext cx="7178040" cy="868680"/>
          </a:xfrm>
          <a:prstGeom prst="rect">
            <a:avLst/>
          </a:prstGeom>
          <a:solidFill>
            <a:srgbClr val="FDF6E9"/>
          </a:solidFill>
          <a:ln/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99432" y="4009644"/>
            <a:ext cx="457200" cy="45720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41010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12080" y="3877056"/>
            <a:ext cx="1920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178040" y="3877056"/>
            <a:ext cx="4297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multiple &amp; logistic regression for predictive modeling and forecasting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34840" y="4791456"/>
            <a:ext cx="7178040" cy="868680"/>
          </a:xfrm>
          <a:prstGeom prst="rect">
            <a:avLst/>
          </a:prstGeom>
          <a:solidFill>
            <a:srgbClr val="FDF6E9"/>
          </a:solidFill>
          <a:ln/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9432" y="4997196"/>
            <a:ext cx="457200" cy="45720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508863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4864608"/>
            <a:ext cx="1920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178040" y="4864608"/>
            <a:ext cx="4297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of strength &amp; direction of relationships between variables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434840" y="5779008"/>
            <a:ext cx="7178040" cy="868680"/>
          </a:xfrm>
          <a:prstGeom prst="rect">
            <a:avLst/>
          </a:prstGeom>
          <a:solidFill>
            <a:srgbClr val="FDF6E9"/>
          </a:solidFill>
          <a:ln/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99432" y="5984748"/>
            <a:ext cx="457200" cy="45720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304" y="607618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12080" y="5852160"/>
            <a:ext cx="1920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Conjoint Analysis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178040" y="5852160"/>
            <a:ext cx="4297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&amp; trade-off evaluation, market simulation, pricing &amp; feature prioritization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B1A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Advanced Statistical Analysis — Hypothesis Testing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008022" cy="507492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5471" y="1581912"/>
            <a:ext cx="594360" cy="59436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059" y="17145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331720"/>
            <a:ext cx="17885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3200400"/>
            <a:ext cx="167883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 t-Test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Sample t-Test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12694" y="1325880"/>
            <a:ext cx="2008022" cy="507492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9526" y="1581912"/>
            <a:ext cx="594360" cy="59436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114" y="171450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2422" y="2331720"/>
            <a:ext cx="17885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Variance (ANOVA)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77286" y="3200400"/>
            <a:ext cx="167883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comparison of means across groups and time periods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76749" y="1325880"/>
            <a:ext cx="2008022" cy="507492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1581912"/>
            <a:ext cx="594360" cy="59436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171450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6477" y="2331720"/>
            <a:ext cx="17885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(A/B Testing)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41341" y="3200400"/>
            <a:ext cx="167883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experimental outcomes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proportions &amp; means between test and control groups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and optimization analysis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40803" y="1325880"/>
            <a:ext cx="2008022" cy="507492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7634" y="1581912"/>
            <a:ext cx="594360" cy="59436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0222" y="171450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0531" y="2331720"/>
            <a:ext cx="17885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505395" y="3200400"/>
            <a:ext cx="167883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data variability and consistency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significant differences across groups and segments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04858" y="1325880"/>
            <a:ext cx="2008022" cy="507492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11689" y="1581912"/>
            <a:ext cx="594360" cy="59436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4277" y="171450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14586" y="2331720"/>
            <a:ext cx="17885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Testing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69450" y="3200400"/>
            <a:ext cx="167883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data that does not meet normality assumptions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Test, Wilcoxon Signed-Rank Test, Kruskal-Wallis Test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Testing &amp; other distribution-free methodologies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Quality Assurance &amp; Quality Control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QC at every stage ensures accuracy and confidence in final deliverables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46888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Quality Check (QC)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review of survey questionnaires prior to launch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skip logic, piping, randomization, validation rules &amp; survey flow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resolution of questionnaire design issues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554480"/>
            <a:ext cx="5440680" cy="246888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19110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25603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Programming &amp; Testing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32461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across Decipher, Qualtrics, Sogo Survey, SurveyMonkey &amp; Confirmit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testing and respondent experience validation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(User Acceptance Testing) and final deployment readiness checks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440680" cy="246888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6542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53035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240" y="59893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validation and consistency checks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coding, derived variables, quotas &amp; respondent eligibility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speeders, straight-liners, duplicate respondents &amp; fraudulent entries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4297680"/>
            <a:ext cx="5440680" cy="246888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526280"/>
            <a:ext cx="640080" cy="64008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6542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29400" y="53035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 &amp; Reporting QC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29400" y="59893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verification of tabulations, statistical outputs &amp; reporting calculations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between raw data, tables, charts &amp; final reports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review process to ensure complete accuracy and reliability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B1A0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Insights, Visualization &amp; Strategic Reporting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26060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2704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6642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270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 &amp; Presentation Development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14016"/>
            <a:ext cx="4983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research reports and executive presentations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Storytelling-driven insight development tailored to business objectives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of complex data into clear, actionable business recommendations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325880"/>
            <a:ext cx="5440680" cy="26060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152704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166420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5270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Infographics &amp; Data Visualization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29400" y="2414016"/>
            <a:ext cx="4983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engaging and visually impactful infographics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dashboards, heat maps &amp; executive summaries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visual storytelling to improve stakeholder understanding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440680" cy="26060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45312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59028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531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 &amp; Opportunity Identification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5340096"/>
            <a:ext cx="4983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emerging market trends, customer behaviors &amp; business opportunities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across waves, markets &amp; competitive landscapes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0" y="4251960"/>
            <a:ext cx="5440680" cy="2606040"/>
          </a:xfrm>
          <a:prstGeom prst="rect">
            <a:avLst/>
          </a:prstGeom>
          <a:solidFill>
            <a:srgbClr val="FDF6E9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1968" y="4453128"/>
            <a:ext cx="777240" cy="7772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459028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4531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 &amp; Strategic Recommendations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629400" y="5340096"/>
            <a:ext cx="49834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practical, evidence-based recommendations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frameworks for business decision-making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3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roadmaps aligned with organizational goals &amp; customer insights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02920"/>
            <a:ext cx="2743200" cy="1508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Stakeholder-Ready Deliverables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5780" y="3063240"/>
            <a:ext cx="3520440" cy="173736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5" name="Shape 2"/>
          <p:cNvSpPr/>
          <p:nvPr/>
        </p:nvSpPr>
        <p:spPr>
          <a:xfrm>
            <a:off x="2011680" y="3291840"/>
            <a:ext cx="548640" cy="5486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696" y="3419856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8660" y="3977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Boardroom-ready presentations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320540" y="3063240"/>
            <a:ext cx="3520440" cy="173736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9" name="Shape 5"/>
          <p:cNvSpPr/>
          <p:nvPr/>
        </p:nvSpPr>
        <p:spPr>
          <a:xfrm>
            <a:off x="5806440" y="3291840"/>
            <a:ext cx="548640" cy="5486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341985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03420" y="3977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reports and dashboards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8115300" y="3063240"/>
            <a:ext cx="3520440" cy="1737360"/>
          </a:xfrm>
          <a:prstGeom prst="rect">
            <a:avLst/>
          </a:prstGeom>
          <a:solidFill>
            <a:srgbClr val="FDF6E9"/>
          </a:solidFill>
          <a:ln/>
        </p:spPr>
      </p:sp>
      <p:sp>
        <p:nvSpPr>
          <p:cNvPr id="13" name="Shape 8"/>
          <p:cNvSpPr/>
          <p:nvPr/>
        </p:nvSpPr>
        <p:spPr>
          <a:xfrm>
            <a:off x="9601200" y="3291840"/>
            <a:ext cx="548640" cy="548640"/>
          </a:xfrm>
          <a:prstGeom prst="ellipse">
            <a:avLst/>
          </a:prstGeom>
          <a:solidFill>
            <a:srgbClr val="2B1A0E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6" y="34198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98180" y="3977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summaries tailored for executive leadership, marketing, product &amp; research teams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validation to final boardroom presentation — DataNexxus is your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research and analytics partner.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3108960" y="5989320"/>
            <a:ext cx="5943600" cy="594360"/>
          </a:xfrm>
          <a:prstGeom prst="rect">
            <a:avLst/>
          </a:prstGeom>
          <a:solidFill>
            <a:srgbClr val="4A3018"/>
          </a:solidFill>
          <a:ln/>
        </p:spPr>
      </p:sp>
      <p:sp>
        <p:nvSpPr>
          <p:cNvPr id="18" name="Text 12"/>
          <p:cNvSpPr/>
          <p:nvPr/>
        </p:nvSpPr>
        <p:spPr>
          <a:xfrm>
            <a:off x="3108960" y="59893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www.datanexxus.in   |   Data Analytics  |  Business Intelligence  |  AI Solutions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947</Words>
  <Application>Microsoft Office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DataNexxus Capabilities</dc:title>
  <dc:subject>PptxGenJS Presentation</dc:subject>
  <dc:creator>DataNexxus</dc:creator>
  <cp:lastModifiedBy>Karan Dataprocessing</cp:lastModifiedBy>
  <cp:revision>2</cp:revision>
  <dcterms:created xsi:type="dcterms:W3CDTF">2026-06-12T06:58:16Z</dcterms:created>
  <dcterms:modified xsi:type="dcterms:W3CDTF">2026-06-12T07:07:25Z</dcterms:modified>
</cp:coreProperties>
</file>