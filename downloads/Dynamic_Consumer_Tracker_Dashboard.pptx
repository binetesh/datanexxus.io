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drawings/drawing1.xml" ContentType="application/vnd.openxmlformats-officedocument.drawingml.chartshapes+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6" r:id="rId3"/>
    <p:sldId id="260" r:id="rId4"/>
    <p:sldId id="261" r:id="rId5"/>
    <p:sldId id="262" r:id="rId6"/>
    <p:sldId id="263" r:id="rId7"/>
    <p:sldId id="358" r:id="rId8"/>
    <p:sldId id="264" r:id="rId9"/>
    <p:sldId id="266" r:id="rId10"/>
    <p:sldId id="301" r:id="rId11"/>
    <p:sldId id="348" r:id="rId12"/>
    <p:sldId id="338" r:id="rId13"/>
    <p:sldId id="339" r:id="rId14"/>
    <p:sldId id="318" r:id="rId15"/>
    <p:sldId id="296" r:id="rId16"/>
    <p:sldId id="320" r:id="rId17"/>
    <p:sldId id="286" r:id="rId18"/>
    <p:sldId id="331" r:id="rId19"/>
    <p:sldId id="290" r:id="rId20"/>
    <p:sldId id="344" r:id="rId21"/>
    <p:sldId id="342" r:id="rId22"/>
    <p:sldId id="343" r:id="rId23"/>
    <p:sldId id="349" r:id="rId24"/>
    <p:sldId id="350" r:id="rId25"/>
    <p:sldId id="351" r:id="rId26"/>
    <p:sldId id="352" r:id="rId27"/>
    <p:sldId id="345" r:id="rId28"/>
    <p:sldId id="346" r:id="rId29"/>
    <p:sldId id="347" r:id="rId30"/>
    <p:sldId id="353" r:id="rId31"/>
    <p:sldId id="356" r:id="rId32"/>
    <p:sldId id="357" r:id="rId33"/>
    <p:sldId id="354" r:id="rId34"/>
    <p:sldId id="355" r:id="rId35"/>
    <p:sldId id="361" r:id="rId36"/>
    <p:sldId id="359" r:id="rId37"/>
    <p:sldId id="36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C23C3BA-48D0-4A90-A251-870007AA366F}">
          <p14:sldIdLst>
            <p14:sldId id="265"/>
            <p14:sldId id="256"/>
            <p14:sldId id="260"/>
            <p14:sldId id="261"/>
            <p14:sldId id="262"/>
            <p14:sldId id="263"/>
            <p14:sldId id="358"/>
            <p14:sldId id="264"/>
            <p14:sldId id="266"/>
          </p14:sldIdLst>
        </p14:section>
        <p14:section name="Executive Summary" id="{2EDFDE9A-D8E4-4B88-8323-109DDD8DAA99}">
          <p14:sldIdLst>
            <p14:sldId id="301"/>
            <p14:sldId id="348"/>
          </p14:sldIdLst>
        </p14:section>
        <p14:section name="Preference" id="{D23C006D-5E66-4A30-9B77-D3BDB7D9E5B2}">
          <p14:sldIdLst>
            <p14:sldId id="338"/>
            <p14:sldId id="339"/>
          </p14:sldIdLst>
        </p14:section>
        <p14:section name="Product Evaluation" id="{74D6F2B1-28A2-4F70-9017-4269A773CCB5}">
          <p14:sldIdLst>
            <p14:sldId id="318"/>
            <p14:sldId id="296"/>
            <p14:sldId id="320"/>
            <p14:sldId id="286"/>
            <p14:sldId id="331"/>
            <p14:sldId id="290"/>
          </p14:sldIdLst>
        </p14:section>
        <p14:section name="Mean Drop Penalty Analysis" id="{F3CFDF44-1D31-48BF-9CE7-7DAAAB830B62}">
          <p14:sldIdLst>
            <p14:sldId id="344"/>
            <p14:sldId id="342"/>
            <p14:sldId id="343"/>
            <p14:sldId id="349"/>
            <p14:sldId id="350"/>
            <p14:sldId id="351"/>
            <p14:sldId id="352"/>
          </p14:sldIdLst>
        </p14:section>
        <p14:section name="Summary Descriptive" id="{50F009C9-CE12-44C2-8131-EE587286ED45}">
          <p14:sldIdLst>
            <p14:sldId id="345"/>
            <p14:sldId id="346"/>
            <p14:sldId id="347"/>
            <p14:sldId id="353"/>
          </p14:sldIdLst>
        </p14:section>
        <p14:section name="Driver Analysis" id="{87DBBA31-3030-4494-B0BE-D76AE2869733}">
          <p14:sldIdLst>
            <p14:sldId id="356"/>
            <p14:sldId id="357"/>
          </p14:sldIdLst>
        </p14:section>
        <p14:section name="Conclusion / Action Plan" id="{DCE0A8EB-7803-4B69-A5CA-C6E0290AC500}">
          <p14:sldIdLst>
            <p14:sldId id="354"/>
            <p14:sldId id="355"/>
          </p14:sldIdLst>
        </p14:section>
        <p14:section name="Appendix (Cadbury (Mondelez) User)" id="{D7B371EA-9DAA-46BC-8BDA-BE7F79449B03}">
          <p14:sldIdLst>
            <p14:sldId id="361"/>
            <p14:sldId id="359"/>
            <p14:sldId id="3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A80020"/>
    <a:srgbClr val="FF7C80"/>
    <a:srgbClr val="FFFF99"/>
    <a:srgbClr val="002060"/>
    <a:srgbClr val="760016"/>
    <a:srgbClr val="FF99CC"/>
    <a:srgbClr val="FF9999"/>
    <a:srgbClr val="FFCCCC"/>
    <a:srgbClr val="9E00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67" d="100"/>
          <a:sy n="67" d="100"/>
        </p:scale>
        <p:origin x="84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 Id="rId4" Type="http://schemas.openxmlformats.org/officeDocument/2006/relationships/chartUserShapes" Target="../drawings/drawing1.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4.xml"/><Relationship Id="rId1" Type="http://schemas.microsoft.com/office/2011/relationships/chartStyle" Target="style2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FS 18</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FS 18 
(n=112)</c:v>
                </c:pt>
                <c:pt idx="1">
                  <c:v>CB 24 
(n=80)</c:v>
                </c:pt>
              </c:strCache>
            </c:strRef>
          </c:cat>
          <c:val>
            <c:numRef>
              <c:f>Sheet1!$B$2:$B$3</c:f>
              <c:numCache>
                <c:formatCode>0.0</c:formatCode>
                <c:ptCount val="2"/>
                <c:pt idx="0">
                  <c:v>5.65</c:v>
                </c:pt>
                <c:pt idx="1">
                  <c:v>4.97</c:v>
                </c:pt>
              </c:numCache>
            </c:numRef>
          </c:val>
          <c:extLst>
            <c:ext xmlns:c16="http://schemas.microsoft.com/office/drawing/2014/chart" uri="{C3380CC4-5D6E-409C-BE32-E72D297353CC}">
              <c16:uniqueId val="{00000000-8540-4EA2-8C6D-D9C71C45B8D6}"/>
            </c:ext>
          </c:extLst>
        </c:ser>
        <c:ser>
          <c:idx val="1"/>
          <c:order val="1"/>
          <c:tx>
            <c:strRef>
              <c:f>Sheet1!$C$1</c:f>
              <c:strCache>
                <c:ptCount val="1"/>
                <c:pt idx="0">
                  <c:v>CB 24</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FS 18 
(n=112)</c:v>
                </c:pt>
                <c:pt idx="1">
                  <c:v>CB 24 
(n=80)</c:v>
                </c:pt>
              </c:strCache>
            </c:strRef>
          </c:cat>
          <c:val>
            <c:numRef>
              <c:f>Sheet1!$C$2:$C$3</c:f>
              <c:numCache>
                <c:formatCode>0.0</c:formatCode>
                <c:ptCount val="2"/>
                <c:pt idx="0">
                  <c:v>4.96</c:v>
                </c:pt>
                <c:pt idx="1">
                  <c:v>5.32</c:v>
                </c:pt>
              </c:numCache>
            </c:numRef>
          </c:val>
          <c:extLst>
            <c:ext xmlns:c16="http://schemas.microsoft.com/office/drawing/2014/chart" uri="{C3380CC4-5D6E-409C-BE32-E72D297353CC}">
              <c16:uniqueId val="{00000001-8540-4EA2-8C6D-D9C71C45B8D6}"/>
            </c:ext>
          </c:extLst>
        </c:ser>
        <c:dLbls>
          <c:showLegendKey val="0"/>
          <c:showVal val="0"/>
          <c:showCatName val="0"/>
          <c:showSerName val="0"/>
          <c:showPercent val="0"/>
          <c:showBubbleSize val="0"/>
        </c:dLbls>
        <c:gapWidth val="219"/>
        <c:overlap val="-27"/>
        <c:axId val="281841103"/>
        <c:axId val="281850703"/>
      </c:barChart>
      <c:catAx>
        <c:axId val="2818411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81850703"/>
        <c:crosses val="autoZero"/>
        <c:auto val="1"/>
        <c:lblAlgn val="ctr"/>
        <c:lblOffset val="100"/>
        <c:noMultiLvlLbl val="0"/>
      </c:catAx>
      <c:valAx>
        <c:axId val="281850703"/>
        <c:scaling>
          <c:orientation val="minMax"/>
          <c:max val="7"/>
        </c:scaling>
        <c:delete val="1"/>
        <c:axPos val="l"/>
        <c:numFmt formatCode="0.0" sourceLinked="1"/>
        <c:majorTickMark val="out"/>
        <c:minorTickMark val="none"/>
        <c:tickLblPos val="nextTo"/>
        <c:crossAx val="2818411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208194280371634"/>
          <c:y val="0"/>
          <c:w val="0.49294289945604602"/>
          <c:h val="1"/>
        </c:manualLayout>
      </c:layout>
      <c:pieChart>
        <c:varyColors val="1"/>
        <c:ser>
          <c:idx val="0"/>
          <c:order val="0"/>
          <c:tx>
            <c:strRef>
              <c:f>Sheet1!$B$1</c:f>
              <c:strCache>
                <c:ptCount val="1"/>
                <c:pt idx="0">
                  <c:v>Preference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D12D-43A7-904E-179EA9F6EEC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1-D12D-43A7-904E-179EA9F6EEC2}"/>
              </c:ext>
            </c:extLst>
          </c:dPt>
          <c:dLbls>
            <c:dLbl>
              <c:idx val="0"/>
              <c:layout>
                <c:manualLayout>
                  <c:x val="-0.19353674830184678"/>
                  <c:y val="1.9977646221030446E-2"/>
                </c:manualLayout>
              </c:layout>
              <c:tx>
                <c:rich>
                  <a:bodyPr/>
                  <a:lstStyle/>
                  <a:p>
                    <a:fld id="{F35E8A76-5F43-4149-86EB-60312952D151}" type="CATEGORYNAME">
                      <a:rPr lang="en-US"/>
                      <a:pPr/>
                      <a:t>[CATEGORY NAME]</a:t>
                    </a:fld>
                    <a:r>
                      <a:rPr lang="en-US" baseline="0"/>
                      <a:t>, </a:t>
                    </a:r>
                  </a:p>
                  <a:p>
                    <a:fld id="{CFF64C65-3D4F-46F3-8754-797E6E31917D}" type="VALUE">
                      <a:rPr lang="en-US" baseline="0" smtClean="0"/>
                      <a:pPr/>
                      <a:t>[VALUE]</a:t>
                    </a:fld>
                    <a:endParaRPr lang="en-IN"/>
                  </a:p>
                </c:rich>
              </c:tx>
              <c:dLblPos val="bestFit"/>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D12D-43A7-904E-179EA9F6EEC2}"/>
                </c:ext>
              </c:extLst>
            </c:dLbl>
            <c:dLbl>
              <c:idx val="1"/>
              <c:layout>
                <c:manualLayout>
                  <c:x val="0.15889837193830283"/>
                  <c:y val="-0.10255104252029117"/>
                </c:manualLayout>
              </c:layout>
              <c:tx>
                <c:rich>
                  <a:bodyPr/>
                  <a:lstStyle/>
                  <a:p>
                    <a:fld id="{1F4586DA-CACD-43D0-90B7-682187EDF0F2}" type="CATEGORYNAME">
                      <a:rPr lang="en-US"/>
                      <a:pPr/>
                      <a:t>[CATEGORY NAME]</a:t>
                    </a:fld>
                    <a:r>
                      <a:rPr lang="en-US" baseline="0"/>
                      <a:t>, </a:t>
                    </a:r>
                  </a:p>
                  <a:p>
                    <a:fld id="{99348FB3-0A51-4A32-AEFB-E90C78D83343}" type="VALUE">
                      <a:rPr lang="en-US" baseline="0" smtClean="0"/>
                      <a:pPr/>
                      <a:t>[VALUE]</a:t>
                    </a:fld>
                    <a:endParaRPr lang="en-IN"/>
                  </a:p>
                </c:rich>
              </c:tx>
              <c:dLblPos val="bestFit"/>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12D-43A7-904E-179EA9F6EEC2}"/>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bestFit"/>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CB 24</c:v>
                </c:pt>
                <c:pt idx="1">
                  <c:v>FS 18</c:v>
                </c:pt>
              </c:strCache>
            </c:strRef>
          </c:cat>
          <c:val>
            <c:numRef>
              <c:f>Sheet1!$B$2:$B$3</c:f>
              <c:numCache>
                <c:formatCode>0%</c:formatCode>
                <c:ptCount val="2"/>
                <c:pt idx="0">
                  <c:v>0.42</c:v>
                </c:pt>
                <c:pt idx="1">
                  <c:v>0.57999999999999996</c:v>
                </c:pt>
              </c:numCache>
            </c:numRef>
          </c:val>
          <c:extLst>
            <c:ext xmlns:c16="http://schemas.microsoft.com/office/drawing/2014/chart" uri="{C3380CC4-5D6E-409C-BE32-E72D297353CC}">
              <c16:uniqueId val="{00000000-D12D-43A7-904E-179EA9F6EEC2}"/>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9E001E"/>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0-F785-4636-B9AE-F92EA2902DFD}"/>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7-F785-4636-B9AE-F92EA2902DFD}"/>
              </c:ext>
            </c:extLst>
          </c:dPt>
          <c:dPt>
            <c:idx val="2"/>
            <c:invertIfNegative val="0"/>
            <c:bubble3D val="0"/>
            <c:spPr>
              <a:solidFill>
                <a:schemeClr val="accent2"/>
              </a:solidFill>
              <a:ln>
                <a:noFill/>
              </a:ln>
              <a:effectLst/>
            </c:spPr>
            <c:extLst>
              <c:ext xmlns:c16="http://schemas.microsoft.com/office/drawing/2014/chart" uri="{C3380CC4-5D6E-409C-BE32-E72D297353CC}">
                <c16:uniqueId val="{00000001-F785-4636-B9AE-F92EA2902DFD}"/>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8-F785-4636-B9AE-F92EA2902DFD}"/>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2-F785-4636-B9AE-F92EA2902DFD}"/>
              </c:ext>
            </c:extLst>
          </c:dPt>
          <c:dPt>
            <c:idx val="5"/>
            <c:invertIfNegative val="0"/>
            <c:bubble3D val="0"/>
            <c:spPr>
              <a:solidFill>
                <a:schemeClr val="accent1"/>
              </a:solidFill>
              <a:ln>
                <a:noFill/>
              </a:ln>
              <a:effectLst/>
            </c:spPr>
            <c:extLst>
              <c:ext xmlns:c16="http://schemas.microsoft.com/office/drawing/2014/chart" uri="{C3380CC4-5D6E-409C-BE32-E72D297353CC}">
                <c16:uniqueId val="{00000009-F785-4636-B9AE-F92EA2902DFD}"/>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3-F785-4636-B9AE-F92EA2902DFD}"/>
              </c:ext>
            </c:extLst>
          </c:dPt>
          <c:dPt>
            <c:idx val="7"/>
            <c:invertIfNegative val="0"/>
            <c:bubble3D val="0"/>
            <c:spPr>
              <a:solidFill>
                <a:schemeClr val="accent1"/>
              </a:solidFill>
              <a:ln>
                <a:noFill/>
              </a:ln>
              <a:effectLst/>
            </c:spPr>
            <c:extLst>
              <c:ext xmlns:c16="http://schemas.microsoft.com/office/drawing/2014/chart" uri="{C3380CC4-5D6E-409C-BE32-E72D297353CC}">
                <c16:uniqueId val="{0000000A-F785-4636-B9AE-F92EA2902DFD}"/>
              </c:ext>
            </c:extLst>
          </c:dPt>
          <c:dPt>
            <c:idx val="8"/>
            <c:invertIfNegative val="0"/>
            <c:bubble3D val="0"/>
            <c:spPr>
              <a:solidFill>
                <a:schemeClr val="accent2"/>
              </a:solidFill>
              <a:ln>
                <a:noFill/>
              </a:ln>
              <a:effectLst/>
            </c:spPr>
            <c:extLst>
              <c:ext xmlns:c16="http://schemas.microsoft.com/office/drawing/2014/chart" uri="{C3380CC4-5D6E-409C-BE32-E72D297353CC}">
                <c16:uniqueId val="{00000004-F785-4636-B9AE-F92EA2902DFD}"/>
              </c:ext>
            </c:extLst>
          </c:dPt>
          <c:dPt>
            <c:idx val="9"/>
            <c:invertIfNegative val="0"/>
            <c:bubble3D val="0"/>
            <c:spPr>
              <a:solidFill>
                <a:schemeClr val="accent1"/>
              </a:solidFill>
              <a:ln>
                <a:noFill/>
              </a:ln>
              <a:effectLst/>
            </c:spPr>
            <c:extLst>
              <c:ext xmlns:c16="http://schemas.microsoft.com/office/drawing/2014/chart" uri="{C3380CC4-5D6E-409C-BE32-E72D297353CC}">
                <c16:uniqueId val="{0000000B-F785-4636-B9AE-F92EA2902DFD}"/>
              </c:ext>
            </c:extLst>
          </c:dPt>
          <c:dPt>
            <c:idx val="10"/>
            <c:invertIfNegative val="0"/>
            <c:bubble3D val="0"/>
            <c:spPr>
              <a:solidFill>
                <a:schemeClr val="accent2"/>
              </a:solidFill>
              <a:ln>
                <a:noFill/>
              </a:ln>
              <a:effectLst/>
            </c:spPr>
            <c:extLst>
              <c:ext xmlns:c16="http://schemas.microsoft.com/office/drawing/2014/chart" uri="{C3380CC4-5D6E-409C-BE32-E72D297353CC}">
                <c16:uniqueId val="{00000005-F785-4636-B9AE-F92EA2902DFD}"/>
              </c:ext>
            </c:extLst>
          </c:dPt>
          <c:dPt>
            <c:idx val="11"/>
            <c:invertIfNegative val="0"/>
            <c:bubble3D val="0"/>
            <c:spPr>
              <a:solidFill>
                <a:schemeClr val="accent1"/>
              </a:solidFill>
              <a:ln>
                <a:noFill/>
              </a:ln>
              <a:effectLst/>
            </c:spPr>
            <c:extLst>
              <c:ext xmlns:c16="http://schemas.microsoft.com/office/drawing/2014/chart" uri="{C3380CC4-5D6E-409C-BE32-E72D297353CC}">
                <c16:uniqueId val="{0000000C-F785-4636-B9AE-F92EA2902DFD}"/>
              </c:ext>
            </c:extLst>
          </c:dPt>
          <c:dPt>
            <c:idx val="12"/>
            <c:invertIfNegative val="0"/>
            <c:bubble3D val="0"/>
            <c:spPr>
              <a:solidFill>
                <a:schemeClr val="accent2"/>
              </a:solidFill>
              <a:ln>
                <a:noFill/>
              </a:ln>
              <a:effectLst/>
            </c:spPr>
            <c:extLst>
              <c:ext xmlns:c16="http://schemas.microsoft.com/office/drawing/2014/chart" uri="{C3380CC4-5D6E-409C-BE32-E72D297353CC}">
                <c16:uniqueId val="{00000006-F785-4636-B9AE-F92EA2902DFD}"/>
              </c:ext>
            </c:extLst>
          </c:dPt>
          <c:dPt>
            <c:idx val="13"/>
            <c:invertIfNegative val="0"/>
            <c:bubble3D val="0"/>
            <c:spPr>
              <a:solidFill>
                <a:schemeClr val="accent1"/>
              </a:solidFill>
              <a:ln>
                <a:noFill/>
              </a:ln>
              <a:effectLst/>
            </c:spPr>
            <c:extLst>
              <c:ext xmlns:c16="http://schemas.microsoft.com/office/drawing/2014/chart" uri="{C3380CC4-5D6E-409C-BE32-E72D297353CC}">
                <c16:uniqueId val="{0000000D-F785-4636-B9AE-F92EA2902DF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Sheet1!$B$2:$B$15</c:f>
              <c:numCache>
                <c:formatCode>0%</c:formatCode>
                <c:ptCount val="14"/>
                <c:pt idx="0">
                  <c:v>0.58333333333333337</c:v>
                </c:pt>
                <c:pt idx="1">
                  <c:v>0.41666666666666669</c:v>
                </c:pt>
                <c:pt idx="2">
                  <c:v>0.58333333333333337</c:v>
                </c:pt>
                <c:pt idx="3">
                  <c:v>0.41666666666666669</c:v>
                </c:pt>
                <c:pt idx="4">
                  <c:v>0.60824742268041232</c:v>
                </c:pt>
                <c:pt idx="5">
                  <c:v>0.39175257731958762</c:v>
                </c:pt>
                <c:pt idx="6">
                  <c:v>0.55789473684210522</c:v>
                </c:pt>
                <c:pt idx="7">
                  <c:v>0.44210526315789472</c:v>
                </c:pt>
                <c:pt idx="8">
                  <c:v>0.52631578947368418</c:v>
                </c:pt>
                <c:pt idx="9">
                  <c:v>0.47368421052631576</c:v>
                </c:pt>
                <c:pt idx="10">
                  <c:v>0.60317460317460314</c:v>
                </c:pt>
                <c:pt idx="11">
                  <c:v>0.3968253968253968</c:v>
                </c:pt>
                <c:pt idx="12">
                  <c:v>0.70588235294117652</c:v>
                </c:pt>
                <c:pt idx="13">
                  <c:v>0.29411764705882354</c:v>
                </c:pt>
              </c:numCache>
            </c:numRef>
          </c:val>
          <c:extLst>
            <c:ext xmlns:c16="http://schemas.microsoft.com/office/drawing/2014/chart" uri="{C3380CC4-5D6E-409C-BE32-E72D297353CC}">
              <c16:uniqueId val="{00000000-9F30-4D77-BDD6-2B8141118AB3}"/>
            </c:ext>
          </c:extLst>
        </c:ser>
        <c:dLbls>
          <c:dLblPos val="outEnd"/>
          <c:showLegendKey val="0"/>
          <c:showVal val="1"/>
          <c:showCatName val="0"/>
          <c:showSerName val="0"/>
          <c:showPercent val="0"/>
          <c:showBubbleSize val="0"/>
        </c:dLbls>
        <c:gapWidth val="80"/>
        <c:axId val="1058677087"/>
        <c:axId val="1058677567"/>
      </c:barChart>
      <c:catAx>
        <c:axId val="1058677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8677567"/>
        <c:crosses val="autoZero"/>
        <c:auto val="1"/>
        <c:lblAlgn val="ctr"/>
        <c:lblOffset val="100"/>
        <c:noMultiLvlLbl val="0"/>
      </c:catAx>
      <c:valAx>
        <c:axId val="1058677567"/>
        <c:scaling>
          <c:orientation val="minMax"/>
        </c:scaling>
        <c:delete val="1"/>
        <c:axPos val="l"/>
        <c:numFmt formatCode="0%" sourceLinked="1"/>
        <c:majorTickMark val="none"/>
        <c:minorTickMark val="none"/>
        <c:tickLblPos val="nextTo"/>
        <c:crossAx val="10586770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percentStacked"/>
        <c:varyColors val="0"/>
        <c:ser>
          <c:idx val="0"/>
          <c:order val="0"/>
          <c:tx>
            <c:strRef>
              <c:f>Sheet1!$B$1</c:f>
              <c:strCache>
                <c:ptCount val="1"/>
                <c:pt idx="0">
                  <c:v>Very Poor</c:v>
                </c:pt>
              </c:strCache>
            </c:strRef>
          </c:tx>
          <c:spPr>
            <a:solidFill>
              <a:srgbClr val="9E001E"/>
            </a:solidFill>
            <a:ln>
              <a:noFill/>
            </a:ln>
            <a:effectLst/>
          </c:spPr>
          <c:invertIfNegative val="0"/>
          <c:dLbls>
            <c:delete val="1"/>
          </c:dLbls>
          <c:cat>
            <c:strRef>
              <c:f>Sheet1!$A$2:$A$7</c:f>
              <c:strCache>
                <c:ptCount val="6"/>
                <c:pt idx="0">
                  <c:v>FS 18 
Total
(n=192)</c:v>
                </c:pt>
                <c:pt idx="1">
                  <c:v>CB 24
Total 
(n=192)</c:v>
                </c:pt>
                <c:pt idx="4">
                  <c:v>FS 18
Monadic
(n=98)</c:v>
                </c:pt>
                <c:pt idx="5">
                  <c:v>CB 24 
Monadic
(n=94)</c:v>
                </c:pt>
              </c:strCache>
            </c:strRef>
          </c:cat>
          <c:val>
            <c:numRef>
              <c:f>Sheet1!$B$2:$B$7</c:f>
              <c:numCache>
                <c:formatCode>###0%</c:formatCode>
                <c:ptCount val="6"/>
                <c:pt idx="0">
                  <c:v>0</c:v>
                </c:pt>
                <c:pt idx="1">
                  <c:v>0</c:v>
                </c:pt>
                <c:pt idx="4">
                  <c:v>0</c:v>
                </c:pt>
                <c:pt idx="5">
                  <c:v>0</c:v>
                </c:pt>
              </c:numCache>
            </c:numRef>
          </c:val>
          <c:extLst>
            <c:ext xmlns:c16="http://schemas.microsoft.com/office/drawing/2014/chart" uri="{C3380CC4-5D6E-409C-BE32-E72D297353CC}">
              <c16:uniqueId val="{00000000-9F30-4D77-BDD6-2B8141118AB3}"/>
            </c:ext>
          </c:extLst>
        </c:ser>
        <c:ser>
          <c:idx val="1"/>
          <c:order val="1"/>
          <c:tx>
            <c:strRef>
              <c:f>Sheet1!$C$1</c:f>
              <c:strCache>
                <c:ptCount val="1"/>
                <c:pt idx="0">
                  <c:v>Poor</c:v>
                </c:pt>
              </c:strCache>
            </c:strRef>
          </c:tx>
          <c:spPr>
            <a:solidFill>
              <a:srgbClr val="FF9999"/>
            </a:solidFill>
            <a:ln>
              <a:noFill/>
            </a:ln>
            <a:effectLst/>
          </c:spPr>
          <c:invertIfNegative val="0"/>
          <c:dLbls>
            <c:delete val="1"/>
          </c:dLbls>
          <c:cat>
            <c:strRef>
              <c:f>Sheet1!$A$2:$A$7</c:f>
              <c:strCache>
                <c:ptCount val="6"/>
                <c:pt idx="0">
                  <c:v>FS 18 
Total
(n=192)</c:v>
                </c:pt>
                <c:pt idx="1">
                  <c:v>CB 24
Total 
(n=192)</c:v>
                </c:pt>
                <c:pt idx="4">
                  <c:v>FS 18
Monadic
(n=98)</c:v>
                </c:pt>
                <c:pt idx="5">
                  <c:v>CB 24 
Monadic
(n=94)</c:v>
                </c:pt>
              </c:strCache>
            </c:strRef>
          </c:cat>
          <c:val>
            <c:numRef>
              <c:f>Sheet1!$C$2:$C$7</c:f>
              <c:numCache>
                <c:formatCode>###0%</c:formatCode>
                <c:ptCount val="6"/>
                <c:pt idx="0">
                  <c:v>1.0416666666666668E-2</c:v>
                </c:pt>
                <c:pt idx="1">
                  <c:v>0</c:v>
                </c:pt>
                <c:pt idx="4">
                  <c:v>1.0204081632653062E-2</c:v>
                </c:pt>
                <c:pt idx="5">
                  <c:v>0</c:v>
                </c:pt>
              </c:numCache>
            </c:numRef>
          </c:val>
          <c:extLst>
            <c:ext xmlns:c16="http://schemas.microsoft.com/office/drawing/2014/chart" uri="{C3380CC4-5D6E-409C-BE32-E72D297353CC}">
              <c16:uniqueId val="{00000001-9F30-4D77-BDD6-2B8141118AB3}"/>
            </c:ext>
          </c:extLst>
        </c:ser>
        <c:ser>
          <c:idx val="2"/>
          <c:order val="2"/>
          <c:tx>
            <c:strRef>
              <c:f>Sheet1!$D$1</c:f>
              <c:strCache>
                <c:ptCount val="1"/>
                <c:pt idx="0">
                  <c:v>Average</c:v>
                </c:pt>
              </c:strCache>
            </c:strRef>
          </c:tx>
          <c:spPr>
            <a:solidFill>
              <a:schemeClr val="tx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(n=192)</c:v>
                </c:pt>
                <c:pt idx="1">
                  <c:v>CB 24
Total 
(n=192)</c:v>
                </c:pt>
                <c:pt idx="4">
                  <c:v>FS 18
Monadic
(n=98)</c:v>
                </c:pt>
                <c:pt idx="5">
                  <c:v>CB 24 
Monadic
(n=94)</c:v>
                </c:pt>
              </c:strCache>
            </c:strRef>
          </c:cat>
          <c:val>
            <c:numRef>
              <c:f>Sheet1!$D$2:$D$7</c:f>
              <c:numCache>
                <c:formatCode>###0%</c:formatCode>
                <c:ptCount val="6"/>
                <c:pt idx="0">
                  <c:v>9.375E-2</c:v>
                </c:pt>
                <c:pt idx="1">
                  <c:v>0.11458333333333334</c:v>
                </c:pt>
                <c:pt idx="4">
                  <c:v>2.0408163265306124E-2</c:v>
                </c:pt>
                <c:pt idx="5">
                  <c:v>6.3829787234042548E-2</c:v>
                </c:pt>
              </c:numCache>
            </c:numRef>
          </c:val>
          <c:extLst>
            <c:ext xmlns:c16="http://schemas.microsoft.com/office/drawing/2014/chart" uri="{C3380CC4-5D6E-409C-BE32-E72D297353CC}">
              <c16:uniqueId val="{00000002-9F30-4D77-BDD6-2B8141118AB3}"/>
            </c:ext>
          </c:extLst>
        </c:ser>
        <c:ser>
          <c:idx val="3"/>
          <c:order val="3"/>
          <c:tx>
            <c:strRef>
              <c:f>Sheet1!$E$1</c:f>
              <c:strCache>
                <c:ptCount val="1"/>
                <c:pt idx="0">
                  <c:v>Good</c:v>
                </c:pt>
              </c:strCache>
            </c:strRef>
          </c:tx>
          <c:spPr>
            <a:solidFill>
              <a:schemeClr val="accent6">
                <a:shade val="9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(n=192)</c:v>
                </c:pt>
                <c:pt idx="1">
                  <c:v>CB 24
Total 
(n=192)</c:v>
                </c:pt>
                <c:pt idx="4">
                  <c:v>FS 18
Monadic
(n=98)</c:v>
                </c:pt>
                <c:pt idx="5">
                  <c:v>CB 24 
Monadic
(n=94)</c:v>
                </c:pt>
              </c:strCache>
            </c:strRef>
          </c:cat>
          <c:val>
            <c:numRef>
              <c:f>Sheet1!$E$2:$E$7</c:f>
              <c:numCache>
                <c:formatCode>###0%</c:formatCode>
                <c:ptCount val="6"/>
                <c:pt idx="0">
                  <c:v>9.8958333333333343E-2</c:v>
                </c:pt>
                <c:pt idx="1">
                  <c:v>0.171875</c:v>
                </c:pt>
                <c:pt idx="4">
                  <c:v>4.0816326530612249E-2</c:v>
                </c:pt>
                <c:pt idx="5">
                  <c:v>0.14893617021276595</c:v>
                </c:pt>
              </c:numCache>
            </c:numRef>
          </c:val>
          <c:extLst>
            <c:ext xmlns:c16="http://schemas.microsoft.com/office/drawing/2014/chart" uri="{C3380CC4-5D6E-409C-BE32-E72D297353CC}">
              <c16:uniqueId val="{00000003-9F30-4D77-BDD6-2B8141118AB3}"/>
            </c:ext>
          </c:extLst>
        </c:ser>
        <c:ser>
          <c:idx val="4"/>
          <c:order val="4"/>
          <c:tx>
            <c:strRef>
              <c:f>Sheet1!$F$1</c:f>
              <c:strCache>
                <c:ptCount val="1"/>
                <c:pt idx="0">
                  <c:v>Very Good</c:v>
                </c:pt>
              </c:strCache>
            </c:strRef>
          </c:tx>
          <c:spPr>
            <a:solidFill>
              <a:schemeClr val="accent6">
                <a:shade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(n=192)</c:v>
                </c:pt>
                <c:pt idx="1">
                  <c:v>CB 24
Total 
(n=192)</c:v>
                </c:pt>
                <c:pt idx="4">
                  <c:v>FS 18
Monadic
(n=98)</c:v>
                </c:pt>
                <c:pt idx="5">
                  <c:v>CB 24 
Monadic
(n=94)</c:v>
                </c:pt>
              </c:strCache>
            </c:strRef>
          </c:cat>
          <c:val>
            <c:numRef>
              <c:f>Sheet1!$F$2:$F$7</c:f>
              <c:numCache>
                <c:formatCode>###0%</c:formatCode>
                <c:ptCount val="6"/>
                <c:pt idx="0">
                  <c:v>0.26041666666666669</c:v>
                </c:pt>
                <c:pt idx="1">
                  <c:v>0.31770833333333331</c:v>
                </c:pt>
                <c:pt idx="4">
                  <c:v>0.41836734693877553</c:v>
                </c:pt>
                <c:pt idx="5">
                  <c:v>0.38297872340425537</c:v>
                </c:pt>
              </c:numCache>
            </c:numRef>
          </c:val>
          <c:extLst>
            <c:ext xmlns:c16="http://schemas.microsoft.com/office/drawing/2014/chart" uri="{C3380CC4-5D6E-409C-BE32-E72D297353CC}">
              <c16:uniqueId val="{00000004-9F30-4D77-BDD6-2B8141118AB3}"/>
            </c:ext>
          </c:extLst>
        </c:ser>
        <c:ser>
          <c:idx val="5"/>
          <c:order val="5"/>
          <c:tx>
            <c:strRef>
              <c:f>Sheet1!$G$1</c:f>
              <c:strCache>
                <c:ptCount val="1"/>
                <c:pt idx="0">
                  <c:v>Excellent</c:v>
                </c:pt>
              </c:strCache>
            </c:strRef>
          </c:tx>
          <c:spPr>
            <a:solidFill>
              <a:schemeClr val="accent6">
                <a:shade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(n=192)</c:v>
                </c:pt>
                <c:pt idx="1">
                  <c:v>CB 24
Total 
(n=192)</c:v>
                </c:pt>
                <c:pt idx="4">
                  <c:v>FS 18
Monadic
(n=98)</c:v>
                </c:pt>
                <c:pt idx="5">
                  <c:v>CB 24 
Monadic
(n=94)</c:v>
                </c:pt>
              </c:strCache>
            </c:strRef>
          </c:cat>
          <c:val>
            <c:numRef>
              <c:f>Sheet1!$G$2:$G$7</c:f>
              <c:numCache>
                <c:formatCode>###0%</c:formatCode>
                <c:ptCount val="6"/>
                <c:pt idx="0">
                  <c:v>0.53645833333333337</c:v>
                </c:pt>
                <c:pt idx="1">
                  <c:v>0.39583333333333337</c:v>
                </c:pt>
                <c:pt idx="4">
                  <c:v>0.51020408163265307</c:v>
                </c:pt>
                <c:pt idx="5">
                  <c:v>0.4042553191489362</c:v>
                </c:pt>
              </c:numCache>
            </c:numRef>
          </c:val>
          <c:extLst>
            <c:ext xmlns:c16="http://schemas.microsoft.com/office/drawing/2014/chart" uri="{C3380CC4-5D6E-409C-BE32-E72D297353CC}">
              <c16:uniqueId val="{00000007-9F30-4D77-BDD6-2B8141118AB3}"/>
            </c:ext>
          </c:extLst>
        </c:ser>
        <c:dLbls>
          <c:dLblPos val="ctr"/>
          <c:showLegendKey val="0"/>
          <c:showVal val="1"/>
          <c:showCatName val="0"/>
          <c:showSerName val="0"/>
          <c:showPercent val="0"/>
          <c:showBubbleSize val="0"/>
        </c:dLbls>
        <c:gapWidth val="80"/>
        <c:overlap val="100"/>
        <c:axId val="1058677087"/>
        <c:axId val="1058677567"/>
      </c:barChart>
      <c:catAx>
        <c:axId val="1058677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8677567"/>
        <c:crosses val="autoZero"/>
        <c:auto val="1"/>
        <c:lblAlgn val="ctr"/>
        <c:lblOffset val="100"/>
        <c:noMultiLvlLbl val="0"/>
      </c:catAx>
      <c:valAx>
        <c:axId val="1058677567"/>
        <c:scaling>
          <c:orientation val="minMax"/>
        </c:scaling>
        <c:delete val="1"/>
        <c:axPos val="l"/>
        <c:numFmt formatCode="0%" sourceLinked="1"/>
        <c:majorTickMark val="none"/>
        <c:minorTickMark val="none"/>
        <c:tickLblPos val="nextTo"/>
        <c:crossAx val="10586770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percentStacked"/>
        <c:varyColors val="0"/>
        <c:ser>
          <c:idx val="0"/>
          <c:order val="0"/>
          <c:tx>
            <c:strRef>
              <c:f>Sheet1!$B$1</c:f>
              <c:strCache>
                <c:ptCount val="1"/>
                <c:pt idx="0">
                  <c:v>Very Poor</c:v>
                </c:pt>
              </c:strCache>
            </c:strRef>
          </c:tx>
          <c:spPr>
            <a:solidFill>
              <a:srgbClr val="9E001E"/>
            </a:solidFill>
            <a:ln>
              <a:noFill/>
            </a:ln>
            <a:effectLst/>
          </c:spPr>
          <c:invertIfNegative val="0"/>
          <c:dLbls>
            <c:delete val="1"/>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Sheet1!$B$2:$B$15</c:f>
              <c:numCache>
                <c:formatCode>###0%</c:formatCode>
                <c:ptCount val="14"/>
                <c:pt idx="0">
                  <c:v>0</c:v>
                </c:pt>
                <c:pt idx="1">
                  <c:v>0</c:v>
                </c:pt>
                <c:pt idx="2">
                  <c:v>0</c:v>
                </c:pt>
                <c:pt idx="3">
                  <c:v>0</c:v>
                </c:pt>
                <c:pt idx="4">
                  <c:v>0</c:v>
                </c:pt>
                <c:pt idx="5">
                  <c:v>0</c:v>
                </c:pt>
                <c:pt idx="6">
                  <c:v>0</c:v>
                </c:pt>
                <c:pt idx="7">
                  <c:v>0</c:v>
                </c:pt>
                <c:pt idx="8">
                  <c:v>0</c:v>
                </c:pt>
                <c:pt idx="9">
                  <c:v>0</c:v>
                </c:pt>
                <c:pt idx="10">
                  <c:v>0</c:v>
                </c:pt>
                <c:pt idx="11">
                  <c:v>0</c:v>
                </c:pt>
                <c:pt idx="12">
                  <c:v>0</c:v>
                </c:pt>
                <c:pt idx="13">
                  <c:v>0</c:v>
                </c:pt>
              </c:numCache>
            </c:numRef>
          </c:val>
          <c:extLst>
            <c:ext xmlns:c16="http://schemas.microsoft.com/office/drawing/2014/chart" uri="{C3380CC4-5D6E-409C-BE32-E72D297353CC}">
              <c16:uniqueId val="{00000000-EAB7-4B13-983F-06E6A0BC2906}"/>
            </c:ext>
          </c:extLst>
        </c:ser>
        <c:ser>
          <c:idx val="1"/>
          <c:order val="1"/>
          <c:tx>
            <c:strRef>
              <c:f>Sheet1!$C$1</c:f>
              <c:strCache>
                <c:ptCount val="1"/>
                <c:pt idx="0">
                  <c:v>Poor</c:v>
                </c:pt>
              </c:strCache>
            </c:strRef>
          </c:tx>
          <c:spPr>
            <a:solidFill>
              <a:srgbClr val="FF9999"/>
            </a:solidFill>
            <a:ln>
              <a:noFill/>
            </a:ln>
            <a:effectLst/>
          </c:spPr>
          <c:invertIfNegative val="0"/>
          <c:dLbls>
            <c:delete val="1"/>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Sheet1!$C$2:$C$15</c:f>
              <c:numCache>
                <c:formatCode>###0%</c:formatCode>
                <c:ptCount val="14"/>
                <c:pt idx="0">
                  <c:v>2.0833333333333336E-2</c:v>
                </c:pt>
                <c:pt idx="1">
                  <c:v>0</c:v>
                </c:pt>
                <c:pt idx="2">
                  <c:v>0</c:v>
                </c:pt>
                <c:pt idx="3">
                  <c:v>0</c:v>
                </c:pt>
                <c:pt idx="4">
                  <c:v>2.0618556701030924E-2</c:v>
                </c:pt>
                <c:pt idx="5">
                  <c:v>0</c:v>
                </c:pt>
                <c:pt idx="6">
                  <c:v>0</c:v>
                </c:pt>
                <c:pt idx="7">
                  <c:v>0</c:v>
                </c:pt>
                <c:pt idx="8">
                  <c:v>0</c:v>
                </c:pt>
                <c:pt idx="9">
                  <c:v>0</c:v>
                </c:pt>
                <c:pt idx="10">
                  <c:v>3.1746031746031744E-2</c:v>
                </c:pt>
                <c:pt idx="11">
                  <c:v>0</c:v>
                </c:pt>
                <c:pt idx="12">
                  <c:v>0</c:v>
                </c:pt>
                <c:pt idx="13">
                  <c:v>0</c:v>
                </c:pt>
              </c:numCache>
            </c:numRef>
          </c:val>
          <c:extLst>
            <c:ext xmlns:c16="http://schemas.microsoft.com/office/drawing/2014/chart" uri="{C3380CC4-5D6E-409C-BE32-E72D297353CC}">
              <c16:uniqueId val="{00000001-EAB7-4B13-983F-06E6A0BC2906}"/>
            </c:ext>
          </c:extLst>
        </c:ser>
        <c:ser>
          <c:idx val="2"/>
          <c:order val="2"/>
          <c:tx>
            <c:strRef>
              <c:f>Sheet1!$D$1</c:f>
              <c:strCache>
                <c:ptCount val="1"/>
                <c:pt idx="0">
                  <c:v>Average</c:v>
                </c:pt>
              </c:strCache>
            </c:strRef>
          </c:tx>
          <c:spPr>
            <a:solidFill>
              <a:schemeClr val="tx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Sheet1!$D$2:$D$15</c:f>
              <c:numCache>
                <c:formatCode>###0%</c:formatCode>
                <c:ptCount val="14"/>
                <c:pt idx="0">
                  <c:v>5.2083333333333329E-2</c:v>
                </c:pt>
                <c:pt idx="1">
                  <c:v>4.1666666666666671E-2</c:v>
                </c:pt>
                <c:pt idx="2">
                  <c:v>0.13541666666666666</c:v>
                </c:pt>
                <c:pt idx="3">
                  <c:v>0.1875</c:v>
                </c:pt>
                <c:pt idx="4">
                  <c:v>5.1546391752577324E-2</c:v>
                </c:pt>
                <c:pt idx="5">
                  <c:v>0.13402061855670103</c:v>
                </c:pt>
                <c:pt idx="6">
                  <c:v>0.1368421052631579</c:v>
                </c:pt>
                <c:pt idx="7">
                  <c:v>9.4736842105263147E-2</c:v>
                </c:pt>
                <c:pt idx="8">
                  <c:v>0.14736842105263157</c:v>
                </c:pt>
                <c:pt idx="9">
                  <c:v>0.10526315789473685</c:v>
                </c:pt>
                <c:pt idx="10">
                  <c:v>4.7619047619047616E-2</c:v>
                </c:pt>
                <c:pt idx="11">
                  <c:v>6.3492063492063489E-2</c:v>
                </c:pt>
                <c:pt idx="12">
                  <c:v>2.9411764705882356E-2</c:v>
                </c:pt>
                <c:pt idx="13">
                  <c:v>0.23529411764705885</c:v>
                </c:pt>
              </c:numCache>
            </c:numRef>
          </c:val>
          <c:extLst>
            <c:ext xmlns:c16="http://schemas.microsoft.com/office/drawing/2014/chart" uri="{C3380CC4-5D6E-409C-BE32-E72D297353CC}">
              <c16:uniqueId val="{00000002-EAB7-4B13-983F-06E6A0BC2906}"/>
            </c:ext>
          </c:extLst>
        </c:ser>
        <c:ser>
          <c:idx val="3"/>
          <c:order val="3"/>
          <c:tx>
            <c:strRef>
              <c:f>Sheet1!$E$1</c:f>
              <c:strCache>
                <c:ptCount val="1"/>
                <c:pt idx="0">
                  <c:v>Good</c:v>
                </c:pt>
              </c:strCache>
            </c:strRef>
          </c:tx>
          <c:spPr>
            <a:solidFill>
              <a:schemeClr val="accent6">
                <a:shade val="9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Sheet1!$E$2:$E$15</c:f>
              <c:numCache>
                <c:formatCode>###0%</c:formatCode>
                <c:ptCount val="14"/>
                <c:pt idx="0">
                  <c:v>0.11458333333333334</c:v>
                </c:pt>
                <c:pt idx="1">
                  <c:v>0.17708333333333331</c:v>
                </c:pt>
                <c:pt idx="2">
                  <c:v>8.3333333333333343E-2</c:v>
                </c:pt>
                <c:pt idx="3">
                  <c:v>0.16666666666666669</c:v>
                </c:pt>
                <c:pt idx="4">
                  <c:v>8.2474226804123696E-2</c:v>
                </c:pt>
                <c:pt idx="5">
                  <c:v>0.18556701030927836</c:v>
                </c:pt>
                <c:pt idx="6">
                  <c:v>0.11578947368421053</c:v>
                </c:pt>
                <c:pt idx="7">
                  <c:v>0.15789473684210525</c:v>
                </c:pt>
                <c:pt idx="8">
                  <c:v>8.4210526315789472E-2</c:v>
                </c:pt>
                <c:pt idx="9">
                  <c:v>0.16842105263157894</c:v>
                </c:pt>
                <c:pt idx="10">
                  <c:v>0.12698412698412698</c:v>
                </c:pt>
                <c:pt idx="11">
                  <c:v>0.17460317460317459</c:v>
                </c:pt>
                <c:pt idx="12">
                  <c:v>8.8235294117647065E-2</c:v>
                </c:pt>
                <c:pt idx="13">
                  <c:v>0.17647058823529413</c:v>
                </c:pt>
              </c:numCache>
            </c:numRef>
          </c:val>
          <c:extLst>
            <c:ext xmlns:c16="http://schemas.microsoft.com/office/drawing/2014/chart" uri="{C3380CC4-5D6E-409C-BE32-E72D297353CC}">
              <c16:uniqueId val="{00000003-EAB7-4B13-983F-06E6A0BC2906}"/>
            </c:ext>
          </c:extLst>
        </c:ser>
        <c:ser>
          <c:idx val="4"/>
          <c:order val="4"/>
          <c:tx>
            <c:strRef>
              <c:f>Sheet1!$F$1</c:f>
              <c:strCache>
                <c:ptCount val="1"/>
                <c:pt idx="0">
                  <c:v>Very Good</c:v>
                </c:pt>
              </c:strCache>
            </c:strRef>
          </c:tx>
          <c:spPr>
            <a:solidFill>
              <a:schemeClr val="accent6">
                <a:shade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Sheet1!$F$2:$F$15</c:f>
              <c:numCache>
                <c:formatCode>###0%</c:formatCode>
                <c:ptCount val="14"/>
                <c:pt idx="0">
                  <c:v>0.23958333333333331</c:v>
                </c:pt>
                <c:pt idx="1">
                  <c:v>0.36458333333333337</c:v>
                </c:pt>
                <c:pt idx="2">
                  <c:v>0.28125</c:v>
                </c:pt>
                <c:pt idx="3">
                  <c:v>0.27083333333333331</c:v>
                </c:pt>
                <c:pt idx="4">
                  <c:v>0.29896907216494845</c:v>
                </c:pt>
                <c:pt idx="5">
                  <c:v>0.24742268041237114</c:v>
                </c:pt>
                <c:pt idx="6">
                  <c:v>0.22105263157894736</c:v>
                </c:pt>
                <c:pt idx="7">
                  <c:v>0.38947368421052631</c:v>
                </c:pt>
                <c:pt idx="8">
                  <c:v>0.18947368421052629</c:v>
                </c:pt>
                <c:pt idx="9">
                  <c:v>0.29473684210526313</c:v>
                </c:pt>
                <c:pt idx="10">
                  <c:v>0.34920634920634919</c:v>
                </c:pt>
                <c:pt idx="11">
                  <c:v>0.31746031746031744</c:v>
                </c:pt>
                <c:pt idx="12">
                  <c:v>0.29411764705882354</c:v>
                </c:pt>
                <c:pt idx="13">
                  <c:v>0.38235294117647056</c:v>
                </c:pt>
              </c:numCache>
            </c:numRef>
          </c:val>
          <c:extLst>
            <c:ext xmlns:c16="http://schemas.microsoft.com/office/drawing/2014/chart" uri="{C3380CC4-5D6E-409C-BE32-E72D297353CC}">
              <c16:uniqueId val="{00000004-EAB7-4B13-983F-06E6A0BC2906}"/>
            </c:ext>
          </c:extLst>
        </c:ser>
        <c:ser>
          <c:idx val="5"/>
          <c:order val="5"/>
          <c:tx>
            <c:strRef>
              <c:f>Sheet1!$G$1</c:f>
              <c:strCache>
                <c:ptCount val="1"/>
                <c:pt idx="0">
                  <c:v>Excellent</c:v>
                </c:pt>
              </c:strCache>
            </c:strRef>
          </c:tx>
          <c:spPr>
            <a:solidFill>
              <a:schemeClr val="accent6">
                <a:shade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Sheet1!$G$2:$G$15</c:f>
              <c:numCache>
                <c:formatCode>###0%</c:formatCode>
                <c:ptCount val="14"/>
                <c:pt idx="0">
                  <c:v>0.57291666666666663</c:v>
                </c:pt>
                <c:pt idx="1">
                  <c:v>0.41666666666666663</c:v>
                </c:pt>
                <c:pt idx="2">
                  <c:v>0.5</c:v>
                </c:pt>
                <c:pt idx="3">
                  <c:v>0.375</c:v>
                </c:pt>
                <c:pt idx="4">
                  <c:v>0.54639175257731953</c:v>
                </c:pt>
                <c:pt idx="5">
                  <c:v>0.4329896907216495</c:v>
                </c:pt>
                <c:pt idx="6">
                  <c:v>0.52631578947368418</c:v>
                </c:pt>
                <c:pt idx="7">
                  <c:v>0.35789473684210527</c:v>
                </c:pt>
                <c:pt idx="8">
                  <c:v>0.57894736842105265</c:v>
                </c:pt>
                <c:pt idx="9">
                  <c:v>0.43157894736842101</c:v>
                </c:pt>
                <c:pt idx="10">
                  <c:v>0.44444444444444442</c:v>
                </c:pt>
                <c:pt idx="11">
                  <c:v>0.44444444444444442</c:v>
                </c:pt>
                <c:pt idx="12">
                  <c:v>0.58823529411764708</c:v>
                </c:pt>
                <c:pt idx="13">
                  <c:v>0.20588235294117649</c:v>
                </c:pt>
              </c:numCache>
            </c:numRef>
          </c:val>
          <c:extLst>
            <c:ext xmlns:c16="http://schemas.microsoft.com/office/drawing/2014/chart" uri="{C3380CC4-5D6E-409C-BE32-E72D297353CC}">
              <c16:uniqueId val="{00000005-EAB7-4B13-983F-06E6A0BC2906}"/>
            </c:ext>
          </c:extLst>
        </c:ser>
        <c:dLbls>
          <c:dLblPos val="ctr"/>
          <c:showLegendKey val="0"/>
          <c:showVal val="1"/>
          <c:showCatName val="0"/>
          <c:showSerName val="0"/>
          <c:showPercent val="0"/>
          <c:showBubbleSize val="0"/>
        </c:dLbls>
        <c:gapWidth val="80"/>
        <c:overlap val="100"/>
        <c:axId val="1058677087"/>
        <c:axId val="1058677567"/>
      </c:barChart>
      <c:catAx>
        <c:axId val="1058677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8677567"/>
        <c:crosses val="autoZero"/>
        <c:auto val="1"/>
        <c:lblAlgn val="ctr"/>
        <c:lblOffset val="100"/>
        <c:noMultiLvlLbl val="0"/>
      </c:catAx>
      <c:valAx>
        <c:axId val="1058677567"/>
        <c:scaling>
          <c:orientation val="minMax"/>
        </c:scaling>
        <c:delete val="1"/>
        <c:axPos val="l"/>
        <c:numFmt formatCode="0%" sourceLinked="1"/>
        <c:majorTickMark val="none"/>
        <c:minorTickMark val="none"/>
        <c:tickLblPos val="nextTo"/>
        <c:crossAx val="10586770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percentStacked"/>
        <c:varyColors val="0"/>
        <c:ser>
          <c:idx val="0"/>
          <c:order val="0"/>
          <c:tx>
            <c:strRef>
              <c:f>Sheet1!$B$1</c:f>
              <c:strCache>
                <c:ptCount val="1"/>
                <c:pt idx="0">
                  <c:v>Too Thin</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(n=192)</c:v>
                </c:pt>
                <c:pt idx="1">
                  <c:v>CB 24
Total 
(n=192)</c:v>
                </c:pt>
                <c:pt idx="4">
                  <c:v>FS 18
Monadic
(n=98)</c:v>
                </c:pt>
                <c:pt idx="5">
                  <c:v>CB 24 
Monadic
(n=94)</c:v>
                </c:pt>
              </c:strCache>
            </c:strRef>
          </c:cat>
          <c:val>
            <c:numRef>
              <c:f>Sheet1!$B$2:$B$7</c:f>
              <c:numCache>
                <c:formatCode>###0%</c:formatCode>
                <c:ptCount val="6"/>
                <c:pt idx="0">
                  <c:v>3.6458333333333336E-2</c:v>
                </c:pt>
                <c:pt idx="1">
                  <c:v>0.140625</c:v>
                </c:pt>
                <c:pt idx="4">
                  <c:v>3.0612244897959183E-2</c:v>
                </c:pt>
                <c:pt idx="5">
                  <c:v>9.5744680851063843E-2</c:v>
                </c:pt>
              </c:numCache>
            </c:numRef>
          </c:val>
          <c:extLst>
            <c:ext xmlns:c16="http://schemas.microsoft.com/office/drawing/2014/chart" uri="{C3380CC4-5D6E-409C-BE32-E72D297353CC}">
              <c16:uniqueId val="{00000000-9F30-4D77-BDD6-2B8141118AB3}"/>
            </c:ext>
          </c:extLst>
        </c:ser>
        <c:ser>
          <c:idx val="1"/>
          <c:order val="1"/>
          <c:tx>
            <c:strRef>
              <c:f>Sheet1!$C$1</c:f>
              <c:strCache>
                <c:ptCount val="1"/>
                <c:pt idx="0">
                  <c:v>Just About Right</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(n=192)</c:v>
                </c:pt>
                <c:pt idx="1">
                  <c:v>CB 24
Total 
(n=192)</c:v>
                </c:pt>
                <c:pt idx="4">
                  <c:v>FS 18
Monadic
(n=98)</c:v>
                </c:pt>
                <c:pt idx="5">
                  <c:v>CB 24 
Monadic
(n=94)</c:v>
                </c:pt>
              </c:strCache>
            </c:strRef>
          </c:cat>
          <c:val>
            <c:numRef>
              <c:f>Sheet1!$C$2:$C$7</c:f>
              <c:numCache>
                <c:formatCode>###0%</c:formatCode>
                <c:ptCount val="6"/>
                <c:pt idx="0">
                  <c:v>0.90625</c:v>
                </c:pt>
                <c:pt idx="1">
                  <c:v>0.765625</c:v>
                </c:pt>
                <c:pt idx="4">
                  <c:v>0.93877551020408168</c:v>
                </c:pt>
                <c:pt idx="5">
                  <c:v>0.84042553191489366</c:v>
                </c:pt>
              </c:numCache>
            </c:numRef>
          </c:val>
          <c:extLst>
            <c:ext xmlns:c16="http://schemas.microsoft.com/office/drawing/2014/chart" uri="{C3380CC4-5D6E-409C-BE32-E72D297353CC}">
              <c16:uniqueId val="{00000001-9F30-4D77-BDD6-2B8141118AB3}"/>
            </c:ext>
          </c:extLst>
        </c:ser>
        <c:ser>
          <c:idx val="2"/>
          <c:order val="2"/>
          <c:tx>
            <c:strRef>
              <c:f>Sheet1!$D$1</c:f>
              <c:strCache>
                <c:ptCount val="1"/>
                <c:pt idx="0">
                  <c:v>Too Thick</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(n=192)</c:v>
                </c:pt>
                <c:pt idx="1">
                  <c:v>CB 24
Total 
(n=192)</c:v>
                </c:pt>
                <c:pt idx="4">
                  <c:v>FS 18
Monadic
(n=98)</c:v>
                </c:pt>
                <c:pt idx="5">
                  <c:v>CB 24 
Monadic
(n=94)</c:v>
                </c:pt>
              </c:strCache>
            </c:strRef>
          </c:cat>
          <c:val>
            <c:numRef>
              <c:f>Sheet1!$D$2:$D$7</c:f>
              <c:numCache>
                <c:formatCode>###0%</c:formatCode>
                <c:ptCount val="6"/>
                <c:pt idx="0">
                  <c:v>5.7291666666666671E-2</c:v>
                </c:pt>
                <c:pt idx="1">
                  <c:v>9.375E-2</c:v>
                </c:pt>
                <c:pt idx="4">
                  <c:v>3.0612244897959183E-2</c:v>
                </c:pt>
                <c:pt idx="5">
                  <c:v>6.3829787234042548E-2</c:v>
                </c:pt>
              </c:numCache>
            </c:numRef>
          </c:val>
          <c:extLst>
            <c:ext xmlns:c16="http://schemas.microsoft.com/office/drawing/2014/chart" uri="{C3380CC4-5D6E-409C-BE32-E72D297353CC}">
              <c16:uniqueId val="{00000002-9F30-4D77-BDD6-2B8141118AB3}"/>
            </c:ext>
          </c:extLst>
        </c:ser>
        <c:dLbls>
          <c:dLblPos val="ctr"/>
          <c:showLegendKey val="0"/>
          <c:showVal val="1"/>
          <c:showCatName val="0"/>
          <c:showSerName val="0"/>
          <c:showPercent val="0"/>
          <c:showBubbleSize val="0"/>
        </c:dLbls>
        <c:gapWidth val="80"/>
        <c:overlap val="100"/>
        <c:axId val="1058677087"/>
        <c:axId val="1058677567"/>
      </c:barChart>
      <c:catAx>
        <c:axId val="1058677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8677567"/>
        <c:crosses val="autoZero"/>
        <c:auto val="1"/>
        <c:lblAlgn val="ctr"/>
        <c:lblOffset val="100"/>
        <c:noMultiLvlLbl val="0"/>
      </c:catAx>
      <c:valAx>
        <c:axId val="1058677567"/>
        <c:scaling>
          <c:orientation val="minMax"/>
        </c:scaling>
        <c:delete val="1"/>
        <c:axPos val="l"/>
        <c:numFmt formatCode="0%" sourceLinked="1"/>
        <c:majorTickMark val="none"/>
        <c:minorTickMark val="none"/>
        <c:tickLblPos val="nextTo"/>
        <c:crossAx val="10586770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percentStacked"/>
        <c:varyColors val="0"/>
        <c:ser>
          <c:idx val="0"/>
          <c:order val="0"/>
          <c:tx>
            <c:strRef>
              <c:f>Sheet1!$B$1</c:f>
              <c:strCache>
                <c:ptCount val="1"/>
                <c:pt idx="0">
                  <c:v>Too Thin</c:v>
                </c:pt>
              </c:strCache>
            </c:strRef>
          </c:tx>
          <c:spPr>
            <a:solidFill>
              <a:schemeClr val="accent2">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Sheet1!$B$2:$B$15</c:f>
              <c:numCache>
                <c:formatCode>###0%</c:formatCode>
                <c:ptCount val="14"/>
                <c:pt idx="0">
                  <c:v>6.25E-2</c:v>
                </c:pt>
                <c:pt idx="1">
                  <c:v>0.125</c:v>
                </c:pt>
                <c:pt idx="2">
                  <c:v>1.0416666666666668E-2</c:v>
                </c:pt>
                <c:pt idx="3">
                  <c:v>0.15625</c:v>
                </c:pt>
                <c:pt idx="4">
                  <c:v>3.0927835051546393E-2</c:v>
                </c:pt>
                <c:pt idx="5">
                  <c:v>0.15463917525773196</c:v>
                </c:pt>
                <c:pt idx="6">
                  <c:v>4.2105263157894736E-2</c:v>
                </c:pt>
                <c:pt idx="7">
                  <c:v>0.12631578947368421</c:v>
                </c:pt>
                <c:pt idx="8">
                  <c:v>4.2105263157894736E-2</c:v>
                </c:pt>
                <c:pt idx="9">
                  <c:v>0.1368421052631579</c:v>
                </c:pt>
                <c:pt idx="10">
                  <c:v>3.1746031746031744E-2</c:v>
                </c:pt>
                <c:pt idx="11">
                  <c:v>0.12698412698412698</c:v>
                </c:pt>
                <c:pt idx="12">
                  <c:v>2.9411764705882356E-2</c:v>
                </c:pt>
                <c:pt idx="13">
                  <c:v>0.17647058823529413</c:v>
                </c:pt>
              </c:numCache>
            </c:numRef>
          </c:val>
          <c:extLst>
            <c:ext xmlns:c16="http://schemas.microsoft.com/office/drawing/2014/chart" uri="{C3380CC4-5D6E-409C-BE32-E72D297353CC}">
              <c16:uniqueId val="{00000000-F648-413A-882F-1ECC81975367}"/>
            </c:ext>
          </c:extLst>
        </c:ser>
        <c:ser>
          <c:idx val="1"/>
          <c:order val="1"/>
          <c:tx>
            <c:strRef>
              <c:f>Sheet1!$C$1</c:f>
              <c:strCache>
                <c:ptCount val="1"/>
                <c:pt idx="0">
                  <c:v>Just About Right</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Sheet1!$C$2:$C$15</c:f>
              <c:numCache>
                <c:formatCode>###0%</c:formatCode>
                <c:ptCount val="14"/>
                <c:pt idx="0">
                  <c:v>0.88541666666666674</c:v>
                </c:pt>
                <c:pt idx="1">
                  <c:v>0.78125</c:v>
                </c:pt>
                <c:pt idx="2">
                  <c:v>0.92708333333333326</c:v>
                </c:pt>
                <c:pt idx="3">
                  <c:v>0.75</c:v>
                </c:pt>
                <c:pt idx="4">
                  <c:v>0.91752577319587625</c:v>
                </c:pt>
                <c:pt idx="5">
                  <c:v>0.73195876288659789</c:v>
                </c:pt>
                <c:pt idx="6">
                  <c:v>0.89473684210526316</c:v>
                </c:pt>
                <c:pt idx="7">
                  <c:v>0.8</c:v>
                </c:pt>
                <c:pt idx="8">
                  <c:v>0.89473684210526316</c:v>
                </c:pt>
                <c:pt idx="9">
                  <c:v>0.76842105263157889</c:v>
                </c:pt>
                <c:pt idx="10">
                  <c:v>0.92063492063492058</c:v>
                </c:pt>
                <c:pt idx="11">
                  <c:v>0.77777777777777768</c:v>
                </c:pt>
                <c:pt idx="12">
                  <c:v>0.91176470588235292</c:v>
                </c:pt>
                <c:pt idx="13">
                  <c:v>0.73529411764705888</c:v>
                </c:pt>
              </c:numCache>
            </c:numRef>
          </c:val>
          <c:extLst>
            <c:ext xmlns:c16="http://schemas.microsoft.com/office/drawing/2014/chart" uri="{C3380CC4-5D6E-409C-BE32-E72D297353CC}">
              <c16:uniqueId val="{00000001-F648-413A-882F-1ECC81975367}"/>
            </c:ext>
          </c:extLst>
        </c:ser>
        <c:ser>
          <c:idx val="2"/>
          <c:order val="2"/>
          <c:tx>
            <c:strRef>
              <c:f>Sheet1!$D$1</c:f>
              <c:strCache>
                <c:ptCount val="1"/>
                <c:pt idx="0">
                  <c:v>Too Thick</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Sheet1!$D$2:$D$15</c:f>
              <c:numCache>
                <c:formatCode>###0%</c:formatCode>
                <c:ptCount val="14"/>
                <c:pt idx="0">
                  <c:v>5.2083333333333329E-2</c:v>
                </c:pt>
                <c:pt idx="1">
                  <c:v>9.375E-2</c:v>
                </c:pt>
                <c:pt idx="2">
                  <c:v>6.25E-2</c:v>
                </c:pt>
                <c:pt idx="3">
                  <c:v>9.375E-2</c:v>
                </c:pt>
                <c:pt idx="4">
                  <c:v>5.1546391752577324E-2</c:v>
                </c:pt>
                <c:pt idx="5">
                  <c:v>0.1134020618556701</c:v>
                </c:pt>
                <c:pt idx="6">
                  <c:v>6.3157894736842107E-2</c:v>
                </c:pt>
                <c:pt idx="7">
                  <c:v>7.3684210526315783E-2</c:v>
                </c:pt>
                <c:pt idx="8">
                  <c:v>6.3157894736842107E-2</c:v>
                </c:pt>
                <c:pt idx="9">
                  <c:v>9.4736842105263147E-2</c:v>
                </c:pt>
                <c:pt idx="10">
                  <c:v>4.7619047619047616E-2</c:v>
                </c:pt>
                <c:pt idx="11">
                  <c:v>9.5238095238095233E-2</c:v>
                </c:pt>
                <c:pt idx="12">
                  <c:v>5.8823529411764712E-2</c:v>
                </c:pt>
                <c:pt idx="13">
                  <c:v>8.8235294117647065E-2</c:v>
                </c:pt>
              </c:numCache>
            </c:numRef>
          </c:val>
          <c:extLst>
            <c:ext xmlns:c16="http://schemas.microsoft.com/office/drawing/2014/chart" uri="{C3380CC4-5D6E-409C-BE32-E72D297353CC}">
              <c16:uniqueId val="{00000002-F648-413A-882F-1ECC81975367}"/>
            </c:ext>
          </c:extLst>
        </c:ser>
        <c:dLbls>
          <c:dLblPos val="ctr"/>
          <c:showLegendKey val="0"/>
          <c:showVal val="1"/>
          <c:showCatName val="0"/>
          <c:showSerName val="0"/>
          <c:showPercent val="0"/>
          <c:showBubbleSize val="0"/>
        </c:dLbls>
        <c:gapWidth val="80"/>
        <c:overlap val="100"/>
        <c:axId val="1058677087"/>
        <c:axId val="1058677567"/>
      </c:barChart>
      <c:catAx>
        <c:axId val="1058677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8677567"/>
        <c:crosses val="autoZero"/>
        <c:auto val="1"/>
        <c:lblAlgn val="ctr"/>
        <c:lblOffset val="100"/>
        <c:noMultiLvlLbl val="0"/>
      </c:catAx>
      <c:valAx>
        <c:axId val="1058677567"/>
        <c:scaling>
          <c:orientation val="minMax"/>
        </c:scaling>
        <c:delete val="1"/>
        <c:axPos val="l"/>
        <c:numFmt formatCode="0%" sourceLinked="1"/>
        <c:majorTickMark val="none"/>
        <c:minorTickMark val="none"/>
        <c:tickLblPos val="nextTo"/>
        <c:crossAx val="10586770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percentStacked"/>
        <c:varyColors val="0"/>
        <c:ser>
          <c:idx val="0"/>
          <c:order val="0"/>
          <c:tx>
            <c:strRef>
              <c:f>Sheet1!$B$1</c:f>
              <c:strCache>
                <c:ptCount val="1"/>
                <c:pt idx="0">
                  <c:v>Disagree Strongly</c:v>
                </c:pt>
              </c:strCache>
            </c:strRef>
          </c:tx>
          <c:spPr>
            <a:solidFill>
              <a:schemeClr val="accent1">
                <a:lumMod val="20000"/>
                <a:lumOff val="80000"/>
              </a:schemeClr>
            </a:solidFill>
            <a:ln>
              <a:noFill/>
            </a:ln>
            <a:effectLst/>
          </c:spPr>
          <c:invertIfNegative val="0"/>
          <c:dLbls>
            <c:delete val="1"/>
          </c:dLbls>
          <c:cat>
            <c:strRef>
              <c:f>Sheet1!$A$2:$A$7</c:f>
              <c:strCache>
                <c:ptCount val="6"/>
                <c:pt idx="0">
                  <c:v>FS 18 
Total
(n=192)</c:v>
                </c:pt>
                <c:pt idx="1">
                  <c:v>CB 24
Total 
(n=192)</c:v>
                </c:pt>
                <c:pt idx="4">
                  <c:v>FS 18
Monadic
(n=98)</c:v>
                </c:pt>
                <c:pt idx="5">
                  <c:v>CB 24 
Monadic
(n=94)</c:v>
                </c:pt>
              </c:strCache>
            </c:strRef>
          </c:cat>
          <c:val>
            <c:numRef>
              <c:f>Sheet1!$B$2:$B$7</c:f>
              <c:numCache>
                <c:formatCode>###0%</c:formatCode>
                <c:ptCount val="6"/>
                <c:pt idx="0">
                  <c:v>0</c:v>
                </c:pt>
                <c:pt idx="1">
                  <c:v>0</c:v>
                </c:pt>
                <c:pt idx="4">
                  <c:v>0</c:v>
                </c:pt>
                <c:pt idx="5">
                  <c:v>0</c:v>
                </c:pt>
              </c:numCache>
            </c:numRef>
          </c:val>
          <c:extLst>
            <c:ext xmlns:c16="http://schemas.microsoft.com/office/drawing/2014/chart" uri="{C3380CC4-5D6E-409C-BE32-E72D297353CC}">
              <c16:uniqueId val="{00000000-9F30-4D77-BDD6-2B8141118AB3}"/>
            </c:ext>
          </c:extLst>
        </c:ser>
        <c:ser>
          <c:idx val="1"/>
          <c:order val="1"/>
          <c:tx>
            <c:strRef>
              <c:f>Sheet1!$C$1</c:f>
              <c:strCache>
                <c:ptCount val="1"/>
                <c:pt idx="0">
                  <c:v>Disagree Somewhat</c:v>
                </c:pt>
              </c:strCache>
            </c:strRef>
          </c:tx>
          <c:spPr>
            <a:solidFill>
              <a:schemeClr val="accent1">
                <a:lumMod val="40000"/>
                <a:lumOff val="60000"/>
              </a:schemeClr>
            </a:solidFill>
            <a:ln>
              <a:noFill/>
            </a:ln>
            <a:effectLst/>
          </c:spPr>
          <c:invertIfNegative val="0"/>
          <c:dLbls>
            <c:delete val="1"/>
          </c:dLbls>
          <c:cat>
            <c:strRef>
              <c:f>Sheet1!$A$2:$A$7</c:f>
              <c:strCache>
                <c:ptCount val="6"/>
                <c:pt idx="0">
                  <c:v>FS 18 
Total
(n=192)</c:v>
                </c:pt>
                <c:pt idx="1">
                  <c:v>CB 24
Total 
(n=192)</c:v>
                </c:pt>
                <c:pt idx="4">
                  <c:v>FS 18
Monadic
(n=98)</c:v>
                </c:pt>
                <c:pt idx="5">
                  <c:v>CB 24 
Monadic
(n=94)</c:v>
                </c:pt>
              </c:strCache>
            </c:strRef>
          </c:cat>
          <c:val>
            <c:numRef>
              <c:f>Sheet1!$C$2:$C$7</c:f>
              <c:numCache>
                <c:formatCode>####%</c:formatCode>
                <c:ptCount val="6"/>
                <c:pt idx="0" formatCode="###0%">
                  <c:v>2.0833333333333336E-2</c:v>
                </c:pt>
                <c:pt idx="1">
                  <c:v>5.2083333333333339E-3</c:v>
                </c:pt>
                <c:pt idx="4" formatCode="###0%">
                  <c:v>1.0204081632653062E-2</c:v>
                </c:pt>
                <c:pt idx="5" formatCode="###0%">
                  <c:v>0</c:v>
                </c:pt>
              </c:numCache>
            </c:numRef>
          </c:val>
          <c:extLst>
            <c:ext xmlns:c16="http://schemas.microsoft.com/office/drawing/2014/chart" uri="{C3380CC4-5D6E-409C-BE32-E72D297353CC}">
              <c16:uniqueId val="{00000001-9F30-4D77-BDD6-2B8141118AB3}"/>
            </c:ext>
          </c:extLst>
        </c:ser>
        <c:ser>
          <c:idx val="2"/>
          <c:order val="2"/>
          <c:tx>
            <c:strRef>
              <c:f>Sheet1!$D$1</c:f>
              <c:strCache>
                <c:ptCount val="1"/>
                <c:pt idx="0">
                  <c:v>Neutral</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(n=192)</c:v>
                </c:pt>
                <c:pt idx="1">
                  <c:v>CB 24
Total 
(n=192)</c:v>
                </c:pt>
                <c:pt idx="4">
                  <c:v>FS 18
Monadic
(n=98)</c:v>
                </c:pt>
                <c:pt idx="5">
                  <c:v>CB 24 
Monadic
(n=94)</c:v>
                </c:pt>
              </c:strCache>
            </c:strRef>
          </c:cat>
          <c:val>
            <c:numRef>
              <c:f>Sheet1!$D$2:$D$7</c:f>
              <c:numCache>
                <c:formatCode>###0%</c:formatCode>
                <c:ptCount val="6"/>
                <c:pt idx="0">
                  <c:v>5.7291666666666671E-2</c:v>
                </c:pt>
                <c:pt idx="1">
                  <c:v>2.6041666666666664E-2</c:v>
                </c:pt>
                <c:pt idx="4">
                  <c:v>4.0816326530612249E-2</c:v>
                </c:pt>
                <c:pt idx="5">
                  <c:v>1.0638297872340425E-2</c:v>
                </c:pt>
              </c:numCache>
            </c:numRef>
          </c:val>
          <c:extLst>
            <c:ext xmlns:c16="http://schemas.microsoft.com/office/drawing/2014/chart" uri="{C3380CC4-5D6E-409C-BE32-E72D297353CC}">
              <c16:uniqueId val="{00000002-9F30-4D77-BDD6-2B8141118AB3}"/>
            </c:ext>
          </c:extLst>
        </c:ser>
        <c:ser>
          <c:idx val="3"/>
          <c:order val="3"/>
          <c:tx>
            <c:strRef>
              <c:f>Sheet1!$E$1</c:f>
              <c:strCache>
                <c:ptCount val="1"/>
                <c:pt idx="0">
                  <c:v>Agree Somewhat</c:v>
                </c:pt>
              </c:strCache>
            </c:strRef>
          </c:tx>
          <c:spPr>
            <a:solidFill>
              <a:schemeClr val="accent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(n=192)</c:v>
                </c:pt>
                <c:pt idx="1">
                  <c:v>CB 24
Total 
(n=192)</c:v>
                </c:pt>
                <c:pt idx="4">
                  <c:v>FS 18
Monadic
(n=98)</c:v>
                </c:pt>
                <c:pt idx="5">
                  <c:v>CB 24 
Monadic
(n=94)</c:v>
                </c:pt>
              </c:strCache>
            </c:strRef>
          </c:cat>
          <c:val>
            <c:numRef>
              <c:f>Sheet1!$E$2:$E$7</c:f>
              <c:numCache>
                <c:formatCode>###0%</c:formatCode>
                <c:ptCount val="6"/>
                <c:pt idx="0">
                  <c:v>0.21875</c:v>
                </c:pt>
                <c:pt idx="1">
                  <c:v>0.22916666666666669</c:v>
                </c:pt>
                <c:pt idx="4">
                  <c:v>0.1326530612244898</c:v>
                </c:pt>
                <c:pt idx="5">
                  <c:v>0.18085106382978722</c:v>
                </c:pt>
              </c:numCache>
            </c:numRef>
          </c:val>
          <c:extLst>
            <c:ext xmlns:c16="http://schemas.microsoft.com/office/drawing/2014/chart" uri="{C3380CC4-5D6E-409C-BE32-E72D297353CC}">
              <c16:uniqueId val="{00000003-9F30-4D77-BDD6-2B8141118AB3}"/>
            </c:ext>
          </c:extLst>
        </c:ser>
        <c:ser>
          <c:idx val="4"/>
          <c:order val="4"/>
          <c:tx>
            <c:strRef>
              <c:f>Sheet1!$F$1</c:f>
              <c:strCache>
                <c:ptCount val="1"/>
                <c:pt idx="0">
                  <c:v>Agree Strongly</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(n=192)</c:v>
                </c:pt>
                <c:pt idx="1">
                  <c:v>CB 24
Total 
(n=192)</c:v>
                </c:pt>
                <c:pt idx="4">
                  <c:v>FS 18
Monadic
(n=98)</c:v>
                </c:pt>
                <c:pt idx="5">
                  <c:v>CB 24 
Monadic
(n=94)</c:v>
                </c:pt>
              </c:strCache>
            </c:strRef>
          </c:cat>
          <c:val>
            <c:numRef>
              <c:f>Sheet1!$F$2:$F$7</c:f>
              <c:numCache>
                <c:formatCode>###0%</c:formatCode>
                <c:ptCount val="6"/>
                <c:pt idx="0">
                  <c:v>0.703125</c:v>
                </c:pt>
                <c:pt idx="1">
                  <c:v>0.73958333333333326</c:v>
                </c:pt>
                <c:pt idx="4">
                  <c:v>0.81632653061224492</c:v>
                </c:pt>
                <c:pt idx="5">
                  <c:v>0.8085106382978724</c:v>
                </c:pt>
              </c:numCache>
            </c:numRef>
          </c:val>
          <c:extLst>
            <c:ext xmlns:c16="http://schemas.microsoft.com/office/drawing/2014/chart" uri="{C3380CC4-5D6E-409C-BE32-E72D297353CC}">
              <c16:uniqueId val="{00000004-9F30-4D77-BDD6-2B8141118AB3}"/>
            </c:ext>
          </c:extLst>
        </c:ser>
        <c:ser>
          <c:idx val="6"/>
          <c:order val="5"/>
          <c:tx>
            <c:strRef>
              <c:f>Sheet1!$H$1</c:f>
              <c:strCache>
                <c:ptCount val="1"/>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(n=192)</c:v>
                </c:pt>
                <c:pt idx="1">
                  <c:v>CB 24
Total 
(n=192)</c:v>
                </c:pt>
                <c:pt idx="4">
                  <c:v>FS 18
Monadic
(n=98)</c:v>
                </c:pt>
                <c:pt idx="5">
                  <c:v>CB 24 
Monadic
(n=94)</c:v>
                </c:pt>
              </c:strCache>
            </c:strRef>
          </c:cat>
          <c:val>
            <c:numRef>
              <c:f>Sheet1!$H$2:$H$7</c:f>
              <c:numCache>
                <c:formatCode>General</c:formatCode>
                <c:ptCount val="6"/>
              </c:numCache>
            </c:numRef>
          </c:val>
          <c:extLst>
            <c:ext xmlns:c16="http://schemas.microsoft.com/office/drawing/2014/chart" uri="{C3380CC4-5D6E-409C-BE32-E72D297353CC}">
              <c16:uniqueId val="{00000002-F016-4A3D-A7F1-58F3AD9A4DAC}"/>
            </c:ext>
          </c:extLst>
        </c:ser>
        <c:dLbls>
          <c:dLblPos val="ctr"/>
          <c:showLegendKey val="0"/>
          <c:showVal val="1"/>
          <c:showCatName val="0"/>
          <c:showSerName val="0"/>
          <c:showPercent val="0"/>
          <c:showBubbleSize val="0"/>
        </c:dLbls>
        <c:gapWidth val="80"/>
        <c:overlap val="100"/>
        <c:axId val="1058677087"/>
        <c:axId val="1058677567"/>
      </c:barChart>
      <c:catAx>
        <c:axId val="1058677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8677567"/>
        <c:crosses val="autoZero"/>
        <c:auto val="1"/>
        <c:lblAlgn val="ctr"/>
        <c:lblOffset val="100"/>
        <c:noMultiLvlLbl val="0"/>
      </c:catAx>
      <c:valAx>
        <c:axId val="1058677567"/>
        <c:scaling>
          <c:orientation val="minMax"/>
        </c:scaling>
        <c:delete val="1"/>
        <c:axPos val="l"/>
        <c:numFmt formatCode="0%" sourceLinked="1"/>
        <c:majorTickMark val="none"/>
        <c:minorTickMark val="none"/>
        <c:tickLblPos val="nextTo"/>
        <c:crossAx val="1058677087"/>
        <c:crosses val="autoZero"/>
        <c:crossBetween val="between"/>
      </c:valAx>
      <c:spPr>
        <a:noFill/>
        <a:ln>
          <a:noFill/>
        </a:ln>
        <a:effectLst/>
      </c:spPr>
    </c:plotArea>
    <c:legend>
      <c:legendPos val="b"/>
      <c:legendEntry>
        <c:idx val="5"/>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percentStacked"/>
        <c:varyColors val="0"/>
        <c:ser>
          <c:idx val="0"/>
          <c:order val="0"/>
          <c:tx>
            <c:strRef>
              <c:f>Sheet1!$B$1</c:f>
              <c:strCache>
                <c:ptCount val="1"/>
                <c:pt idx="0">
                  <c:v>Disagree Strongly</c:v>
                </c:pt>
              </c:strCache>
            </c:strRef>
          </c:tx>
          <c:spPr>
            <a:solidFill>
              <a:schemeClr val="accent1">
                <a:lumMod val="20000"/>
                <a:lumOff val="80000"/>
              </a:schemeClr>
            </a:solidFill>
            <a:ln>
              <a:noFill/>
            </a:ln>
            <a:effectLst/>
          </c:spPr>
          <c:invertIfNegative val="0"/>
          <c:dLbls>
            <c:delete val="1"/>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Sheet1!$B$2:$B$15</c:f>
              <c:numCache>
                <c:formatCode>###0%</c:formatCode>
                <c:ptCount val="14"/>
                <c:pt idx="0">
                  <c:v>0</c:v>
                </c:pt>
                <c:pt idx="1">
                  <c:v>0</c:v>
                </c:pt>
                <c:pt idx="2">
                  <c:v>0</c:v>
                </c:pt>
                <c:pt idx="3">
                  <c:v>0</c:v>
                </c:pt>
                <c:pt idx="4">
                  <c:v>0</c:v>
                </c:pt>
                <c:pt idx="5">
                  <c:v>0</c:v>
                </c:pt>
                <c:pt idx="6">
                  <c:v>0</c:v>
                </c:pt>
                <c:pt idx="7">
                  <c:v>0</c:v>
                </c:pt>
                <c:pt idx="8">
                  <c:v>0</c:v>
                </c:pt>
                <c:pt idx="9">
                  <c:v>0</c:v>
                </c:pt>
                <c:pt idx="10">
                  <c:v>0</c:v>
                </c:pt>
                <c:pt idx="11">
                  <c:v>0</c:v>
                </c:pt>
                <c:pt idx="12">
                  <c:v>0</c:v>
                </c:pt>
                <c:pt idx="13">
                  <c:v>0</c:v>
                </c:pt>
              </c:numCache>
            </c:numRef>
          </c:val>
          <c:extLst>
            <c:ext xmlns:c16="http://schemas.microsoft.com/office/drawing/2014/chart" uri="{C3380CC4-5D6E-409C-BE32-E72D297353CC}">
              <c16:uniqueId val="{00000000-E206-4B37-983F-2BDB800A02CE}"/>
            </c:ext>
          </c:extLst>
        </c:ser>
        <c:ser>
          <c:idx val="1"/>
          <c:order val="1"/>
          <c:tx>
            <c:strRef>
              <c:f>Sheet1!$C$1</c:f>
              <c:strCache>
                <c:ptCount val="1"/>
                <c:pt idx="0">
                  <c:v>Disagree Somewhat</c:v>
                </c:pt>
              </c:strCache>
            </c:strRef>
          </c:tx>
          <c:spPr>
            <a:solidFill>
              <a:schemeClr val="accent1">
                <a:lumMod val="40000"/>
                <a:lumOff val="60000"/>
              </a:schemeClr>
            </a:solidFill>
            <a:ln>
              <a:noFill/>
            </a:ln>
            <a:effectLst/>
          </c:spPr>
          <c:invertIfNegative val="0"/>
          <c:dLbls>
            <c:delete val="1"/>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Sheet1!$C$2:$C$15</c:f>
              <c:numCache>
                <c:formatCode>###0%</c:formatCode>
                <c:ptCount val="14"/>
                <c:pt idx="0">
                  <c:v>1.0416666666666668E-2</c:v>
                </c:pt>
                <c:pt idx="1">
                  <c:v>1.0416666666666668E-2</c:v>
                </c:pt>
                <c:pt idx="2">
                  <c:v>3.125E-2</c:v>
                </c:pt>
                <c:pt idx="3">
                  <c:v>0</c:v>
                </c:pt>
                <c:pt idx="4">
                  <c:v>1.0309278350515462E-2</c:v>
                </c:pt>
                <c:pt idx="5">
                  <c:v>0</c:v>
                </c:pt>
                <c:pt idx="6">
                  <c:v>3.1578947368421054E-2</c:v>
                </c:pt>
                <c:pt idx="7">
                  <c:v>1.0526315789473684E-2</c:v>
                </c:pt>
                <c:pt idx="8">
                  <c:v>3.1578947368421054E-2</c:v>
                </c:pt>
                <c:pt idx="9">
                  <c:v>0</c:v>
                </c:pt>
                <c:pt idx="10">
                  <c:v>1.5873015873015872E-2</c:v>
                </c:pt>
                <c:pt idx="11">
                  <c:v>1.5873015873015872E-2</c:v>
                </c:pt>
                <c:pt idx="12">
                  <c:v>0</c:v>
                </c:pt>
                <c:pt idx="13">
                  <c:v>0</c:v>
                </c:pt>
              </c:numCache>
            </c:numRef>
          </c:val>
          <c:extLst>
            <c:ext xmlns:c16="http://schemas.microsoft.com/office/drawing/2014/chart" uri="{C3380CC4-5D6E-409C-BE32-E72D297353CC}">
              <c16:uniqueId val="{00000001-E206-4B37-983F-2BDB800A02CE}"/>
            </c:ext>
          </c:extLst>
        </c:ser>
        <c:ser>
          <c:idx val="2"/>
          <c:order val="2"/>
          <c:tx>
            <c:strRef>
              <c:f>Sheet1!$D$1</c:f>
              <c:strCache>
                <c:ptCount val="1"/>
                <c:pt idx="0">
                  <c:v>Neutral</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Sheet1!$D$2:$D$15</c:f>
              <c:numCache>
                <c:formatCode>###0%</c:formatCode>
                <c:ptCount val="14"/>
                <c:pt idx="0">
                  <c:v>6.25E-2</c:v>
                </c:pt>
                <c:pt idx="1">
                  <c:v>1.0416666666666668E-2</c:v>
                </c:pt>
                <c:pt idx="2">
                  <c:v>5.2083333333333329E-2</c:v>
                </c:pt>
                <c:pt idx="3">
                  <c:v>4.1666666666666671E-2</c:v>
                </c:pt>
                <c:pt idx="4">
                  <c:v>5.1546391752577324E-2</c:v>
                </c:pt>
                <c:pt idx="5">
                  <c:v>3.0927835051546393E-2</c:v>
                </c:pt>
                <c:pt idx="6">
                  <c:v>6.3157894736842107E-2</c:v>
                </c:pt>
                <c:pt idx="7">
                  <c:v>2.1052631578947368E-2</c:v>
                </c:pt>
                <c:pt idx="8">
                  <c:v>4.2105263157894736E-2</c:v>
                </c:pt>
                <c:pt idx="9">
                  <c:v>2.1052631578947368E-2</c:v>
                </c:pt>
                <c:pt idx="10">
                  <c:v>7.9365079365079361E-2</c:v>
                </c:pt>
                <c:pt idx="11">
                  <c:v>1.5873015873015872E-2</c:v>
                </c:pt>
                <c:pt idx="12">
                  <c:v>5.8823529411764712E-2</c:v>
                </c:pt>
                <c:pt idx="13">
                  <c:v>5.8823529411764712E-2</c:v>
                </c:pt>
              </c:numCache>
            </c:numRef>
          </c:val>
          <c:extLst>
            <c:ext xmlns:c16="http://schemas.microsoft.com/office/drawing/2014/chart" uri="{C3380CC4-5D6E-409C-BE32-E72D297353CC}">
              <c16:uniqueId val="{00000002-E206-4B37-983F-2BDB800A02CE}"/>
            </c:ext>
          </c:extLst>
        </c:ser>
        <c:ser>
          <c:idx val="3"/>
          <c:order val="3"/>
          <c:tx>
            <c:strRef>
              <c:f>Sheet1!$E$1</c:f>
              <c:strCache>
                <c:ptCount val="1"/>
                <c:pt idx="0">
                  <c:v>Agree Somewhat</c:v>
                </c:pt>
              </c:strCache>
            </c:strRef>
          </c:tx>
          <c:spPr>
            <a:solidFill>
              <a:schemeClr val="accent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Sheet1!$E$2:$E$15</c:f>
              <c:numCache>
                <c:formatCode>###0%</c:formatCode>
                <c:ptCount val="14"/>
                <c:pt idx="0">
                  <c:v>0.28125</c:v>
                </c:pt>
                <c:pt idx="1">
                  <c:v>0.26041666666666669</c:v>
                </c:pt>
                <c:pt idx="2">
                  <c:v>0.15625</c:v>
                </c:pt>
                <c:pt idx="3">
                  <c:v>0.19791666666666669</c:v>
                </c:pt>
                <c:pt idx="4">
                  <c:v>0.19587628865979384</c:v>
                </c:pt>
                <c:pt idx="5">
                  <c:v>0.29896907216494845</c:v>
                </c:pt>
                <c:pt idx="6">
                  <c:v>0.24210526315789471</c:v>
                </c:pt>
                <c:pt idx="7">
                  <c:v>0.15789473684210525</c:v>
                </c:pt>
                <c:pt idx="8">
                  <c:v>0.2</c:v>
                </c:pt>
                <c:pt idx="9">
                  <c:v>0.17894736842105263</c:v>
                </c:pt>
                <c:pt idx="10">
                  <c:v>0.31746031746031744</c:v>
                </c:pt>
                <c:pt idx="11">
                  <c:v>0.31746031746031744</c:v>
                </c:pt>
                <c:pt idx="12">
                  <c:v>8.8235294117647065E-2</c:v>
                </c:pt>
                <c:pt idx="13">
                  <c:v>0.20588235294117649</c:v>
                </c:pt>
              </c:numCache>
            </c:numRef>
          </c:val>
          <c:extLst>
            <c:ext xmlns:c16="http://schemas.microsoft.com/office/drawing/2014/chart" uri="{C3380CC4-5D6E-409C-BE32-E72D297353CC}">
              <c16:uniqueId val="{00000003-E206-4B37-983F-2BDB800A02CE}"/>
            </c:ext>
          </c:extLst>
        </c:ser>
        <c:ser>
          <c:idx val="4"/>
          <c:order val="4"/>
          <c:tx>
            <c:strRef>
              <c:f>Sheet1!$F$1</c:f>
              <c:strCache>
                <c:ptCount val="1"/>
                <c:pt idx="0">
                  <c:v>Agree Strongly</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Sheet1!$F$2:$F$15</c:f>
              <c:numCache>
                <c:formatCode>###0%</c:formatCode>
                <c:ptCount val="14"/>
                <c:pt idx="0">
                  <c:v>0.64583333333333326</c:v>
                </c:pt>
                <c:pt idx="1">
                  <c:v>0.71875</c:v>
                </c:pt>
                <c:pt idx="2">
                  <c:v>0.76041666666666674</c:v>
                </c:pt>
                <c:pt idx="3">
                  <c:v>0.76041666666666674</c:v>
                </c:pt>
                <c:pt idx="4">
                  <c:v>0.74226804123711343</c:v>
                </c:pt>
                <c:pt idx="5">
                  <c:v>0.67010309278350522</c:v>
                </c:pt>
                <c:pt idx="6">
                  <c:v>0.66315789473684206</c:v>
                </c:pt>
                <c:pt idx="7">
                  <c:v>0.81052631578947365</c:v>
                </c:pt>
                <c:pt idx="8">
                  <c:v>0.72631578947368425</c:v>
                </c:pt>
                <c:pt idx="9">
                  <c:v>0.8</c:v>
                </c:pt>
                <c:pt idx="10">
                  <c:v>0.58730158730158732</c:v>
                </c:pt>
                <c:pt idx="11">
                  <c:v>0.6507936507936507</c:v>
                </c:pt>
                <c:pt idx="12">
                  <c:v>0.85294117647058831</c:v>
                </c:pt>
                <c:pt idx="13">
                  <c:v>0.73529411764705888</c:v>
                </c:pt>
              </c:numCache>
            </c:numRef>
          </c:val>
          <c:extLst>
            <c:ext xmlns:c16="http://schemas.microsoft.com/office/drawing/2014/chart" uri="{C3380CC4-5D6E-409C-BE32-E72D297353CC}">
              <c16:uniqueId val="{00000004-E206-4B37-983F-2BDB800A02CE}"/>
            </c:ext>
          </c:extLst>
        </c:ser>
        <c:ser>
          <c:idx val="6"/>
          <c:order val="5"/>
          <c:tx>
            <c:strRef>
              <c:f>Sheet1!$H$1</c:f>
              <c:strCache>
                <c:ptCount val="1"/>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(n=96)</c:v>
                </c:pt>
                <c:pt idx="1">
                  <c:v>CB 24 
Mumbai
(n=96)</c:v>
                </c:pt>
                <c:pt idx="2">
                  <c:v>FS 18 
Delhi
(n=96)</c:v>
                </c:pt>
                <c:pt idx="3">
                  <c:v>CB 24
Delhi 
(n=96)</c:v>
                </c:pt>
                <c:pt idx="4">
                  <c:v>FS 18 
Male
(n=97)</c:v>
                </c:pt>
                <c:pt idx="5">
                  <c:v>CB 24 
Male
(n=97)</c:v>
                </c:pt>
                <c:pt idx="6">
                  <c:v>FS 18 
Female
(n=95)</c:v>
                </c:pt>
                <c:pt idx="7">
                  <c:v>CB 24 
Female
(n=95)</c:v>
                </c:pt>
                <c:pt idx="8">
                  <c:v>FS 18
Age 8-16
(n=95)</c:v>
                </c:pt>
                <c:pt idx="9">
                  <c:v>CB 24 
Age 8-16
(n=95)</c:v>
                </c:pt>
                <c:pt idx="10">
                  <c:v>FS 18 
Age 17-27
(n=63)</c:v>
                </c:pt>
                <c:pt idx="11">
                  <c:v>CB 24
Age 17-27 
(n=63)</c:v>
                </c:pt>
                <c:pt idx="12">
                  <c:v>FS 18 
Age 28-40
(n=34)</c:v>
                </c:pt>
                <c:pt idx="13">
                  <c:v>CB 24
Age 28-40 
(n=34)</c:v>
                </c:pt>
              </c:strCache>
            </c:strRef>
          </c:cat>
          <c:val>
            <c:numRef>
              <c:f>Sheet1!$H$2:$H$13</c:f>
              <c:numCache>
                <c:formatCode>General</c:formatCode>
                <c:ptCount val="12"/>
              </c:numCache>
            </c:numRef>
          </c:val>
          <c:extLst>
            <c:ext xmlns:c16="http://schemas.microsoft.com/office/drawing/2014/chart" uri="{C3380CC4-5D6E-409C-BE32-E72D297353CC}">
              <c16:uniqueId val="{00000005-E206-4B37-983F-2BDB800A02CE}"/>
            </c:ext>
          </c:extLst>
        </c:ser>
        <c:dLbls>
          <c:dLblPos val="ctr"/>
          <c:showLegendKey val="0"/>
          <c:showVal val="1"/>
          <c:showCatName val="0"/>
          <c:showSerName val="0"/>
          <c:showPercent val="0"/>
          <c:showBubbleSize val="0"/>
        </c:dLbls>
        <c:gapWidth val="80"/>
        <c:overlap val="100"/>
        <c:axId val="1058677087"/>
        <c:axId val="1058677567"/>
      </c:barChart>
      <c:catAx>
        <c:axId val="1058677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8677567"/>
        <c:crosses val="autoZero"/>
        <c:auto val="1"/>
        <c:lblAlgn val="ctr"/>
        <c:lblOffset val="100"/>
        <c:noMultiLvlLbl val="0"/>
      </c:catAx>
      <c:valAx>
        <c:axId val="1058677567"/>
        <c:scaling>
          <c:orientation val="minMax"/>
        </c:scaling>
        <c:delete val="1"/>
        <c:axPos val="l"/>
        <c:numFmt formatCode="0%" sourceLinked="1"/>
        <c:majorTickMark val="none"/>
        <c:minorTickMark val="none"/>
        <c:tickLblPos val="nextTo"/>
        <c:crossAx val="1058677087"/>
        <c:crosses val="autoZero"/>
        <c:crossBetween val="between"/>
      </c:valAx>
      <c:spPr>
        <a:noFill/>
        <a:ln>
          <a:noFill/>
        </a:ln>
        <a:effectLst/>
      </c:spPr>
    </c:plotArea>
    <c:legend>
      <c:legendPos val="b"/>
      <c:legendEntry>
        <c:idx val="5"/>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19050" cap="rnd">
              <a:noFill/>
              <a:round/>
            </a:ln>
            <a:effectLst/>
          </c:spPr>
          <c:marker>
            <c:symbol val="circle"/>
            <c:size val="12"/>
            <c:spPr>
              <a:solidFill>
                <a:schemeClr val="accent1"/>
              </a:solidFill>
              <a:ln w="9525">
                <a:solidFill>
                  <a:schemeClr val="accent1"/>
                </a:solidFill>
              </a:ln>
              <a:effectLst/>
            </c:spPr>
          </c:marker>
          <c:dPt>
            <c:idx val="4"/>
            <c:marker>
              <c:symbol val="circle"/>
              <c:size val="12"/>
              <c:spPr>
                <a:solidFill>
                  <a:schemeClr val="accent4"/>
                </a:solidFill>
                <a:ln w="9525">
                  <a:noFill/>
                </a:ln>
                <a:effectLst/>
              </c:spPr>
            </c:marker>
            <c:bubble3D val="0"/>
            <c:spPr>
              <a:ln w="19050" cap="rnd">
                <a:noFill/>
                <a:round/>
              </a:ln>
              <a:effectLst/>
            </c:spPr>
            <c:extLst>
              <c:ext xmlns:c16="http://schemas.microsoft.com/office/drawing/2014/chart" uri="{C3380CC4-5D6E-409C-BE32-E72D297353CC}">
                <c16:uniqueId val="{00000002-CDA9-4EE5-95F7-61D520A782C2}"/>
              </c:ext>
            </c:extLst>
          </c:dPt>
          <c:dPt>
            <c:idx val="5"/>
            <c:marker>
              <c:symbol val="circle"/>
              <c:size val="12"/>
              <c:spPr>
                <a:solidFill>
                  <a:schemeClr val="accent4"/>
                </a:solidFill>
                <a:ln w="9525">
                  <a:noFill/>
                </a:ln>
                <a:effectLst/>
              </c:spPr>
            </c:marker>
            <c:bubble3D val="0"/>
            <c:spPr>
              <a:ln w="19050" cap="rnd">
                <a:noFill/>
                <a:round/>
              </a:ln>
              <a:effectLst/>
            </c:spPr>
            <c:extLst>
              <c:ext xmlns:c16="http://schemas.microsoft.com/office/drawing/2014/chart" uri="{C3380CC4-5D6E-409C-BE32-E72D297353CC}">
                <c16:uniqueId val="{0000000C-CDA9-4EE5-95F7-61D520A782C2}"/>
              </c:ext>
            </c:extLst>
          </c:dPt>
          <c:dPt>
            <c:idx val="6"/>
            <c:marker>
              <c:symbol val="circle"/>
              <c:size val="12"/>
              <c:spPr>
                <a:solidFill>
                  <a:srgbClr val="A80020"/>
                </a:solidFill>
                <a:ln w="9525">
                  <a:noFill/>
                </a:ln>
                <a:effectLst/>
              </c:spPr>
            </c:marker>
            <c:bubble3D val="0"/>
            <c:spPr>
              <a:ln w="19050" cap="rnd">
                <a:noFill/>
                <a:round/>
              </a:ln>
              <a:effectLst/>
            </c:spPr>
            <c:extLst>
              <c:ext xmlns:c16="http://schemas.microsoft.com/office/drawing/2014/chart" uri="{C3380CC4-5D6E-409C-BE32-E72D297353CC}">
                <c16:uniqueId val="{0000000B-CDA9-4EE5-95F7-61D520A782C2}"/>
              </c:ext>
            </c:extLst>
          </c:dPt>
          <c:dPt>
            <c:idx val="7"/>
            <c:marker>
              <c:symbol val="circle"/>
              <c:size val="12"/>
              <c:spPr>
                <a:solidFill>
                  <a:srgbClr val="A80020"/>
                </a:solidFill>
                <a:ln w="9525">
                  <a:noFill/>
                </a:ln>
                <a:effectLst/>
              </c:spPr>
            </c:marker>
            <c:bubble3D val="0"/>
            <c:spPr>
              <a:ln w="19050" cap="rnd">
                <a:noFill/>
                <a:round/>
              </a:ln>
              <a:effectLst/>
            </c:spPr>
            <c:extLst>
              <c:ext xmlns:c16="http://schemas.microsoft.com/office/drawing/2014/chart" uri="{C3380CC4-5D6E-409C-BE32-E72D297353CC}">
                <c16:uniqueId val="{0000000A-CDA9-4EE5-95F7-61D520A782C2}"/>
              </c:ext>
            </c:extLst>
          </c:dPt>
          <c:dPt>
            <c:idx val="8"/>
            <c:marker>
              <c:symbol val="circle"/>
              <c:size val="12"/>
              <c:spPr>
                <a:solidFill>
                  <a:srgbClr val="FF7C80"/>
                </a:solidFill>
                <a:ln w="9525">
                  <a:noFill/>
                </a:ln>
                <a:effectLst/>
              </c:spPr>
            </c:marker>
            <c:bubble3D val="0"/>
            <c:spPr>
              <a:ln w="19050" cap="rnd">
                <a:noFill/>
                <a:round/>
              </a:ln>
              <a:effectLst/>
            </c:spPr>
            <c:extLst>
              <c:ext xmlns:c16="http://schemas.microsoft.com/office/drawing/2014/chart" uri="{C3380CC4-5D6E-409C-BE32-E72D297353CC}">
                <c16:uniqueId val="{00000008-CDA9-4EE5-95F7-61D520A782C2}"/>
              </c:ext>
            </c:extLst>
          </c:dPt>
          <c:dPt>
            <c:idx val="9"/>
            <c:marker>
              <c:symbol val="circle"/>
              <c:size val="12"/>
              <c:spPr>
                <a:solidFill>
                  <a:srgbClr val="FF7C80"/>
                </a:solidFill>
                <a:ln w="9525">
                  <a:noFill/>
                </a:ln>
                <a:effectLst/>
              </c:spPr>
            </c:marker>
            <c:bubble3D val="0"/>
            <c:spPr>
              <a:ln w="19050" cap="rnd">
                <a:noFill/>
                <a:round/>
              </a:ln>
              <a:effectLst/>
            </c:spPr>
            <c:extLst>
              <c:ext xmlns:c16="http://schemas.microsoft.com/office/drawing/2014/chart" uri="{C3380CC4-5D6E-409C-BE32-E72D297353CC}">
                <c16:uniqueId val="{00000009-CDA9-4EE5-95F7-61D520A782C2}"/>
              </c:ext>
            </c:extLst>
          </c:dPt>
          <c:dPt>
            <c:idx val="10"/>
            <c:marker>
              <c:symbol val="circle"/>
              <c:size val="12"/>
              <c:spPr>
                <a:solidFill>
                  <a:schemeClr val="tx1"/>
                </a:solidFill>
                <a:ln w="9525">
                  <a:noFill/>
                </a:ln>
                <a:effectLst/>
              </c:spPr>
            </c:marker>
            <c:bubble3D val="0"/>
            <c:spPr>
              <a:ln w="19050" cap="rnd">
                <a:noFill/>
                <a:round/>
              </a:ln>
              <a:effectLst/>
            </c:spPr>
            <c:extLst>
              <c:ext xmlns:c16="http://schemas.microsoft.com/office/drawing/2014/chart" uri="{C3380CC4-5D6E-409C-BE32-E72D297353CC}">
                <c16:uniqueId val="{00000006-CDA9-4EE5-95F7-61D520A782C2}"/>
              </c:ext>
            </c:extLst>
          </c:dPt>
          <c:dPt>
            <c:idx val="11"/>
            <c:marker>
              <c:symbol val="circle"/>
              <c:size val="12"/>
              <c:spPr>
                <a:solidFill>
                  <a:schemeClr val="tx1"/>
                </a:solidFill>
                <a:ln w="9525">
                  <a:noFill/>
                </a:ln>
                <a:effectLst/>
              </c:spPr>
            </c:marker>
            <c:bubble3D val="0"/>
            <c:spPr>
              <a:ln w="19050" cap="rnd">
                <a:noFill/>
                <a:round/>
              </a:ln>
              <a:effectLst/>
            </c:spPr>
            <c:extLst>
              <c:ext xmlns:c16="http://schemas.microsoft.com/office/drawing/2014/chart" uri="{C3380CC4-5D6E-409C-BE32-E72D297353CC}">
                <c16:uniqueId val="{00000007-CDA9-4EE5-95F7-61D520A782C2}"/>
              </c:ext>
            </c:extLst>
          </c:dPt>
          <c:dLbls>
            <c:dLbl>
              <c:idx val="0"/>
              <c:layout>
                <c:manualLayout>
                  <c:x val="-6.8082729468599043E-2"/>
                  <c:y val="-0.11615876068376059"/>
                </c:manualLayout>
              </c:layout>
              <c:tx>
                <c:rich>
                  <a:bodyPr/>
                  <a:lstStyle/>
                  <a:p>
                    <a:fld id="{8E861AF3-9564-43C7-933B-67FB2C25CCD5}" type="XVALUE">
                      <a:rPr lang="en-US"/>
                      <a:pPr/>
                      <a:t>[X VALUE]</a:t>
                    </a:fld>
                    <a:r>
                      <a:rPr lang="en-US" baseline="0" dirty="0"/>
                      <a:t>, </a:t>
                    </a:r>
                  </a:p>
                  <a:p>
                    <a:fld id="{A00C96E1-6FCC-4B07-A784-9E54E01F8174}"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DA9-4EE5-95F7-61D520A782C2}"/>
                </c:ext>
              </c:extLst>
            </c:dLbl>
            <c:dLbl>
              <c:idx val="1"/>
              <c:layout>
                <c:manualLayout>
                  <c:x val="-7.6192028985507268E-2"/>
                  <c:y val="-0.23013311965811975"/>
                </c:manualLayout>
              </c:layout>
              <c:tx>
                <c:rich>
                  <a:bodyPr/>
                  <a:lstStyle/>
                  <a:p>
                    <a:fld id="{C7C7CEEF-E183-4A2C-AB97-33F39F29EC81}" type="XVALUE">
                      <a:rPr lang="en-US"/>
                      <a:pPr/>
                      <a:t>[X VALUE]</a:t>
                    </a:fld>
                    <a:r>
                      <a:rPr lang="en-US" baseline="0" dirty="0"/>
                      <a:t>, </a:t>
                    </a:r>
                  </a:p>
                  <a:p>
                    <a:fld id="{67BDC529-A581-46C8-B420-DAE24208277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CDA9-4EE5-95F7-61D520A782C2}"/>
                </c:ext>
              </c:extLst>
            </c:dLbl>
            <c:dLbl>
              <c:idx val="2"/>
              <c:layout>
                <c:manualLayout>
                  <c:x val="-6.3476508407517354E-2"/>
                  <c:y val="-0.15686388888888889"/>
                </c:manualLayout>
              </c:layout>
              <c:tx>
                <c:rich>
                  <a:bodyPr/>
                  <a:lstStyle/>
                  <a:p>
                    <a:fld id="{444CD8FE-021E-4D89-A582-D702E0F7D4AE}" type="XVALUE">
                      <a:rPr lang="en-US"/>
                      <a:pPr/>
                      <a:t>[X VALUE]</a:t>
                    </a:fld>
                    <a:r>
                      <a:rPr lang="en-US" baseline="0" dirty="0"/>
                      <a:t>, </a:t>
                    </a:r>
                  </a:p>
                  <a:p>
                    <a:fld id="{66DBC77D-15EB-4E36-89A9-478F360E164B}"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DA9-4EE5-95F7-61D520A782C2}"/>
                </c:ext>
              </c:extLst>
            </c:dLbl>
            <c:dLbl>
              <c:idx val="3"/>
              <c:layout>
                <c:manualLayout>
                  <c:x val="-6.8820474777448071E-2"/>
                  <c:y val="-0.22470576923076932"/>
                </c:manualLayout>
              </c:layout>
              <c:tx>
                <c:rich>
                  <a:bodyPr/>
                  <a:lstStyle/>
                  <a:p>
                    <a:fld id="{DD2CE720-26EF-47FA-95DA-B85B9A81040E}" type="XVALUE">
                      <a:rPr lang="en-US"/>
                      <a:pPr/>
                      <a:t>[X VALUE]</a:t>
                    </a:fld>
                    <a:r>
                      <a:rPr lang="en-US" baseline="0" dirty="0"/>
                      <a:t>, </a:t>
                    </a:r>
                  </a:p>
                  <a:p>
                    <a:fld id="{62D865A5-2667-4343-AFD1-E34B61F218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DA9-4EE5-95F7-61D520A782C2}"/>
                </c:ext>
              </c:extLst>
            </c:dLbl>
            <c:dLbl>
              <c:idx val="4"/>
              <c:layout>
                <c:manualLayout>
                  <c:x val="6.2895400593471804E-2"/>
                  <c:y val="-1.3039102564102664E-2"/>
                </c:manualLayout>
              </c:layout>
              <c:tx>
                <c:rich>
                  <a:bodyPr/>
                  <a:lstStyle/>
                  <a:p>
                    <a:fld id="{698E41AB-D8BF-43DA-B45B-01AB3BB52D41}" type="XVALUE">
                      <a:rPr lang="en-US"/>
                      <a:pPr/>
                      <a:t>[X VALUE]</a:t>
                    </a:fld>
                    <a:r>
                      <a:rPr lang="en-US" baseline="0" dirty="0"/>
                      <a:t>, </a:t>
                    </a:r>
                  </a:p>
                  <a:p>
                    <a:fld id="{570AC8A7-7719-40A2-A4BB-3111D485D5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DA9-4EE5-95F7-61D520A782C2}"/>
                </c:ext>
              </c:extLst>
            </c:dLbl>
            <c:dLbl>
              <c:idx val="5"/>
              <c:layout>
                <c:manualLayout>
                  <c:x val="-0.12032306763285024"/>
                  <c:y val="2.7666025641025643E-2"/>
                </c:manualLayout>
              </c:layout>
              <c:tx>
                <c:rich>
                  <a:bodyPr/>
                  <a:lstStyle/>
                  <a:p>
                    <a:fld id="{0FD3E36E-0C1D-49F2-A9D7-7655A09E2520}" type="XVALUE">
                      <a:rPr lang="en-US"/>
                      <a:pPr/>
                      <a:t>[X VALUE]</a:t>
                    </a:fld>
                    <a:r>
                      <a:rPr lang="en-US" baseline="0" dirty="0"/>
                      <a:t>, </a:t>
                    </a:r>
                  </a:p>
                  <a:p>
                    <a:fld id="{D0B21986-A406-4258-B64E-895B03A5A920}"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CDA9-4EE5-95F7-61D520A782C2}"/>
                </c:ext>
              </c:extLst>
            </c:dLbl>
            <c:dLbl>
              <c:idx val="6"/>
              <c:layout>
                <c:manualLayout>
                  <c:x val="-6.4779756017144738E-2"/>
                  <c:y val="-0.1441232905982906"/>
                </c:manualLayout>
              </c:layout>
              <c:tx>
                <c:rich>
                  <a:bodyPr/>
                  <a:lstStyle/>
                  <a:p>
                    <a:fld id="{AE091FAC-0C81-4E4A-B746-0ECA7E406C90}" type="XVALUE">
                      <a:rPr lang="en-US"/>
                      <a:pPr/>
                      <a:t>[X VALUE]</a:t>
                    </a:fld>
                    <a:r>
                      <a:rPr lang="en-US" baseline="0"/>
                      <a:t>, </a:t>
                    </a:r>
                  </a:p>
                  <a:p>
                    <a:fld id="{2D043B74-4103-4032-A950-16CC69106101}"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CDA9-4EE5-95F7-61D520A782C2}"/>
                </c:ext>
              </c:extLst>
            </c:dLbl>
            <c:dLbl>
              <c:idx val="7"/>
              <c:layout>
                <c:manualLayout>
                  <c:x val="-4.2283630069238458E-2"/>
                  <c:y val="-8.7136111111111109E-2"/>
                </c:manualLayout>
              </c:layout>
              <c:tx>
                <c:rich>
                  <a:bodyPr/>
                  <a:lstStyle/>
                  <a:p>
                    <a:fld id="{26A8FAB9-F063-48B1-BCB0-C7E6BF6B88EA}" type="XVALUE">
                      <a:rPr lang="en-US"/>
                      <a:pPr/>
                      <a:t>[X VALUE]</a:t>
                    </a:fld>
                    <a:r>
                      <a:rPr lang="en-US" baseline="0"/>
                      <a:t>, </a:t>
                    </a:r>
                  </a:p>
                  <a:p>
                    <a:fld id="{A2EFAC59-BD13-49C9-886E-B68ED7DCEED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CDA9-4EE5-95F7-61D520A782C2}"/>
                </c:ext>
              </c:extLst>
            </c:dLbl>
            <c:dLbl>
              <c:idx val="8"/>
              <c:layout>
                <c:manualLayout>
                  <c:x val="-7.774111456176673E-2"/>
                  <c:y val="-6.5426709401709401E-2"/>
                </c:manualLayout>
              </c:layout>
              <c:tx>
                <c:rich>
                  <a:bodyPr/>
                  <a:lstStyle/>
                  <a:p>
                    <a:fld id="{5DED9570-4C76-4E2D-B6C0-D4179E5F6A91}" type="XVALUE">
                      <a:rPr lang="en-US"/>
                      <a:pPr/>
                      <a:t>[X VALUE]</a:t>
                    </a:fld>
                    <a:r>
                      <a:rPr lang="en-US" baseline="0"/>
                      <a:t>, </a:t>
                    </a:r>
                  </a:p>
                  <a:p>
                    <a:fld id="{B158D467-35F0-411A-A348-772CA431A428}"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CDA9-4EE5-95F7-61D520A782C2}"/>
                </c:ext>
              </c:extLst>
            </c:dLbl>
            <c:dLbl>
              <c:idx val="9"/>
              <c:layout>
                <c:manualLayout>
                  <c:x val="-1.610797889878024E-2"/>
                  <c:y val="-0.11155918803418803"/>
                </c:manualLayout>
              </c:layout>
              <c:tx>
                <c:rich>
                  <a:bodyPr/>
                  <a:lstStyle/>
                  <a:p>
                    <a:fld id="{0D387364-DCE7-43FD-BAA6-1EEA229C0102}" type="XVALUE">
                      <a:rPr lang="en-US"/>
                      <a:pPr/>
                      <a:t>[X VALUE]</a:t>
                    </a:fld>
                    <a:r>
                      <a:rPr lang="en-US" baseline="0"/>
                      <a:t>, </a:t>
                    </a:r>
                  </a:p>
                  <a:p>
                    <a:fld id="{B9F1127F-F7E2-4880-98FA-8C56F567F317}"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CDA9-4EE5-95F7-61D520A782C2}"/>
                </c:ext>
              </c:extLst>
            </c:dLbl>
            <c:dLbl>
              <c:idx val="10"/>
              <c:layout>
                <c:manualLayout>
                  <c:x val="4.321002307945928E-2"/>
                  <c:y val="-3.2034829059829059E-2"/>
                </c:manualLayout>
              </c:layout>
              <c:tx>
                <c:rich>
                  <a:bodyPr/>
                  <a:lstStyle/>
                  <a:p>
                    <a:fld id="{7B832BF6-936B-489C-A307-D6DECD8279A2}" type="XVALUE">
                      <a:rPr lang="en-US"/>
                      <a:pPr/>
                      <a:t>[X VALUE]</a:t>
                    </a:fld>
                    <a:r>
                      <a:rPr lang="en-US" baseline="0" dirty="0"/>
                      <a:t>, </a:t>
                    </a:r>
                  </a:p>
                  <a:p>
                    <a:fld id="{C085D344-A533-4E7A-93D8-B71F03134985}"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CDA9-4EE5-95F7-61D520A782C2}"/>
                </c:ext>
              </c:extLst>
            </c:dLbl>
            <c:dLbl>
              <c:idx val="11"/>
              <c:layout>
                <c:manualLayout>
                  <c:x val="9.6123475107154632E-3"/>
                  <c:y val="-3.0148931623931723E-2"/>
                </c:manualLayout>
              </c:layout>
              <c:tx>
                <c:rich>
                  <a:bodyPr/>
                  <a:lstStyle/>
                  <a:p>
                    <a:fld id="{EEB2FBAA-D167-428E-A0CB-B757064B0DFA}" type="XVALUE">
                      <a:rPr lang="en-US"/>
                      <a:pPr/>
                      <a:t>[X VALUE]</a:t>
                    </a:fld>
                    <a:r>
                      <a:rPr lang="en-US" baseline="0"/>
                      <a:t>, </a:t>
                    </a:r>
                  </a:p>
                  <a:p>
                    <a:fld id="{133A4B1B-50C5-49F2-8C69-F279FA0B9041}"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CDA9-4EE5-95F7-61D520A782C2}"/>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Sheet1!$A$2:$A$13</c:f>
              <c:strCache>
                <c:ptCount val="12"/>
                <c:pt idx="0">
                  <c:v>Size - Too Small</c:v>
                </c:pt>
                <c:pt idx="1">
                  <c:v>Size - Too Big</c:v>
                </c:pt>
                <c:pt idx="2">
                  <c:v>Thickness - Too Thin</c:v>
                </c:pt>
                <c:pt idx="3">
                  <c:v>Thickness - Too Thick</c:v>
                </c:pt>
                <c:pt idx="4">
                  <c:v>Bite - Too Soft</c:v>
                </c:pt>
                <c:pt idx="5">
                  <c:v>Bite - Too Hard</c:v>
                </c:pt>
                <c:pt idx="6">
                  <c:v>Moistness - Too Dry</c:v>
                </c:pt>
                <c:pt idx="7">
                  <c:v>Moistness - Too Moist</c:v>
                </c:pt>
                <c:pt idx="8">
                  <c:v>Sweetness - Less Sweet</c:v>
                </c:pt>
                <c:pt idx="9">
                  <c:v>Sweetness - Too Sweet</c:v>
                </c:pt>
                <c:pt idx="10">
                  <c:v>Bitterness - Less Bitter</c:v>
                </c:pt>
                <c:pt idx="11">
                  <c:v>Bitterness - Too Bitter</c:v>
                </c:pt>
              </c:strCache>
            </c:strRef>
          </c:xVal>
          <c:yVal>
            <c:numRef>
              <c:f>Sheet1!$B$2:$B$13</c:f>
              <c:numCache>
                <c:formatCode>0.00</c:formatCode>
                <c:ptCount val="12"/>
                <c:pt idx="0">
                  <c:v>5.537776104417666E-2</c:v>
                </c:pt>
                <c:pt idx="1">
                  <c:v>5.7197540160642574E-2</c:v>
                </c:pt>
                <c:pt idx="2">
                  <c:v>2.6311063218390815E-2</c:v>
                </c:pt>
                <c:pt idx="3">
                  <c:v>4.8042385057471292E-2</c:v>
                </c:pt>
                <c:pt idx="4">
                  <c:v>1.8343815513626783E-2</c:v>
                </c:pt>
                <c:pt idx="5">
                  <c:v>0.14655398322851151</c:v>
                </c:pt>
                <c:pt idx="6">
                  <c:v>0.11683848797250861</c:v>
                </c:pt>
                <c:pt idx="7">
                  <c:v>6.2714776632302419E-2</c:v>
                </c:pt>
                <c:pt idx="8">
                  <c:v>0.16182093881856538</c:v>
                </c:pt>
                <c:pt idx="9">
                  <c:v>9.4112605485232023E-2</c:v>
                </c:pt>
                <c:pt idx="10">
                  <c:v>7.8900709219858187E-2</c:v>
                </c:pt>
                <c:pt idx="11">
                  <c:v>0.19171099290780141</c:v>
                </c:pt>
              </c:numCache>
            </c:numRef>
          </c:yVal>
          <c:smooth val="0"/>
          <c:extLst>
            <c:ext xmlns:c16="http://schemas.microsoft.com/office/drawing/2014/chart" uri="{C3380CC4-5D6E-409C-BE32-E72D297353CC}">
              <c16:uniqueId val="{00000000-CDA9-4EE5-95F7-61D520A782C2}"/>
            </c:ext>
          </c:extLst>
        </c:ser>
        <c:dLbls>
          <c:showLegendKey val="0"/>
          <c:showVal val="0"/>
          <c:showCatName val="0"/>
          <c:showSerName val="0"/>
          <c:showPercent val="0"/>
          <c:showBubbleSize val="0"/>
        </c:dLbls>
        <c:axId val="608259759"/>
        <c:axId val="608274639"/>
      </c:scatterChart>
      <c:valAx>
        <c:axId val="608259759"/>
        <c:scaling>
          <c:orientation val="minMax"/>
        </c:scaling>
        <c:delete val="1"/>
        <c:axPos val="b"/>
        <c:numFmt formatCode="General" sourceLinked="1"/>
        <c:majorTickMark val="none"/>
        <c:minorTickMark val="none"/>
        <c:tickLblPos val="nextTo"/>
        <c:crossAx val="608274639"/>
        <c:crosses val="autoZero"/>
        <c:crossBetween val="midCat"/>
      </c:valAx>
      <c:valAx>
        <c:axId val="608274639"/>
        <c:scaling>
          <c:orientation val="minMax"/>
          <c:max val="0.60000000000000009"/>
        </c:scaling>
        <c:delete val="0"/>
        <c:axPos val="l"/>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8259759"/>
        <c:crosses val="autoZero"/>
        <c:crossBetween val="midCat"/>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19050" cap="rnd">
              <a:noFill/>
              <a:round/>
            </a:ln>
            <a:effectLst/>
          </c:spPr>
          <c:marker>
            <c:symbol val="circle"/>
            <c:size val="12"/>
            <c:spPr>
              <a:solidFill>
                <a:schemeClr val="accent1"/>
              </a:solidFill>
              <a:ln w="9525">
                <a:noFill/>
              </a:ln>
              <a:effectLst/>
            </c:spPr>
          </c:marker>
          <c:dPt>
            <c:idx val="0"/>
            <c:marker>
              <c:symbol val="circle"/>
              <c:size val="12"/>
              <c:spPr>
                <a:solidFill>
                  <a:schemeClr val="accent4"/>
                </a:solidFill>
                <a:ln w="9525">
                  <a:noFill/>
                </a:ln>
                <a:effectLst/>
              </c:spPr>
            </c:marker>
            <c:bubble3D val="0"/>
            <c:extLst>
              <c:ext xmlns:c16="http://schemas.microsoft.com/office/drawing/2014/chart" uri="{C3380CC4-5D6E-409C-BE32-E72D297353CC}">
                <c16:uniqueId val="{00000001-CDA9-4EE5-95F7-61D520A782C2}"/>
              </c:ext>
            </c:extLst>
          </c:dPt>
          <c:dPt>
            <c:idx val="1"/>
            <c:marker>
              <c:symbol val="circle"/>
              <c:size val="12"/>
              <c:spPr>
                <a:solidFill>
                  <a:schemeClr val="accent4"/>
                </a:solidFill>
                <a:ln w="9525">
                  <a:noFill/>
                </a:ln>
                <a:effectLst/>
              </c:spPr>
            </c:marker>
            <c:bubble3D val="0"/>
            <c:extLst>
              <c:ext xmlns:c16="http://schemas.microsoft.com/office/drawing/2014/chart" uri="{C3380CC4-5D6E-409C-BE32-E72D297353CC}">
                <c16:uniqueId val="{00000004-CDA9-4EE5-95F7-61D520A782C2}"/>
              </c:ext>
            </c:extLst>
          </c:dPt>
          <c:dPt>
            <c:idx val="2"/>
            <c:marker>
              <c:symbol val="circle"/>
              <c:size val="12"/>
              <c:spPr>
                <a:solidFill>
                  <a:srgbClr val="A80020"/>
                </a:solidFill>
                <a:ln w="9525">
                  <a:noFill/>
                </a:ln>
                <a:effectLst/>
              </c:spPr>
            </c:marker>
            <c:bubble3D val="0"/>
            <c:spPr>
              <a:ln w="19050" cap="rnd">
                <a:noFill/>
                <a:round/>
              </a:ln>
              <a:effectLst/>
            </c:spPr>
            <c:extLst>
              <c:ext xmlns:c16="http://schemas.microsoft.com/office/drawing/2014/chart" uri="{C3380CC4-5D6E-409C-BE32-E72D297353CC}">
                <c16:uniqueId val="{00000005-CDA9-4EE5-95F7-61D520A782C2}"/>
              </c:ext>
            </c:extLst>
          </c:dPt>
          <c:dPt>
            <c:idx val="3"/>
            <c:marker>
              <c:symbol val="circle"/>
              <c:size val="12"/>
              <c:spPr>
                <a:solidFill>
                  <a:srgbClr val="A80020"/>
                </a:solidFill>
                <a:ln w="9525">
                  <a:noFill/>
                </a:ln>
                <a:effectLst/>
              </c:spPr>
            </c:marker>
            <c:bubble3D val="0"/>
            <c:spPr>
              <a:ln w="19050" cap="rnd">
                <a:noFill/>
                <a:round/>
              </a:ln>
              <a:effectLst/>
            </c:spPr>
            <c:extLst>
              <c:ext xmlns:c16="http://schemas.microsoft.com/office/drawing/2014/chart" uri="{C3380CC4-5D6E-409C-BE32-E72D297353CC}">
                <c16:uniqueId val="{00000003-CDA9-4EE5-95F7-61D520A782C2}"/>
              </c:ext>
            </c:extLst>
          </c:dPt>
          <c:dPt>
            <c:idx val="4"/>
            <c:marker>
              <c:symbol val="circle"/>
              <c:size val="12"/>
              <c:spPr>
                <a:solidFill>
                  <a:srgbClr val="FF7C80"/>
                </a:solidFill>
                <a:ln w="9525">
                  <a:noFill/>
                </a:ln>
                <a:effectLst/>
              </c:spPr>
            </c:marker>
            <c:bubble3D val="0"/>
            <c:extLst>
              <c:ext xmlns:c16="http://schemas.microsoft.com/office/drawing/2014/chart" uri="{C3380CC4-5D6E-409C-BE32-E72D297353CC}">
                <c16:uniqueId val="{00000002-CDA9-4EE5-95F7-61D520A782C2}"/>
              </c:ext>
            </c:extLst>
          </c:dPt>
          <c:dPt>
            <c:idx val="5"/>
            <c:marker>
              <c:symbol val="circle"/>
              <c:size val="12"/>
              <c:spPr>
                <a:solidFill>
                  <a:srgbClr val="FF7C80"/>
                </a:solidFill>
                <a:ln w="9525">
                  <a:noFill/>
                </a:ln>
                <a:effectLst/>
              </c:spPr>
            </c:marker>
            <c:bubble3D val="0"/>
            <c:extLst>
              <c:ext xmlns:c16="http://schemas.microsoft.com/office/drawing/2014/chart" uri="{C3380CC4-5D6E-409C-BE32-E72D297353CC}">
                <c16:uniqueId val="{0000000C-CDA9-4EE5-95F7-61D520A782C2}"/>
              </c:ext>
            </c:extLst>
          </c:dPt>
          <c:dPt>
            <c:idx val="6"/>
            <c:marker>
              <c:symbol val="circle"/>
              <c:size val="12"/>
              <c:spPr>
                <a:solidFill>
                  <a:schemeClr val="tx1"/>
                </a:solidFill>
                <a:ln w="9525">
                  <a:noFill/>
                </a:ln>
                <a:effectLst/>
              </c:spPr>
            </c:marker>
            <c:bubble3D val="0"/>
            <c:extLst>
              <c:ext xmlns:c16="http://schemas.microsoft.com/office/drawing/2014/chart" uri="{C3380CC4-5D6E-409C-BE32-E72D297353CC}">
                <c16:uniqueId val="{0000000B-CDA9-4EE5-95F7-61D520A782C2}"/>
              </c:ext>
            </c:extLst>
          </c:dPt>
          <c:dPt>
            <c:idx val="7"/>
            <c:marker>
              <c:symbol val="circle"/>
              <c:size val="12"/>
              <c:spPr>
                <a:solidFill>
                  <a:schemeClr val="tx1"/>
                </a:solidFill>
                <a:ln w="9525">
                  <a:noFill/>
                </a:ln>
                <a:effectLst/>
              </c:spPr>
            </c:marker>
            <c:bubble3D val="0"/>
            <c:extLst>
              <c:ext xmlns:c16="http://schemas.microsoft.com/office/drawing/2014/chart" uri="{C3380CC4-5D6E-409C-BE32-E72D297353CC}">
                <c16:uniqueId val="{0000000A-CDA9-4EE5-95F7-61D520A782C2}"/>
              </c:ext>
            </c:extLst>
          </c:dPt>
          <c:dLbls>
            <c:dLbl>
              <c:idx val="0"/>
              <c:layout>
                <c:manualLayout>
                  <c:x val="-6.8082729468599043E-2"/>
                  <c:y val="-0.11615876068376059"/>
                </c:manualLayout>
              </c:layout>
              <c:tx>
                <c:rich>
                  <a:bodyPr/>
                  <a:lstStyle/>
                  <a:p>
                    <a:fld id="{8E861AF3-9564-43C7-933B-67FB2C25CCD5}" type="XVALUE">
                      <a:rPr lang="en-US"/>
                      <a:pPr/>
                      <a:t>[X VALUE]</a:t>
                    </a:fld>
                    <a:r>
                      <a:rPr lang="en-US" baseline="0" dirty="0"/>
                      <a:t>, </a:t>
                    </a:r>
                  </a:p>
                  <a:p>
                    <a:fld id="{A00C96E1-6FCC-4B07-A784-9E54E01F8174}"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DA9-4EE5-95F7-61D520A782C2}"/>
                </c:ext>
              </c:extLst>
            </c:dLbl>
            <c:dLbl>
              <c:idx val="1"/>
              <c:layout>
                <c:manualLayout>
                  <c:x val="-0.14302260179434095"/>
                  <c:y val="-0.10530405982905983"/>
                </c:manualLayout>
              </c:layout>
              <c:tx>
                <c:rich>
                  <a:bodyPr/>
                  <a:lstStyle/>
                  <a:p>
                    <a:fld id="{C7C7CEEF-E183-4A2C-AB97-33F39F29EC81}" type="XVALUE">
                      <a:rPr lang="en-US"/>
                      <a:pPr/>
                      <a:t>[X VALUE]</a:t>
                    </a:fld>
                    <a:r>
                      <a:rPr lang="en-US" baseline="0" dirty="0"/>
                      <a:t>, </a:t>
                    </a:r>
                  </a:p>
                  <a:p>
                    <a:fld id="{67BDC529-A581-46C8-B420-DAE24208277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CDA9-4EE5-95F7-61D520A782C2}"/>
                </c:ext>
              </c:extLst>
            </c:dLbl>
            <c:dLbl>
              <c:idx val="2"/>
              <c:layout>
                <c:manualLayout>
                  <c:x val="-0.10401311249137336"/>
                  <c:y val="-0.12701346153846163"/>
                </c:manualLayout>
              </c:layout>
              <c:tx>
                <c:rich>
                  <a:bodyPr/>
                  <a:lstStyle/>
                  <a:p>
                    <a:fld id="{444CD8FE-021E-4D89-A582-D702E0F7D4AE}" type="XVALUE">
                      <a:rPr lang="en-US"/>
                      <a:pPr/>
                      <a:t>[X VALUE]</a:t>
                    </a:fld>
                    <a:r>
                      <a:rPr lang="en-US" baseline="0" dirty="0"/>
                      <a:t>, </a:t>
                    </a:r>
                  </a:p>
                  <a:p>
                    <a:fld id="{66DBC77D-15EB-4E36-89A9-478F360E164B}"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DA9-4EE5-95F7-61D520A782C2}"/>
                </c:ext>
              </c:extLst>
            </c:dLbl>
            <c:dLbl>
              <c:idx val="3"/>
              <c:layout>
                <c:manualLayout>
                  <c:x val="-6.8820474777448071E-2"/>
                  <c:y val="-0.22470576923076932"/>
                </c:manualLayout>
              </c:layout>
              <c:tx>
                <c:rich>
                  <a:bodyPr/>
                  <a:lstStyle/>
                  <a:p>
                    <a:fld id="{DD2CE720-26EF-47FA-95DA-B85B9A81040E}" type="XVALUE">
                      <a:rPr lang="en-US"/>
                      <a:pPr/>
                      <a:t>[X VALUE]</a:t>
                    </a:fld>
                    <a:r>
                      <a:rPr lang="en-US" baseline="0" dirty="0"/>
                      <a:t>, </a:t>
                    </a:r>
                  </a:p>
                  <a:p>
                    <a:fld id="{62D865A5-2667-4343-AFD1-E34B61F218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DA9-4EE5-95F7-61D520A782C2}"/>
                </c:ext>
              </c:extLst>
            </c:dLbl>
            <c:dLbl>
              <c:idx val="4"/>
              <c:layout>
                <c:manualLayout>
                  <c:x val="1.5785282953761134E-2"/>
                  <c:y val="-5.3744230769230766E-2"/>
                </c:manualLayout>
              </c:layout>
              <c:tx>
                <c:rich>
                  <a:bodyPr/>
                  <a:lstStyle/>
                  <a:p>
                    <a:fld id="{698E41AB-D8BF-43DA-B45B-01AB3BB52D41}" type="XVALUE">
                      <a:rPr lang="en-US"/>
                      <a:pPr/>
                      <a:t>[X VALUE]</a:t>
                    </a:fld>
                    <a:r>
                      <a:rPr lang="en-US" baseline="0" dirty="0"/>
                      <a:t>, </a:t>
                    </a:r>
                  </a:p>
                  <a:p>
                    <a:fld id="{570AC8A7-7719-40A2-A4BB-3111D485D5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DA9-4EE5-95F7-61D520A782C2}"/>
                </c:ext>
              </c:extLst>
            </c:dLbl>
            <c:dLbl>
              <c:idx val="5"/>
              <c:layout>
                <c:manualLayout>
                  <c:x val="-0.13675681504485859"/>
                  <c:y val="8.4653205128205025E-2"/>
                </c:manualLayout>
              </c:layout>
              <c:tx>
                <c:rich>
                  <a:bodyPr/>
                  <a:lstStyle/>
                  <a:p>
                    <a:fld id="{0FD3E36E-0C1D-49F2-A9D7-7655A09E2520}" type="XVALUE">
                      <a:rPr lang="en-US"/>
                      <a:pPr/>
                      <a:t>[X VALUE]</a:t>
                    </a:fld>
                    <a:r>
                      <a:rPr lang="en-US" baseline="0" dirty="0"/>
                      <a:t>, </a:t>
                    </a:r>
                  </a:p>
                  <a:p>
                    <a:fld id="{D0B21986-A406-4258-B64E-895B03A5A920}"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CDA9-4EE5-95F7-61D520A782C2}"/>
                </c:ext>
              </c:extLst>
            </c:dLbl>
            <c:dLbl>
              <c:idx val="6"/>
              <c:layout>
                <c:manualLayout>
                  <c:x val="-9.2169340924775633E-2"/>
                  <c:y val="-0.17668739316239326"/>
                </c:manualLayout>
              </c:layout>
              <c:tx>
                <c:rich>
                  <a:bodyPr/>
                  <a:lstStyle/>
                  <a:p>
                    <a:fld id="{AE091FAC-0C81-4E4A-B746-0ECA7E406C90}" type="XVALUE">
                      <a:rPr lang="en-US"/>
                      <a:pPr/>
                      <a:t>[X VALUE]</a:t>
                    </a:fld>
                    <a:r>
                      <a:rPr lang="en-US" baseline="0"/>
                      <a:t>, </a:t>
                    </a:r>
                  </a:p>
                  <a:p>
                    <a:fld id="{2D043B74-4103-4032-A950-16CC69106101}"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CDA9-4EE5-95F7-61D520A782C2}"/>
                </c:ext>
              </c:extLst>
            </c:dLbl>
            <c:dLbl>
              <c:idx val="7"/>
              <c:layout>
                <c:manualLayout>
                  <c:x val="-2.2563146997929766E-2"/>
                  <c:y val="-0.16583269230769235"/>
                </c:manualLayout>
              </c:layout>
              <c:tx>
                <c:rich>
                  <a:bodyPr/>
                  <a:lstStyle/>
                  <a:p>
                    <a:fld id="{26A8FAB9-F063-48B1-BCB0-C7E6BF6B88EA}" type="XVALUE">
                      <a:rPr lang="en-US"/>
                      <a:pPr/>
                      <a:t>[X VALUE]</a:t>
                    </a:fld>
                    <a:r>
                      <a:rPr lang="en-US" baseline="0"/>
                      <a:t>, </a:t>
                    </a:r>
                  </a:p>
                  <a:p>
                    <a:fld id="{A2EFAC59-BD13-49C9-886E-B68ED7DCEED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CDA9-4EE5-95F7-61D520A782C2}"/>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Sheet1!$A$2:$A$9</c:f>
              <c:strCache>
                <c:ptCount val="8"/>
                <c:pt idx="0">
                  <c:v>Bite - Too Soft</c:v>
                </c:pt>
                <c:pt idx="1">
                  <c:v>Bite - Too Hard</c:v>
                </c:pt>
                <c:pt idx="2">
                  <c:v>Moistness - Too Dry</c:v>
                </c:pt>
                <c:pt idx="3">
                  <c:v>Moistness - Too Moist</c:v>
                </c:pt>
                <c:pt idx="4">
                  <c:v>Sweetness - Less Sweet</c:v>
                </c:pt>
                <c:pt idx="5">
                  <c:v>Sweetness - Too Sweet</c:v>
                </c:pt>
                <c:pt idx="6">
                  <c:v>Bitterness - Less Bitter</c:v>
                </c:pt>
                <c:pt idx="7">
                  <c:v>Bitterness - Too Bitter</c:v>
                </c:pt>
              </c:strCache>
            </c:strRef>
          </c:xVal>
          <c:yVal>
            <c:numRef>
              <c:f>Sheet1!$B$2:$B$9</c:f>
              <c:numCache>
                <c:formatCode>0.00</c:formatCode>
                <c:ptCount val="8"/>
                <c:pt idx="0">
                  <c:v>4.2911425576519911E-2</c:v>
                </c:pt>
                <c:pt idx="1">
                  <c:v>0.14547300838574423</c:v>
                </c:pt>
                <c:pt idx="2" formatCode="###0.00">
                  <c:v>0.14138438880706922</c:v>
                </c:pt>
                <c:pt idx="3" formatCode="###0.00">
                  <c:v>8.321060382916054E-2</c:v>
                </c:pt>
                <c:pt idx="4">
                  <c:v>0.18802742616033752</c:v>
                </c:pt>
                <c:pt idx="5">
                  <c:v>0.10469409282700416</c:v>
                </c:pt>
                <c:pt idx="6">
                  <c:v>0.22229609929078009</c:v>
                </c:pt>
                <c:pt idx="7">
                  <c:v>0.20079787234042551</c:v>
                </c:pt>
              </c:numCache>
            </c:numRef>
          </c:yVal>
          <c:smooth val="0"/>
          <c:extLst>
            <c:ext xmlns:c16="http://schemas.microsoft.com/office/drawing/2014/chart" uri="{C3380CC4-5D6E-409C-BE32-E72D297353CC}">
              <c16:uniqueId val="{00000000-CDA9-4EE5-95F7-61D520A782C2}"/>
            </c:ext>
          </c:extLst>
        </c:ser>
        <c:dLbls>
          <c:showLegendKey val="0"/>
          <c:showVal val="0"/>
          <c:showCatName val="0"/>
          <c:showSerName val="0"/>
          <c:showPercent val="0"/>
          <c:showBubbleSize val="0"/>
        </c:dLbls>
        <c:axId val="608259759"/>
        <c:axId val="608274639"/>
      </c:scatterChart>
      <c:valAx>
        <c:axId val="608259759"/>
        <c:scaling>
          <c:orientation val="minMax"/>
        </c:scaling>
        <c:delete val="1"/>
        <c:axPos val="b"/>
        <c:numFmt formatCode="General" sourceLinked="1"/>
        <c:majorTickMark val="none"/>
        <c:minorTickMark val="none"/>
        <c:tickLblPos val="nextTo"/>
        <c:crossAx val="608274639"/>
        <c:crosses val="autoZero"/>
        <c:crossBetween val="midCat"/>
      </c:valAx>
      <c:valAx>
        <c:axId val="608274639"/>
        <c:scaling>
          <c:orientation val="minMax"/>
          <c:max val="0.60000000000000009"/>
        </c:scaling>
        <c:delete val="0"/>
        <c:axPos val="l"/>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8259759"/>
        <c:crosses val="autoZero"/>
        <c:crossBetween val="midCat"/>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19050" cap="rnd">
              <a:noFill/>
              <a:round/>
            </a:ln>
            <a:effectLst/>
          </c:spPr>
          <c:marker>
            <c:symbol val="circle"/>
            <c:size val="12"/>
            <c:spPr>
              <a:solidFill>
                <a:schemeClr val="accent1"/>
              </a:solidFill>
              <a:ln w="9525">
                <a:solidFill>
                  <a:schemeClr val="accent1"/>
                </a:solidFill>
              </a:ln>
              <a:effectLst/>
            </c:spPr>
          </c:marker>
          <c:dPt>
            <c:idx val="4"/>
            <c:marker>
              <c:symbol val="circle"/>
              <c:size val="12"/>
              <c:spPr>
                <a:solidFill>
                  <a:schemeClr val="accent4"/>
                </a:solidFill>
                <a:ln w="9525">
                  <a:noFill/>
                </a:ln>
                <a:effectLst/>
              </c:spPr>
            </c:marker>
            <c:bubble3D val="0"/>
            <c:spPr>
              <a:ln w="19050" cap="rnd">
                <a:noFill/>
                <a:round/>
              </a:ln>
              <a:effectLst/>
            </c:spPr>
            <c:extLst>
              <c:ext xmlns:c16="http://schemas.microsoft.com/office/drawing/2014/chart" uri="{C3380CC4-5D6E-409C-BE32-E72D297353CC}">
                <c16:uniqueId val="{00000002-CDA9-4EE5-95F7-61D520A782C2}"/>
              </c:ext>
            </c:extLst>
          </c:dPt>
          <c:dPt>
            <c:idx val="5"/>
            <c:marker>
              <c:symbol val="circle"/>
              <c:size val="12"/>
              <c:spPr>
                <a:solidFill>
                  <a:schemeClr val="accent4"/>
                </a:solidFill>
                <a:ln w="9525">
                  <a:noFill/>
                </a:ln>
                <a:effectLst/>
              </c:spPr>
            </c:marker>
            <c:bubble3D val="0"/>
            <c:spPr>
              <a:ln w="19050" cap="rnd">
                <a:noFill/>
                <a:round/>
              </a:ln>
              <a:effectLst/>
            </c:spPr>
            <c:extLst>
              <c:ext xmlns:c16="http://schemas.microsoft.com/office/drawing/2014/chart" uri="{C3380CC4-5D6E-409C-BE32-E72D297353CC}">
                <c16:uniqueId val="{0000000C-CDA9-4EE5-95F7-61D520A782C2}"/>
              </c:ext>
            </c:extLst>
          </c:dPt>
          <c:dPt>
            <c:idx val="6"/>
            <c:marker>
              <c:symbol val="circle"/>
              <c:size val="12"/>
              <c:spPr>
                <a:solidFill>
                  <a:srgbClr val="A80020"/>
                </a:solidFill>
                <a:ln w="9525">
                  <a:noFill/>
                </a:ln>
                <a:effectLst/>
              </c:spPr>
            </c:marker>
            <c:bubble3D val="0"/>
            <c:spPr>
              <a:ln w="19050" cap="rnd">
                <a:noFill/>
                <a:round/>
              </a:ln>
              <a:effectLst/>
            </c:spPr>
            <c:extLst>
              <c:ext xmlns:c16="http://schemas.microsoft.com/office/drawing/2014/chart" uri="{C3380CC4-5D6E-409C-BE32-E72D297353CC}">
                <c16:uniqueId val="{0000000B-CDA9-4EE5-95F7-61D520A782C2}"/>
              </c:ext>
            </c:extLst>
          </c:dPt>
          <c:dPt>
            <c:idx val="7"/>
            <c:marker>
              <c:symbol val="circle"/>
              <c:size val="12"/>
              <c:spPr>
                <a:solidFill>
                  <a:srgbClr val="A80020"/>
                </a:solidFill>
                <a:ln w="9525">
                  <a:noFill/>
                </a:ln>
                <a:effectLst/>
              </c:spPr>
            </c:marker>
            <c:bubble3D val="0"/>
            <c:spPr>
              <a:ln w="19050" cap="rnd">
                <a:noFill/>
                <a:round/>
              </a:ln>
              <a:effectLst/>
            </c:spPr>
            <c:extLst>
              <c:ext xmlns:c16="http://schemas.microsoft.com/office/drawing/2014/chart" uri="{C3380CC4-5D6E-409C-BE32-E72D297353CC}">
                <c16:uniqueId val="{0000000A-CDA9-4EE5-95F7-61D520A782C2}"/>
              </c:ext>
            </c:extLst>
          </c:dPt>
          <c:dPt>
            <c:idx val="8"/>
            <c:marker>
              <c:symbol val="circle"/>
              <c:size val="12"/>
              <c:spPr>
                <a:solidFill>
                  <a:srgbClr val="FF7C80"/>
                </a:solidFill>
                <a:ln w="9525">
                  <a:noFill/>
                </a:ln>
                <a:effectLst/>
              </c:spPr>
            </c:marker>
            <c:bubble3D val="0"/>
            <c:spPr>
              <a:ln w="19050" cap="rnd">
                <a:noFill/>
                <a:round/>
              </a:ln>
              <a:effectLst/>
            </c:spPr>
            <c:extLst>
              <c:ext xmlns:c16="http://schemas.microsoft.com/office/drawing/2014/chart" uri="{C3380CC4-5D6E-409C-BE32-E72D297353CC}">
                <c16:uniqueId val="{00000008-CDA9-4EE5-95F7-61D520A782C2}"/>
              </c:ext>
            </c:extLst>
          </c:dPt>
          <c:dPt>
            <c:idx val="9"/>
            <c:marker>
              <c:symbol val="circle"/>
              <c:size val="12"/>
              <c:spPr>
                <a:solidFill>
                  <a:srgbClr val="FF7C80"/>
                </a:solidFill>
                <a:ln w="9525">
                  <a:noFill/>
                </a:ln>
                <a:effectLst/>
              </c:spPr>
            </c:marker>
            <c:bubble3D val="0"/>
            <c:spPr>
              <a:ln w="19050" cap="rnd">
                <a:noFill/>
                <a:round/>
              </a:ln>
              <a:effectLst/>
            </c:spPr>
            <c:extLst>
              <c:ext xmlns:c16="http://schemas.microsoft.com/office/drawing/2014/chart" uri="{C3380CC4-5D6E-409C-BE32-E72D297353CC}">
                <c16:uniqueId val="{00000009-CDA9-4EE5-95F7-61D520A782C2}"/>
              </c:ext>
            </c:extLst>
          </c:dPt>
          <c:dPt>
            <c:idx val="10"/>
            <c:marker>
              <c:symbol val="circle"/>
              <c:size val="12"/>
              <c:spPr>
                <a:solidFill>
                  <a:schemeClr val="tx1"/>
                </a:solidFill>
                <a:ln w="9525">
                  <a:noFill/>
                </a:ln>
                <a:effectLst/>
              </c:spPr>
            </c:marker>
            <c:bubble3D val="0"/>
            <c:spPr>
              <a:ln w="19050" cap="rnd">
                <a:noFill/>
                <a:round/>
              </a:ln>
              <a:effectLst/>
            </c:spPr>
            <c:extLst>
              <c:ext xmlns:c16="http://schemas.microsoft.com/office/drawing/2014/chart" uri="{C3380CC4-5D6E-409C-BE32-E72D297353CC}">
                <c16:uniqueId val="{00000006-CDA9-4EE5-95F7-61D520A782C2}"/>
              </c:ext>
            </c:extLst>
          </c:dPt>
          <c:dPt>
            <c:idx val="11"/>
            <c:marker>
              <c:symbol val="circle"/>
              <c:size val="12"/>
              <c:spPr>
                <a:solidFill>
                  <a:schemeClr val="tx1"/>
                </a:solidFill>
                <a:ln w="9525">
                  <a:noFill/>
                </a:ln>
                <a:effectLst/>
              </c:spPr>
            </c:marker>
            <c:bubble3D val="0"/>
            <c:spPr>
              <a:ln w="19050" cap="rnd">
                <a:noFill/>
                <a:round/>
              </a:ln>
              <a:effectLst/>
            </c:spPr>
            <c:extLst>
              <c:ext xmlns:c16="http://schemas.microsoft.com/office/drawing/2014/chart" uri="{C3380CC4-5D6E-409C-BE32-E72D297353CC}">
                <c16:uniqueId val="{00000007-CDA9-4EE5-95F7-61D520A782C2}"/>
              </c:ext>
            </c:extLst>
          </c:dPt>
          <c:dLbls>
            <c:dLbl>
              <c:idx val="0"/>
              <c:layout>
                <c:manualLayout>
                  <c:x val="-6.8082729468599043E-2"/>
                  <c:y val="-0.11615876068376059"/>
                </c:manualLayout>
              </c:layout>
              <c:tx>
                <c:rich>
                  <a:bodyPr/>
                  <a:lstStyle/>
                  <a:p>
                    <a:fld id="{8E861AF3-9564-43C7-933B-67FB2C25CCD5}" type="XVALUE">
                      <a:rPr lang="en-US"/>
                      <a:pPr/>
                      <a:t>[X VALUE]</a:t>
                    </a:fld>
                    <a:r>
                      <a:rPr lang="en-US" baseline="0" dirty="0"/>
                      <a:t>, </a:t>
                    </a:r>
                  </a:p>
                  <a:p>
                    <a:fld id="{A00C96E1-6FCC-4B07-A784-9E54E01F8174}"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DA9-4EE5-95F7-61D520A782C2}"/>
                </c:ext>
              </c:extLst>
            </c:dLbl>
            <c:dLbl>
              <c:idx val="1"/>
              <c:layout>
                <c:manualLayout>
                  <c:x val="-7.8383195307108369E-2"/>
                  <c:y val="-0.20571004273504284"/>
                </c:manualLayout>
              </c:layout>
              <c:tx>
                <c:rich>
                  <a:bodyPr/>
                  <a:lstStyle/>
                  <a:p>
                    <a:fld id="{C7C7CEEF-E183-4A2C-AB97-33F39F29EC81}" type="XVALUE">
                      <a:rPr lang="en-US"/>
                      <a:pPr/>
                      <a:t>[X VALUE]</a:t>
                    </a:fld>
                    <a:r>
                      <a:rPr lang="en-US" baseline="0" dirty="0"/>
                      <a:t>, </a:t>
                    </a:r>
                  </a:p>
                  <a:p>
                    <a:fld id="{67BDC529-A581-46C8-B420-DAE24208277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CDA9-4EE5-95F7-61D520A782C2}"/>
                </c:ext>
              </c:extLst>
            </c:dLbl>
            <c:dLbl>
              <c:idx val="2"/>
              <c:layout>
                <c:manualLayout>
                  <c:x val="-6.3476508407517354E-2"/>
                  <c:y val="-0.15686388888888889"/>
                </c:manualLayout>
              </c:layout>
              <c:tx>
                <c:rich>
                  <a:bodyPr/>
                  <a:lstStyle/>
                  <a:p>
                    <a:fld id="{444CD8FE-021E-4D89-A582-D702E0F7D4AE}" type="XVALUE">
                      <a:rPr lang="en-US"/>
                      <a:pPr/>
                      <a:t>[X VALUE]</a:t>
                    </a:fld>
                    <a:r>
                      <a:rPr lang="en-US" baseline="0" dirty="0"/>
                      <a:t>, </a:t>
                    </a:r>
                  </a:p>
                  <a:p>
                    <a:fld id="{66DBC77D-15EB-4E36-89A9-478F360E164B}"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DA9-4EE5-95F7-61D520A782C2}"/>
                </c:ext>
              </c:extLst>
            </c:dLbl>
            <c:dLbl>
              <c:idx val="3"/>
              <c:layout>
                <c:manualLayout>
                  <c:x val="-0.13893780193236716"/>
                  <c:y val="7.1028846153846151E-2"/>
                </c:manualLayout>
              </c:layout>
              <c:tx>
                <c:rich>
                  <a:bodyPr/>
                  <a:lstStyle/>
                  <a:p>
                    <a:fld id="{DD2CE720-26EF-47FA-95DA-B85B9A81040E}" type="XVALUE">
                      <a:rPr lang="en-US"/>
                      <a:pPr/>
                      <a:t>[X VALUE]</a:t>
                    </a:fld>
                    <a:r>
                      <a:rPr lang="en-US" baseline="0" dirty="0"/>
                      <a:t>, </a:t>
                    </a:r>
                  </a:p>
                  <a:p>
                    <a:fld id="{62D865A5-2667-4343-AFD1-E34B61F218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DA9-4EE5-95F7-61D520A782C2}"/>
                </c:ext>
              </c:extLst>
            </c:dLbl>
            <c:dLbl>
              <c:idx val="4"/>
              <c:layout>
                <c:manualLayout>
                  <c:x val="6.2895400593471804E-2"/>
                  <c:y val="-1.3039102564102664E-2"/>
                </c:manualLayout>
              </c:layout>
              <c:tx>
                <c:rich>
                  <a:bodyPr/>
                  <a:lstStyle/>
                  <a:p>
                    <a:fld id="{698E41AB-D8BF-43DA-B45B-01AB3BB52D41}" type="XVALUE">
                      <a:rPr lang="en-US"/>
                      <a:pPr/>
                      <a:t>[X VALUE]</a:t>
                    </a:fld>
                    <a:r>
                      <a:rPr lang="en-US" baseline="0" dirty="0"/>
                      <a:t>, </a:t>
                    </a:r>
                  </a:p>
                  <a:p>
                    <a:fld id="{570AC8A7-7719-40A2-A4BB-3111D485D5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DA9-4EE5-95F7-61D520A782C2}"/>
                </c:ext>
              </c:extLst>
            </c:dLbl>
            <c:dLbl>
              <c:idx val="5"/>
              <c:layout>
                <c:manualLayout>
                  <c:x val="-0.12032306763285024"/>
                  <c:y val="2.7666025641025643E-2"/>
                </c:manualLayout>
              </c:layout>
              <c:tx>
                <c:rich>
                  <a:bodyPr/>
                  <a:lstStyle/>
                  <a:p>
                    <a:fld id="{0FD3E36E-0C1D-49F2-A9D7-7655A09E2520}" type="XVALUE">
                      <a:rPr lang="en-US"/>
                      <a:pPr/>
                      <a:t>[X VALUE]</a:t>
                    </a:fld>
                    <a:r>
                      <a:rPr lang="en-US" baseline="0" dirty="0"/>
                      <a:t>, </a:t>
                    </a:r>
                  </a:p>
                  <a:p>
                    <a:fld id="{D0B21986-A406-4258-B64E-895B03A5A920}"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CDA9-4EE5-95F7-61D520A782C2}"/>
                </c:ext>
              </c:extLst>
            </c:dLbl>
            <c:dLbl>
              <c:idx val="6"/>
              <c:layout>
                <c:manualLayout>
                  <c:x val="-0.15680874741200829"/>
                  <c:y val="-8.7136111111111206E-2"/>
                </c:manualLayout>
              </c:layout>
              <c:tx>
                <c:rich>
                  <a:bodyPr/>
                  <a:lstStyle/>
                  <a:p>
                    <a:fld id="{AE091FAC-0C81-4E4A-B746-0ECA7E406C90}" type="XVALUE">
                      <a:rPr lang="en-US"/>
                      <a:pPr/>
                      <a:t>[X VALUE]</a:t>
                    </a:fld>
                    <a:r>
                      <a:rPr lang="en-US" baseline="0"/>
                      <a:t>, </a:t>
                    </a:r>
                  </a:p>
                  <a:p>
                    <a:fld id="{2D043B74-4103-4032-A950-16CC69106101}"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CDA9-4EE5-95F7-61D520A782C2}"/>
                </c:ext>
              </c:extLst>
            </c:dLbl>
            <c:dLbl>
              <c:idx val="7"/>
              <c:layout>
                <c:manualLayout>
                  <c:x val="1.2495514147687981E-2"/>
                  <c:y val="4.5833974358974357E-2"/>
                </c:manualLayout>
              </c:layout>
              <c:tx>
                <c:rich>
                  <a:bodyPr/>
                  <a:lstStyle/>
                  <a:p>
                    <a:fld id="{26A8FAB9-F063-48B1-BCB0-C7E6BF6B88EA}" type="XVALUE">
                      <a:rPr lang="en-US"/>
                      <a:pPr/>
                      <a:t>[X VALUE]</a:t>
                    </a:fld>
                    <a:r>
                      <a:rPr lang="en-US" baseline="0"/>
                      <a:t>, </a:t>
                    </a:r>
                  </a:p>
                  <a:p>
                    <a:fld id="{A2EFAC59-BD13-49C9-886E-B68ED7DCEED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CDA9-4EE5-95F7-61D520A782C2}"/>
                </c:ext>
              </c:extLst>
            </c:dLbl>
            <c:dLbl>
              <c:idx val="8"/>
              <c:layout>
                <c:manualLayout>
                  <c:x val="-0.15881426846100768"/>
                  <c:y val="-3.8289957264957264E-2"/>
                </c:manualLayout>
              </c:layout>
              <c:tx>
                <c:rich>
                  <a:bodyPr/>
                  <a:lstStyle/>
                  <a:p>
                    <a:fld id="{5DED9570-4C76-4E2D-B6C0-D4179E5F6A91}" type="XVALUE">
                      <a:rPr lang="en-US"/>
                      <a:pPr/>
                      <a:t>[X VALUE]</a:t>
                    </a:fld>
                    <a:r>
                      <a:rPr lang="en-US" baseline="0"/>
                      <a:t>, </a:t>
                    </a:r>
                  </a:p>
                  <a:p>
                    <a:fld id="{B158D467-35F0-411A-A348-772CA431A428}"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CDA9-4EE5-95F7-61D520A782C2}"/>
                </c:ext>
              </c:extLst>
            </c:dLbl>
            <c:dLbl>
              <c:idx val="9"/>
              <c:layout>
                <c:manualLayout>
                  <c:x val="-1.610797889878024E-2"/>
                  <c:y val="-0.11155918803418803"/>
                </c:manualLayout>
              </c:layout>
              <c:tx>
                <c:rich>
                  <a:bodyPr/>
                  <a:lstStyle/>
                  <a:p>
                    <a:fld id="{0D387364-DCE7-43FD-BAA6-1EEA229C0102}" type="XVALUE">
                      <a:rPr lang="en-US"/>
                      <a:pPr/>
                      <a:t>[X VALUE]</a:t>
                    </a:fld>
                    <a:r>
                      <a:rPr lang="en-US" baseline="0"/>
                      <a:t>, </a:t>
                    </a:r>
                  </a:p>
                  <a:p>
                    <a:fld id="{B9F1127F-F7E2-4880-98FA-8C56F567F317}"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CDA9-4EE5-95F7-61D520A782C2}"/>
                </c:ext>
              </c:extLst>
            </c:dLbl>
            <c:dLbl>
              <c:idx val="10"/>
              <c:layout>
                <c:manualLayout>
                  <c:x val="4.321002307945928E-2"/>
                  <c:y val="-3.2034829059829059E-2"/>
                </c:manualLayout>
              </c:layout>
              <c:tx>
                <c:rich>
                  <a:bodyPr/>
                  <a:lstStyle/>
                  <a:p>
                    <a:fld id="{7B832BF6-936B-489C-A307-D6DECD8279A2}" type="XVALUE">
                      <a:rPr lang="en-US"/>
                      <a:pPr/>
                      <a:t>[X VALUE]</a:t>
                    </a:fld>
                    <a:r>
                      <a:rPr lang="en-US" baseline="0" dirty="0"/>
                      <a:t>, </a:t>
                    </a:r>
                  </a:p>
                  <a:p>
                    <a:fld id="{C085D344-A533-4E7A-93D8-B71F03134985}"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CDA9-4EE5-95F7-61D520A782C2}"/>
                </c:ext>
              </c:extLst>
            </c:dLbl>
            <c:dLbl>
              <c:idx val="11"/>
              <c:layout>
                <c:manualLayout>
                  <c:x val="-3.4211007591442376E-2"/>
                  <c:y val="-7.0854059829059832E-2"/>
                </c:manualLayout>
              </c:layout>
              <c:tx>
                <c:rich>
                  <a:bodyPr/>
                  <a:lstStyle/>
                  <a:p>
                    <a:fld id="{EEB2FBAA-D167-428E-A0CB-B757064B0DFA}" type="XVALUE">
                      <a:rPr lang="en-US"/>
                      <a:pPr/>
                      <a:t>[X VALUE]</a:t>
                    </a:fld>
                    <a:r>
                      <a:rPr lang="en-US" baseline="0"/>
                      <a:t>, </a:t>
                    </a:r>
                  </a:p>
                  <a:p>
                    <a:fld id="{133A4B1B-50C5-49F2-8C69-F279FA0B9041}"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CDA9-4EE5-95F7-61D520A782C2}"/>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Sheet1!$A$2:$A$13</c:f>
              <c:strCache>
                <c:ptCount val="12"/>
                <c:pt idx="0">
                  <c:v>Size - Too Small</c:v>
                </c:pt>
                <c:pt idx="1">
                  <c:v>Size - Too Big</c:v>
                </c:pt>
                <c:pt idx="2">
                  <c:v>Thickness - Too Thin</c:v>
                </c:pt>
                <c:pt idx="3">
                  <c:v>Thickness - Too Thick</c:v>
                </c:pt>
                <c:pt idx="4">
                  <c:v>Bite - Too Soft</c:v>
                </c:pt>
                <c:pt idx="5">
                  <c:v>Bite - Too Hard</c:v>
                </c:pt>
                <c:pt idx="6">
                  <c:v>Moistness - Too Dry</c:v>
                </c:pt>
                <c:pt idx="7">
                  <c:v>Moistness - Too Moist</c:v>
                </c:pt>
                <c:pt idx="8">
                  <c:v>Sweetness - Less Sweet</c:v>
                </c:pt>
                <c:pt idx="9">
                  <c:v>Sweetness - Too Sweet</c:v>
                </c:pt>
                <c:pt idx="10">
                  <c:v>Bitterness - Less Bitter</c:v>
                </c:pt>
                <c:pt idx="11">
                  <c:v>Bitterness - Too Bitter</c:v>
                </c:pt>
              </c:strCache>
            </c:strRef>
          </c:xVal>
          <c:yVal>
            <c:numRef>
              <c:f>Sheet1!$B$2:$B$13</c:f>
              <c:numCache>
                <c:formatCode>###0.00</c:formatCode>
                <c:ptCount val="12"/>
                <c:pt idx="0">
                  <c:v>2.8163580246913601E-2</c:v>
                </c:pt>
                <c:pt idx="1">
                  <c:v>5.0540123456790091E-2</c:v>
                </c:pt>
                <c:pt idx="2">
                  <c:v>3.1004901960784315E-2</c:v>
                </c:pt>
                <c:pt idx="3">
                  <c:v>6.7401960784313486E-3</c:v>
                </c:pt>
                <c:pt idx="4">
                  <c:v>-1.5350877192982504E-2</c:v>
                </c:pt>
                <c:pt idx="5">
                  <c:v>9.2105263157894732E-2</c:v>
                </c:pt>
                <c:pt idx="6">
                  <c:v>0.13362487852283769</c:v>
                </c:pt>
                <c:pt idx="7">
                  <c:v>-7.7745383867832939E-3</c:v>
                </c:pt>
                <c:pt idx="8">
                  <c:v>0.20354729729729729</c:v>
                </c:pt>
                <c:pt idx="9">
                  <c:v>9.9380630630630615E-2</c:v>
                </c:pt>
                <c:pt idx="10">
                  <c:v>8.3881578947368543E-2</c:v>
                </c:pt>
                <c:pt idx="11">
                  <c:v>0.25603070175438597</c:v>
                </c:pt>
              </c:numCache>
            </c:numRef>
          </c:yVal>
          <c:smooth val="0"/>
          <c:extLst>
            <c:ext xmlns:c16="http://schemas.microsoft.com/office/drawing/2014/chart" uri="{C3380CC4-5D6E-409C-BE32-E72D297353CC}">
              <c16:uniqueId val="{00000000-CDA9-4EE5-95F7-61D520A782C2}"/>
            </c:ext>
          </c:extLst>
        </c:ser>
        <c:dLbls>
          <c:showLegendKey val="0"/>
          <c:showVal val="0"/>
          <c:showCatName val="0"/>
          <c:showSerName val="0"/>
          <c:showPercent val="0"/>
          <c:showBubbleSize val="0"/>
        </c:dLbls>
        <c:axId val="608259759"/>
        <c:axId val="608274639"/>
      </c:scatterChart>
      <c:valAx>
        <c:axId val="608259759"/>
        <c:scaling>
          <c:orientation val="minMax"/>
        </c:scaling>
        <c:delete val="1"/>
        <c:axPos val="b"/>
        <c:numFmt formatCode="General" sourceLinked="1"/>
        <c:majorTickMark val="none"/>
        <c:minorTickMark val="none"/>
        <c:tickLblPos val="nextTo"/>
        <c:crossAx val="608274639"/>
        <c:crosses val="autoZero"/>
        <c:crossBetween val="midCat"/>
      </c:valAx>
      <c:valAx>
        <c:axId val="608274639"/>
        <c:scaling>
          <c:orientation val="minMax"/>
          <c:max val="0.60000000000000009"/>
        </c:scaling>
        <c:delete val="0"/>
        <c:axPos val="l"/>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8259759"/>
        <c:crosses val="autoZero"/>
        <c:crossBetween val="midCat"/>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19050" cap="rnd">
              <a:noFill/>
              <a:round/>
            </a:ln>
            <a:effectLst/>
          </c:spPr>
          <c:marker>
            <c:symbol val="circle"/>
            <c:size val="12"/>
            <c:spPr>
              <a:solidFill>
                <a:schemeClr val="accent1"/>
              </a:solidFill>
              <a:ln w="9525">
                <a:noFill/>
              </a:ln>
              <a:effectLst/>
            </c:spPr>
          </c:marker>
          <c:dPt>
            <c:idx val="0"/>
            <c:marker>
              <c:symbol val="circle"/>
              <c:size val="12"/>
              <c:spPr>
                <a:solidFill>
                  <a:schemeClr val="accent4"/>
                </a:solidFill>
                <a:ln w="9525">
                  <a:noFill/>
                </a:ln>
                <a:effectLst/>
              </c:spPr>
            </c:marker>
            <c:bubble3D val="0"/>
            <c:extLst>
              <c:ext xmlns:c16="http://schemas.microsoft.com/office/drawing/2014/chart" uri="{C3380CC4-5D6E-409C-BE32-E72D297353CC}">
                <c16:uniqueId val="{00000001-CDA9-4EE5-95F7-61D520A782C2}"/>
              </c:ext>
            </c:extLst>
          </c:dPt>
          <c:dPt>
            <c:idx val="1"/>
            <c:marker>
              <c:symbol val="circle"/>
              <c:size val="12"/>
              <c:spPr>
                <a:solidFill>
                  <a:schemeClr val="accent4"/>
                </a:solidFill>
                <a:ln w="9525">
                  <a:noFill/>
                </a:ln>
                <a:effectLst/>
              </c:spPr>
            </c:marker>
            <c:bubble3D val="0"/>
            <c:extLst>
              <c:ext xmlns:c16="http://schemas.microsoft.com/office/drawing/2014/chart" uri="{C3380CC4-5D6E-409C-BE32-E72D297353CC}">
                <c16:uniqueId val="{00000004-CDA9-4EE5-95F7-61D520A782C2}"/>
              </c:ext>
            </c:extLst>
          </c:dPt>
          <c:dPt>
            <c:idx val="2"/>
            <c:marker>
              <c:symbol val="circle"/>
              <c:size val="12"/>
              <c:spPr>
                <a:solidFill>
                  <a:srgbClr val="A80020"/>
                </a:solidFill>
                <a:ln w="9525">
                  <a:noFill/>
                </a:ln>
                <a:effectLst/>
              </c:spPr>
            </c:marker>
            <c:bubble3D val="0"/>
            <c:spPr>
              <a:ln w="19050" cap="rnd">
                <a:noFill/>
                <a:round/>
              </a:ln>
              <a:effectLst/>
            </c:spPr>
            <c:extLst>
              <c:ext xmlns:c16="http://schemas.microsoft.com/office/drawing/2014/chart" uri="{C3380CC4-5D6E-409C-BE32-E72D297353CC}">
                <c16:uniqueId val="{00000005-CDA9-4EE5-95F7-61D520A782C2}"/>
              </c:ext>
            </c:extLst>
          </c:dPt>
          <c:dPt>
            <c:idx val="3"/>
            <c:marker>
              <c:symbol val="circle"/>
              <c:size val="12"/>
              <c:spPr>
                <a:solidFill>
                  <a:srgbClr val="A80020"/>
                </a:solidFill>
                <a:ln w="9525">
                  <a:noFill/>
                </a:ln>
                <a:effectLst/>
              </c:spPr>
            </c:marker>
            <c:bubble3D val="0"/>
            <c:spPr>
              <a:ln w="19050" cap="rnd">
                <a:noFill/>
                <a:round/>
              </a:ln>
              <a:effectLst/>
            </c:spPr>
            <c:extLst>
              <c:ext xmlns:c16="http://schemas.microsoft.com/office/drawing/2014/chart" uri="{C3380CC4-5D6E-409C-BE32-E72D297353CC}">
                <c16:uniqueId val="{00000003-CDA9-4EE5-95F7-61D520A782C2}"/>
              </c:ext>
            </c:extLst>
          </c:dPt>
          <c:dPt>
            <c:idx val="4"/>
            <c:marker>
              <c:symbol val="circle"/>
              <c:size val="12"/>
              <c:spPr>
                <a:solidFill>
                  <a:srgbClr val="FF7C80"/>
                </a:solidFill>
                <a:ln w="9525">
                  <a:noFill/>
                </a:ln>
                <a:effectLst/>
              </c:spPr>
            </c:marker>
            <c:bubble3D val="0"/>
            <c:extLst>
              <c:ext xmlns:c16="http://schemas.microsoft.com/office/drawing/2014/chart" uri="{C3380CC4-5D6E-409C-BE32-E72D297353CC}">
                <c16:uniqueId val="{00000002-CDA9-4EE5-95F7-61D520A782C2}"/>
              </c:ext>
            </c:extLst>
          </c:dPt>
          <c:dPt>
            <c:idx val="5"/>
            <c:marker>
              <c:symbol val="circle"/>
              <c:size val="12"/>
              <c:spPr>
                <a:solidFill>
                  <a:srgbClr val="FF7C80"/>
                </a:solidFill>
                <a:ln w="9525">
                  <a:noFill/>
                </a:ln>
                <a:effectLst/>
              </c:spPr>
            </c:marker>
            <c:bubble3D val="0"/>
            <c:extLst>
              <c:ext xmlns:c16="http://schemas.microsoft.com/office/drawing/2014/chart" uri="{C3380CC4-5D6E-409C-BE32-E72D297353CC}">
                <c16:uniqueId val="{0000000C-CDA9-4EE5-95F7-61D520A782C2}"/>
              </c:ext>
            </c:extLst>
          </c:dPt>
          <c:dPt>
            <c:idx val="6"/>
            <c:marker>
              <c:symbol val="circle"/>
              <c:size val="12"/>
              <c:spPr>
                <a:solidFill>
                  <a:schemeClr val="tx1"/>
                </a:solidFill>
                <a:ln w="9525">
                  <a:noFill/>
                </a:ln>
                <a:effectLst/>
              </c:spPr>
            </c:marker>
            <c:bubble3D val="0"/>
            <c:extLst>
              <c:ext xmlns:c16="http://schemas.microsoft.com/office/drawing/2014/chart" uri="{C3380CC4-5D6E-409C-BE32-E72D297353CC}">
                <c16:uniqueId val="{0000000B-CDA9-4EE5-95F7-61D520A782C2}"/>
              </c:ext>
            </c:extLst>
          </c:dPt>
          <c:dPt>
            <c:idx val="7"/>
            <c:marker>
              <c:symbol val="circle"/>
              <c:size val="12"/>
              <c:spPr>
                <a:solidFill>
                  <a:schemeClr val="tx1"/>
                </a:solidFill>
                <a:ln w="9525">
                  <a:noFill/>
                </a:ln>
                <a:effectLst/>
              </c:spPr>
            </c:marker>
            <c:bubble3D val="0"/>
            <c:extLst>
              <c:ext xmlns:c16="http://schemas.microsoft.com/office/drawing/2014/chart" uri="{C3380CC4-5D6E-409C-BE32-E72D297353CC}">
                <c16:uniqueId val="{0000000A-CDA9-4EE5-95F7-61D520A782C2}"/>
              </c:ext>
            </c:extLst>
          </c:dPt>
          <c:dLbls>
            <c:dLbl>
              <c:idx val="0"/>
              <c:layout>
                <c:manualLayout>
                  <c:x val="-1.1112405106970324E-2"/>
                  <c:y val="-7.2739957264957258E-2"/>
                </c:manualLayout>
              </c:layout>
              <c:tx>
                <c:rich>
                  <a:bodyPr/>
                  <a:lstStyle/>
                  <a:p>
                    <a:fld id="{8E861AF3-9564-43C7-933B-67FB2C25CCD5}" type="XVALUE">
                      <a:rPr lang="en-US"/>
                      <a:pPr/>
                      <a:t>[X VALUE]</a:t>
                    </a:fld>
                    <a:r>
                      <a:rPr lang="en-US" baseline="0" dirty="0"/>
                      <a:t>, </a:t>
                    </a:r>
                  </a:p>
                  <a:p>
                    <a:fld id="{A00C96E1-6FCC-4B07-A784-9E54E01F8174}"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DA9-4EE5-95F7-61D520A782C2}"/>
                </c:ext>
              </c:extLst>
            </c:dLbl>
            <c:dLbl>
              <c:idx val="1"/>
              <c:layout>
                <c:manualLayout>
                  <c:x val="-0.14302260179434095"/>
                  <c:y val="-0.10530405982905983"/>
                </c:manualLayout>
              </c:layout>
              <c:tx>
                <c:rich>
                  <a:bodyPr/>
                  <a:lstStyle/>
                  <a:p>
                    <a:fld id="{C7C7CEEF-E183-4A2C-AB97-33F39F29EC81}" type="XVALUE">
                      <a:rPr lang="en-US"/>
                      <a:pPr/>
                      <a:t>[X VALUE]</a:t>
                    </a:fld>
                    <a:r>
                      <a:rPr lang="en-US" baseline="0" dirty="0"/>
                      <a:t>, </a:t>
                    </a:r>
                  </a:p>
                  <a:p>
                    <a:fld id="{67BDC529-A581-46C8-B420-DAE24208277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CDA9-4EE5-95F7-61D520A782C2}"/>
                </c:ext>
              </c:extLst>
            </c:dLbl>
            <c:dLbl>
              <c:idx val="2"/>
              <c:layout>
                <c:manualLayout>
                  <c:x val="-2.8417874396135266E-2"/>
                  <c:y val="-0.10530405982905983"/>
                </c:manualLayout>
              </c:layout>
              <c:tx>
                <c:rich>
                  <a:bodyPr/>
                  <a:lstStyle/>
                  <a:p>
                    <a:fld id="{444CD8FE-021E-4D89-A582-D702E0F7D4AE}" type="XVALUE">
                      <a:rPr lang="en-US"/>
                      <a:pPr/>
                      <a:t>[X VALUE]</a:t>
                    </a:fld>
                    <a:r>
                      <a:rPr lang="en-US" baseline="0" dirty="0"/>
                      <a:t>, </a:t>
                    </a:r>
                  </a:p>
                  <a:p>
                    <a:fld id="{66DBC77D-15EB-4E36-89A9-478F360E164B}"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DA9-4EE5-95F7-61D520A782C2}"/>
                </c:ext>
              </c:extLst>
            </c:dLbl>
            <c:dLbl>
              <c:idx val="3"/>
              <c:layout>
                <c:manualLayout>
                  <c:x val="-0.17618762939958593"/>
                  <c:y val="-7.0026282051282154E-2"/>
                </c:manualLayout>
              </c:layout>
              <c:tx>
                <c:rich>
                  <a:bodyPr/>
                  <a:lstStyle/>
                  <a:p>
                    <a:fld id="{DD2CE720-26EF-47FA-95DA-B85B9A81040E}" type="XVALUE">
                      <a:rPr lang="en-US"/>
                      <a:pPr/>
                      <a:t>[X VALUE]</a:t>
                    </a:fld>
                    <a:r>
                      <a:rPr lang="en-US" baseline="0" dirty="0"/>
                      <a:t>, </a:t>
                    </a:r>
                  </a:p>
                  <a:p>
                    <a:fld id="{62D865A5-2667-4343-AFD1-E34B61F218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DA9-4EE5-95F7-61D520A782C2}"/>
                </c:ext>
              </c:extLst>
            </c:dLbl>
            <c:dLbl>
              <c:idx val="4"/>
              <c:layout>
                <c:manualLayout>
                  <c:x val="-7.5148119392684606E-2"/>
                  <c:y val="-9.7163034188034195E-2"/>
                </c:manualLayout>
              </c:layout>
              <c:tx>
                <c:rich>
                  <a:bodyPr/>
                  <a:lstStyle/>
                  <a:p>
                    <a:fld id="{698E41AB-D8BF-43DA-B45B-01AB3BB52D41}" type="XVALUE">
                      <a:rPr lang="en-US"/>
                      <a:pPr/>
                      <a:t>[X VALUE]</a:t>
                    </a:fld>
                    <a:r>
                      <a:rPr lang="en-US" baseline="0" dirty="0"/>
                      <a:t>, </a:t>
                    </a:r>
                  </a:p>
                  <a:p>
                    <a:fld id="{570AC8A7-7719-40A2-A4BB-3111D485D5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DA9-4EE5-95F7-61D520A782C2}"/>
                </c:ext>
              </c:extLst>
            </c:dLbl>
            <c:dLbl>
              <c:idx val="5"/>
              <c:layout>
                <c:manualLayout>
                  <c:x val="-0.13675681504485859"/>
                  <c:y val="8.4653205128205025E-2"/>
                </c:manualLayout>
              </c:layout>
              <c:tx>
                <c:rich>
                  <a:bodyPr/>
                  <a:lstStyle/>
                  <a:p>
                    <a:fld id="{0FD3E36E-0C1D-49F2-A9D7-7655A09E2520}" type="XVALUE">
                      <a:rPr lang="en-US"/>
                      <a:pPr/>
                      <a:t>[X VALUE]</a:t>
                    </a:fld>
                    <a:r>
                      <a:rPr lang="en-US" baseline="0" dirty="0"/>
                      <a:t>, </a:t>
                    </a:r>
                  </a:p>
                  <a:p>
                    <a:fld id="{D0B21986-A406-4258-B64E-895B03A5A920}"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CDA9-4EE5-95F7-61D520A782C2}"/>
                </c:ext>
              </c:extLst>
            </c:dLbl>
            <c:dLbl>
              <c:idx val="6"/>
              <c:layout>
                <c:manualLayout>
                  <c:x val="-9.7647256728778387E-2"/>
                  <c:y val="-9.5277136752136796E-2"/>
                </c:manualLayout>
              </c:layout>
              <c:tx>
                <c:rich>
                  <a:bodyPr/>
                  <a:lstStyle/>
                  <a:p>
                    <a:fld id="{AE091FAC-0C81-4E4A-B746-0ECA7E406C90}" type="XVALUE">
                      <a:rPr lang="en-US"/>
                      <a:pPr/>
                      <a:t>[X VALUE]</a:t>
                    </a:fld>
                    <a:r>
                      <a:rPr lang="en-US" baseline="0"/>
                      <a:t>, </a:t>
                    </a:r>
                  </a:p>
                  <a:p>
                    <a:fld id="{2D043B74-4103-4032-A950-16CC69106101}"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CDA9-4EE5-95F7-61D520A782C2}"/>
                </c:ext>
              </c:extLst>
            </c:dLbl>
            <c:dLbl>
              <c:idx val="7"/>
              <c:layout>
                <c:manualLayout>
                  <c:x val="-4.3379227053140096E-2"/>
                  <c:y val="-9.7990811965811969E-2"/>
                </c:manualLayout>
              </c:layout>
              <c:tx>
                <c:rich>
                  <a:bodyPr/>
                  <a:lstStyle/>
                  <a:p>
                    <a:fld id="{26A8FAB9-F063-48B1-BCB0-C7E6BF6B88EA}" type="XVALUE">
                      <a:rPr lang="en-US"/>
                      <a:pPr/>
                      <a:t>[X VALUE]</a:t>
                    </a:fld>
                    <a:r>
                      <a:rPr lang="en-US" baseline="0"/>
                      <a:t>, </a:t>
                    </a:r>
                  </a:p>
                  <a:p>
                    <a:fld id="{A2EFAC59-BD13-49C9-886E-B68ED7DCEED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CDA9-4EE5-95F7-61D520A782C2}"/>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Sheet1!$A$2:$A$9</c:f>
              <c:strCache>
                <c:ptCount val="8"/>
                <c:pt idx="0">
                  <c:v>Bite - Too Soft</c:v>
                </c:pt>
                <c:pt idx="1">
                  <c:v>Bite - Too Hard</c:v>
                </c:pt>
                <c:pt idx="2">
                  <c:v>Moistness - Too Dry</c:v>
                </c:pt>
                <c:pt idx="3">
                  <c:v>Moistness - Too Moist</c:v>
                </c:pt>
                <c:pt idx="4">
                  <c:v>Sweetness - Less Sweet</c:v>
                </c:pt>
                <c:pt idx="5">
                  <c:v>Sweetness - Too Sweet</c:v>
                </c:pt>
                <c:pt idx="6">
                  <c:v>Bitterness - Less Bitter</c:v>
                </c:pt>
                <c:pt idx="7">
                  <c:v>Bitterness - Too Bitter</c:v>
                </c:pt>
              </c:strCache>
            </c:strRef>
          </c:xVal>
          <c:yVal>
            <c:numRef>
              <c:f>Sheet1!$B$2:$B$9</c:f>
              <c:numCache>
                <c:formatCode>###0.00</c:formatCode>
                <c:ptCount val="8"/>
                <c:pt idx="0">
                  <c:v>8.0866228070175517E-3</c:v>
                </c:pt>
                <c:pt idx="1">
                  <c:v>6.8667763157894732E-2</c:v>
                </c:pt>
                <c:pt idx="2">
                  <c:v>0.16083576287657922</c:v>
                </c:pt>
                <c:pt idx="3">
                  <c:v>1.9436345966958216E-2</c:v>
                </c:pt>
                <c:pt idx="4">
                  <c:v>0.22466216216216217</c:v>
                </c:pt>
                <c:pt idx="5">
                  <c:v>8.9245495495495486E-2</c:v>
                </c:pt>
                <c:pt idx="6">
                  <c:v>0.23135964912280685</c:v>
                </c:pt>
                <c:pt idx="7">
                  <c:v>0.23245614035087711</c:v>
                </c:pt>
              </c:numCache>
            </c:numRef>
          </c:yVal>
          <c:smooth val="0"/>
          <c:extLst>
            <c:ext xmlns:c16="http://schemas.microsoft.com/office/drawing/2014/chart" uri="{C3380CC4-5D6E-409C-BE32-E72D297353CC}">
              <c16:uniqueId val="{00000000-CDA9-4EE5-95F7-61D520A782C2}"/>
            </c:ext>
          </c:extLst>
        </c:ser>
        <c:dLbls>
          <c:showLegendKey val="0"/>
          <c:showVal val="0"/>
          <c:showCatName val="0"/>
          <c:showSerName val="0"/>
          <c:showPercent val="0"/>
          <c:showBubbleSize val="0"/>
        </c:dLbls>
        <c:axId val="608259759"/>
        <c:axId val="608274639"/>
      </c:scatterChart>
      <c:valAx>
        <c:axId val="608259759"/>
        <c:scaling>
          <c:orientation val="minMax"/>
        </c:scaling>
        <c:delete val="1"/>
        <c:axPos val="b"/>
        <c:numFmt formatCode="General" sourceLinked="1"/>
        <c:majorTickMark val="none"/>
        <c:minorTickMark val="none"/>
        <c:tickLblPos val="nextTo"/>
        <c:crossAx val="608274639"/>
        <c:crosses val="autoZero"/>
        <c:crossBetween val="midCat"/>
      </c:valAx>
      <c:valAx>
        <c:axId val="608274639"/>
        <c:scaling>
          <c:orientation val="minMax"/>
          <c:max val="0.60000000000000009"/>
        </c:scaling>
        <c:delete val="0"/>
        <c:axPos val="l"/>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8259759"/>
        <c:crosses val="autoZero"/>
        <c:crossBetween val="midCat"/>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19050" cap="rnd">
              <a:noFill/>
              <a:round/>
            </a:ln>
            <a:effectLst/>
          </c:spPr>
          <c:marker>
            <c:symbol val="circle"/>
            <c:size val="12"/>
            <c:spPr>
              <a:solidFill>
                <a:schemeClr val="accent1"/>
              </a:solidFill>
              <a:ln w="9525">
                <a:solidFill>
                  <a:schemeClr val="accent1"/>
                </a:solidFill>
              </a:ln>
              <a:effectLst/>
            </c:spPr>
          </c:marker>
          <c:dPt>
            <c:idx val="4"/>
            <c:marker>
              <c:symbol val="circle"/>
              <c:size val="12"/>
              <c:spPr>
                <a:solidFill>
                  <a:schemeClr val="accent4"/>
                </a:solidFill>
                <a:ln w="9525">
                  <a:noFill/>
                </a:ln>
                <a:effectLst/>
              </c:spPr>
            </c:marker>
            <c:bubble3D val="0"/>
            <c:spPr>
              <a:ln w="19050" cap="rnd">
                <a:noFill/>
                <a:round/>
              </a:ln>
              <a:effectLst/>
            </c:spPr>
            <c:extLst>
              <c:ext xmlns:c16="http://schemas.microsoft.com/office/drawing/2014/chart" uri="{C3380CC4-5D6E-409C-BE32-E72D297353CC}">
                <c16:uniqueId val="{00000002-CDA9-4EE5-95F7-61D520A782C2}"/>
              </c:ext>
            </c:extLst>
          </c:dPt>
          <c:dPt>
            <c:idx val="5"/>
            <c:marker>
              <c:symbol val="circle"/>
              <c:size val="12"/>
              <c:spPr>
                <a:solidFill>
                  <a:schemeClr val="accent4"/>
                </a:solidFill>
                <a:ln w="9525">
                  <a:noFill/>
                </a:ln>
                <a:effectLst/>
              </c:spPr>
            </c:marker>
            <c:bubble3D val="0"/>
            <c:spPr>
              <a:ln w="19050" cap="rnd">
                <a:noFill/>
                <a:round/>
              </a:ln>
              <a:effectLst/>
            </c:spPr>
            <c:extLst>
              <c:ext xmlns:c16="http://schemas.microsoft.com/office/drawing/2014/chart" uri="{C3380CC4-5D6E-409C-BE32-E72D297353CC}">
                <c16:uniqueId val="{0000000C-CDA9-4EE5-95F7-61D520A782C2}"/>
              </c:ext>
            </c:extLst>
          </c:dPt>
          <c:dPt>
            <c:idx val="6"/>
            <c:marker>
              <c:symbol val="circle"/>
              <c:size val="12"/>
              <c:spPr>
                <a:solidFill>
                  <a:srgbClr val="A80020"/>
                </a:solidFill>
                <a:ln w="9525">
                  <a:noFill/>
                </a:ln>
                <a:effectLst/>
              </c:spPr>
            </c:marker>
            <c:bubble3D val="0"/>
            <c:spPr>
              <a:ln w="19050" cap="rnd">
                <a:noFill/>
                <a:round/>
              </a:ln>
              <a:effectLst/>
            </c:spPr>
            <c:extLst>
              <c:ext xmlns:c16="http://schemas.microsoft.com/office/drawing/2014/chart" uri="{C3380CC4-5D6E-409C-BE32-E72D297353CC}">
                <c16:uniqueId val="{0000000B-CDA9-4EE5-95F7-61D520A782C2}"/>
              </c:ext>
            </c:extLst>
          </c:dPt>
          <c:dPt>
            <c:idx val="7"/>
            <c:marker>
              <c:symbol val="circle"/>
              <c:size val="12"/>
              <c:spPr>
                <a:solidFill>
                  <a:srgbClr val="C00000"/>
                </a:solidFill>
                <a:ln w="9525">
                  <a:noFill/>
                </a:ln>
                <a:effectLst/>
              </c:spPr>
            </c:marker>
            <c:bubble3D val="0"/>
            <c:spPr>
              <a:ln w="19050" cap="rnd">
                <a:noFill/>
                <a:round/>
              </a:ln>
              <a:effectLst/>
            </c:spPr>
            <c:extLst>
              <c:ext xmlns:c16="http://schemas.microsoft.com/office/drawing/2014/chart" uri="{C3380CC4-5D6E-409C-BE32-E72D297353CC}">
                <c16:uniqueId val="{0000000A-CDA9-4EE5-95F7-61D520A782C2}"/>
              </c:ext>
            </c:extLst>
          </c:dPt>
          <c:dPt>
            <c:idx val="8"/>
            <c:marker>
              <c:symbol val="circle"/>
              <c:size val="12"/>
              <c:spPr>
                <a:solidFill>
                  <a:srgbClr val="FF7C80"/>
                </a:solidFill>
                <a:ln w="9525">
                  <a:noFill/>
                </a:ln>
                <a:effectLst/>
              </c:spPr>
            </c:marker>
            <c:bubble3D val="0"/>
            <c:spPr>
              <a:ln w="19050" cap="rnd">
                <a:noFill/>
                <a:round/>
              </a:ln>
              <a:effectLst/>
            </c:spPr>
            <c:extLst>
              <c:ext xmlns:c16="http://schemas.microsoft.com/office/drawing/2014/chart" uri="{C3380CC4-5D6E-409C-BE32-E72D297353CC}">
                <c16:uniqueId val="{00000008-CDA9-4EE5-95F7-61D520A782C2}"/>
              </c:ext>
            </c:extLst>
          </c:dPt>
          <c:dPt>
            <c:idx val="9"/>
            <c:marker>
              <c:symbol val="circle"/>
              <c:size val="12"/>
              <c:spPr>
                <a:solidFill>
                  <a:srgbClr val="FF7C80"/>
                </a:solidFill>
                <a:ln w="9525">
                  <a:noFill/>
                </a:ln>
                <a:effectLst/>
              </c:spPr>
            </c:marker>
            <c:bubble3D val="0"/>
            <c:spPr>
              <a:ln w="19050" cap="rnd">
                <a:noFill/>
                <a:round/>
              </a:ln>
              <a:effectLst/>
            </c:spPr>
            <c:extLst>
              <c:ext xmlns:c16="http://schemas.microsoft.com/office/drawing/2014/chart" uri="{C3380CC4-5D6E-409C-BE32-E72D297353CC}">
                <c16:uniqueId val="{00000009-CDA9-4EE5-95F7-61D520A782C2}"/>
              </c:ext>
            </c:extLst>
          </c:dPt>
          <c:dPt>
            <c:idx val="10"/>
            <c:marker>
              <c:symbol val="circle"/>
              <c:size val="12"/>
              <c:spPr>
                <a:solidFill>
                  <a:schemeClr val="tx1"/>
                </a:solidFill>
                <a:ln w="9525">
                  <a:noFill/>
                </a:ln>
                <a:effectLst/>
              </c:spPr>
            </c:marker>
            <c:bubble3D val="0"/>
            <c:spPr>
              <a:ln w="19050" cap="rnd">
                <a:noFill/>
                <a:round/>
              </a:ln>
              <a:effectLst/>
            </c:spPr>
            <c:extLst>
              <c:ext xmlns:c16="http://schemas.microsoft.com/office/drawing/2014/chart" uri="{C3380CC4-5D6E-409C-BE32-E72D297353CC}">
                <c16:uniqueId val="{00000006-CDA9-4EE5-95F7-61D520A782C2}"/>
              </c:ext>
            </c:extLst>
          </c:dPt>
          <c:dPt>
            <c:idx val="11"/>
            <c:marker>
              <c:symbol val="circle"/>
              <c:size val="12"/>
              <c:spPr>
                <a:solidFill>
                  <a:schemeClr val="tx1"/>
                </a:solidFill>
                <a:ln w="9525">
                  <a:noFill/>
                </a:ln>
                <a:effectLst/>
              </c:spPr>
            </c:marker>
            <c:bubble3D val="0"/>
            <c:spPr>
              <a:ln w="19050" cap="rnd">
                <a:noFill/>
                <a:round/>
              </a:ln>
              <a:effectLst/>
            </c:spPr>
            <c:extLst>
              <c:ext xmlns:c16="http://schemas.microsoft.com/office/drawing/2014/chart" uri="{C3380CC4-5D6E-409C-BE32-E72D297353CC}">
                <c16:uniqueId val="{00000007-CDA9-4EE5-95F7-61D520A782C2}"/>
              </c:ext>
            </c:extLst>
          </c:dPt>
          <c:dLbls>
            <c:dLbl>
              <c:idx val="0"/>
              <c:layout>
                <c:manualLayout>
                  <c:x val="-6.8082729468599043E-2"/>
                  <c:y val="-0.11615876068376059"/>
                </c:manualLayout>
              </c:layout>
              <c:tx>
                <c:rich>
                  <a:bodyPr/>
                  <a:lstStyle/>
                  <a:p>
                    <a:fld id="{8E861AF3-9564-43C7-933B-67FB2C25CCD5}" type="XVALUE">
                      <a:rPr lang="en-US"/>
                      <a:pPr/>
                      <a:t>[X VALUE]</a:t>
                    </a:fld>
                    <a:r>
                      <a:rPr lang="en-US" baseline="0" dirty="0"/>
                      <a:t>, </a:t>
                    </a:r>
                  </a:p>
                  <a:p>
                    <a:fld id="{A00C96E1-6FCC-4B07-A784-9E54E01F8174}"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DA9-4EE5-95F7-61D520A782C2}"/>
                </c:ext>
              </c:extLst>
            </c:dLbl>
            <c:dLbl>
              <c:idx val="1"/>
              <c:layout>
                <c:manualLayout>
                  <c:x val="-7.6192028985507268E-2"/>
                  <c:y val="-0.23013311965811975"/>
                </c:manualLayout>
              </c:layout>
              <c:tx>
                <c:rich>
                  <a:bodyPr/>
                  <a:lstStyle/>
                  <a:p>
                    <a:fld id="{C7C7CEEF-E183-4A2C-AB97-33F39F29EC81}" type="XVALUE">
                      <a:rPr lang="en-US"/>
                      <a:pPr/>
                      <a:t>[X VALUE]</a:t>
                    </a:fld>
                    <a:r>
                      <a:rPr lang="en-US" baseline="0" dirty="0"/>
                      <a:t>, </a:t>
                    </a:r>
                  </a:p>
                  <a:p>
                    <a:fld id="{67BDC529-A581-46C8-B420-DAE24208277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CDA9-4EE5-95F7-61D520A782C2}"/>
                </c:ext>
              </c:extLst>
            </c:dLbl>
            <c:dLbl>
              <c:idx val="2"/>
              <c:layout>
                <c:manualLayout>
                  <c:x val="-6.3476508407517354E-2"/>
                  <c:y val="-0.15686388888888889"/>
                </c:manualLayout>
              </c:layout>
              <c:tx>
                <c:rich>
                  <a:bodyPr/>
                  <a:lstStyle/>
                  <a:p>
                    <a:fld id="{444CD8FE-021E-4D89-A582-D702E0F7D4AE}" type="XVALUE">
                      <a:rPr lang="en-US"/>
                      <a:pPr/>
                      <a:t>[X VALUE]</a:t>
                    </a:fld>
                    <a:r>
                      <a:rPr lang="en-US" baseline="0" dirty="0"/>
                      <a:t>, </a:t>
                    </a:r>
                  </a:p>
                  <a:p>
                    <a:fld id="{66DBC77D-15EB-4E36-89A9-478F360E164B}"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DA9-4EE5-95F7-61D520A782C2}"/>
                </c:ext>
              </c:extLst>
            </c:dLbl>
            <c:dLbl>
              <c:idx val="3"/>
              <c:layout>
                <c:manualLayout>
                  <c:x val="-0.10387914078674952"/>
                  <c:y val="-0.19214166666666666"/>
                </c:manualLayout>
              </c:layout>
              <c:tx>
                <c:rich>
                  <a:bodyPr/>
                  <a:lstStyle/>
                  <a:p>
                    <a:fld id="{DD2CE720-26EF-47FA-95DA-B85B9A81040E}" type="XVALUE">
                      <a:rPr lang="en-US"/>
                      <a:pPr/>
                      <a:t>[X VALUE]</a:t>
                    </a:fld>
                    <a:r>
                      <a:rPr lang="en-US" baseline="0" dirty="0"/>
                      <a:t>, </a:t>
                    </a:r>
                  </a:p>
                  <a:p>
                    <a:fld id="{62D865A5-2667-4343-AFD1-E34B61F218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DA9-4EE5-95F7-61D520A782C2}"/>
                </c:ext>
              </c:extLst>
            </c:dLbl>
            <c:dLbl>
              <c:idx val="4"/>
              <c:layout>
                <c:manualLayout>
                  <c:x val="2.5645531400966183E-2"/>
                  <c:y val="2.7666025641025643E-2"/>
                </c:manualLayout>
              </c:layout>
              <c:tx>
                <c:rich>
                  <a:bodyPr/>
                  <a:lstStyle/>
                  <a:p>
                    <a:fld id="{698E41AB-D8BF-43DA-B45B-01AB3BB52D41}" type="XVALUE">
                      <a:rPr lang="en-US"/>
                      <a:pPr/>
                      <a:t>[X VALUE]</a:t>
                    </a:fld>
                    <a:r>
                      <a:rPr lang="en-US" baseline="0" dirty="0"/>
                      <a:t>, </a:t>
                    </a:r>
                  </a:p>
                  <a:p>
                    <a:fld id="{570AC8A7-7719-40A2-A4BB-3111D485D5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DA9-4EE5-95F7-61D520A782C2}"/>
                </c:ext>
              </c:extLst>
            </c:dLbl>
            <c:dLbl>
              <c:idx val="5"/>
              <c:layout>
                <c:manualLayout>
                  <c:x val="-0.11594073498964808"/>
                  <c:y val="5.2927350427350427E-4"/>
                </c:manualLayout>
              </c:layout>
              <c:tx>
                <c:rich>
                  <a:bodyPr/>
                  <a:lstStyle/>
                  <a:p>
                    <a:fld id="{0FD3E36E-0C1D-49F2-A9D7-7655A09E2520}" type="XVALUE">
                      <a:rPr lang="en-US"/>
                      <a:pPr/>
                      <a:t>[X VALUE]</a:t>
                    </a:fld>
                    <a:r>
                      <a:rPr lang="en-US" baseline="0" dirty="0"/>
                      <a:t>, </a:t>
                    </a:r>
                  </a:p>
                  <a:p>
                    <a:fld id="{D0B21986-A406-4258-B64E-895B03A5A920}"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CDA9-4EE5-95F7-61D520A782C2}"/>
                </c:ext>
              </c:extLst>
            </c:dLbl>
            <c:dLbl>
              <c:idx val="6"/>
              <c:layout>
                <c:manualLayout>
                  <c:x val="1.7388975155279422E-2"/>
                  <c:y val="2.412457264957265E-2"/>
                </c:manualLayout>
              </c:layout>
              <c:tx>
                <c:rich>
                  <a:bodyPr/>
                  <a:lstStyle/>
                  <a:p>
                    <a:fld id="{AE091FAC-0C81-4E4A-B746-0ECA7E406C90}" type="XVALUE">
                      <a:rPr lang="en-US"/>
                      <a:pPr/>
                      <a:t>[X VALUE]</a:t>
                    </a:fld>
                    <a:r>
                      <a:rPr lang="en-US" baseline="0"/>
                      <a:t>, </a:t>
                    </a:r>
                  </a:p>
                  <a:p>
                    <a:fld id="{2D043B74-4103-4032-A950-16CC69106101}"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CDA9-4EE5-95F7-61D520A782C2}"/>
                </c:ext>
              </c:extLst>
            </c:dLbl>
            <c:dLbl>
              <c:idx val="7"/>
              <c:layout>
                <c:manualLayout>
                  <c:x val="-0.12664354727398205"/>
                  <c:y val="-7.6281410256410262E-2"/>
                </c:manualLayout>
              </c:layout>
              <c:tx>
                <c:rich>
                  <a:bodyPr/>
                  <a:lstStyle/>
                  <a:p>
                    <a:fld id="{26A8FAB9-F063-48B1-BCB0-C7E6BF6B88EA}" type="XVALUE">
                      <a:rPr lang="en-US"/>
                      <a:pPr/>
                      <a:t>[X VALUE]</a:t>
                    </a:fld>
                    <a:r>
                      <a:rPr lang="en-US" baseline="0"/>
                      <a:t>, </a:t>
                    </a:r>
                  </a:p>
                  <a:p>
                    <a:fld id="{A2EFAC59-BD13-49C9-886E-B68ED7DCEED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CDA9-4EE5-95F7-61D520A782C2}"/>
                </c:ext>
              </c:extLst>
            </c:dLbl>
            <c:dLbl>
              <c:idx val="8"/>
              <c:layout>
                <c:manualLayout>
                  <c:x val="-7.774111456176673E-2"/>
                  <c:y val="-0.11698653846153846"/>
                </c:manualLayout>
              </c:layout>
              <c:tx>
                <c:rich>
                  <a:bodyPr/>
                  <a:lstStyle/>
                  <a:p>
                    <a:fld id="{5DED9570-4C76-4E2D-B6C0-D4179E5F6A91}" type="XVALUE">
                      <a:rPr lang="en-US"/>
                      <a:pPr/>
                      <a:t>[X VALUE]</a:t>
                    </a:fld>
                    <a:r>
                      <a:rPr lang="en-US" baseline="0"/>
                      <a:t>, </a:t>
                    </a:r>
                  </a:p>
                  <a:p>
                    <a:fld id="{B158D467-35F0-411A-A348-772CA431A428}"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CDA9-4EE5-95F7-61D520A782C2}"/>
                </c:ext>
              </c:extLst>
            </c:dLbl>
            <c:dLbl>
              <c:idx val="9"/>
              <c:layout>
                <c:manualLayout>
                  <c:x val="-1.610797889878024E-2"/>
                  <c:y val="-0.11155918803418803"/>
                </c:manualLayout>
              </c:layout>
              <c:tx>
                <c:rich>
                  <a:bodyPr/>
                  <a:lstStyle/>
                  <a:p>
                    <a:fld id="{0D387364-DCE7-43FD-BAA6-1EEA229C0102}" type="XVALUE">
                      <a:rPr lang="en-US"/>
                      <a:pPr/>
                      <a:t>[X VALUE]</a:t>
                    </a:fld>
                    <a:r>
                      <a:rPr lang="en-US" baseline="0"/>
                      <a:t>, </a:t>
                    </a:r>
                  </a:p>
                  <a:p>
                    <a:fld id="{B9F1127F-F7E2-4880-98FA-8C56F567F317}"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CDA9-4EE5-95F7-61D520A782C2}"/>
                </c:ext>
              </c:extLst>
            </c:dLbl>
            <c:dLbl>
              <c:idx val="10"/>
              <c:layout>
                <c:manualLayout>
                  <c:x val="4.2114475500345062E-2"/>
                  <c:y val="7.9225854700854595E-2"/>
                </c:manualLayout>
              </c:layout>
              <c:tx>
                <c:rich>
                  <a:bodyPr/>
                  <a:lstStyle/>
                  <a:p>
                    <a:fld id="{7B832BF6-936B-489C-A307-D6DECD8279A2}" type="XVALUE">
                      <a:rPr lang="en-US"/>
                      <a:pPr/>
                      <a:t>[X VALUE]</a:t>
                    </a:fld>
                    <a:r>
                      <a:rPr lang="en-US" baseline="0" dirty="0"/>
                      <a:t>, </a:t>
                    </a:r>
                  </a:p>
                  <a:p>
                    <a:fld id="{C085D344-A533-4E7A-93D8-B71F03134985}"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CDA9-4EE5-95F7-61D520A782C2}"/>
                </c:ext>
              </c:extLst>
            </c:dLbl>
            <c:dLbl>
              <c:idx val="11"/>
              <c:layout>
                <c:manualLayout>
                  <c:x val="9.6123475107154632E-3"/>
                  <c:y val="-3.0148931623931723E-2"/>
                </c:manualLayout>
              </c:layout>
              <c:tx>
                <c:rich>
                  <a:bodyPr/>
                  <a:lstStyle/>
                  <a:p>
                    <a:fld id="{EEB2FBAA-D167-428E-A0CB-B757064B0DFA}" type="XVALUE">
                      <a:rPr lang="en-US"/>
                      <a:pPr/>
                      <a:t>[X VALUE]</a:t>
                    </a:fld>
                    <a:r>
                      <a:rPr lang="en-US" baseline="0"/>
                      <a:t>, </a:t>
                    </a:r>
                  </a:p>
                  <a:p>
                    <a:fld id="{133A4B1B-50C5-49F2-8C69-F279FA0B9041}"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CDA9-4EE5-95F7-61D520A782C2}"/>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Sheet1!$A$2:$A$13</c:f>
              <c:strCache>
                <c:ptCount val="12"/>
                <c:pt idx="0">
                  <c:v>Size - Too Small</c:v>
                </c:pt>
                <c:pt idx="1">
                  <c:v>Size - Too Big</c:v>
                </c:pt>
                <c:pt idx="2">
                  <c:v>Thickness - Too Thin</c:v>
                </c:pt>
                <c:pt idx="3">
                  <c:v>Thickness - Too Thick</c:v>
                </c:pt>
                <c:pt idx="4">
                  <c:v>Bite - Too Soft</c:v>
                </c:pt>
                <c:pt idx="5">
                  <c:v>Bite - Too Hard</c:v>
                </c:pt>
                <c:pt idx="6">
                  <c:v>Moistness - Too Dry</c:v>
                </c:pt>
                <c:pt idx="7">
                  <c:v>Moistness - Too Moist</c:v>
                </c:pt>
                <c:pt idx="8">
                  <c:v>Sweetness - Less Sweet</c:v>
                </c:pt>
                <c:pt idx="9">
                  <c:v>Sweetness - Too Sweet</c:v>
                </c:pt>
                <c:pt idx="10">
                  <c:v>Bitterness - Less Bitter</c:v>
                </c:pt>
                <c:pt idx="11">
                  <c:v>Bitterness - Too Bitter</c:v>
                </c:pt>
              </c:strCache>
            </c:strRef>
          </c:xVal>
          <c:yVal>
            <c:numRef>
              <c:f>Sheet1!$B$2:$B$13</c:f>
              <c:numCache>
                <c:formatCode>###0.00</c:formatCode>
                <c:ptCount val="12"/>
                <c:pt idx="0">
                  <c:v>8.3946078431372514E-2</c:v>
                </c:pt>
                <c:pt idx="1">
                  <c:v>6.4338235294117641E-2</c:v>
                </c:pt>
                <c:pt idx="2">
                  <c:v>2.352528089887641E-2</c:v>
                </c:pt>
                <c:pt idx="3">
                  <c:v>8.906835205992511E-2</c:v>
                </c:pt>
                <c:pt idx="4">
                  <c:v>4.9949799196787145E-2</c:v>
                </c:pt>
                <c:pt idx="5">
                  <c:v>0.20180722891566261</c:v>
                </c:pt>
                <c:pt idx="6">
                  <c:v>9.5238095238095233E-2</c:v>
                </c:pt>
                <c:pt idx="7">
                  <c:v>0.13690476190476189</c:v>
                </c:pt>
                <c:pt idx="8">
                  <c:v>0.12723214285714282</c:v>
                </c:pt>
                <c:pt idx="9">
                  <c:v>9.5982142857142835E-2</c:v>
                </c:pt>
                <c:pt idx="10">
                  <c:v>0.10788690476190479</c:v>
                </c:pt>
                <c:pt idx="11">
                  <c:v>0.13913690476190479</c:v>
                </c:pt>
              </c:numCache>
            </c:numRef>
          </c:yVal>
          <c:smooth val="0"/>
          <c:extLst>
            <c:ext xmlns:c16="http://schemas.microsoft.com/office/drawing/2014/chart" uri="{C3380CC4-5D6E-409C-BE32-E72D297353CC}">
              <c16:uniqueId val="{00000000-CDA9-4EE5-95F7-61D520A782C2}"/>
            </c:ext>
          </c:extLst>
        </c:ser>
        <c:dLbls>
          <c:showLegendKey val="0"/>
          <c:showVal val="0"/>
          <c:showCatName val="0"/>
          <c:showSerName val="0"/>
          <c:showPercent val="0"/>
          <c:showBubbleSize val="0"/>
        </c:dLbls>
        <c:axId val="608259759"/>
        <c:axId val="608274639"/>
      </c:scatterChart>
      <c:valAx>
        <c:axId val="608259759"/>
        <c:scaling>
          <c:orientation val="minMax"/>
        </c:scaling>
        <c:delete val="1"/>
        <c:axPos val="b"/>
        <c:numFmt formatCode="General" sourceLinked="1"/>
        <c:majorTickMark val="none"/>
        <c:minorTickMark val="none"/>
        <c:tickLblPos val="nextTo"/>
        <c:crossAx val="608274639"/>
        <c:crosses val="autoZero"/>
        <c:crossBetween val="midCat"/>
      </c:valAx>
      <c:valAx>
        <c:axId val="608274639"/>
        <c:scaling>
          <c:orientation val="minMax"/>
          <c:max val="0.60000000000000009"/>
        </c:scaling>
        <c:delete val="0"/>
        <c:axPos val="l"/>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8259759"/>
        <c:crosses val="autoZero"/>
        <c:crossBetween val="midCat"/>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19050" cap="rnd">
              <a:noFill/>
              <a:round/>
            </a:ln>
            <a:effectLst/>
          </c:spPr>
          <c:marker>
            <c:symbol val="circle"/>
            <c:size val="12"/>
            <c:spPr>
              <a:solidFill>
                <a:schemeClr val="accent1"/>
              </a:solidFill>
              <a:ln w="9525">
                <a:noFill/>
              </a:ln>
              <a:effectLst/>
            </c:spPr>
          </c:marker>
          <c:dPt>
            <c:idx val="0"/>
            <c:marker>
              <c:symbol val="circle"/>
              <c:size val="12"/>
              <c:spPr>
                <a:solidFill>
                  <a:schemeClr val="accent4"/>
                </a:solidFill>
                <a:ln w="9525">
                  <a:noFill/>
                </a:ln>
                <a:effectLst/>
              </c:spPr>
            </c:marker>
            <c:bubble3D val="0"/>
            <c:extLst>
              <c:ext xmlns:c16="http://schemas.microsoft.com/office/drawing/2014/chart" uri="{C3380CC4-5D6E-409C-BE32-E72D297353CC}">
                <c16:uniqueId val="{00000001-CDA9-4EE5-95F7-61D520A782C2}"/>
              </c:ext>
            </c:extLst>
          </c:dPt>
          <c:dPt>
            <c:idx val="1"/>
            <c:marker>
              <c:symbol val="circle"/>
              <c:size val="12"/>
              <c:spPr>
                <a:solidFill>
                  <a:schemeClr val="accent4"/>
                </a:solidFill>
                <a:ln w="9525">
                  <a:noFill/>
                </a:ln>
                <a:effectLst/>
              </c:spPr>
            </c:marker>
            <c:bubble3D val="0"/>
            <c:extLst>
              <c:ext xmlns:c16="http://schemas.microsoft.com/office/drawing/2014/chart" uri="{C3380CC4-5D6E-409C-BE32-E72D297353CC}">
                <c16:uniqueId val="{00000004-CDA9-4EE5-95F7-61D520A782C2}"/>
              </c:ext>
            </c:extLst>
          </c:dPt>
          <c:dPt>
            <c:idx val="2"/>
            <c:marker>
              <c:symbol val="circle"/>
              <c:size val="12"/>
              <c:spPr>
                <a:solidFill>
                  <a:srgbClr val="A80020"/>
                </a:solidFill>
                <a:ln w="9525">
                  <a:noFill/>
                </a:ln>
                <a:effectLst/>
              </c:spPr>
            </c:marker>
            <c:bubble3D val="0"/>
            <c:extLst>
              <c:ext xmlns:c16="http://schemas.microsoft.com/office/drawing/2014/chart" uri="{C3380CC4-5D6E-409C-BE32-E72D297353CC}">
                <c16:uniqueId val="{00000005-CDA9-4EE5-95F7-61D520A782C2}"/>
              </c:ext>
            </c:extLst>
          </c:dPt>
          <c:dPt>
            <c:idx val="3"/>
            <c:marker>
              <c:symbol val="circle"/>
              <c:size val="12"/>
              <c:spPr>
                <a:solidFill>
                  <a:srgbClr val="A80020"/>
                </a:solidFill>
                <a:ln w="9525">
                  <a:noFill/>
                </a:ln>
                <a:effectLst/>
              </c:spPr>
            </c:marker>
            <c:bubble3D val="0"/>
            <c:extLst>
              <c:ext xmlns:c16="http://schemas.microsoft.com/office/drawing/2014/chart" uri="{C3380CC4-5D6E-409C-BE32-E72D297353CC}">
                <c16:uniqueId val="{00000003-CDA9-4EE5-95F7-61D520A782C2}"/>
              </c:ext>
            </c:extLst>
          </c:dPt>
          <c:dPt>
            <c:idx val="4"/>
            <c:marker>
              <c:symbol val="circle"/>
              <c:size val="12"/>
              <c:spPr>
                <a:solidFill>
                  <a:srgbClr val="FF7C80"/>
                </a:solidFill>
                <a:ln w="9525">
                  <a:noFill/>
                </a:ln>
                <a:effectLst/>
              </c:spPr>
            </c:marker>
            <c:bubble3D val="0"/>
            <c:extLst>
              <c:ext xmlns:c16="http://schemas.microsoft.com/office/drawing/2014/chart" uri="{C3380CC4-5D6E-409C-BE32-E72D297353CC}">
                <c16:uniqueId val="{00000002-CDA9-4EE5-95F7-61D520A782C2}"/>
              </c:ext>
            </c:extLst>
          </c:dPt>
          <c:dPt>
            <c:idx val="5"/>
            <c:marker>
              <c:symbol val="circle"/>
              <c:size val="12"/>
              <c:spPr>
                <a:solidFill>
                  <a:srgbClr val="FF7C80"/>
                </a:solidFill>
                <a:ln w="9525">
                  <a:noFill/>
                </a:ln>
                <a:effectLst/>
              </c:spPr>
            </c:marker>
            <c:bubble3D val="0"/>
            <c:extLst>
              <c:ext xmlns:c16="http://schemas.microsoft.com/office/drawing/2014/chart" uri="{C3380CC4-5D6E-409C-BE32-E72D297353CC}">
                <c16:uniqueId val="{0000000C-CDA9-4EE5-95F7-61D520A782C2}"/>
              </c:ext>
            </c:extLst>
          </c:dPt>
          <c:dPt>
            <c:idx val="6"/>
            <c:marker>
              <c:symbol val="circle"/>
              <c:size val="12"/>
              <c:spPr>
                <a:solidFill>
                  <a:schemeClr val="tx1"/>
                </a:solidFill>
                <a:ln w="9525">
                  <a:noFill/>
                </a:ln>
                <a:effectLst/>
              </c:spPr>
            </c:marker>
            <c:bubble3D val="0"/>
            <c:extLst>
              <c:ext xmlns:c16="http://schemas.microsoft.com/office/drawing/2014/chart" uri="{C3380CC4-5D6E-409C-BE32-E72D297353CC}">
                <c16:uniqueId val="{0000000B-CDA9-4EE5-95F7-61D520A782C2}"/>
              </c:ext>
            </c:extLst>
          </c:dPt>
          <c:dPt>
            <c:idx val="7"/>
            <c:marker>
              <c:symbol val="circle"/>
              <c:size val="12"/>
              <c:spPr>
                <a:solidFill>
                  <a:schemeClr val="tx1"/>
                </a:solidFill>
                <a:ln w="9525">
                  <a:noFill/>
                </a:ln>
                <a:effectLst/>
              </c:spPr>
            </c:marker>
            <c:bubble3D val="0"/>
            <c:extLst>
              <c:ext xmlns:c16="http://schemas.microsoft.com/office/drawing/2014/chart" uri="{C3380CC4-5D6E-409C-BE32-E72D297353CC}">
                <c16:uniqueId val="{0000000A-CDA9-4EE5-95F7-61D520A782C2}"/>
              </c:ext>
            </c:extLst>
          </c:dPt>
          <c:dLbls>
            <c:dLbl>
              <c:idx val="0"/>
              <c:layout>
                <c:manualLayout>
                  <c:x val="-6.8082729468599043E-2"/>
                  <c:y val="-0.11615876068376059"/>
                </c:manualLayout>
              </c:layout>
              <c:tx>
                <c:rich>
                  <a:bodyPr/>
                  <a:lstStyle/>
                  <a:p>
                    <a:fld id="{8E861AF3-9564-43C7-933B-67FB2C25CCD5}" type="XVALUE">
                      <a:rPr lang="en-US"/>
                      <a:pPr/>
                      <a:t>[X VALUE]</a:t>
                    </a:fld>
                    <a:r>
                      <a:rPr lang="en-US" baseline="0" dirty="0"/>
                      <a:t>, </a:t>
                    </a:r>
                  </a:p>
                  <a:p>
                    <a:fld id="{A00C96E1-6FCC-4B07-A784-9E54E01F8174}"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DA9-4EE5-95F7-61D520A782C2}"/>
                </c:ext>
              </c:extLst>
            </c:dLbl>
            <c:dLbl>
              <c:idx val="1"/>
              <c:layout>
                <c:manualLayout>
                  <c:x val="-0.1419270186335404"/>
                  <c:y val="1.1383974358974359E-2"/>
                </c:manualLayout>
              </c:layout>
              <c:tx>
                <c:rich>
                  <a:bodyPr/>
                  <a:lstStyle/>
                  <a:p>
                    <a:fld id="{C7C7CEEF-E183-4A2C-AB97-33F39F29EC81}" type="XVALUE">
                      <a:rPr lang="en-US"/>
                      <a:pPr/>
                      <a:t>[X VALUE]</a:t>
                    </a:fld>
                    <a:r>
                      <a:rPr lang="en-US" baseline="0" dirty="0"/>
                      <a:t>, </a:t>
                    </a:r>
                  </a:p>
                  <a:p>
                    <a:fld id="{67BDC529-A581-46C8-B420-DAE24208277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CDA9-4EE5-95F7-61D520A782C2}"/>
                </c:ext>
              </c:extLst>
            </c:dLbl>
            <c:dLbl>
              <c:idx val="2"/>
              <c:layout>
                <c:manualLayout>
                  <c:x val="-6.3476508407517354E-2"/>
                  <c:y val="-0.15686388888888889"/>
                </c:manualLayout>
              </c:layout>
              <c:tx>
                <c:rich>
                  <a:bodyPr/>
                  <a:lstStyle/>
                  <a:p>
                    <a:fld id="{444CD8FE-021E-4D89-A582-D702E0F7D4AE}" type="XVALUE">
                      <a:rPr lang="en-US"/>
                      <a:pPr/>
                      <a:t>[X VALUE]</a:t>
                    </a:fld>
                    <a:r>
                      <a:rPr lang="en-US" baseline="0" dirty="0"/>
                      <a:t>, </a:t>
                    </a:r>
                  </a:p>
                  <a:p>
                    <a:fld id="{66DBC77D-15EB-4E36-89A9-478F360E164B}"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DA9-4EE5-95F7-61D520A782C2}"/>
                </c:ext>
              </c:extLst>
            </c:dLbl>
            <c:dLbl>
              <c:idx val="3"/>
              <c:layout>
                <c:manualLayout>
                  <c:x val="-4.581323326432022E-2"/>
                  <c:y val="-9.1735683760683764E-2"/>
                </c:manualLayout>
              </c:layout>
              <c:tx>
                <c:rich>
                  <a:bodyPr/>
                  <a:lstStyle/>
                  <a:p>
                    <a:fld id="{DD2CE720-26EF-47FA-95DA-B85B9A81040E}" type="XVALUE">
                      <a:rPr lang="en-US"/>
                      <a:pPr/>
                      <a:t>[X VALUE]</a:t>
                    </a:fld>
                    <a:r>
                      <a:rPr lang="en-US" baseline="0" dirty="0"/>
                      <a:t>, </a:t>
                    </a:r>
                  </a:p>
                  <a:p>
                    <a:fld id="{62D865A5-2667-4343-AFD1-E34B61F218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DA9-4EE5-95F7-61D520A782C2}"/>
                </c:ext>
              </c:extLst>
            </c:dLbl>
            <c:dLbl>
              <c:idx val="4"/>
              <c:layout>
                <c:manualLayout>
                  <c:x val="1.5785282953761134E-2"/>
                  <c:y val="-5.3744230769230766E-2"/>
                </c:manualLayout>
              </c:layout>
              <c:tx>
                <c:rich>
                  <a:bodyPr/>
                  <a:lstStyle/>
                  <a:p>
                    <a:fld id="{698E41AB-D8BF-43DA-B45B-01AB3BB52D41}" type="XVALUE">
                      <a:rPr lang="en-US"/>
                      <a:pPr/>
                      <a:t>[X VALUE]</a:t>
                    </a:fld>
                    <a:r>
                      <a:rPr lang="en-US" baseline="0" dirty="0"/>
                      <a:t>, </a:t>
                    </a:r>
                  </a:p>
                  <a:p>
                    <a:fld id="{570AC8A7-7719-40A2-A4BB-3111D485D5B3}"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DA9-4EE5-95F7-61D520A782C2}"/>
                </c:ext>
              </c:extLst>
            </c:dLbl>
            <c:dLbl>
              <c:idx val="5"/>
              <c:layout>
                <c:manualLayout>
                  <c:x val="-0.13675681504485859"/>
                  <c:y val="8.4653205128205025E-2"/>
                </c:manualLayout>
              </c:layout>
              <c:tx>
                <c:rich>
                  <a:bodyPr/>
                  <a:lstStyle/>
                  <a:p>
                    <a:fld id="{0FD3E36E-0C1D-49F2-A9D7-7655A09E2520}" type="XVALUE">
                      <a:rPr lang="en-US"/>
                      <a:pPr/>
                      <a:t>[X VALUE]</a:t>
                    </a:fld>
                    <a:r>
                      <a:rPr lang="en-US" baseline="0" dirty="0"/>
                      <a:t>, </a:t>
                    </a:r>
                  </a:p>
                  <a:p>
                    <a:fld id="{D0B21986-A406-4258-B64E-895B03A5A920}"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CDA9-4EE5-95F7-61D520A782C2}"/>
                </c:ext>
              </c:extLst>
            </c:dLbl>
            <c:dLbl>
              <c:idx val="6"/>
              <c:layout>
                <c:manualLayout>
                  <c:x val="-6.9162094547964112E-2"/>
                  <c:y val="-0.13055491452991463"/>
                </c:manualLayout>
              </c:layout>
              <c:tx>
                <c:rich>
                  <a:bodyPr/>
                  <a:lstStyle/>
                  <a:p>
                    <a:fld id="{AE091FAC-0C81-4E4A-B746-0ECA7E406C90}" type="XVALUE">
                      <a:rPr lang="en-US"/>
                      <a:pPr/>
                      <a:t>[X VALUE]</a:t>
                    </a:fld>
                    <a:r>
                      <a:rPr lang="en-US" baseline="0"/>
                      <a:t>, </a:t>
                    </a:r>
                  </a:p>
                  <a:p>
                    <a:fld id="{2D043B74-4103-4032-A950-16CC69106101}"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CDA9-4EE5-95F7-61D520A782C2}"/>
                </c:ext>
              </c:extLst>
            </c:dLbl>
            <c:dLbl>
              <c:idx val="7"/>
              <c:layout>
                <c:manualLayout>
                  <c:x val="-1.4894064872325741E-2"/>
                  <c:y val="-0.1034181623931625"/>
                </c:manualLayout>
              </c:layout>
              <c:tx>
                <c:rich>
                  <a:bodyPr/>
                  <a:lstStyle/>
                  <a:p>
                    <a:fld id="{26A8FAB9-F063-48B1-BCB0-C7E6BF6B88EA}" type="XVALUE">
                      <a:rPr lang="en-US"/>
                      <a:pPr/>
                      <a:t>[X VALUE]</a:t>
                    </a:fld>
                    <a:r>
                      <a:rPr lang="en-US" baseline="0"/>
                      <a:t>, </a:t>
                    </a:r>
                  </a:p>
                  <a:p>
                    <a:fld id="{A2EFAC59-BD13-49C9-886E-B68ED7DCEEDE}" type="YVALUE">
                      <a:rPr lang="en-US" baseline="0" smtClean="0"/>
                      <a:pPr/>
                      <a:t>[Y VALUE]</a:t>
                    </a:fld>
                    <a:endParaRPr lang="en-IN"/>
                  </a:p>
                </c:rich>
              </c:tx>
              <c:dLblPos val="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CDA9-4EE5-95F7-61D520A782C2}"/>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Sheet1!$A$2:$A$9</c:f>
              <c:strCache>
                <c:ptCount val="8"/>
                <c:pt idx="0">
                  <c:v>Bite - Too Soft</c:v>
                </c:pt>
                <c:pt idx="1">
                  <c:v>Bite - Too Hard</c:v>
                </c:pt>
                <c:pt idx="2">
                  <c:v>Moistness - Too Dry</c:v>
                </c:pt>
                <c:pt idx="3">
                  <c:v>Moistness - Too Moist</c:v>
                </c:pt>
                <c:pt idx="4">
                  <c:v>Sweetness - Less Sweet</c:v>
                </c:pt>
                <c:pt idx="5">
                  <c:v>Sweetness - Too Sweet</c:v>
                </c:pt>
                <c:pt idx="6">
                  <c:v>Bitterness - Less Bitter</c:v>
                </c:pt>
                <c:pt idx="7">
                  <c:v>Bitterness - Too Bitter</c:v>
                </c:pt>
              </c:strCache>
            </c:strRef>
          </c:xVal>
          <c:yVal>
            <c:numRef>
              <c:f>Sheet1!$B$2:$B$9</c:f>
              <c:numCache>
                <c:formatCode>###0.00</c:formatCode>
                <c:ptCount val="8"/>
                <c:pt idx="0">
                  <c:v>5.1706827309236945E-2</c:v>
                </c:pt>
                <c:pt idx="1">
                  <c:v>0.23230421686746985</c:v>
                </c:pt>
                <c:pt idx="2">
                  <c:v>0.11160714285714288</c:v>
                </c:pt>
                <c:pt idx="3">
                  <c:v>0.15327380952380953</c:v>
                </c:pt>
                <c:pt idx="4">
                  <c:v>0.14583333333333334</c:v>
                </c:pt>
                <c:pt idx="5">
                  <c:v>0.11458333333333334</c:v>
                </c:pt>
                <c:pt idx="6">
                  <c:v>0.14583333333333331</c:v>
                </c:pt>
                <c:pt idx="7">
                  <c:v>0.14583333333333331</c:v>
                </c:pt>
              </c:numCache>
            </c:numRef>
          </c:yVal>
          <c:smooth val="0"/>
          <c:extLst>
            <c:ext xmlns:c16="http://schemas.microsoft.com/office/drawing/2014/chart" uri="{C3380CC4-5D6E-409C-BE32-E72D297353CC}">
              <c16:uniqueId val="{00000000-CDA9-4EE5-95F7-61D520A782C2}"/>
            </c:ext>
          </c:extLst>
        </c:ser>
        <c:dLbls>
          <c:showLegendKey val="0"/>
          <c:showVal val="0"/>
          <c:showCatName val="0"/>
          <c:showSerName val="0"/>
          <c:showPercent val="0"/>
          <c:showBubbleSize val="0"/>
        </c:dLbls>
        <c:axId val="608259759"/>
        <c:axId val="608274639"/>
      </c:scatterChart>
      <c:valAx>
        <c:axId val="608259759"/>
        <c:scaling>
          <c:orientation val="minMax"/>
        </c:scaling>
        <c:delete val="1"/>
        <c:axPos val="b"/>
        <c:numFmt formatCode="General" sourceLinked="1"/>
        <c:majorTickMark val="none"/>
        <c:minorTickMark val="none"/>
        <c:tickLblPos val="nextTo"/>
        <c:crossAx val="608274639"/>
        <c:crosses val="autoZero"/>
        <c:crossBetween val="midCat"/>
      </c:valAx>
      <c:valAx>
        <c:axId val="608274639"/>
        <c:scaling>
          <c:orientation val="minMax"/>
          <c:max val="0.60000000000000009"/>
        </c:scaling>
        <c:delete val="0"/>
        <c:axPos val="l"/>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8259759"/>
        <c:crosses val="autoZero"/>
        <c:crossBetween val="midCat"/>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CB 24</c:v>
                </c:pt>
              </c:strCache>
            </c:strRef>
          </c:tx>
          <c:spPr>
            <a:solidFill>
              <a:schemeClr val="accent1"/>
            </a:solidFill>
            <a:ln>
              <a:noFill/>
            </a:ln>
            <a:effectLst/>
          </c:spPr>
          <c:invertIfNegative val="0"/>
          <c:dLbls>
            <c:dLbl>
              <c:idx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1"/>
              <c:showPercent val="0"/>
              <c:showBubbleSize val="0"/>
              <c:extLst>
                <c:ext xmlns:c16="http://schemas.microsoft.com/office/drawing/2014/chart" uri="{C3380CC4-5D6E-409C-BE32-E72D297353CC}">
                  <c16:uniqueId val="{00000000-360B-4C9A-AC00-44861B1778C4}"/>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Preference</c:v>
                </c:pt>
              </c:strCache>
            </c:strRef>
          </c:cat>
          <c:val>
            <c:numRef>
              <c:f>Sheet1!$B$2</c:f>
              <c:numCache>
                <c:formatCode>0%</c:formatCode>
                <c:ptCount val="1"/>
                <c:pt idx="0">
                  <c:v>0.41666666666666669</c:v>
                </c:pt>
              </c:numCache>
            </c:numRef>
          </c:val>
          <c:extLst>
            <c:ext xmlns:c16="http://schemas.microsoft.com/office/drawing/2014/chart" uri="{C3380CC4-5D6E-409C-BE32-E72D297353CC}">
              <c16:uniqueId val="{00000001-360B-4C9A-AC00-44861B1778C4}"/>
            </c:ext>
          </c:extLst>
        </c:ser>
        <c:ser>
          <c:idx val="1"/>
          <c:order val="1"/>
          <c:tx>
            <c:strRef>
              <c:f>Sheet1!$C$1</c:f>
              <c:strCache>
                <c:ptCount val="1"/>
                <c:pt idx="0">
                  <c:v>FS 18</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Preference</c:v>
                </c:pt>
              </c:strCache>
            </c:strRef>
          </c:cat>
          <c:val>
            <c:numRef>
              <c:f>Sheet1!$C$2</c:f>
              <c:numCache>
                <c:formatCode>0%</c:formatCode>
                <c:ptCount val="1"/>
                <c:pt idx="0">
                  <c:v>0.58333333333333337</c:v>
                </c:pt>
              </c:numCache>
            </c:numRef>
          </c:val>
          <c:extLst>
            <c:ext xmlns:c16="http://schemas.microsoft.com/office/drawing/2014/chart" uri="{C3380CC4-5D6E-409C-BE32-E72D297353CC}">
              <c16:uniqueId val="{00000002-360B-4C9A-AC00-44861B1778C4}"/>
            </c:ext>
          </c:extLst>
        </c:ser>
        <c:dLbls>
          <c:showLegendKey val="0"/>
          <c:showVal val="0"/>
          <c:showCatName val="0"/>
          <c:showSerName val="0"/>
          <c:showPercent val="0"/>
          <c:showBubbleSize val="0"/>
        </c:dLbls>
        <c:gapWidth val="23"/>
        <c:overlap val="100"/>
        <c:axId val="84075807"/>
        <c:axId val="84076287"/>
      </c:barChart>
      <c:catAx>
        <c:axId val="84075807"/>
        <c:scaling>
          <c:orientation val="minMax"/>
        </c:scaling>
        <c:delete val="1"/>
        <c:axPos val="b"/>
        <c:numFmt formatCode="General" sourceLinked="1"/>
        <c:majorTickMark val="out"/>
        <c:minorTickMark val="none"/>
        <c:tickLblPos val="nextTo"/>
        <c:crossAx val="84076287"/>
        <c:crosses val="autoZero"/>
        <c:auto val="1"/>
        <c:lblAlgn val="ctr"/>
        <c:lblOffset val="100"/>
        <c:noMultiLvlLbl val="0"/>
      </c:catAx>
      <c:valAx>
        <c:axId val="84076287"/>
        <c:scaling>
          <c:orientation val="minMax"/>
        </c:scaling>
        <c:delete val="1"/>
        <c:axPos val="l"/>
        <c:numFmt formatCode="0%" sourceLinked="1"/>
        <c:majorTickMark val="out"/>
        <c:minorTickMark val="none"/>
        <c:tickLblPos val="nextTo"/>
        <c:crossAx val="8407580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CB 24</c:v>
                </c:pt>
              </c:strCache>
            </c:strRef>
          </c:tx>
          <c:spPr>
            <a:solidFill>
              <a:schemeClr val="accent1"/>
            </a:solidFill>
            <a:ln>
              <a:noFill/>
            </a:ln>
            <a:effectLst/>
          </c:spPr>
          <c:invertIfNegative val="0"/>
          <c:dLbls>
            <c:dLbl>
              <c:idx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1"/>
              <c:showPercent val="0"/>
              <c:showBubbleSize val="0"/>
              <c:extLst>
                <c:ext xmlns:c16="http://schemas.microsoft.com/office/drawing/2014/chart" uri="{C3380CC4-5D6E-409C-BE32-E72D297353CC}">
                  <c16:uniqueId val="{00000000-F3F5-4C80-BE6A-F22539EB30B1}"/>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Preference</c:v>
                </c:pt>
              </c:strCache>
            </c:strRef>
          </c:cat>
          <c:val>
            <c:numRef>
              <c:f>Sheet1!$B$2</c:f>
              <c:numCache>
                <c:formatCode>0%</c:formatCode>
                <c:ptCount val="1"/>
                <c:pt idx="0">
                  <c:v>0.41666666666666669</c:v>
                </c:pt>
              </c:numCache>
            </c:numRef>
          </c:val>
          <c:extLst>
            <c:ext xmlns:c16="http://schemas.microsoft.com/office/drawing/2014/chart" uri="{C3380CC4-5D6E-409C-BE32-E72D297353CC}">
              <c16:uniqueId val="{00000001-F3F5-4C80-BE6A-F22539EB30B1}"/>
            </c:ext>
          </c:extLst>
        </c:ser>
        <c:ser>
          <c:idx val="1"/>
          <c:order val="1"/>
          <c:tx>
            <c:strRef>
              <c:f>Sheet1!$C$1</c:f>
              <c:strCache>
                <c:ptCount val="1"/>
                <c:pt idx="0">
                  <c:v>FS 18</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Preference</c:v>
                </c:pt>
              </c:strCache>
            </c:strRef>
          </c:cat>
          <c:val>
            <c:numRef>
              <c:f>Sheet1!$C$2</c:f>
              <c:numCache>
                <c:formatCode>0%</c:formatCode>
                <c:ptCount val="1"/>
                <c:pt idx="0">
                  <c:v>0.58333333333333337</c:v>
                </c:pt>
              </c:numCache>
            </c:numRef>
          </c:val>
          <c:extLst>
            <c:ext xmlns:c16="http://schemas.microsoft.com/office/drawing/2014/chart" uri="{C3380CC4-5D6E-409C-BE32-E72D297353CC}">
              <c16:uniqueId val="{00000002-F3F5-4C80-BE6A-F22539EB30B1}"/>
            </c:ext>
          </c:extLst>
        </c:ser>
        <c:dLbls>
          <c:showLegendKey val="0"/>
          <c:showVal val="0"/>
          <c:showCatName val="0"/>
          <c:showSerName val="0"/>
          <c:showPercent val="0"/>
          <c:showBubbleSize val="0"/>
        </c:dLbls>
        <c:gapWidth val="23"/>
        <c:overlap val="100"/>
        <c:axId val="84075807"/>
        <c:axId val="84076287"/>
      </c:barChart>
      <c:catAx>
        <c:axId val="84075807"/>
        <c:scaling>
          <c:orientation val="minMax"/>
        </c:scaling>
        <c:delete val="1"/>
        <c:axPos val="b"/>
        <c:numFmt formatCode="General" sourceLinked="1"/>
        <c:majorTickMark val="out"/>
        <c:minorTickMark val="none"/>
        <c:tickLblPos val="nextTo"/>
        <c:crossAx val="84076287"/>
        <c:crosses val="autoZero"/>
        <c:auto val="1"/>
        <c:lblAlgn val="ctr"/>
        <c:lblOffset val="100"/>
        <c:noMultiLvlLbl val="0"/>
      </c:catAx>
      <c:valAx>
        <c:axId val="84076287"/>
        <c:scaling>
          <c:orientation val="minMax"/>
        </c:scaling>
        <c:delete val="1"/>
        <c:axPos val="l"/>
        <c:numFmt formatCode="0%" sourceLinked="1"/>
        <c:majorTickMark val="out"/>
        <c:minorTickMark val="none"/>
        <c:tickLblPos val="nextTo"/>
        <c:crossAx val="8407580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CB 24</c:v>
                </c:pt>
              </c:strCache>
            </c:strRef>
          </c:tx>
          <c:spPr>
            <a:solidFill>
              <a:schemeClr val="accent1"/>
            </a:solidFill>
            <a:ln>
              <a:noFill/>
            </a:ln>
            <a:effectLst/>
          </c:spPr>
          <c:invertIfNegative val="0"/>
          <c:dLbls>
            <c:dLbl>
              <c:idx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ctr"/>
              <c:showLegendKey val="0"/>
              <c:showVal val="1"/>
              <c:showCatName val="0"/>
              <c:showSerName val="1"/>
              <c:showPercent val="0"/>
              <c:showBubbleSize val="0"/>
              <c:extLst>
                <c:ext xmlns:c16="http://schemas.microsoft.com/office/drawing/2014/chart" uri="{C3380CC4-5D6E-409C-BE32-E72D297353CC}">
                  <c16:uniqueId val="{00000000-4D71-443D-9572-86F822482EF6}"/>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Preference</c:v>
                </c:pt>
              </c:strCache>
            </c:strRef>
          </c:cat>
          <c:val>
            <c:numRef>
              <c:f>Sheet1!$B$2</c:f>
              <c:numCache>
                <c:formatCode>0%</c:formatCode>
                <c:ptCount val="1"/>
                <c:pt idx="0">
                  <c:v>0.41666666666666669</c:v>
                </c:pt>
              </c:numCache>
            </c:numRef>
          </c:val>
          <c:extLst>
            <c:ext xmlns:c16="http://schemas.microsoft.com/office/drawing/2014/chart" uri="{C3380CC4-5D6E-409C-BE32-E72D297353CC}">
              <c16:uniqueId val="{00000000-6195-452A-A105-D49E8551CFBD}"/>
            </c:ext>
          </c:extLst>
        </c:ser>
        <c:ser>
          <c:idx val="1"/>
          <c:order val="1"/>
          <c:tx>
            <c:strRef>
              <c:f>Sheet1!$C$1</c:f>
              <c:strCache>
                <c:ptCount val="1"/>
                <c:pt idx="0">
                  <c:v>FS 18</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Preference</c:v>
                </c:pt>
              </c:strCache>
            </c:strRef>
          </c:cat>
          <c:val>
            <c:numRef>
              <c:f>Sheet1!$C$2</c:f>
              <c:numCache>
                <c:formatCode>0%</c:formatCode>
                <c:ptCount val="1"/>
                <c:pt idx="0">
                  <c:v>0.58333333333333337</c:v>
                </c:pt>
              </c:numCache>
            </c:numRef>
          </c:val>
          <c:extLst>
            <c:ext xmlns:c16="http://schemas.microsoft.com/office/drawing/2014/chart" uri="{C3380CC4-5D6E-409C-BE32-E72D297353CC}">
              <c16:uniqueId val="{00000001-6195-452A-A105-D49E8551CFBD}"/>
            </c:ext>
          </c:extLst>
        </c:ser>
        <c:dLbls>
          <c:showLegendKey val="0"/>
          <c:showVal val="0"/>
          <c:showCatName val="0"/>
          <c:showSerName val="0"/>
          <c:showPercent val="0"/>
          <c:showBubbleSize val="0"/>
        </c:dLbls>
        <c:gapWidth val="23"/>
        <c:overlap val="100"/>
        <c:axId val="84075807"/>
        <c:axId val="84076287"/>
      </c:barChart>
      <c:catAx>
        <c:axId val="84075807"/>
        <c:scaling>
          <c:orientation val="minMax"/>
        </c:scaling>
        <c:delete val="1"/>
        <c:axPos val="b"/>
        <c:numFmt formatCode="General" sourceLinked="1"/>
        <c:majorTickMark val="out"/>
        <c:minorTickMark val="none"/>
        <c:tickLblPos val="nextTo"/>
        <c:crossAx val="84076287"/>
        <c:crosses val="autoZero"/>
        <c:auto val="1"/>
        <c:lblAlgn val="ctr"/>
        <c:lblOffset val="100"/>
        <c:noMultiLvlLbl val="0"/>
      </c:catAx>
      <c:valAx>
        <c:axId val="84076287"/>
        <c:scaling>
          <c:orientation val="minMax"/>
        </c:scaling>
        <c:delete val="1"/>
        <c:axPos val="l"/>
        <c:numFmt formatCode="0%" sourceLinked="1"/>
        <c:majorTickMark val="out"/>
        <c:minorTickMark val="none"/>
        <c:tickLblPos val="nextTo"/>
        <c:crossAx val="8407580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Combined</c:v>
                </c:pt>
              </c:strCache>
            </c:strRef>
          </c:tx>
          <c:spPr>
            <a:ln w="28575" cap="rnd">
              <a:solidFill>
                <a:schemeClr val="accent1"/>
              </a:solidFill>
              <a:round/>
            </a:ln>
            <a:effectLst/>
          </c:spPr>
          <c:marker>
            <c:symbol val="square"/>
            <c:size val="5"/>
            <c:spPr>
              <a:solidFill>
                <a:schemeClr val="accent1"/>
              </a:solidFill>
              <a:ln w="9525">
                <a:solidFill>
                  <a:schemeClr val="accent1"/>
                </a:solidFill>
              </a:ln>
              <a:effectLst/>
            </c:spPr>
          </c:marker>
          <c:cat>
            <c:strRef>
              <c:f>Sheet1!$A$2:$A$17</c:f>
              <c:strCache>
                <c:ptCount val="16"/>
                <c:pt idx="0">
                  <c:v>sweet lingering taste</c:v>
                </c:pt>
                <c:pt idx="1">
                  <c:v>Sweetness</c:v>
                </c:pt>
                <c:pt idx="2">
                  <c:v>Dissolves in your mouth</c:v>
                </c:pt>
                <c:pt idx="3">
                  <c:v>Chocolatiness</c:v>
                </c:pt>
                <c:pt idx="4">
                  <c:v>Cake like flavor of the product</c:v>
                </c:pt>
                <c:pt idx="5">
                  <c:v>lingering chocolatiness</c:v>
                </c:pt>
                <c:pt idx="6">
                  <c:v>Bite</c:v>
                </c:pt>
                <c:pt idx="7">
                  <c:v>Bitterness</c:v>
                </c:pt>
                <c:pt idx="8">
                  <c:v>Product retaining the shape (doesn’t break and crumble)</c:v>
                </c:pt>
                <c:pt idx="9">
                  <c:v>Moistness</c:v>
                </c:pt>
                <c:pt idx="10">
                  <c:v>overall likeability of the aroma</c:v>
                </c:pt>
                <c:pt idx="11">
                  <c:v>Stickiness</c:v>
                </c:pt>
                <c:pt idx="12">
                  <c:v>Chocolatey aroma</c:v>
                </c:pt>
                <c:pt idx="13">
                  <c:v>Cake like aroma</c:v>
                </c:pt>
                <c:pt idx="14">
                  <c:v>Product sticking to your fingers</c:v>
                </c:pt>
                <c:pt idx="15">
                  <c:v>Colour</c:v>
                </c:pt>
              </c:strCache>
            </c:strRef>
          </c:cat>
          <c:val>
            <c:numRef>
              <c:f>Sheet1!$B$2:$B$17</c:f>
              <c:numCache>
                <c:formatCode>0.000</c:formatCode>
                <c:ptCount val="16"/>
                <c:pt idx="0">
                  <c:v>0.81</c:v>
                </c:pt>
                <c:pt idx="1">
                  <c:v>0.79400000000000004</c:v>
                </c:pt>
                <c:pt idx="2">
                  <c:v>0.79400000000000004</c:v>
                </c:pt>
                <c:pt idx="3">
                  <c:v>0.78800000000000003</c:v>
                </c:pt>
                <c:pt idx="4">
                  <c:v>0.78700000000000003</c:v>
                </c:pt>
                <c:pt idx="5">
                  <c:v>0.77100000000000002</c:v>
                </c:pt>
                <c:pt idx="6">
                  <c:v>0.69599999999999995</c:v>
                </c:pt>
                <c:pt idx="7">
                  <c:v>0.66300000000000003</c:v>
                </c:pt>
                <c:pt idx="8">
                  <c:v>0.65700000000000003</c:v>
                </c:pt>
                <c:pt idx="9">
                  <c:v>0.63</c:v>
                </c:pt>
                <c:pt idx="10">
                  <c:v>0.56999999999999995</c:v>
                </c:pt>
                <c:pt idx="11">
                  <c:v>0.55600000000000005</c:v>
                </c:pt>
                <c:pt idx="12">
                  <c:v>0.55500000000000005</c:v>
                </c:pt>
                <c:pt idx="13">
                  <c:v>0.53100000000000003</c:v>
                </c:pt>
                <c:pt idx="14">
                  <c:v>0.51800000000000002</c:v>
                </c:pt>
                <c:pt idx="15">
                  <c:v>0.376</c:v>
                </c:pt>
              </c:numCache>
            </c:numRef>
          </c:val>
          <c:smooth val="0"/>
          <c:extLst>
            <c:ext xmlns:c16="http://schemas.microsoft.com/office/drawing/2014/chart" uri="{C3380CC4-5D6E-409C-BE32-E72D297353CC}">
              <c16:uniqueId val="{00000000-0F68-41E0-8E9C-27F3AC8B538E}"/>
            </c:ext>
          </c:extLst>
        </c:ser>
        <c:ser>
          <c:idx val="1"/>
          <c:order val="1"/>
          <c:tx>
            <c:strRef>
              <c:f>Sheet1!$C$1</c:f>
              <c:strCache>
                <c:ptCount val="1"/>
                <c:pt idx="0">
                  <c:v>Mumbai</c:v>
                </c:pt>
              </c:strCache>
            </c:strRef>
          </c:tx>
          <c:spPr>
            <a:ln w="28575" cap="rnd">
              <a:solidFill>
                <a:schemeClr val="accent2"/>
              </a:solidFill>
              <a:round/>
            </a:ln>
            <a:effectLst/>
          </c:spPr>
          <c:marker>
            <c:symbol val="square"/>
            <c:size val="5"/>
            <c:spPr>
              <a:solidFill>
                <a:schemeClr val="accent2"/>
              </a:solidFill>
              <a:ln w="9525">
                <a:solidFill>
                  <a:schemeClr val="accent2"/>
                </a:solidFill>
              </a:ln>
              <a:effectLst/>
            </c:spPr>
          </c:marker>
          <c:cat>
            <c:strRef>
              <c:f>Sheet1!$A$2:$A$17</c:f>
              <c:strCache>
                <c:ptCount val="16"/>
                <c:pt idx="0">
                  <c:v>sweet lingering taste</c:v>
                </c:pt>
                <c:pt idx="1">
                  <c:v>Sweetness</c:v>
                </c:pt>
                <c:pt idx="2">
                  <c:v>Dissolves in your mouth</c:v>
                </c:pt>
                <c:pt idx="3">
                  <c:v>Chocolatiness</c:v>
                </c:pt>
                <c:pt idx="4">
                  <c:v>Cake like flavor of the product</c:v>
                </c:pt>
                <c:pt idx="5">
                  <c:v>lingering chocolatiness</c:v>
                </c:pt>
                <c:pt idx="6">
                  <c:v>Bite</c:v>
                </c:pt>
                <c:pt idx="7">
                  <c:v>Bitterness</c:v>
                </c:pt>
                <c:pt idx="8">
                  <c:v>Product retaining the shape (doesn’t break and crumble)</c:v>
                </c:pt>
                <c:pt idx="9">
                  <c:v>Moistness</c:v>
                </c:pt>
                <c:pt idx="10">
                  <c:v>overall likeability of the aroma</c:v>
                </c:pt>
                <c:pt idx="11">
                  <c:v>Stickiness</c:v>
                </c:pt>
                <c:pt idx="12">
                  <c:v>Chocolatey aroma</c:v>
                </c:pt>
                <c:pt idx="13">
                  <c:v>Cake like aroma</c:v>
                </c:pt>
                <c:pt idx="14">
                  <c:v>Product sticking to your fingers</c:v>
                </c:pt>
                <c:pt idx="15">
                  <c:v>Colour</c:v>
                </c:pt>
              </c:strCache>
            </c:strRef>
          </c:cat>
          <c:val>
            <c:numRef>
              <c:f>Sheet1!$C$2:$C$17</c:f>
              <c:numCache>
                <c:formatCode>0.000</c:formatCode>
                <c:ptCount val="16"/>
                <c:pt idx="0">
                  <c:v>0.79700000000000004</c:v>
                </c:pt>
                <c:pt idx="1">
                  <c:v>0.77</c:v>
                </c:pt>
                <c:pt idx="2">
                  <c:v>0.72399999999999998</c:v>
                </c:pt>
                <c:pt idx="3">
                  <c:v>0.71899999999999997</c:v>
                </c:pt>
                <c:pt idx="4">
                  <c:v>0.79900000000000004</c:v>
                </c:pt>
                <c:pt idx="5">
                  <c:v>0.70499999999999996</c:v>
                </c:pt>
                <c:pt idx="6">
                  <c:v>0.62</c:v>
                </c:pt>
                <c:pt idx="7">
                  <c:v>0.63800000000000001</c:v>
                </c:pt>
                <c:pt idx="8">
                  <c:v>0.51600000000000001</c:v>
                </c:pt>
                <c:pt idx="9">
                  <c:v>0.436</c:v>
                </c:pt>
                <c:pt idx="10">
                  <c:v>0.46400000000000002</c:v>
                </c:pt>
                <c:pt idx="11">
                  <c:v>0.38700000000000001</c:v>
                </c:pt>
                <c:pt idx="12">
                  <c:v>0.439</c:v>
                </c:pt>
                <c:pt idx="13">
                  <c:v>0.36499999999999999</c:v>
                </c:pt>
                <c:pt idx="14">
                  <c:v>0.33600000000000002</c:v>
                </c:pt>
                <c:pt idx="15">
                  <c:v>0.30299999999999999</c:v>
                </c:pt>
              </c:numCache>
            </c:numRef>
          </c:val>
          <c:smooth val="0"/>
          <c:extLst>
            <c:ext xmlns:c16="http://schemas.microsoft.com/office/drawing/2014/chart" uri="{C3380CC4-5D6E-409C-BE32-E72D297353CC}">
              <c16:uniqueId val="{00000001-0F68-41E0-8E9C-27F3AC8B538E}"/>
            </c:ext>
          </c:extLst>
        </c:ser>
        <c:ser>
          <c:idx val="2"/>
          <c:order val="2"/>
          <c:tx>
            <c:strRef>
              <c:f>Sheet1!$D$1</c:f>
              <c:strCache>
                <c:ptCount val="1"/>
                <c:pt idx="0">
                  <c:v>Delhi</c:v>
                </c:pt>
              </c:strCache>
            </c:strRef>
          </c:tx>
          <c:spPr>
            <a:ln w="28575" cap="rnd">
              <a:solidFill>
                <a:schemeClr val="accent3"/>
              </a:solidFill>
              <a:round/>
            </a:ln>
            <a:effectLst/>
          </c:spPr>
          <c:marker>
            <c:symbol val="square"/>
            <c:size val="5"/>
            <c:spPr>
              <a:solidFill>
                <a:schemeClr val="accent3"/>
              </a:solidFill>
              <a:ln w="9525">
                <a:solidFill>
                  <a:schemeClr val="accent3"/>
                </a:solidFill>
              </a:ln>
              <a:effectLst/>
            </c:spPr>
          </c:marker>
          <c:cat>
            <c:strRef>
              <c:f>Sheet1!$A$2:$A$17</c:f>
              <c:strCache>
                <c:ptCount val="16"/>
                <c:pt idx="0">
                  <c:v>sweet lingering taste</c:v>
                </c:pt>
                <c:pt idx="1">
                  <c:v>Sweetness</c:v>
                </c:pt>
                <c:pt idx="2">
                  <c:v>Dissolves in your mouth</c:v>
                </c:pt>
                <c:pt idx="3">
                  <c:v>Chocolatiness</c:v>
                </c:pt>
                <c:pt idx="4">
                  <c:v>Cake like flavor of the product</c:v>
                </c:pt>
                <c:pt idx="5">
                  <c:v>lingering chocolatiness</c:v>
                </c:pt>
                <c:pt idx="6">
                  <c:v>Bite</c:v>
                </c:pt>
                <c:pt idx="7">
                  <c:v>Bitterness</c:v>
                </c:pt>
                <c:pt idx="8">
                  <c:v>Product retaining the shape (doesn’t break and crumble)</c:v>
                </c:pt>
                <c:pt idx="9">
                  <c:v>Moistness</c:v>
                </c:pt>
                <c:pt idx="10">
                  <c:v>overall likeability of the aroma</c:v>
                </c:pt>
                <c:pt idx="11">
                  <c:v>Stickiness</c:v>
                </c:pt>
                <c:pt idx="12">
                  <c:v>Chocolatey aroma</c:v>
                </c:pt>
                <c:pt idx="13">
                  <c:v>Cake like aroma</c:v>
                </c:pt>
                <c:pt idx="14">
                  <c:v>Product sticking to your fingers</c:v>
                </c:pt>
                <c:pt idx="15">
                  <c:v>Colour</c:v>
                </c:pt>
              </c:strCache>
            </c:strRef>
          </c:cat>
          <c:val>
            <c:numRef>
              <c:f>Sheet1!$D$2:$D$17</c:f>
              <c:numCache>
                <c:formatCode>0.000</c:formatCode>
                <c:ptCount val="16"/>
                <c:pt idx="0">
                  <c:v>0.86</c:v>
                </c:pt>
                <c:pt idx="1">
                  <c:v>0.84199999999999997</c:v>
                </c:pt>
                <c:pt idx="2">
                  <c:v>0.878</c:v>
                </c:pt>
                <c:pt idx="3">
                  <c:v>0.88600000000000001</c:v>
                </c:pt>
                <c:pt idx="4">
                  <c:v>0.78100000000000003</c:v>
                </c:pt>
                <c:pt idx="5">
                  <c:v>0.89300000000000002</c:v>
                </c:pt>
                <c:pt idx="6">
                  <c:v>0.79900000000000004</c:v>
                </c:pt>
                <c:pt idx="7">
                  <c:v>0.76900000000000002</c:v>
                </c:pt>
                <c:pt idx="8">
                  <c:v>0.81399999999999995</c:v>
                </c:pt>
                <c:pt idx="9">
                  <c:v>0.85299999999999998</c:v>
                </c:pt>
                <c:pt idx="10">
                  <c:v>0.69299999999999995</c:v>
                </c:pt>
                <c:pt idx="11">
                  <c:v>0.753</c:v>
                </c:pt>
                <c:pt idx="12">
                  <c:v>0.68400000000000005</c:v>
                </c:pt>
                <c:pt idx="13">
                  <c:v>0.73299999999999998</c:v>
                </c:pt>
                <c:pt idx="14">
                  <c:v>0.73399999999999999</c:v>
                </c:pt>
                <c:pt idx="15">
                  <c:v>0.46800000000000003</c:v>
                </c:pt>
              </c:numCache>
            </c:numRef>
          </c:val>
          <c:smooth val="0"/>
          <c:extLst>
            <c:ext xmlns:c16="http://schemas.microsoft.com/office/drawing/2014/chart" uri="{C3380CC4-5D6E-409C-BE32-E72D297353CC}">
              <c16:uniqueId val="{00000002-0F68-41E0-8E9C-27F3AC8B538E}"/>
            </c:ext>
          </c:extLst>
        </c:ser>
        <c:dLbls>
          <c:showLegendKey val="0"/>
          <c:showVal val="0"/>
          <c:showCatName val="0"/>
          <c:showSerName val="0"/>
          <c:showPercent val="0"/>
          <c:showBubbleSize val="0"/>
        </c:dLbls>
        <c:marker val="1"/>
        <c:smooth val="0"/>
        <c:axId val="656351551"/>
        <c:axId val="656342431"/>
      </c:lineChart>
      <c:catAx>
        <c:axId val="656351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56342431"/>
        <c:crosses val="autoZero"/>
        <c:auto val="1"/>
        <c:lblAlgn val="ctr"/>
        <c:lblOffset val="100"/>
        <c:noMultiLvlLbl val="0"/>
      </c:catAx>
      <c:valAx>
        <c:axId val="656342431"/>
        <c:scaling>
          <c:orientation val="minMax"/>
          <c:max val="1"/>
        </c:scaling>
        <c:delete val="0"/>
        <c:axPos val="l"/>
        <c:numFmt formatCode="0.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6351551"/>
        <c:crosses val="autoZero"/>
        <c:crossBetween val="between"/>
        <c:majorUnit val="5.000000000000001E-2"/>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Combined</c:v>
                </c:pt>
              </c:strCache>
            </c:strRef>
          </c:tx>
          <c:spPr>
            <a:ln w="28575" cap="rnd">
              <a:solidFill>
                <a:schemeClr val="accent1"/>
              </a:solidFill>
              <a:round/>
            </a:ln>
            <a:effectLst/>
          </c:spPr>
          <c:marker>
            <c:symbol val="square"/>
            <c:size val="5"/>
            <c:spPr>
              <a:solidFill>
                <a:schemeClr val="accent1"/>
              </a:solidFill>
              <a:ln w="9525">
                <a:solidFill>
                  <a:schemeClr val="accent1"/>
                </a:solidFill>
              </a:ln>
              <a:effectLst/>
            </c:spPr>
          </c:marker>
          <c:cat>
            <c:strRef>
              <c:f>Sheet1!$A$2:$A$17</c:f>
              <c:strCache>
                <c:ptCount val="16"/>
                <c:pt idx="0">
                  <c:v>sweet lingering taste</c:v>
                </c:pt>
                <c:pt idx="1">
                  <c:v>Cake like flavor of the product</c:v>
                </c:pt>
                <c:pt idx="2">
                  <c:v>lingering chocolatiness</c:v>
                </c:pt>
                <c:pt idx="3">
                  <c:v>Dissolves in your mouth</c:v>
                </c:pt>
                <c:pt idx="4">
                  <c:v>Chocolatiness</c:v>
                </c:pt>
                <c:pt idx="5">
                  <c:v>Sweetness</c:v>
                </c:pt>
                <c:pt idx="6">
                  <c:v>overall likeability of the aroma</c:v>
                </c:pt>
                <c:pt idx="7">
                  <c:v>Product retaining the shape (doesn’t break and crumble)</c:v>
                </c:pt>
                <c:pt idx="8">
                  <c:v>Bitterness</c:v>
                </c:pt>
                <c:pt idx="9">
                  <c:v>Bite</c:v>
                </c:pt>
                <c:pt idx="10">
                  <c:v>Moistness</c:v>
                </c:pt>
                <c:pt idx="11">
                  <c:v>Stickiness</c:v>
                </c:pt>
                <c:pt idx="12">
                  <c:v>Cake like aroma</c:v>
                </c:pt>
                <c:pt idx="13">
                  <c:v>Chocolatey aroma</c:v>
                </c:pt>
                <c:pt idx="14">
                  <c:v>Colour</c:v>
                </c:pt>
                <c:pt idx="15">
                  <c:v>Product sticking to your fingers</c:v>
                </c:pt>
              </c:strCache>
            </c:strRef>
          </c:cat>
          <c:val>
            <c:numRef>
              <c:f>Sheet1!$B$2:$B$17</c:f>
              <c:numCache>
                <c:formatCode>0.000</c:formatCode>
                <c:ptCount val="16"/>
                <c:pt idx="0">
                  <c:v>0.81399999999999995</c:v>
                </c:pt>
                <c:pt idx="1">
                  <c:v>0.76200000000000001</c:v>
                </c:pt>
                <c:pt idx="2">
                  <c:v>0.73199999999999998</c:v>
                </c:pt>
                <c:pt idx="3">
                  <c:v>0.72499999999999998</c:v>
                </c:pt>
                <c:pt idx="4">
                  <c:v>0.71299999999999997</c:v>
                </c:pt>
                <c:pt idx="5">
                  <c:v>0.70899999999999996</c:v>
                </c:pt>
                <c:pt idx="6">
                  <c:v>0.69</c:v>
                </c:pt>
                <c:pt idx="7">
                  <c:v>0.67900000000000005</c:v>
                </c:pt>
                <c:pt idx="8">
                  <c:v>0.66500000000000004</c:v>
                </c:pt>
                <c:pt idx="9">
                  <c:v>0.63100000000000001</c:v>
                </c:pt>
                <c:pt idx="10">
                  <c:v>0.61599999999999999</c:v>
                </c:pt>
                <c:pt idx="11">
                  <c:v>0.60799999999999998</c:v>
                </c:pt>
                <c:pt idx="12">
                  <c:v>0.57399999999999995</c:v>
                </c:pt>
                <c:pt idx="13">
                  <c:v>0.53600000000000003</c:v>
                </c:pt>
                <c:pt idx="14">
                  <c:v>0.48299999999999998</c:v>
                </c:pt>
                <c:pt idx="15">
                  <c:v>0.41899999999999998</c:v>
                </c:pt>
              </c:numCache>
            </c:numRef>
          </c:val>
          <c:smooth val="0"/>
          <c:extLst>
            <c:ext xmlns:c16="http://schemas.microsoft.com/office/drawing/2014/chart" uri="{C3380CC4-5D6E-409C-BE32-E72D297353CC}">
              <c16:uniqueId val="{00000000-0F68-41E0-8E9C-27F3AC8B538E}"/>
            </c:ext>
          </c:extLst>
        </c:ser>
        <c:ser>
          <c:idx val="1"/>
          <c:order val="1"/>
          <c:tx>
            <c:strRef>
              <c:f>Sheet1!$C$1</c:f>
              <c:strCache>
                <c:ptCount val="1"/>
                <c:pt idx="0">
                  <c:v>Mumbai</c:v>
                </c:pt>
              </c:strCache>
            </c:strRef>
          </c:tx>
          <c:spPr>
            <a:ln w="28575" cap="rnd">
              <a:solidFill>
                <a:schemeClr val="accent2"/>
              </a:solidFill>
              <a:round/>
            </a:ln>
            <a:effectLst/>
          </c:spPr>
          <c:marker>
            <c:symbol val="square"/>
            <c:size val="5"/>
            <c:spPr>
              <a:solidFill>
                <a:schemeClr val="accent2"/>
              </a:solidFill>
              <a:ln w="9525">
                <a:solidFill>
                  <a:schemeClr val="accent2"/>
                </a:solidFill>
              </a:ln>
              <a:effectLst/>
            </c:spPr>
          </c:marker>
          <c:cat>
            <c:strRef>
              <c:f>Sheet1!$A$2:$A$17</c:f>
              <c:strCache>
                <c:ptCount val="16"/>
                <c:pt idx="0">
                  <c:v>sweet lingering taste</c:v>
                </c:pt>
                <c:pt idx="1">
                  <c:v>Cake like flavor of the product</c:v>
                </c:pt>
                <c:pt idx="2">
                  <c:v>lingering chocolatiness</c:v>
                </c:pt>
                <c:pt idx="3">
                  <c:v>Dissolves in your mouth</c:v>
                </c:pt>
                <c:pt idx="4">
                  <c:v>Chocolatiness</c:v>
                </c:pt>
                <c:pt idx="5">
                  <c:v>Sweetness</c:v>
                </c:pt>
                <c:pt idx="6">
                  <c:v>overall likeability of the aroma</c:v>
                </c:pt>
                <c:pt idx="7">
                  <c:v>Product retaining the shape (doesn’t break and crumble)</c:v>
                </c:pt>
                <c:pt idx="8">
                  <c:v>Bitterness</c:v>
                </c:pt>
                <c:pt idx="9">
                  <c:v>Bite</c:v>
                </c:pt>
                <c:pt idx="10">
                  <c:v>Moistness</c:v>
                </c:pt>
                <c:pt idx="11">
                  <c:v>Stickiness</c:v>
                </c:pt>
                <c:pt idx="12">
                  <c:v>Cake like aroma</c:v>
                </c:pt>
                <c:pt idx="13">
                  <c:v>Chocolatey aroma</c:v>
                </c:pt>
                <c:pt idx="14">
                  <c:v>Colour</c:v>
                </c:pt>
                <c:pt idx="15">
                  <c:v>Product sticking to your fingers</c:v>
                </c:pt>
              </c:strCache>
            </c:strRef>
          </c:cat>
          <c:val>
            <c:numRef>
              <c:f>Sheet1!$C$2:$C$17</c:f>
              <c:numCache>
                <c:formatCode>0.000</c:formatCode>
                <c:ptCount val="16"/>
                <c:pt idx="0">
                  <c:v>0.68300000000000005</c:v>
                </c:pt>
                <c:pt idx="1">
                  <c:v>0.66800000000000004</c:v>
                </c:pt>
                <c:pt idx="2">
                  <c:v>0.65600000000000003</c:v>
                </c:pt>
                <c:pt idx="3">
                  <c:v>0.73299999999999998</c:v>
                </c:pt>
                <c:pt idx="4">
                  <c:v>0.57699999999999996</c:v>
                </c:pt>
                <c:pt idx="5">
                  <c:v>0.57599999999999996</c:v>
                </c:pt>
                <c:pt idx="6">
                  <c:v>0.58299999999999996</c:v>
                </c:pt>
                <c:pt idx="7">
                  <c:v>0.52300000000000002</c:v>
                </c:pt>
                <c:pt idx="8">
                  <c:v>0.502</c:v>
                </c:pt>
                <c:pt idx="9">
                  <c:v>0.55300000000000005</c:v>
                </c:pt>
                <c:pt idx="10">
                  <c:v>0.309</c:v>
                </c:pt>
                <c:pt idx="11">
                  <c:v>0.46100000000000002</c:v>
                </c:pt>
                <c:pt idx="12">
                  <c:v>0.499</c:v>
                </c:pt>
                <c:pt idx="13">
                  <c:v>0.379</c:v>
                </c:pt>
                <c:pt idx="14">
                  <c:v>0.308</c:v>
                </c:pt>
                <c:pt idx="15">
                  <c:v>9.4E-2</c:v>
                </c:pt>
              </c:numCache>
            </c:numRef>
          </c:val>
          <c:smooth val="0"/>
          <c:extLst>
            <c:ext xmlns:c16="http://schemas.microsoft.com/office/drawing/2014/chart" uri="{C3380CC4-5D6E-409C-BE32-E72D297353CC}">
              <c16:uniqueId val="{00000001-0F68-41E0-8E9C-27F3AC8B538E}"/>
            </c:ext>
          </c:extLst>
        </c:ser>
        <c:ser>
          <c:idx val="2"/>
          <c:order val="2"/>
          <c:tx>
            <c:strRef>
              <c:f>Sheet1!$D$1</c:f>
              <c:strCache>
                <c:ptCount val="1"/>
                <c:pt idx="0">
                  <c:v>Delhi</c:v>
                </c:pt>
              </c:strCache>
            </c:strRef>
          </c:tx>
          <c:spPr>
            <a:ln w="28575" cap="rnd">
              <a:solidFill>
                <a:schemeClr val="accent3"/>
              </a:solidFill>
              <a:round/>
            </a:ln>
            <a:effectLst/>
          </c:spPr>
          <c:marker>
            <c:symbol val="square"/>
            <c:size val="5"/>
            <c:spPr>
              <a:solidFill>
                <a:schemeClr val="accent3"/>
              </a:solidFill>
              <a:ln w="9525">
                <a:solidFill>
                  <a:schemeClr val="accent3"/>
                </a:solidFill>
              </a:ln>
              <a:effectLst/>
            </c:spPr>
          </c:marker>
          <c:cat>
            <c:strRef>
              <c:f>Sheet1!$A$2:$A$17</c:f>
              <c:strCache>
                <c:ptCount val="16"/>
                <c:pt idx="0">
                  <c:v>sweet lingering taste</c:v>
                </c:pt>
                <c:pt idx="1">
                  <c:v>Cake like flavor of the product</c:v>
                </c:pt>
                <c:pt idx="2">
                  <c:v>lingering chocolatiness</c:v>
                </c:pt>
                <c:pt idx="3">
                  <c:v>Dissolves in your mouth</c:v>
                </c:pt>
                <c:pt idx="4">
                  <c:v>Chocolatiness</c:v>
                </c:pt>
                <c:pt idx="5">
                  <c:v>Sweetness</c:v>
                </c:pt>
                <c:pt idx="6">
                  <c:v>overall likeability of the aroma</c:v>
                </c:pt>
                <c:pt idx="7">
                  <c:v>Product retaining the shape (doesn’t break and crumble)</c:v>
                </c:pt>
                <c:pt idx="8">
                  <c:v>Bitterness</c:v>
                </c:pt>
                <c:pt idx="9">
                  <c:v>Bite</c:v>
                </c:pt>
                <c:pt idx="10">
                  <c:v>Moistness</c:v>
                </c:pt>
                <c:pt idx="11">
                  <c:v>Stickiness</c:v>
                </c:pt>
                <c:pt idx="12">
                  <c:v>Cake like aroma</c:v>
                </c:pt>
                <c:pt idx="13">
                  <c:v>Chocolatey aroma</c:v>
                </c:pt>
                <c:pt idx="14">
                  <c:v>Colour</c:v>
                </c:pt>
                <c:pt idx="15">
                  <c:v>Product sticking to your fingers</c:v>
                </c:pt>
              </c:strCache>
            </c:strRef>
          </c:cat>
          <c:val>
            <c:numRef>
              <c:f>Sheet1!$D$2:$D$17</c:f>
              <c:numCache>
                <c:formatCode>0.000</c:formatCode>
                <c:ptCount val="16"/>
                <c:pt idx="0">
                  <c:v>0.89200000000000002</c:v>
                </c:pt>
                <c:pt idx="1">
                  <c:v>0.82</c:v>
                </c:pt>
                <c:pt idx="2">
                  <c:v>0.79500000000000004</c:v>
                </c:pt>
                <c:pt idx="3">
                  <c:v>0.72299999999999998</c:v>
                </c:pt>
                <c:pt idx="4">
                  <c:v>0.8</c:v>
                </c:pt>
                <c:pt idx="5">
                  <c:v>0.78200000000000003</c:v>
                </c:pt>
                <c:pt idx="6">
                  <c:v>0.77500000000000002</c:v>
                </c:pt>
                <c:pt idx="7">
                  <c:v>0.79600000000000004</c:v>
                </c:pt>
                <c:pt idx="8">
                  <c:v>0.82799999999999996</c:v>
                </c:pt>
                <c:pt idx="9">
                  <c:v>0.68899999999999995</c:v>
                </c:pt>
                <c:pt idx="10">
                  <c:v>0.80200000000000005</c:v>
                </c:pt>
                <c:pt idx="11">
                  <c:v>0.73299999999999998</c:v>
                </c:pt>
                <c:pt idx="12">
                  <c:v>0.64600000000000002</c:v>
                </c:pt>
                <c:pt idx="13">
                  <c:v>0.65600000000000003</c:v>
                </c:pt>
                <c:pt idx="14">
                  <c:v>0.626</c:v>
                </c:pt>
                <c:pt idx="15">
                  <c:v>0.67500000000000004</c:v>
                </c:pt>
              </c:numCache>
            </c:numRef>
          </c:val>
          <c:smooth val="0"/>
          <c:extLst>
            <c:ext xmlns:c16="http://schemas.microsoft.com/office/drawing/2014/chart" uri="{C3380CC4-5D6E-409C-BE32-E72D297353CC}">
              <c16:uniqueId val="{00000002-0F68-41E0-8E9C-27F3AC8B538E}"/>
            </c:ext>
          </c:extLst>
        </c:ser>
        <c:dLbls>
          <c:showLegendKey val="0"/>
          <c:showVal val="0"/>
          <c:showCatName val="0"/>
          <c:showSerName val="0"/>
          <c:showPercent val="0"/>
          <c:showBubbleSize val="0"/>
        </c:dLbls>
        <c:marker val="1"/>
        <c:smooth val="0"/>
        <c:axId val="656351551"/>
        <c:axId val="656342431"/>
      </c:lineChart>
      <c:catAx>
        <c:axId val="656351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56342431"/>
        <c:crosses val="autoZero"/>
        <c:auto val="1"/>
        <c:lblAlgn val="ctr"/>
        <c:lblOffset val="100"/>
        <c:noMultiLvlLbl val="0"/>
      </c:catAx>
      <c:valAx>
        <c:axId val="656342431"/>
        <c:scaling>
          <c:orientation val="minMax"/>
          <c:max val="1"/>
        </c:scaling>
        <c:delete val="0"/>
        <c:axPos val="l"/>
        <c:numFmt formatCode="0.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6351551"/>
        <c:crosses val="autoZero"/>
        <c:crossBetween val="between"/>
        <c:majorUnit val="5.000000000000001E-2"/>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9E001E"/>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0-F785-4636-B9AE-F92EA2902DFD}"/>
              </c:ext>
            </c:extLst>
          </c:dPt>
          <c:dPt>
            <c:idx val="1"/>
            <c:invertIfNegative val="0"/>
            <c:bubble3D val="0"/>
            <c:spPr>
              <a:solidFill>
                <a:schemeClr val="accent1"/>
              </a:solidFill>
              <a:ln>
                <a:noFill/>
              </a:ln>
              <a:effectLst/>
            </c:spPr>
            <c:extLst>
              <c:ext xmlns:c16="http://schemas.microsoft.com/office/drawing/2014/chart" uri="{C3380CC4-5D6E-409C-BE32-E72D297353CC}">
                <c16:uniqueId val="{00000007-F785-4636-B9AE-F92EA2902DFD}"/>
              </c:ext>
            </c:extLst>
          </c:dPt>
          <c:dPt>
            <c:idx val="2"/>
            <c:invertIfNegative val="0"/>
            <c:bubble3D val="0"/>
            <c:spPr>
              <a:solidFill>
                <a:schemeClr val="accent2"/>
              </a:solidFill>
              <a:ln>
                <a:noFill/>
              </a:ln>
              <a:effectLst/>
            </c:spPr>
            <c:extLst>
              <c:ext xmlns:c16="http://schemas.microsoft.com/office/drawing/2014/chart" uri="{C3380CC4-5D6E-409C-BE32-E72D297353CC}">
                <c16:uniqueId val="{00000001-F785-4636-B9AE-F92EA2902DFD}"/>
              </c:ext>
            </c:extLst>
          </c:dPt>
          <c:dPt>
            <c:idx val="3"/>
            <c:invertIfNegative val="0"/>
            <c:bubble3D val="0"/>
            <c:spPr>
              <a:solidFill>
                <a:schemeClr val="accent1"/>
              </a:solidFill>
              <a:ln>
                <a:noFill/>
              </a:ln>
              <a:effectLst/>
            </c:spPr>
            <c:extLst>
              <c:ext xmlns:c16="http://schemas.microsoft.com/office/drawing/2014/chart" uri="{C3380CC4-5D6E-409C-BE32-E72D297353CC}">
                <c16:uniqueId val="{00000008-F785-4636-B9AE-F92EA2902DFD}"/>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2-F785-4636-B9AE-F92EA2902DFD}"/>
              </c:ext>
            </c:extLst>
          </c:dPt>
          <c:dPt>
            <c:idx val="5"/>
            <c:invertIfNegative val="0"/>
            <c:bubble3D val="0"/>
            <c:spPr>
              <a:solidFill>
                <a:schemeClr val="accent1"/>
              </a:solidFill>
              <a:ln>
                <a:noFill/>
              </a:ln>
              <a:effectLst/>
            </c:spPr>
            <c:extLst>
              <c:ext xmlns:c16="http://schemas.microsoft.com/office/drawing/2014/chart" uri="{C3380CC4-5D6E-409C-BE32-E72D297353CC}">
                <c16:uniqueId val="{00000009-F785-4636-B9AE-F92EA2902DFD}"/>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3-F785-4636-B9AE-F92EA2902DFD}"/>
              </c:ext>
            </c:extLst>
          </c:dPt>
          <c:dPt>
            <c:idx val="7"/>
            <c:invertIfNegative val="0"/>
            <c:bubble3D val="0"/>
            <c:spPr>
              <a:solidFill>
                <a:schemeClr val="accent1"/>
              </a:solidFill>
              <a:ln>
                <a:noFill/>
              </a:ln>
              <a:effectLst/>
            </c:spPr>
            <c:extLst>
              <c:ext xmlns:c16="http://schemas.microsoft.com/office/drawing/2014/chart" uri="{C3380CC4-5D6E-409C-BE32-E72D297353CC}">
                <c16:uniqueId val="{0000000A-F785-4636-B9AE-F92EA2902DFD}"/>
              </c:ext>
            </c:extLst>
          </c:dPt>
          <c:dPt>
            <c:idx val="8"/>
            <c:invertIfNegative val="0"/>
            <c:bubble3D val="0"/>
            <c:spPr>
              <a:solidFill>
                <a:schemeClr val="accent2"/>
              </a:solidFill>
              <a:ln>
                <a:noFill/>
              </a:ln>
              <a:effectLst/>
            </c:spPr>
            <c:extLst>
              <c:ext xmlns:c16="http://schemas.microsoft.com/office/drawing/2014/chart" uri="{C3380CC4-5D6E-409C-BE32-E72D297353CC}">
                <c16:uniqueId val="{00000004-F785-4636-B9AE-F92EA2902DFD}"/>
              </c:ext>
            </c:extLst>
          </c:dPt>
          <c:dPt>
            <c:idx val="9"/>
            <c:invertIfNegative val="0"/>
            <c:bubble3D val="0"/>
            <c:spPr>
              <a:solidFill>
                <a:schemeClr val="accent1"/>
              </a:solidFill>
              <a:ln>
                <a:noFill/>
              </a:ln>
              <a:effectLst/>
            </c:spPr>
            <c:extLst>
              <c:ext xmlns:c16="http://schemas.microsoft.com/office/drawing/2014/chart" uri="{C3380CC4-5D6E-409C-BE32-E72D297353CC}">
                <c16:uniqueId val="{0000000B-F785-4636-B9AE-F92EA2902DFD}"/>
              </c:ext>
            </c:extLst>
          </c:dPt>
          <c:dPt>
            <c:idx val="10"/>
            <c:invertIfNegative val="0"/>
            <c:bubble3D val="0"/>
            <c:spPr>
              <a:solidFill>
                <a:schemeClr val="accent2"/>
              </a:solidFill>
              <a:ln>
                <a:noFill/>
              </a:ln>
              <a:effectLst/>
            </c:spPr>
            <c:extLst>
              <c:ext xmlns:c16="http://schemas.microsoft.com/office/drawing/2014/chart" uri="{C3380CC4-5D6E-409C-BE32-E72D297353CC}">
                <c16:uniqueId val="{00000005-F785-4636-B9AE-F92EA2902DFD}"/>
              </c:ext>
            </c:extLst>
          </c:dPt>
          <c:dPt>
            <c:idx val="11"/>
            <c:invertIfNegative val="0"/>
            <c:bubble3D val="0"/>
            <c:spPr>
              <a:solidFill>
                <a:schemeClr val="accent1"/>
              </a:solidFill>
              <a:ln>
                <a:noFill/>
              </a:ln>
              <a:effectLst/>
            </c:spPr>
            <c:extLst>
              <c:ext xmlns:c16="http://schemas.microsoft.com/office/drawing/2014/chart" uri="{C3380CC4-5D6E-409C-BE32-E72D297353CC}">
                <c16:uniqueId val="{0000000C-F785-4636-B9AE-F92EA2902DFD}"/>
              </c:ext>
            </c:extLst>
          </c:dPt>
          <c:dPt>
            <c:idx val="12"/>
            <c:invertIfNegative val="0"/>
            <c:bubble3D val="0"/>
            <c:spPr>
              <a:solidFill>
                <a:schemeClr val="accent2"/>
              </a:solidFill>
              <a:ln>
                <a:noFill/>
              </a:ln>
              <a:effectLst/>
            </c:spPr>
            <c:extLst>
              <c:ext xmlns:c16="http://schemas.microsoft.com/office/drawing/2014/chart" uri="{C3380CC4-5D6E-409C-BE32-E72D297353CC}">
                <c16:uniqueId val="{00000006-F785-4636-B9AE-F92EA2902DFD}"/>
              </c:ext>
            </c:extLst>
          </c:dPt>
          <c:dPt>
            <c:idx val="13"/>
            <c:invertIfNegative val="0"/>
            <c:bubble3D val="0"/>
            <c:spPr>
              <a:solidFill>
                <a:schemeClr val="accent1"/>
              </a:solidFill>
              <a:ln>
                <a:noFill/>
              </a:ln>
              <a:effectLst/>
            </c:spPr>
            <c:extLst>
              <c:ext xmlns:c16="http://schemas.microsoft.com/office/drawing/2014/chart" uri="{C3380CC4-5D6E-409C-BE32-E72D297353CC}">
                <c16:uniqueId val="{0000000D-F785-4636-B9AE-F92EA2902DF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(n=78)</c:v>
                </c:pt>
                <c:pt idx="1">
                  <c:v>CB 24 
Mumbai
(n=78)</c:v>
                </c:pt>
                <c:pt idx="2">
                  <c:v>FS 18 
Delhi
(n=51)</c:v>
                </c:pt>
                <c:pt idx="3">
                  <c:v>CB 24
Delhi 
(n=51)</c:v>
                </c:pt>
                <c:pt idx="4">
                  <c:v>FS 18 
Male
(n=62)</c:v>
                </c:pt>
                <c:pt idx="5">
                  <c:v>CB 24 
Male
(n=62)</c:v>
                </c:pt>
                <c:pt idx="6">
                  <c:v>FS 18 
Female
(n=67)</c:v>
                </c:pt>
                <c:pt idx="7">
                  <c:v>CB 24 
Female
(n=67)</c:v>
                </c:pt>
                <c:pt idx="8">
                  <c:v>FS 18
Age 8-16
(n=70)</c:v>
                </c:pt>
                <c:pt idx="9">
                  <c:v>CB 24 
Age 8-16
(n=70)</c:v>
                </c:pt>
                <c:pt idx="10">
                  <c:v>FS 18 
Age 17-27
(n=43)</c:v>
                </c:pt>
                <c:pt idx="11">
                  <c:v>CB 24
Age 17-27 
(n=43)</c:v>
                </c:pt>
                <c:pt idx="12">
                  <c:v>FS 18 
Age 28-40
(n=16)</c:v>
                </c:pt>
                <c:pt idx="13">
                  <c:v>CB 24
Age 28-40 
(n=16)</c:v>
                </c:pt>
              </c:strCache>
            </c:strRef>
          </c:cat>
          <c:val>
            <c:numRef>
              <c:f>Sheet1!$B$2:$B$15</c:f>
              <c:numCache>
                <c:formatCode>###0%</c:formatCode>
                <c:ptCount val="14"/>
                <c:pt idx="0">
                  <c:v>0.57692307692307698</c:v>
                </c:pt>
                <c:pt idx="1">
                  <c:v>0.42307692307692307</c:v>
                </c:pt>
                <c:pt idx="2">
                  <c:v>0.62745098039215685</c:v>
                </c:pt>
                <c:pt idx="3">
                  <c:v>0.37254901960784315</c:v>
                </c:pt>
                <c:pt idx="4">
                  <c:v>0.61290322580645162</c:v>
                </c:pt>
                <c:pt idx="5">
                  <c:v>0.38709677419354838</c:v>
                </c:pt>
                <c:pt idx="6">
                  <c:v>0.58208955223880599</c:v>
                </c:pt>
                <c:pt idx="7">
                  <c:v>0.41791044776119407</c:v>
                </c:pt>
                <c:pt idx="8">
                  <c:v>0.51428571428571435</c:v>
                </c:pt>
                <c:pt idx="9">
                  <c:v>0.48571428571428571</c:v>
                </c:pt>
                <c:pt idx="10">
                  <c:v>0.67441860465116277</c:v>
                </c:pt>
                <c:pt idx="11">
                  <c:v>0.32558139534883723</c:v>
                </c:pt>
                <c:pt idx="12">
                  <c:v>0.75</c:v>
                </c:pt>
                <c:pt idx="13">
                  <c:v>0.25</c:v>
                </c:pt>
              </c:numCache>
            </c:numRef>
          </c:val>
          <c:extLst>
            <c:ext xmlns:c16="http://schemas.microsoft.com/office/drawing/2014/chart" uri="{C3380CC4-5D6E-409C-BE32-E72D297353CC}">
              <c16:uniqueId val="{00000000-9F30-4D77-BDD6-2B8141118AB3}"/>
            </c:ext>
          </c:extLst>
        </c:ser>
        <c:dLbls>
          <c:dLblPos val="outEnd"/>
          <c:showLegendKey val="0"/>
          <c:showVal val="1"/>
          <c:showCatName val="0"/>
          <c:showSerName val="0"/>
          <c:showPercent val="0"/>
          <c:showBubbleSize val="0"/>
        </c:dLbls>
        <c:gapWidth val="80"/>
        <c:axId val="1058677087"/>
        <c:axId val="1058677567"/>
      </c:barChart>
      <c:catAx>
        <c:axId val="1058677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8677567"/>
        <c:crosses val="autoZero"/>
        <c:auto val="1"/>
        <c:lblAlgn val="ctr"/>
        <c:lblOffset val="100"/>
        <c:noMultiLvlLbl val="0"/>
      </c:catAx>
      <c:valAx>
        <c:axId val="1058677567"/>
        <c:scaling>
          <c:orientation val="minMax"/>
        </c:scaling>
        <c:delete val="1"/>
        <c:axPos val="l"/>
        <c:numFmt formatCode="###0%" sourceLinked="1"/>
        <c:majorTickMark val="none"/>
        <c:minorTickMark val="none"/>
        <c:tickLblPos val="nextTo"/>
        <c:crossAx val="10586770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786463443884779"/>
          <c:y val="0.14809547151799651"/>
          <c:w val="0.54673229977540838"/>
          <c:h val="0.85190452848200349"/>
        </c:manualLayout>
      </c:layout>
      <c:pieChart>
        <c:varyColors val="1"/>
        <c:ser>
          <c:idx val="0"/>
          <c:order val="0"/>
          <c:tx>
            <c:strRef>
              <c:f>Sheet1!$B$1</c:f>
              <c:strCache>
                <c:ptCount val="1"/>
                <c:pt idx="0">
                  <c:v>Sales</c:v>
                </c:pt>
              </c:strCache>
            </c:strRef>
          </c:tx>
          <c:spPr>
            <a:solidFill>
              <a:schemeClr val="accent5"/>
            </a:solidFill>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6E68-424F-9054-5BAD6A4D1160}"/>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2-6E68-424F-9054-5BAD6A4D1160}"/>
              </c:ext>
            </c:extLst>
          </c:dPt>
          <c:dLbls>
            <c:dLbl>
              <c:idx val="0"/>
              <c:layout>
                <c:manualLayout>
                  <c:x val="0.19191197313621597"/>
                  <c:y val="-3.0266480250422376E-2"/>
                </c:manualLayout>
              </c:layout>
              <c:tx>
                <c:rich>
                  <a:bodyPr/>
                  <a:lstStyle/>
                  <a:p>
                    <a:fld id="{5E8A46E8-8011-4A2E-B0DA-5149D3D7713F}" type="CATEGORYNAME">
                      <a:rPr lang="en-US" smtClean="0"/>
                      <a:pPr/>
                      <a:t>[CATEGORY NAME]</a:t>
                    </a:fld>
                    <a:endParaRPr lang="en-US" baseline="0" dirty="0"/>
                  </a:p>
                  <a:p>
                    <a:fld id="{D05638B5-E358-47A5-A32E-EA738615F03A}" type="VALUE">
                      <a:rPr lang="en-US" baseline="0" smtClean="0"/>
                      <a:pPr/>
                      <a:t>[VALUE]</a:t>
                    </a:fld>
                    <a:endParaRPr lang="en-IN"/>
                  </a:p>
                </c:rich>
              </c:tx>
              <c:dLblPos val="bestFit"/>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E68-424F-9054-5BAD6A4D1160}"/>
                </c:ext>
              </c:extLst>
            </c:dLbl>
            <c:dLbl>
              <c:idx val="1"/>
              <c:tx>
                <c:rich>
                  <a:bodyPr/>
                  <a:lstStyle/>
                  <a:p>
                    <a:fld id="{8F9FC011-D830-4CE7-869C-451F034D9095}" type="CATEGORYNAME">
                      <a:rPr lang="en-US" smtClean="0"/>
                      <a:pPr/>
                      <a:t>[CATEGORY NAME]</a:t>
                    </a:fld>
                    <a:endParaRPr lang="en-US" dirty="0"/>
                  </a:p>
                  <a:p>
                    <a:fld id="{58798A06-5268-4F93-9291-A0E9BDBD479C}" type="VALUE">
                      <a:rPr lang="en-US" baseline="0" smtClean="0"/>
                      <a:pPr/>
                      <a:t>[VALUE]</a:t>
                    </a:fld>
                    <a:endParaRPr lang="en-IN"/>
                  </a:p>
                </c:rich>
              </c:tx>
              <c:dLblPos val="bestFit"/>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6E68-424F-9054-5BAD6A4D1160}"/>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bestFit"/>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FS 18</c:v>
                </c:pt>
                <c:pt idx="1">
                  <c:v>CB 24</c:v>
                </c:pt>
              </c:strCache>
            </c:strRef>
          </c:cat>
          <c:val>
            <c:numRef>
              <c:f>Sheet1!$B$2:$B$3</c:f>
              <c:numCache>
                <c:formatCode>###0%</c:formatCode>
                <c:ptCount val="2"/>
                <c:pt idx="0">
                  <c:v>0.5968992248062015</c:v>
                </c:pt>
                <c:pt idx="1">
                  <c:v>0.40310077519379844</c:v>
                </c:pt>
              </c:numCache>
            </c:numRef>
          </c:val>
          <c:extLst>
            <c:ext xmlns:c16="http://schemas.microsoft.com/office/drawing/2014/chart" uri="{C3380CC4-5D6E-409C-BE32-E72D297353CC}">
              <c16:uniqueId val="{00000000-6E68-424F-9054-5BAD6A4D1160}"/>
            </c:ext>
          </c:extLst>
        </c:ser>
        <c:dLbls>
          <c:showLegendKey val="0"/>
          <c:showVal val="0"/>
          <c:showCatName val="0"/>
          <c:showSerName val="0"/>
          <c:showPercent val="0"/>
          <c:showBubbleSize val="0"/>
          <c:showLeaderLines val="1"/>
        </c:dLbls>
        <c:firstSliceAng val="16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percentStacked"/>
        <c:varyColors val="0"/>
        <c:ser>
          <c:idx val="0"/>
          <c:order val="0"/>
          <c:tx>
            <c:strRef>
              <c:f>Sheet1!$B$1</c:f>
              <c:strCache>
                <c:ptCount val="1"/>
                <c:pt idx="0">
                  <c:v>Very Poor</c:v>
                </c:pt>
              </c:strCache>
            </c:strRef>
          </c:tx>
          <c:spPr>
            <a:solidFill>
              <a:srgbClr val="9E001E"/>
            </a:solidFill>
            <a:ln>
              <a:noFill/>
            </a:ln>
            <a:effectLst/>
          </c:spPr>
          <c:invertIfNegative val="0"/>
          <c:dLbls>
            <c:delete val="1"/>
          </c:dLbls>
          <c:cat>
            <c:strRef>
              <c:f>Sheet1!$A$2:$A$7</c:f>
              <c:strCache>
                <c:ptCount val="6"/>
                <c:pt idx="0">
                  <c:v>FS 18 
Total
(n=129)</c:v>
                </c:pt>
                <c:pt idx="1">
                  <c:v>CB 24
Total 
(n=129)</c:v>
                </c:pt>
                <c:pt idx="4">
                  <c:v>FS 18
Monadic
(n=63)</c:v>
                </c:pt>
                <c:pt idx="5">
                  <c:v>CB 24 
Monadic
(n=66)</c:v>
                </c:pt>
              </c:strCache>
            </c:strRef>
          </c:cat>
          <c:val>
            <c:numRef>
              <c:f>Sheet1!$B$2:$B$7</c:f>
              <c:numCache>
                <c:formatCode>###0%</c:formatCode>
                <c:ptCount val="6"/>
                <c:pt idx="0">
                  <c:v>0</c:v>
                </c:pt>
                <c:pt idx="1">
                  <c:v>0</c:v>
                </c:pt>
                <c:pt idx="4">
                  <c:v>0</c:v>
                </c:pt>
                <c:pt idx="5">
                  <c:v>0</c:v>
                </c:pt>
              </c:numCache>
            </c:numRef>
          </c:val>
          <c:extLst>
            <c:ext xmlns:c16="http://schemas.microsoft.com/office/drawing/2014/chart" uri="{C3380CC4-5D6E-409C-BE32-E72D297353CC}">
              <c16:uniqueId val="{00000000-9F30-4D77-BDD6-2B8141118AB3}"/>
            </c:ext>
          </c:extLst>
        </c:ser>
        <c:ser>
          <c:idx val="1"/>
          <c:order val="1"/>
          <c:tx>
            <c:strRef>
              <c:f>Sheet1!$C$1</c:f>
              <c:strCache>
                <c:ptCount val="1"/>
                <c:pt idx="0">
                  <c:v>Poor</c:v>
                </c:pt>
              </c:strCache>
            </c:strRef>
          </c:tx>
          <c:spPr>
            <a:solidFill>
              <a:srgbClr val="FF9999"/>
            </a:solidFill>
            <a:ln>
              <a:noFill/>
            </a:ln>
            <a:effectLst/>
          </c:spPr>
          <c:invertIfNegative val="0"/>
          <c:dLbls>
            <c:delete val="1"/>
          </c:dLbls>
          <c:cat>
            <c:strRef>
              <c:f>Sheet1!$A$2:$A$7</c:f>
              <c:strCache>
                <c:ptCount val="6"/>
                <c:pt idx="0">
                  <c:v>FS 18 
Total
(n=129)</c:v>
                </c:pt>
                <c:pt idx="1">
                  <c:v>CB 24
Total 
(n=129)</c:v>
                </c:pt>
                <c:pt idx="4">
                  <c:v>FS 18
Monadic
(n=63)</c:v>
                </c:pt>
                <c:pt idx="5">
                  <c:v>CB 24 
Monadic
(n=66)</c:v>
                </c:pt>
              </c:strCache>
            </c:strRef>
          </c:cat>
          <c:val>
            <c:numRef>
              <c:f>Sheet1!$C$2:$C$7</c:f>
              <c:numCache>
                <c:formatCode>###0%</c:formatCode>
                <c:ptCount val="6"/>
                <c:pt idx="0">
                  <c:v>1.550387596899225E-2</c:v>
                </c:pt>
                <c:pt idx="1">
                  <c:v>0</c:v>
                </c:pt>
                <c:pt idx="4">
                  <c:v>1.5873015873015872E-2</c:v>
                </c:pt>
                <c:pt idx="5">
                  <c:v>0</c:v>
                </c:pt>
              </c:numCache>
            </c:numRef>
          </c:val>
          <c:extLst>
            <c:ext xmlns:c16="http://schemas.microsoft.com/office/drawing/2014/chart" uri="{C3380CC4-5D6E-409C-BE32-E72D297353CC}">
              <c16:uniqueId val="{00000001-9F30-4D77-BDD6-2B8141118AB3}"/>
            </c:ext>
          </c:extLst>
        </c:ser>
        <c:ser>
          <c:idx val="2"/>
          <c:order val="2"/>
          <c:tx>
            <c:strRef>
              <c:f>Sheet1!$D$1</c:f>
              <c:strCache>
                <c:ptCount val="1"/>
                <c:pt idx="0">
                  <c:v>Average</c:v>
                </c:pt>
              </c:strCache>
            </c:strRef>
          </c:tx>
          <c:spPr>
            <a:solidFill>
              <a:schemeClr val="tx2">
                <a:lumMod val="40000"/>
                <a:lumOff val="60000"/>
              </a:schemeClr>
            </a:solidFill>
            <a:ln>
              <a:noFill/>
            </a:ln>
            <a:effectLst/>
          </c:spPr>
          <c:invertIfNegative val="0"/>
          <c:dLbls>
            <c:dLbl>
              <c:idx val="4"/>
              <c:layout>
                <c:manualLayout>
                  <c:x val="-4.7247023809523806E-3"/>
                  <c:y val="2.557078361076722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D78-4BEA-BE50-10F69F9D432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(n=129)</c:v>
                </c:pt>
                <c:pt idx="1">
                  <c:v>CB 24
Total 
(n=129)</c:v>
                </c:pt>
                <c:pt idx="4">
                  <c:v>FS 18
Monadic
(n=63)</c:v>
                </c:pt>
                <c:pt idx="5">
                  <c:v>CB 24 
Monadic
(n=66)</c:v>
                </c:pt>
              </c:strCache>
            </c:strRef>
          </c:cat>
          <c:val>
            <c:numRef>
              <c:f>Sheet1!$D$2:$D$7</c:f>
              <c:numCache>
                <c:formatCode>###0%</c:formatCode>
                <c:ptCount val="6"/>
                <c:pt idx="0">
                  <c:v>0.10077519379844961</c:v>
                </c:pt>
                <c:pt idx="1">
                  <c:v>7.7519379844961239E-2</c:v>
                </c:pt>
                <c:pt idx="4">
                  <c:v>3.1746031746031744E-2</c:v>
                </c:pt>
                <c:pt idx="5">
                  <c:v>3.0303030303030304E-2</c:v>
                </c:pt>
              </c:numCache>
            </c:numRef>
          </c:val>
          <c:extLst>
            <c:ext xmlns:c16="http://schemas.microsoft.com/office/drawing/2014/chart" uri="{C3380CC4-5D6E-409C-BE32-E72D297353CC}">
              <c16:uniqueId val="{00000002-9F30-4D77-BDD6-2B8141118AB3}"/>
            </c:ext>
          </c:extLst>
        </c:ser>
        <c:ser>
          <c:idx val="3"/>
          <c:order val="3"/>
          <c:tx>
            <c:strRef>
              <c:f>Sheet1!$E$1</c:f>
              <c:strCache>
                <c:ptCount val="1"/>
                <c:pt idx="0">
                  <c:v>Good</c:v>
                </c:pt>
              </c:strCache>
            </c:strRef>
          </c:tx>
          <c:spPr>
            <a:solidFill>
              <a:schemeClr val="accent6">
                <a:shade val="9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(n=129)</c:v>
                </c:pt>
                <c:pt idx="1">
                  <c:v>CB 24
Total 
(n=129)</c:v>
                </c:pt>
                <c:pt idx="4">
                  <c:v>FS 18
Monadic
(n=63)</c:v>
                </c:pt>
                <c:pt idx="5">
                  <c:v>CB 24 
Monadic
(n=66)</c:v>
                </c:pt>
              </c:strCache>
            </c:strRef>
          </c:cat>
          <c:val>
            <c:numRef>
              <c:f>Sheet1!$E$2:$E$7</c:f>
              <c:numCache>
                <c:formatCode>###0%</c:formatCode>
                <c:ptCount val="6"/>
                <c:pt idx="0">
                  <c:v>9.3023255813953487E-2</c:v>
                </c:pt>
                <c:pt idx="1">
                  <c:v>0.19379844961240308</c:v>
                </c:pt>
                <c:pt idx="4">
                  <c:v>1.5873015873015872E-2</c:v>
                </c:pt>
                <c:pt idx="5">
                  <c:v>0.13636363636363635</c:v>
                </c:pt>
              </c:numCache>
            </c:numRef>
          </c:val>
          <c:extLst>
            <c:ext xmlns:c16="http://schemas.microsoft.com/office/drawing/2014/chart" uri="{C3380CC4-5D6E-409C-BE32-E72D297353CC}">
              <c16:uniqueId val="{00000003-9F30-4D77-BDD6-2B8141118AB3}"/>
            </c:ext>
          </c:extLst>
        </c:ser>
        <c:ser>
          <c:idx val="4"/>
          <c:order val="4"/>
          <c:tx>
            <c:strRef>
              <c:f>Sheet1!$F$1</c:f>
              <c:strCache>
                <c:ptCount val="1"/>
                <c:pt idx="0">
                  <c:v>Very Good</c:v>
                </c:pt>
              </c:strCache>
            </c:strRef>
          </c:tx>
          <c:spPr>
            <a:solidFill>
              <a:schemeClr val="accent6">
                <a:shade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(n=129)</c:v>
                </c:pt>
                <c:pt idx="1">
                  <c:v>CB 24
Total 
(n=129)</c:v>
                </c:pt>
                <c:pt idx="4">
                  <c:v>FS 18
Monadic
(n=63)</c:v>
                </c:pt>
                <c:pt idx="5">
                  <c:v>CB 24 
Monadic
(n=66)</c:v>
                </c:pt>
              </c:strCache>
            </c:strRef>
          </c:cat>
          <c:val>
            <c:numRef>
              <c:f>Sheet1!$F$2:$F$7</c:f>
              <c:numCache>
                <c:formatCode>###0%</c:formatCode>
                <c:ptCount val="6"/>
                <c:pt idx="0">
                  <c:v>0.22480620155038761</c:v>
                </c:pt>
                <c:pt idx="1">
                  <c:v>0.3410852713178294</c:v>
                </c:pt>
                <c:pt idx="4">
                  <c:v>0.36507936507936506</c:v>
                </c:pt>
                <c:pt idx="5">
                  <c:v>0.4242424242424242</c:v>
                </c:pt>
              </c:numCache>
            </c:numRef>
          </c:val>
          <c:extLst>
            <c:ext xmlns:c16="http://schemas.microsoft.com/office/drawing/2014/chart" uri="{C3380CC4-5D6E-409C-BE32-E72D297353CC}">
              <c16:uniqueId val="{00000004-9F30-4D77-BDD6-2B8141118AB3}"/>
            </c:ext>
          </c:extLst>
        </c:ser>
        <c:ser>
          <c:idx val="5"/>
          <c:order val="5"/>
          <c:tx>
            <c:strRef>
              <c:f>Sheet1!$G$1</c:f>
              <c:strCache>
                <c:ptCount val="1"/>
                <c:pt idx="0">
                  <c:v>Excellent</c:v>
                </c:pt>
              </c:strCache>
            </c:strRef>
          </c:tx>
          <c:spPr>
            <a:solidFill>
              <a:schemeClr val="accent6">
                <a:shade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FS 18 
Total
(n=129)</c:v>
                </c:pt>
                <c:pt idx="1">
                  <c:v>CB 24
Total 
(n=129)</c:v>
                </c:pt>
                <c:pt idx="4">
                  <c:v>FS 18
Monadic
(n=63)</c:v>
                </c:pt>
                <c:pt idx="5">
                  <c:v>CB 24 
Monadic
(n=66)</c:v>
                </c:pt>
              </c:strCache>
            </c:strRef>
          </c:cat>
          <c:val>
            <c:numRef>
              <c:f>Sheet1!$G$2:$G$7</c:f>
              <c:numCache>
                <c:formatCode>###0%</c:formatCode>
                <c:ptCount val="6"/>
                <c:pt idx="0">
                  <c:v>0.56589147286821706</c:v>
                </c:pt>
                <c:pt idx="1">
                  <c:v>0.38759689922480617</c:v>
                </c:pt>
                <c:pt idx="4">
                  <c:v>0.57142857142857151</c:v>
                </c:pt>
                <c:pt idx="5">
                  <c:v>0.40909090909090906</c:v>
                </c:pt>
              </c:numCache>
            </c:numRef>
          </c:val>
          <c:extLst>
            <c:ext xmlns:c16="http://schemas.microsoft.com/office/drawing/2014/chart" uri="{C3380CC4-5D6E-409C-BE32-E72D297353CC}">
              <c16:uniqueId val="{00000007-9F30-4D77-BDD6-2B8141118AB3}"/>
            </c:ext>
          </c:extLst>
        </c:ser>
        <c:dLbls>
          <c:dLblPos val="ctr"/>
          <c:showLegendKey val="0"/>
          <c:showVal val="1"/>
          <c:showCatName val="0"/>
          <c:showSerName val="0"/>
          <c:showPercent val="0"/>
          <c:showBubbleSize val="0"/>
        </c:dLbls>
        <c:gapWidth val="80"/>
        <c:overlap val="100"/>
        <c:axId val="1058677087"/>
        <c:axId val="1058677567"/>
      </c:barChart>
      <c:catAx>
        <c:axId val="1058677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8677567"/>
        <c:crosses val="autoZero"/>
        <c:auto val="1"/>
        <c:lblAlgn val="ctr"/>
        <c:lblOffset val="100"/>
        <c:noMultiLvlLbl val="0"/>
      </c:catAx>
      <c:valAx>
        <c:axId val="1058677567"/>
        <c:scaling>
          <c:orientation val="minMax"/>
        </c:scaling>
        <c:delete val="1"/>
        <c:axPos val="l"/>
        <c:numFmt formatCode="0%" sourceLinked="1"/>
        <c:majorTickMark val="none"/>
        <c:minorTickMark val="none"/>
        <c:tickLblPos val="nextTo"/>
        <c:crossAx val="10586770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barChart>
        <c:barDir val="col"/>
        <c:grouping val="percentStacked"/>
        <c:varyColors val="0"/>
        <c:ser>
          <c:idx val="0"/>
          <c:order val="0"/>
          <c:tx>
            <c:strRef>
              <c:f>Sheet1!$B$1</c:f>
              <c:strCache>
                <c:ptCount val="1"/>
                <c:pt idx="0">
                  <c:v>Very Poor</c:v>
                </c:pt>
              </c:strCache>
            </c:strRef>
          </c:tx>
          <c:spPr>
            <a:solidFill>
              <a:srgbClr val="9E001E"/>
            </a:solidFill>
            <a:ln>
              <a:noFill/>
            </a:ln>
            <a:effectLst/>
          </c:spPr>
          <c:invertIfNegative val="0"/>
          <c:dLbls>
            <c:delete val="1"/>
          </c:dLbls>
          <c:cat>
            <c:strRef>
              <c:f>Sheet1!$A$2:$A$15</c:f>
              <c:strCache>
                <c:ptCount val="14"/>
                <c:pt idx="0">
                  <c:v>FS 18
Mumbai 
(n=78)</c:v>
                </c:pt>
                <c:pt idx="1">
                  <c:v>CB 24 
Mumbai
(n=78)</c:v>
                </c:pt>
                <c:pt idx="2">
                  <c:v>FS 18 
Delhi
(n=51)</c:v>
                </c:pt>
                <c:pt idx="3">
                  <c:v>CB 24
Delhi 
(n=51)</c:v>
                </c:pt>
                <c:pt idx="4">
                  <c:v>FS 18 
Male
(n=62)</c:v>
                </c:pt>
                <c:pt idx="5">
                  <c:v>CB 24 
Male
(n=62)</c:v>
                </c:pt>
                <c:pt idx="6">
                  <c:v>FS 18 
Female
(n=67)</c:v>
                </c:pt>
                <c:pt idx="7">
                  <c:v>CB 24 
Female
(n=67)</c:v>
                </c:pt>
                <c:pt idx="8">
                  <c:v>FS 18
Age 8-16
(n=70)</c:v>
                </c:pt>
                <c:pt idx="9">
                  <c:v>CB 24 
Age 8-16
(n=70)</c:v>
                </c:pt>
                <c:pt idx="10">
                  <c:v>FS 18 
Age 17-27
(n=43)</c:v>
                </c:pt>
                <c:pt idx="11">
                  <c:v>CB 24
Age 17-27 
(n=43)</c:v>
                </c:pt>
                <c:pt idx="12">
                  <c:v>FS 18 
Age 28-40
(n=16)</c:v>
                </c:pt>
                <c:pt idx="13">
                  <c:v>CB 24
Age 28-40 
(n=16)</c:v>
                </c:pt>
              </c:strCache>
            </c:strRef>
          </c:cat>
          <c:val>
            <c:numRef>
              <c:f>Sheet1!$B$2:$B$15</c:f>
              <c:numCache>
                <c:formatCode>###0%</c:formatCode>
                <c:ptCount val="14"/>
                <c:pt idx="0">
                  <c:v>0</c:v>
                </c:pt>
                <c:pt idx="1">
                  <c:v>0</c:v>
                </c:pt>
                <c:pt idx="2">
                  <c:v>0</c:v>
                </c:pt>
                <c:pt idx="3">
                  <c:v>0</c:v>
                </c:pt>
                <c:pt idx="4">
                  <c:v>0</c:v>
                </c:pt>
                <c:pt idx="5">
                  <c:v>0</c:v>
                </c:pt>
                <c:pt idx="6">
                  <c:v>0</c:v>
                </c:pt>
                <c:pt idx="7">
                  <c:v>0</c:v>
                </c:pt>
                <c:pt idx="8">
                  <c:v>0</c:v>
                </c:pt>
                <c:pt idx="9">
                  <c:v>0</c:v>
                </c:pt>
                <c:pt idx="10">
                  <c:v>0</c:v>
                </c:pt>
                <c:pt idx="11">
                  <c:v>0</c:v>
                </c:pt>
                <c:pt idx="12">
                  <c:v>0</c:v>
                </c:pt>
                <c:pt idx="13">
                  <c:v>0</c:v>
                </c:pt>
              </c:numCache>
            </c:numRef>
          </c:val>
          <c:extLst>
            <c:ext xmlns:c16="http://schemas.microsoft.com/office/drawing/2014/chart" uri="{C3380CC4-5D6E-409C-BE32-E72D297353CC}">
              <c16:uniqueId val="{00000000-EAB7-4B13-983F-06E6A0BC2906}"/>
            </c:ext>
          </c:extLst>
        </c:ser>
        <c:ser>
          <c:idx val="1"/>
          <c:order val="1"/>
          <c:tx>
            <c:strRef>
              <c:f>Sheet1!$C$1</c:f>
              <c:strCache>
                <c:ptCount val="1"/>
                <c:pt idx="0">
                  <c:v>Poor</c:v>
                </c:pt>
              </c:strCache>
            </c:strRef>
          </c:tx>
          <c:spPr>
            <a:solidFill>
              <a:srgbClr val="FF9999"/>
            </a:solidFill>
            <a:ln>
              <a:noFill/>
            </a:ln>
            <a:effectLst/>
          </c:spPr>
          <c:invertIfNegative val="0"/>
          <c:dLbls>
            <c:delete val="1"/>
          </c:dLbls>
          <c:cat>
            <c:strRef>
              <c:f>Sheet1!$A$2:$A$15</c:f>
              <c:strCache>
                <c:ptCount val="14"/>
                <c:pt idx="0">
                  <c:v>FS 18
Mumbai 
(n=78)</c:v>
                </c:pt>
                <c:pt idx="1">
                  <c:v>CB 24 
Mumbai
(n=78)</c:v>
                </c:pt>
                <c:pt idx="2">
                  <c:v>FS 18 
Delhi
(n=51)</c:v>
                </c:pt>
                <c:pt idx="3">
                  <c:v>CB 24
Delhi 
(n=51)</c:v>
                </c:pt>
                <c:pt idx="4">
                  <c:v>FS 18 
Male
(n=62)</c:v>
                </c:pt>
                <c:pt idx="5">
                  <c:v>CB 24 
Male
(n=62)</c:v>
                </c:pt>
                <c:pt idx="6">
                  <c:v>FS 18 
Female
(n=67)</c:v>
                </c:pt>
                <c:pt idx="7">
                  <c:v>CB 24 
Female
(n=67)</c:v>
                </c:pt>
                <c:pt idx="8">
                  <c:v>FS 18
Age 8-16
(n=70)</c:v>
                </c:pt>
                <c:pt idx="9">
                  <c:v>CB 24 
Age 8-16
(n=70)</c:v>
                </c:pt>
                <c:pt idx="10">
                  <c:v>FS 18 
Age 17-27
(n=43)</c:v>
                </c:pt>
                <c:pt idx="11">
                  <c:v>CB 24
Age 17-27 
(n=43)</c:v>
                </c:pt>
                <c:pt idx="12">
                  <c:v>FS 18 
Age 28-40
(n=16)</c:v>
                </c:pt>
                <c:pt idx="13">
                  <c:v>CB 24
Age 28-40 
(n=16)</c:v>
                </c:pt>
              </c:strCache>
            </c:strRef>
          </c:cat>
          <c:val>
            <c:numRef>
              <c:f>Sheet1!$C$2:$C$15</c:f>
              <c:numCache>
                <c:formatCode>###0%</c:formatCode>
                <c:ptCount val="14"/>
                <c:pt idx="0">
                  <c:v>2.5641025641025644E-2</c:v>
                </c:pt>
                <c:pt idx="1">
                  <c:v>0</c:v>
                </c:pt>
                <c:pt idx="2">
                  <c:v>0</c:v>
                </c:pt>
                <c:pt idx="3">
                  <c:v>0</c:v>
                </c:pt>
                <c:pt idx="4">
                  <c:v>3.2258064516129031E-2</c:v>
                </c:pt>
                <c:pt idx="5">
                  <c:v>0</c:v>
                </c:pt>
                <c:pt idx="6">
                  <c:v>0</c:v>
                </c:pt>
                <c:pt idx="7">
                  <c:v>0</c:v>
                </c:pt>
                <c:pt idx="8">
                  <c:v>0</c:v>
                </c:pt>
                <c:pt idx="9">
                  <c:v>0</c:v>
                </c:pt>
                <c:pt idx="10">
                  <c:v>4.6511627906976744E-2</c:v>
                </c:pt>
                <c:pt idx="11">
                  <c:v>0</c:v>
                </c:pt>
                <c:pt idx="12">
                  <c:v>0</c:v>
                </c:pt>
                <c:pt idx="13">
                  <c:v>0</c:v>
                </c:pt>
              </c:numCache>
            </c:numRef>
          </c:val>
          <c:extLst>
            <c:ext xmlns:c16="http://schemas.microsoft.com/office/drawing/2014/chart" uri="{C3380CC4-5D6E-409C-BE32-E72D297353CC}">
              <c16:uniqueId val="{00000001-EAB7-4B13-983F-06E6A0BC2906}"/>
            </c:ext>
          </c:extLst>
        </c:ser>
        <c:ser>
          <c:idx val="2"/>
          <c:order val="2"/>
          <c:tx>
            <c:strRef>
              <c:f>Sheet1!$D$1</c:f>
              <c:strCache>
                <c:ptCount val="1"/>
                <c:pt idx="0">
                  <c:v>Average</c:v>
                </c:pt>
              </c:strCache>
            </c:strRef>
          </c:tx>
          <c:spPr>
            <a:solidFill>
              <a:schemeClr val="tx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(n=78)</c:v>
                </c:pt>
                <c:pt idx="1">
                  <c:v>CB 24 
Mumbai
(n=78)</c:v>
                </c:pt>
                <c:pt idx="2">
                  <c:v>FS 18 
Delhi
(n=51)</c:v>
                </c:pt>
                <c:pt idx="3">
                  <c:v>CB 24
Delhi 
(n=51)</c:v>
                </c:pt>
                <c:pt idx="4">
                  <c:v>FS 18 
Male
(n=62)</c:v>
                </c:pt>
                <c:pt idx="5">
                  <c:v>CB 24 
Male
(n=62)</c:v>
                </c:pt>
                <c:pt idx="6">
                  <c:v>FS 18 
Female
(n=67)</c:v>
                </c:pt>
                <c:pt idx="7">
                  <c:v>CB 24 
Female
(n=67)</c:v>
                </c:pt>
                <c:pt idx="8">
                  <c:v>FS 18
Age 8-16
(n=70)</c:v>
                </c:pt>
                <c:pt idx="9">
                  <c:v>CB 24 
Age 8-16
(n=70)</c:v>
                </c:pt>
                <c:pt idx="10">
                  <c:v>FS 18 
Age 17-27
(n=43)</c:v>
                </c:pt>
                <c:pt idx="11">
                  <c:v>CB 24
Age 17-27 
(n=43)</c:v>
                </c:pt>
                <c:pt idx="12">
                  <c:v>FS 18 
Age 28-40
(n=16)</c:v>
                </c:pt>
                <c:pt idx="13">
                  <c:v>CB 24
Age 28-40 
(n=16)</c:v>
                </c:pt>
              </c:strCache>
            </c:strRef>
          </c:cat>
          <c:val>
            <c:numRef>
              <c:f>Sheet1!$D$2:$D$15</c:f>
              <c:numCache>
                <c:formatCode>###0%</c:formatCode>
                <c:ptCount val="14"/>
                <c:pt idx="0">
                  <c:v>6.4102564102564111E-2</c:v>
                </c:pt>
                <c:pt idx="1">
                  <c:v>2.5641025641025644E-2</c:v>
                </c:pt>
                <c:pt idx="2">
                  <c:v>0.15686274509803921</c:v>
                </c:pt>
                <c:pt idx="3">
                  <c:v>0.15686274509803921</c:v>
                </c:pt>
                <c:pt idx="4">
                  <c:v>6.4516129032258063E-2</c:v>
                </c:pt>
                <c:pt idx="5">
                  <c:v>8.0645161290322578E-2</c:v>
                </c:pt>
                <c:pt idx="6">
                  <c:v>0.13432835820895522</c:v>
                </c:pt>
                <c:pt idx="7">
                  <c:v>7.4626865671641798E-2</c:v>
                </c:pt>
                <c:pt idx="8">
                  <c:v>0.15714285714285714</c:v>
                </c:pt>
                <c:pt idx="9">
                  <c:v>7.1428571428571438E-2</c:v>
                </c:pt>
                <c:pt idx="10">
                  <c:v>2.3255813953488372E-2</c:v>
                </c:pt>
                <c:pt idx="11">
                  <c:v>6.9767441860465115E-2</c:v>
                </c:pt>
                <c:pt idx="12">
                  <c:v>6.25E-2</c:v>
                </c:pt>
                <c:pt idx="13">
                  <c:v>0.125</c:v>
                </c:pt>
              </c:numCache>
            </c:numRef>
          </c:val>
          <c:extLst>
            <c:ext xmlns:c16="http://schemas.microsoft.com/office/drawing/2014/chart" uri="{C3380CC4-5D6E-409C-BE32-E72D297353CC}">
              <c16:uniqueId val="{00000002-EAB7-4B13-983F-06E6A0BC2906}"/>
            </c:ext>
          </c:extLst>
        </c:ser>
        <c:ser>
          <c:idx val="3"/>
          <c:order val="3"/>
          <c:tx>
            <c:strRef>
              <c:f>Sheet1!$E$1</c:f>
              <c:strCache>
                <c:ptCount val="1"/>
                <c:pt idx="0">
                  <c:v>Good</c:v>
                </c:pt>
              </c:strCache>
            </c:strRef>
          </c:tx>
          <c:spPr>
            <a:solidFill>
              <a:schemeClr val="accent6">
                <a:shade val="9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(n=78)</c:v>
                </c:pt>
                <c:pt idx="1">
                  <c:v>CB 24 
Mumbai
(n=78)</c:v>
                </c:pt>
                <c:pt idx="2">
                  <c:v>FS 18 
Delhi
(n=51)</c:v>
                </c:pt>
                <c:pt idx="3">
                  <c:v>CB 24
Delhi 
(n=51)</c:v>
                </c:pt>
                <c:pt idx="4">
                  <c:v>FS 18 
Male
(n=62)</c:v>
                </c:pt>
                <c:pt idx="5">
                  <c:v>CB 24 
Male
(n=62)</c:v>
                </c:pt>
                <c:pt idx="6">
                  <c:v>FS 18 
Female
(n=67)</c:v>
                </c:pt>
                <c:pt idx="7">
                  <c:v>CB 24 
Female
(n=67)</c:v>
                </c:pt>
                <c:pt idx="8">
                  <c:v>FS 18
Age 8-16
(n=70)</c:v>
                </c:pt>
                <c:pt idx="9">
                  <c:v>CB 24 
Age 8-16
(n=70)</c:v>
                </c:pt>
                <c:pt idx="10">
                  <c:v>FS 18 
Age 17-27
(n=43)</c:v>
                </c:pt>
                <c:pt idx="11">
                  <c:v>CB 24
Age 17-27 
(n=43)</c:v>
                </c:pt>
                <c:pt idx="12">
                  <c:v>FS 18 
Age 28-40
(n=16)</c:v>
                </c:pt>
                <c:pt idx="13">
                  <c:v>CB 24
Age 28-40 
(n=16)</c:v>
                </c:pt>
              </c:strCache>
            </c:strRef>
          </c:cat>
          <c:val>
            <c:numRef>
              <c:f>Sheet1!$E$2:$E$15</c:f>
              <c:numCache>
                <c:formatCode>###0%</c:formatCode>
                <c:ptCount val="14"/>
                <c:pt idx="0">
                  <c:v>0.10256410256410257</c:v>
                </c:pt>
                <c:pt idx="1">
                  <c:v>0.19230769230769229</c:v>
                </c:pt>
                <c:pt idx="2">
                  <c:v>7.8431372549019607E-2</c:v>
                </c:pt>
                <c:pt idx="3">
                  <c:v>0.19607843137254904</c:v>
                </c:pt>
                <c:pt idx="4">
                  <c:v>6.4516129032258063E-2</c:v>
                </c:pt>
                <c:pt idx="5">
                  <c:v>0.24193548387096775</c:v>
                </c:pt>
                <c:pt idx="6">
                  <c:v>0.11940298507462688</c:v>
                </c:pt>
                <c:pt idx="7">
                  <c:v>0.1492537313432836</c:v>
                </c:pt>
                <c:pt idx="8">
                  <c:v>7.1428571428571438E-2</c:v>
                </c:pt>
                <c:pt idx="9">
                  <c:v>0.17142857142857143</c:v>
                </c:pt>
                <c:pt idx="10">
                  <c:v>0.11627906976744186</c:v>
                </c:pt>
                <c:pt idx="11">
                  <c:v>0.23255813953488372</c:v>
                </c:pt>
                <c:pt idx="12">
                  <c:v>0.125</c:v>
                </c:pt>
                <c:pt idx="13">
                  <c:v>0.1875</c:v>
                </c:pt>
              </c:numCache>
            </c:numRef>
          </c:val>
          <c:extLst>
            <c:ext xmlns:c16="http://schemas.microsoft.com/office/drawing/2014/chart" uri="{C3380CC4-5D6E-409C-BE32-E72D297353CC}">
              <c16:uniqueId val="{00000003-EAB7-4B13-983F-06E6A0BC2906}"/>
            </c:ext>
          </c:extLst>
        </c:ser>
        <c:ser>
          <c:idx val="4"/>
          <c:order val="4"/>
          <c:tx>
            <c:strRef>
              <c:f>Sheet1!$F$1</c:f>
              <c:strCache>
                <c:ptCount val="1"/>
                <c:pt idx="0">
                  <c:v>Very Good</c:v>
                </c:pt>
              </c:strCache>
            </c:strRef>
          </c:tx>
          <c:spPr>
            <a:solidFill>
              <a:schemeClr val="accent6">
                <a:shade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(n=78)</c:v>
                </c:pt>
                <c:pt idx="1">
                  <c:v>CB 24 
Mumbai
(n=78)</c:v>
                </c:pt>
                <c:pt idx="2">
                  <c:v>FS 18 
Delhi
(n=51)</c:v>
                </c:pt>
                <c:pt idx="3">
                  <c:v>CB 24
Delhi 
(n=51)</c:v>
                </c:pt>
                <c:pt idx="4">
                  <c:v>FS 18 
Male
(n=62)</c:v>
                </c:pt>
                <c:pt idx="5">
                  <c:v>CB 24 
Male
(n=62)</c:v>
                </c:pt>
                <c:pt idx="6">
                  <c:v>FS 18 
Female
(n=67)</c:v>
                </c:pt>
                <c:pt idx="7">
                  <c:v>CB 24 
Female
(n=67)</c:v>
                </c:pt>
                <c:pt idx="8">
                  <c:v>FS 18
Age 8-16
(n=70)</c:v>
                </c:pt>
                <c:pt idx="9">
                  <c:v>CB 24 
Age 8-16
(n=70)</c:v>
                </c:pt>
                <c:pt idx="10">
                  <c:v>FS 18 
Age 17-27
(n=43)</c:v>
                </c:pt>
                <c:pt idx="11">
                  <c:v>CB 24
Age 17-27 
(n=43)</c:v>
                </c:pt>
                <c:pt idx="12">
                  <c:v>FS 18 
Age 28-40
(n=16)</c:v>
                </c:pt>
                <c:pt idx="13">
                  <c:v>CB 24
Age 28-40 
(n=16)</c:v>
                </c:pt>
              </c:strCache>
            </c:strRef>
          </c:cat>
          <c:val>
            <c:numRef>
              <c:f>Sheet1!$F$2:$F$15</c:f>
              <c:numCache>
                <c:formatCode>###0%</c:formatCode>
                <c:ptCount val="14"/>
                <c:pt idx="0">
                  <c:v>0.20512820512820515</c:v>
                </c:pt>
                <c:pt idx="1">
                  <c:v>0.37179487179487181</c:v>
                </c:pt>
                <c:pt idx="2">
                  <c:v>0.25490196078431371</c:v>
                </c:pt>
                <c:pt idx="3">
                  <c:v>0.29411764705882354</c:v>
                </c:pt>
                <c:pt idx="4">
                  <c:v>0.30645161290322581</c:v>
                </c:pt>
                <c:pt idx="5">
                  <c:v>0.22580645161290325</c:v>
                </c:pt>
                <c:pt idx="6">
                  <c:v>0.1492537313432836</c:v>
                </c:pt>
                <c:pt idx="7">
                  <c:v>0.44776119402985076</c:v>
                </c:pt>
                <c:pt idx="8">
                  <c:v>0.18571428571428572</c:v>
                </c:pt>
                <c:pt idx="9">
                  <c:v>0.3</c:v>
                </c:pt>
                <c:pt idx="10">
                  <c:v>0.30232558139534882</c:v>
                </c:pt>
                <c:pt idx="11">
                  <c:v>0.34883720930232553</c:v>
                </c:pt>
                <c:pt idx="12">
                  <c:v>0.1875</c:v>
                </c:pt>
                <c:pt idx="13">
                  <c:v>0.5</c:v>
                </c:pt>
              </c:numCache>
            </c:numRef>
          </c:val>
          <c:extLst>
            <c:ext xmlns:c16="http://schemas.microsoft.com/office/drawing/2014/chart" uri="{C3380CC4-5D6E-409C-BE32-E72D297353CC}">
              <c16:uniqueId val="{00000004-EAB7-4B13-983F-06E6A0BC2906}"/>
            </c:ext>
          </c:extLst>
        </c:ser>
        <c:ser>
          <c:idx val="5"/>
          <c:order val="5"/>
          <c:tx>
            <c:strRef>
              <c:f>Sheet1!$G$1</c:f>
              <c:strCache>
                <c:ptCount val="1"/>
                <c:pt idx="0">
                  <c:v>Excellent</c:v>
                </c:pt>
              </c:strCache>
            </c:strRef>
          </c:tx>
          <c:spPr>
            <a:solidFill>
              <a:schemeClr val="accent6">
                <a:shade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FS 18
Mumbai 
(n=78)</c:v>
                </c:pt>
                <c:pt idx="1">
                  <c:v>CB 24 
Mumbai
(n=78)</c:v>
                </c:pt>
                <c:pt idx="2">
                  <c:v>FS 18 
Delhi
(n=51)</c:v>
                </c:pt>
                <c:pt idx="3">
                  <c:v>CB 24
Delhi 
(n=51)</c:v>
                </c:pt>
                <c:pt idx="4">
                  <c:v>FS 18 
Male
(n=62)</c:v>
                </c:pt>
                <c:pt idx="5">
                  <c:v>CB 24 
Male
(n=62)</c:v>
                </c:pt>
                <c:pt idx="6">
                  <c:v>FS 18 
Female
(n=67)</c:v>
                </c:pt>
                <c:pt idx="7">
                  <c:v>CB 24 
Female
(n=67)</c:v>
                </c:pt>
                <c:pt idx="8">
                  <c:v>FS 18
Age 8-16
(n=70)</c:v>
                </c:pt>
                <c:pt idx="9">
                  <c:v>CB 24 
Age 8-16
(n=70)</c:v>
                </c:pt>
                <c:pt idx="10">
                  <c:v>FS 18 
Age 17-27
(n=43)</c:v>
                </c:pt>
                <c:pt idx="11">
                  <c:v>CB 24
Age 17-27 
(n=43)</c:v>
                </c:pt>
                <c:pt idx="12">
                  <c:v>FS 18 
Age 28-40
(n=16)</c:v>
                </c:pt>
                <c:pt idx="13">
                  <c:v>CB 24
Age 28-40 
(n=16)</c:v>
                </c:pt>
              </c:strCache>
            </c:strRef>
          </c:cat>
          <c:val>
            <c:numRef>
              <c:f>Sheet1!$G$2:$G$15</c:f>
              <c:numCache>
                <c:formatCode>###0%</c:formatCode>
                <c:ptCount val="14"/>
                <c:pt idx="0">
                  <c:v>0.60256410256410253</c:v>
                </c:pt>
                <c:pt idx="1">
                  <c:v>0.4102564102564103</c:v>
                </c:pt>
                <c:pt idx="2">
                  <c:v>0.50980392156862742</c:v>
                </c:pt>
                <c:pt idx="3">
                  <c:v>0.35294117647058826</c:v>
                </c:pt>
                <c:pt idx="4">
                  <c:v>0.532258064516129</c:v>
                </c:pt>
                <c:pt idx="5">
                  <c:v>0.45161290322580649</c:v>
                </c:pt>
                <c:pt idx="6">
                  <c:v>0.59701492537313439</c:v>
                </c:pt>
                <c:pt idx="7">
                  <c:v>0.32835820895522388</c:v>
                </c:pt>
                <c:pt idx="8">
                  <c:v>0.58571428571428574</c:v>
                </c:pt>
                <c:pt idx="9">
                  <c:v>0.45714285714285713</c:v>
                </c:pt>
                <c:pt idx="10">
                  <c:v>0.51162790697674421</c:v>
                </c:pt>
                <c:pt idx="11">
                  <c:v>0.34883720930232553</c:v>
                </c:pt>
                <c:pt idx="12">
                  <c:v>0.625</c:v>
                </c:pt>
                <c:pt idx="13">
                  <c:v>0.1875</c:v>
                </c:pt>
              </c:numCache>
            </c:numRef>
          </c:val>
          <c:extLst>
            <c:ext xmlns:c16="http://schemas.microsoft.com/office/drawing/2014/chart" uri="{C3380CC4-5D6E-409C-BE32-E72D297353CC}">
              <c16:uniqueId val="{00000005-EAB7-4B13-983F-06E6A0BC2906}"/>
            </c:ext>
          </c:extLst>
        </c:ser>
        <c:dLbls>
          <c:dLblPos val="ctr"/>
          <c:showLegendKey val="0"/>
          <c:showVal val="1"/>
          <c:showCatName val="0"/>
          <c:showSerName val="0"/>
          <c:showPercent val="0"/>
          <c:showBubbleSize val="0"/>
        </c:dLbls>
        <c:gapWidth val="80"/>
        <c:overlap val="100"/>
        <c:axId val="1058677087"/>
        <c:axId val="1058677567"/>
      </c:barChart>
      <c:catAx>
        <c:axId val="1058677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58677567"/>
        <c:crosses val="autoZero"/>
        <c:auto val="1"/>
        <c:lblAlgn val="ctr"/>
        <c:lblOffset val="100"/>
        <c:noMultiLvlLbl val="0"/>
      </c:catAx>
      <c:valAx>
        <c:axId val="1058677567"/>
        <c:scaling>
          <c:orientation val="minMax"/>
        </c:scaling>
        <c:delete val="1"/>
        <c:axPos val="l"/>
        <c:numFmt formatCode="0%" sourceLinked="1"/>
        <c:majorTickMark val="none"/>
        <c:minorTickMark val="none"/>
        <c:tickLblPos val="nextTo"/>
        <c:crossAx val="10586770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Reversed" id="26">
  <a:schemeClr val="accent6"/>
</cs:colorStyle>
</file>

<file path=ppt/charts/colors4.xml><?xml version="1.0" encoding="utf-8"?>
<cs:colorStyle xmlns:cs="http://schemas.microsoft.com/office/drawing/2012/chartStyle" xmlns:a="http://schemas.openxmlformats.org/drawingml/2006/main" meth="withinLinearReversed" id="26">
  <a:schemeClr val="accent6"/>
</cs:colorStyle>
</file>

<file path=ppt/charts/colors5.xml><?xml version="1.0" encoding="utf-8"?>
<cs:colorStyle xmlns:cs="http://schemas.microsoft.com/office/drawing/2012/chartStyle" xmlns:a="http://schemas.openxmlformats.org/drawingml/2006/main" meth="withinLinearReversed" id="26">
  <a:schemeClr val="accent6"/>
</cs:colorStyle>
</file>

<file path=ppt/charts/colors6.xml><?xml version="1.0" encoding="utf-8"?>
<cs:colorStyle xmlns:cs="http://schemas.microsoft.com/office/drawing/2012/chartStyle" xmlns:a="http://schemas.openxmlformats.org/drawingml/2006/main" meth="withinLinearReversed" id="26">
  <a:schemeClr val="accent6"/>
</cs:colorStyle>
</file>

<file path=ppt/charts/colors7.xml><?xml version="1.0" encoding="utf-8"?>
<cs:colorStyle xmlns:cs="http://schemas.microsoft.com/office/drawing/2012/chartStyle" xmlns:a="http://schemas.openxmlformats.org/drawingml/2006/main" meth="withinLinearReversed" id="26">
  <a:schemeClr val="accent6"/>
</cs:colorStyle>
</file>

<file path=ppt/charts/colors8.xml><?xml version="1.0" encoding="utf-8"?>
<cs:colorStyle xmlns:cs="http://schemas.microsoft.com/office/drawing/2012/chartStyle" xmlns:a="http://schemas.openxmlformats.org/drawingml/2006/main" meth="withinLinearReversed" id="26">
  <a:schemeClr val="accent6"/>
</cs:colorStyle>
</file>

<file path=ppt/charts/colors9.xml><?xml version="1.0" encoding="utf-8"?>
<cs:colorStyle xmlns:cs="http://schemas.microsoft.com/office/drawing/2012/chartStyle" xmlns:a="http://schemas.openxmlformats.org/drawingml/2006/main" meth="withinLinearReversed" id="26">
  <a:schemeClr val="accent6"/>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withinLinearReversed" id="26">
  <a:schemeClr val="accent6"/>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withinLinearReversed" id="26">
  <a:schemeClr val="accent6"/>
</cs:colorStyle>
</file>

<file path=ppt/charts/colors24.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A08511-F684-4922-9D19-AD0994EE1375}"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IN"/>
        </a:p>
      </dgm:t>
    </dgm:pt>
    <dgm:pt modelId="{CAA1E8B1-6A3F-4993-BE3C-280C8A753DB4}">
      <dgm:prSet phldrT="[Text]"/>
      <dgm:spPr>
        <a:solidFill>
          <a:srgbClr val="FFC000"/>
        </a:solidFill>
      </dgm:spPr>
      <dgm:t>
        <a:bodyPr/>
        <a:lstStyle/>
        <a:p>
          <a:r>
            <a:rPr lang="en-IN" dirty="0">
              <a:solidFill>
                <a:schemeClr val="tx1"/>
              </a:solidFill>
              <a:latin typeface="Corbel" panose="020B0503020204020204" pitchFamily="34" charset="0"/>
              <a:cs typeface="Calibri" panose="020F0502020204030204" pitchFamily="34" charset="0"/>
            </a:rPr>
            <a:t>All the participants were recruited on the spot for the research followed by all the selected criteria's.</a:t>
          </a:r>
          <a:endParaRPr lang="en-IN" dirty="0">
            <a:latin typeface="Corbel" panose="020B0503020204020204" pitchFamily="34" charset="0"/>
          </a:endParaRPr>
        </a:p>
      </dgm:t>
    </dgm:pt>
    <dgm:pt modelId="{43395781-7010-437D-8376-BA1E4F2545CD}" type="parTrans" cxnId="{2617D787-DF22-41AF-9FFE-7015BD9862B5}">
      <dgm:prSet/>
      <dgm:spPr/>
      <dgm:t>
        <a:bodyPr/>
        <a:lstStyle/>
        <a:p>
          <a:endParaRPr lang="en-IN">
            <a:latin typeface="Corbel" panose="020B0503020204020204" pitchFamily="34" charset="0"/>
          </a:endParaRPr>
        </a:p>
      </dgm:t>
    </dgm:pt>
    <dgm:pt modelId="{807A7781-E932-49EC-8C64-8DAE4A333683}" type="sibTrans" cxnId="{2617D787-DF22-41AF-9FFE-7015BD9862B5}">
      <dgm:prSet/>
      <dgm:spPr>
        <a:ln>
          <a:solidFill>
            <a:schemeClr val="tx1"/>
          </a:solidFill>
        </a:ln>
      </dgm:spPr>
      <dgm:t>
        <a:bodyPr/>
        <a:lstStyle/>
        <a:p>
          <a:endParaRPr lang="en-IN">
            <a:latin typeface="Corbel" panose="020B0503020204020204" pitchFamily="34" charset="0"/>
          </a:endParaRPr>
        </a:p>
      </dgm:t>
    </dgm:pt>
    <dgm:pt modelId="{764F6086-0D51-4083-A488-AE13CF71FE6F}">
      <dgm:prSet phldrT="[Text]"/>
      <dgm:spPr>
        <a:solidFill>
          <a:srgbClr val="00B050"/>
        </a:solidFill>
      </dgm:spPr>
      <dgm:t>
        <a:bodyPr/>
        <a:lstStyle/>
        <a:p>
          <a:r>
            <a:rPr lang="en-IN" dirty="0">
              <a:solidFill>
                <a:schemeClr val="tx1"/>
              </a:solidFill>
              <a:latin typeface="Corbel" panose="020B0503020204020204" pitchFamily="34" charset="0"/>
              <a:cs typeface="Calibri" panose="020F0502020204030204" pitchFamily="34" charset="0"/>
            </a:rPr>
            <a:t>Take his/her consent to participate in the research and spend 20-25 min to complete the research process. </a:t>
          </a:r>
          <a:endParaRPr lang="en-IN" dirty="0">
            <a:latin typeface="Corbel" panose="020B0503020204020204" pitchFamily="34" charset="0"/>
          </a:endParaRPr>
        </a:p>
      </dgm:t>
    </dgm:pt>
    <dgm:pt modelId="{070478C1-BCEC-4425-B51A-F3F40171A71B}" type="parTrans" cxnId="{0DD9EC28-78D4-42C1-8EBA-FA092602910F}">
      <dgm:prSet/>
      <dgm:spPr/>
      <dgm:t>
        <a:bodyPr/>
        <a:lstStyle/>
        <a:p>
          <a:endParaRPr lang="en-IN">
            <a:latin typeface="Corbel" panose="020B0503020204020204" pitchFamily="34" charset="0"/>
          </a:endParaRPr>
        </a:p>
      </dgm:t>
    </dgm:pt>
    <dgm:pt modelId="{9C522536-E131-4540-AD9F-DE815BDAC032}" type="sibTrans" cxnId="{0DD9EC28-78D4-42C1-8EBA-FA092602910F}">
      <dgm:prSet/>
      <dgm:spPr>
        <a:ln>
          <a:solidFill>
            <a:schemeClr val="tx1"/>
          </a:solidFill>
        </a:ln>
      </dgm:spPr>
      <dgm:t>
        <a:bodyPr/>
        <a:lstStyle/>
        <a:p>
          <a:endParaRPr lang="en-IN">
            <a:latin typeface="Corbel" panose="020B0503020204020204" pitchFamily="34" charset="0"/>
          </a:endParaRPr>
        </a:p>
      </dgm:t>
    </dgm:pt>
    <dgm:pt modelId="{EAFDD6EE-7DE1-4358-A5E7-6CEE9DD879AB}">
      <dgm:prSet phldrT="[Text]"/>
      <dgm:spPr>
        <a:solidFill>
          <a:srgbClr val="92D050"/>
        </a:solidFill>
      </dgm:spPr>
      <dgm:t>
        <a:bodyPr/>
        <a:lstStyle/>
        <a:p>
          <a:r>
            <a:rPr lang="en-IN" dirty="0">
              <a:solidFill>
                <a:schemeClr val="tx1"/>
              </a:solidFill>
              <a:latin typeface="Corbel" panose="020B0503020204020204" pitchFamily="34" charset="0"/>
              <a:cs typeface="Calibri" panose="020F0502020204030204" pitchFamily="34" charset="0"/>
            </a:rPr>
            <a:t>Screening : Ensure the correct respondent been selected for the research. </a:t>
          </a:r>
          <a:endParaRPr lang="en-IN" dirty="0">
            <a:latin typeface="Corbel" panose="020B0503020204020204" pitchFamily="34" charset="0"/>
          </a:endParaRPr>
        </a:p>
      </dgm:t>
    </dgm:pt>
    <dgm:pt modelId="{8D94FBFB-FDBA-44B4-8363-E759CAAF89D1}" type="parTrans" cxnId="{16871EBC-C8D7-47D3-8A0A-77F90AD36856}">
      <dgm:prSet/>
      <dgm:spPr/>
      <dgm:t>
        <a:bodyPr/>
        <a:lstStyle/>
        <a:p>
          <a:endParaRPr lang="en-IN">
            <a:latin typeface="Corbel" panose="020B0503020204020204" pitchFamily="34" charset="0"/>
          </a:endParaRPr>
        </a:p>
      </dgm:t>
    </dgm:pt>
    <dgm:pt modelId="{F0E0FBB2-860D-4538-8BD5-3C913828EC89}" type="sibTrans" cxnId="{16871EBC-C8D7-47D3-8A0A-77F90AD36856}">
      <dgm:prSet/>
      <dgm:spPr>
        <a:ln>
          <a:solidFill>
            <a:schemeClr val="tx1"/>
          </a:solidFill>
        </a:ln>
      </dgm:spPr>
      <dgm:t>
        <a:bodyPr/>
        <a:lstStyle/>
        <a:p>
          <a:endParaRPr lang="en-IN">
            <a:latin typeface="Corbel" panose="020B0503020204020204" pitchFamily="34" charset="0"/>
          </a:endParaRPr>
        </a:p>
      </dgm:t>
    </dgm:pt>
    <dgm:pt modelId="{CA056A35-031B-41AF-A9BF-2B57D492BD21}">
      <dgm:prSet phldrT="[Text]"/>
      <dgm:spPr>
        <a:solidFill>
          <a:srgbClr val="00B0F0"/>
        </a:solidFill>
      </dgm:spPr>
      <dgm:t>
        <a:bodyPr/>
        <a:lstStyle/>
        <a:p>
          <a:r>
            <a:rPr lang="en-IN" dirty="0">
              <a:solidFill>
                <a:schemeClr val="tx1"/>
              </a:solidFill>
              <a:latin typeface="Corbel" panose="020B0503020204020204" pitchFamily="34" charset="0"/>
              <a:cs typeface="Calibri" panose="020F0502020204030204" pitchFamily="34" charset="0"/>
            </a:rPr>
            <a:t>Interviewer introduction and familiar to the respondent about the purpose of the research and allowed them to follow the product testing process.</a:t>
          </a:r>
          <a:endParaRPr lang="en-IN" dirty="0">
            <a:latin typeface="Corbel" panose="020B0503020204020204" pitchFamily="34" charset="0"/>
          </a:endParaRPr>
        </a:p>
      </dgm:t>
    </dgm:pt>
    <dgm:pt modelId="{40776CCE-AD21-4725-AB9C-3726B5441CB4}" type="parTrans" cxnId="{AE7E8C3C-6992-456E-BBB7-16891F237F5F}">
      <dgm:prSet/>
      <dgm:spPr/>
      <dgm:t>
        <a:bodyPr/>
        <a:lstStyle/>
        <a:p>
          <a:endParaRPr lang="en-IN">
            <a:latin typeface="Corbel" panose="020B0503020204020204" pitchFamily="34" charset="0"/>
          </a:endParaRPr>
        </a:p>
      </dgm:t>
    </dgm:pt>
    <dgm:pt modelId="{B31B190D-79C8-45A4-8DF3-DC87914BC4C2}" type="sibTrans" cxnId="{AE7E8C3C-6992-456E-BBB7-16891F237F5F}">
      <dgm:prSet/>
      <dgm:spPr>
        <a:ln>
          <a:solidFill>
            <a:schemeClr val="tx1"/>
          </a:solidFill>
        </a:ln>
      </dgm:spPr>
      <dgm:t>
        <a:bodyPr/>
        <a:lstStyle/>
        <a:p>
          <a:endParaRPr lang="en-IN">
            <a:latin typeface="Corbel" panose="020B0503020204020204" pitchFamily="34" charset="0"/>
          </a:endParaRPr>
        </a:p>
      </dgm:t>
    </dgm:pt>
    <dgm:pt modelId="{18A9CBB4-9713-4227-A0C5-09786D527525}">
      <dgm:prSet phldrT="[Text]"/>
      <dgm:spPr>
        <a:solidFill>
          <a:schemeClr val="bg1">
            <a:lumMod val="65000"/>
          </a:schemeClr>
        </a:solidFill>
      </dgm:spPr>
      <dgm:t>
        <a:bodyPr/>
        <a:lstStyle/>
        <a:p>
          <a:r>
            <a:rPr lang="en-IN" dirty="0">
              <a:solidFill>
                <a:schemeClr val="tx1"/>
              </a:solidFill>
              <a:latin typeface="Corbel" panose="020B0503020204020204" pitchFamily="34" charset="0"/>
              <a:cs typeface="Calibri" panose="020F0502020204030204" pitchFamily="34" charset="0"/>
            </a:rPr>
            <a:t>Interviewer ask some structured and unstructured questions to the participant for the respective products to collect the feedbacks.</a:t>
          </a:r>
          <a:endParaRPr lang="en-IN" dirty="0">
            <a:latin typeface="Corbel" panose="020B0503020204020204" pitchFamily="34" charset="0"/>
          </a:endParaRPr>
        </a:p>
      </dgm:t>
    </dgm:pt>
    <dgm:pt modelId="{F17E1F5A-4E23-49AC-BBB6-0710575F2A3A}" type="parTrans" cxnId="{F348979D-0483-4633-859D-6BAC122BFA11}">
      <dgm:prSet/>
      <dgm:spPr/>
      <dgm:t>
        <a:bodyPr/>
        <a:lstStyle/>
        <a:p>
          <a:endParaRPr lang="en-IN">
            <a:latin typeface="Corbel" panose="020B0503020204020204" pitchFamily="34" charset="0"/>
          </a:endParaRPr>
        </a:p>
      </dgm:t>
    </dgm:pt>
    <dgm:pt modelId="{A1B8123A-6C5E-4449-A1D8-3B095450E09C}" type="sibTrans" cxnId="{F348979D-0483-4633-859D-6BAC122BFA11}">
      <dgm:prSet/>
      <dgm:spPr/>
      <dgm:t>
        <a:bodyPr/>
        <a:lstStyle/>
        <a:p>
          <a:endParaRPr lang="en-IN">
            <a:latin typeface="Corbel" panose="020B0503020204020204" pitchFamily="34" charset="0"/>
          </a:endParaRPr>
        </a:p>
      </dgm:t>
    </dgm:pt>
    <dgm:pt modelId="{BC6C4DED-BB88-4293-A52A-5D15F32E3DB3}">
      <dgm:prSet/>
      <dgm:spPr/>
      <dgm:t>
        <a:bodyPr/>
        <a:lstStyle/>
        <a:p>
          <a:r>
            <a:rPr lang="en-IN" dirty="0">
              <a:solidFill>
                <a:schemeClr val="tx1"/>
              </a:solidFill>
              <a:latin typeface="Corbel" panose="020B0503020204020204" pitchFamily="34" charset="0"/>
              <a:cs typeface="Calibri" panose="020F0502020204030204" pitchFamily="34" charset="0"/>
            </a:rPr>
            <a:t>Feedback has to be recorded on the questionnaire with proper logic checks.</a:t>
          </a:r>
          <a:r>
            <a:rPr lang="en-IN" dirty="0">
              <a:latin typeface="Corbel" panose="020B0503020204020204" pitchFamily="34" charset="0"/>
              <a:cs typeface="Calibri" panose="020F0502020204030204" pitchFamily="34" charset="0"/>
            </a:rPr>
            <a:t> </a:t>
          </a:r>
          <a:endParaRPr lang="en-IN" dirty="0"/>
        </a:p>
      </dgm:t>
    </dgm:pt>
    <dgm:pt modelId="{BE8B9274-D385-4DB3-8CB5-7CC51EB6E4BC}" type="parTrans" cxnId="{65D01FF1-43F9-42AE-8F85-B73C7E2C308F}">
      <dgm:prSet/>
      <dgm:spPr/>
      <dgm:t>
        <a:bodyPr/>
        <a:lstStyle/>
        <a:p>
          <a:endParaRPr lang="en-IN"/>
        </a:p>
      </dgm:t>
    </dgm:pt>
    <dgm:pt modelId="{03548F66-0EA1-49CA-B1C3-8EE04E39FBFC}" type="sibTrans" cxnId="{65D01FF1-43F9-42AE-8F85-B73C7E2C308F}">
      <dgm:prSet/>
      <dgm:spPr/>
      <dgm:t>
        <a:bodyPr/>
        <a:lstStyle/>
        <a:p>
          <a:endParaRPr lang="en-IN"/>
        </a:p>
      </dgm:t>
    </dgm:pt>
    <dgm:pt modelId="{78A9D4FA-9605-4A95-9ABA-1508FF32BB6C}" type="pres">
      <dgm:prSet presAssocID="{64A08511-F684-4922-9D19-AD0994EE1375}" presName="Name0" presStyleCnt="0">
        <dgm:presLayoutVars>
          <dgm:dir/>
          <dgm:resizeHandles val="exact"/>
        </dgm:presLayoutVars>
      </dgm:prSet>
      <dgm:spPr/>
    </dgm:pt>
    <dgm:pt modelId="{2355C76E-381E-42AA-A0B5-53F5CEEF9AAF}" type="pres">
      <dgm:prSet presAssocID="{CAA1E8B1-6A3F-4993-BE3C-280C8A753DB4}" presName="node" presStyleLbl="node1" presStyleIdx="0" presStyleCnt="6">
        <dgm:presLayoutVars>
          <dgm:bulletEnabled val="1"/>
        </dgm:presLayoutVars>
      </dgm:prSet>
      <dgm:spPr/>
    </dgm:pt>
    <dgm:pt modelId="{5EEFEEDC-9CA5-4601-A0CA-E0F668EEB2C7}" type="pres">
      <dgm:prSet presAssocID="{807A7781-E932-49EC-8C64-8DAE4A333683}" presName="sibTrans" presStyleLbl="sibTrans1D1" presStyleIdx="0" presStyleCnt="5"/>
      <dgm:spPr/>
    </dgm:pt>
    <dgm:pt modelId="{6C565713-9A3B-4D93-B1F1-E998EA3765C4}" type="pres">
      <dgm:prSet presAssocID="{807A7781-E932-49EC-8C64-8DAE4A333683}" presName="connectorText" presStyleLbl="sibTrans1D1" presStyleIdx="0" presStyleCnt="5"/>
      <dgm:spPr/>
    </dgm:pt>
    <dgm:pt modelId="{ED265503-FF76-4684-883D-B8540C1E2D23}" type="pres">
      <dgm:prSet presAssocID="{764F6086-0D51-4083-A488-AE13CF71FE6F}" presName="node" presStyleLbl="node1" presStyleIdx="1" presStyleCnt="6">
        <dgm:presLayoutVars>
          <dgm:bulletEnabled val="1"/>
        </dgm:presLayoutVars>
      </dgm:prSet>
      <dgm:spPr/>
    </dgm:pt>
    <dgm:pt modelId="{B7E9EDA2-54CD-497A-9B74-326565A3F597}" type="pres">
      <dgm:prSet presAssocID="{9C522536-E131-4540-AD9F-DE815BDAC032}" presName="sibTrans" presStyleLbl="sibTrans1D1" presStyleIdx="1" presStyleCnt="5"/>
      <dgm:spPr/>
    </dgm:pt>
    <dgm:pt modelId="{C3DDE001-5C0C-4320-9691-45C857B807F2}" type="pres">
      <dgm:prSet presAssocID="{9C522536-E131-4540-AD9F-DE815BDAC032}" presName="connectorText" presStyleLbl="sibTrans1D1" presStyleIdx="1" presStyleCnt="5"/>
      <dgm:spPr/>
    </dgm:pt>
    <dgm:pt modelId="{71E60B8F-7EAA-4510-B100-734FF98B7BCD}" type="pres">
      <dgm:prSet presAssocID="{EAFDD6EE-7DE1-4358-A5E7-6CEE9DD879AB}" presName="node" presStyleLbl="node1" presStyleIdx="2" presStyleCnt="6">
        <dgm:presLayoutVars>
          <dgm:bulletEnabled val="1"/>
        </dgm:presLayoutVars>
      </dgm:prSet>
      <dgm:spPr/>
    </dgm:pt>
    <dgm:pt modelId="{D9EDF008-7260-4D15-8BE8-B700460BFAEC}" type="pres">
      <dgm:prSet presAssocID="{F0E0FBB2-860D-4538-8BD5-3C913828EC89}" presName="sibTrans" presStyleLbl="sibTrans1D1" presStyleIdx="2" presStyleCnt="5"/>
      <dgm:spPr/>
    </dgm:pt>
    <dgm:pt modelId="{4BFB1408-C78B-43E0-A6F7-00408516E875}" type="pres">
      <dgm:prSet presAssocID="{F0E0FBB2-860D-4538-8BD5-3C913828EC89}" presName="connectorText" presStyleLbl="sibTrans1D1" presStyleIdx="2" presStyleCnt="5"/>
      <dgm:spPr/>
    </dgm:pt>
    <dgm:pt modelId="{EBC51A81-1C1D-4AC4-9E72-83EBC8873ECE}" type="pres">
      <dgm:prSet presAssocID="{CA056A35-031B-41AF-A9BF-2B57D492BD21}" presName="node" presStyleLbl="node1" presStyleIdx="3" presStyleCnt="6">
        <dgm:presLayoutVars>
          <dgm:bulletEnabled val="1"/>
        </dgm:presLayoutVars>
      </dgm:prSet>
      <dgm:spPr/>
    </dgm:pt>
    <dgm:pt modelId="{2CBE0234-9DBA-493F-8D83-60A94DE22A3D}" type="pres">
      <dgm:prSet presAssocID="{B31B190D-79C8-45A4-8DF3-DC87914BC4C2}" presName="sibTrans" presStyleLbl="sibTrans1D1" presStyleIdx="3" presStyleCnt="5"/>
      <dgm:spPr/>
    </dgm:pt>
    <dgm:pt modelId="{887A8760-B794-4F8D-9618-E504DE8A4B38}" type="pres">
      <dgm:prSet presAssocID="{B31B190D-79C8-45A4-8DF3-DC87914BC4C2}" presName="connectorText" presStyleLbl="sibTrans1D1" presStyleIdx="3" presStyleCnt="5"/>
      <dgm:spPr/>
    </dgm:pt>
    <dgm:pt modelId="{1AE167D3-ACE4-40FB-94E3-BC1A220C3D04}" type="pres">
      <dgm:prSet presAssocID="{18A9CBB4-9713-4227-A0C5-09786D527525}" presName="node" presStyleLbl="node1" presStyleIdx="4" presStyleCnt="6">
        <dgm:presLayoutVars>
          <dgm:bulletEnabled val="1"/>
        </dgm:presLayoutVars>
      </dgm:prSet>
      <dgm:spPr/>
    </dgm:pt>
    <dgm:pt modelId="{0A40A248-2E44-4108-9A47-82BF72BC8CFD}" type="pres">
      <dgm:prSet presAssocID="{A1B8123A-6C5E-4449-A1D8-3B095450E09C}" presName="sibTrans" presStyleLbl="sibTrans1D1" presStyleIdx="4" presStyleCnt="5"/>
      <dgm:spPr/>
    </dgm:pt>
    <dgm:pt modelId="{1D5C5B7B-A8B2-4235-8173-56FE55716D84}" type="pres">
      <dgm:prSet presAssocID="{A1B8123A-6C5E-4449-A1D8-3B095450E09C}" presName="connectorText" presStyleLbl="sibTrans1D1" presStyleIdx="4" presStyleCnt="5"/>
      <dgm:spPr/>
    </dgm:pt>
    <dgm:pt modelId="{E026147D-AFE0-42A2-A53D-B6E02E76329C}" type="pres">
      <dgm:prSet presAssocID="{BC6C4DED-BB88-4293-A52A-5D15F32E3DB3}" presName="node" presStyleLbl="node1" presStyleIdx="5" presStyleCnt="6">
        <dgm:presLayoutVars>
          <dgm:bulletEnabled val="1"/>
        </dgm:presLayoutVars>
      </dgm:prSet>
      <dgm:spPr/>
    </dgm:pt>
  </dgm:ptLst>
  <dgm:cxnLst>
    <dgm:cxn modelId="{A7323603-2F8E-4FD6-890E-611041366359}" type="presOf" srcId="{F0E0FBB2-860D-4538-8BD5-3C913828EC89}" destId="{4BFB1408-C78B-43E0-A6F7-00408516E875}" srcOrd="1" destOrd="0" presId="urn:microsoft.com/office/officeart/2005/8/layout/bProcess3"/>
    <dgm:cxn modelId="{F9A7E90B-6391-41D9-B939-9C30779109CD}" type="presOf" srcId="{64A08511-F684-4922-9D19-AD0994EE1375}" destId="{78A9D4FA-9605-4A95-9ABA-1508FF32BB6C}" srcOrd="0" destOrd="0" presId="urn:microsoft.com/office/officeart/2005/8/layout/bProcess3"/>
    <dgm:cxn modelId="{ED42CC12-C40C-49CA-B254-477FBB339F00}" type="presOf" srcId="{764F6086-0D51-4083-A488-AE13CF71FE6F}" destId="{ED265503-FF76-4684-883D-B8540C1E2D23}" srcOrd="0" destOrd="0" presId="urn:microsoft.com/office/officeart/2005/8/layout/bProcess3"/>
    <dgm:cxn modelId="{82251616-7817-4CE7-97BF-4BFCD8C0D330}" type="presOf" srcId="{B31B190D-79C8-45A4-8DF3-DC87914BC4C2}" destId="{887A8760-B794-4F8D-9618-E504DE8A4B38}" srcOrd="1" destOrd="0" presId="urn:microsoft.com/office/officeart/2005/8/layout/bProcess3"/>
    <dgm:cxn modelId="{36CA1C18-9CC0-4136-9E6D-C70BAD12D962}" type="presOf" srcId="{9C522536-E131-4540-AD9F-DE815BDAC032}" destId="{B7E9EDA2-54CD-497A-9B74-326565A3F597}" srcOrd="0" destOrd="0" presId="urn:microsoft.com/office/officeart/2005/8/layout/bProcess3"/>
    <dgm:cxn modelId="{542DB81E-5985-43FA-81C3-75CB888A9B31}" type="presOf" srcId="{18A9CBB4-9713-4227-A0C5-09786D527525}" destId="{1AE167D3-ACE4-40FB-94E3-BC1A220C3D04}" srcOrd="0" destOrd="0" presId="urn:microsoft.com/office/officeart/2005/8/layout/bProcess3"/>
    <dgm:cxn modelId="{0DD9EC28-78D4-42C1-8EBA-FA092602910F}" srcId="{64A08511-F684-4922-9D19-AD0994EE1375}" destId="{764F6086-0D51-4083-A488-AE13CF71FE6F}" srcOrd="1" destOrd="0" parTransId="{070478C1-BCEC-4425-B51A-F3F40171A71B}" sibTransId="{9C522536-E131-4540-AD9F-DE815BDAC032}"/>
    <dgm:cxn modelId="{C2BF0F37-E22D-41DB-912F-D784A6136593}" type="presOf" srcId="{F0E0FBB2-860D-4538-8BD5-3C913828EC89}" destId="{D9EDF008-7260-4D15-8BE8-B700460BFAEC}" srcOrd="0" destOrd="0" presId="urn:microsoft.com/office/officeart/2005/8/layout/bProcess3"/>
    <dgm:cxn modelId="{AE7E8C3C-6992-456E-BBB7-16891F237F5F}" srcId="{64A08511-F684-4922-9D19-AD0994EE1375}" destId="{CA056A35-031B-41AF-A9BF-2B57D492BD21}" srcOrd="3" destOrd="0" parTransId="{40776CCE-AD21-4725-AB9C-3726B5441CB4}" sibTransId="{B31B190D-79C8-45A4-8DF3-DC87914BC4C2}"/>
    <dgm:cxn modelId="{B6C6A242-1CC3-470B-9745-C157685970D7}" type="presOf" srcId="{BC6C4DED-BB88-4293-A52A-5D15F32E3DB3}" destId="{E026147D-AFE0-42A2-A53D-B6E02E76329C}" srcOrd="0" destOrd="0" presId="urn:microsoft.com/office/officeart/2005/8/layout/bProcess3"/>
    <dgm:cxn modelId="{2617D787-DF22-41AF-9FFE-7015BD9862B5}" srcId="{64A08511-F684-4922-9D19-AD0994EE1375}" destId="{CAA1E8B1-6A3F-4993-BE3C-280C8A753DB4}" srcOrd="0" destOrd="0" parTransId="{43395781-7010-437D-8376-BA1E4F2545CD}" sibTransId="{807A7781-E932-49EC-8C64-8DAE4A333683}"/>
    <dgm:cxn modelId="{9F188496-B9A2-4813-9B5F-E39D3B04824D}" type="presOf" srcId="{807A7781-E932-49EC-8C64-8DAE4A333683}" destId="{6C565713-9A3B-4D93-B1F1-E998EA3765C4}" srcOrd="1" destOrd="0" presId="urn:microsoft.com/office/officeart/2005/8/layout/bProcess3"/>
    <dgm:cxn modelId="{AC96BC97-6EC8-4457-93D4-A172BE0D3C46}" type="presOf" srcId="{A1B8123A-6C5E-4449-A1D8-3B095450E09C}" destId="{0A40A248-2E44-4108-9A47-82BF72BC8CFD}" srcOrd="0" destOrd="0" presId="urn:microsoft.com/office/officeart/2005/8/layout/bProcess3"/>
    <dgm:cxn modelId="{F348979D-0483-4633-859D-6BAC122BFA11}" srcId="{64A08511-F684-4922-9D19-AD0994EE1375}" destId="{18A9CBB4-9713-4227-A0C5-09786D527525}" srcOrd="4" destOrd="0" parTransId="{F17E1F5A-4E23-49AC-BBB6-0710575F2A3A}" sibTransId="{A1B8123A-6C5E-4449-A1D8-3B095450E09C}"/>
    <dgm:cxn modelId="{CDAFD1B4-128C-48FD-B117-152B39BA1E37}" type="presOf" srcId="{A1B8123A-6C5E-4449-A1D8-3B095450E09C}" destId="{1D5C5B7B-A8B2-4235-8173-56FE55716D84}" srcOrd="1" destOrd="0" presId="urn:microsoft.com/office/officeart/2005/8/layout/bProcess3"/>
    <dgm:cxn modelId="{16871EBC-C8D7-47D3-8A0A-77F90AD36856}" srcId="{64A08511-F684-4922-9D19-AD0994EE1375}" destId="{EAFDD6EE-7DE1-4358-A5E7-6CEE9DD879AB}" srcOrd="2" destOrd="0" parTransId="{8D94FBFB-FDBA-44B4-8363-E759CAAF89D1}" sibTransId="{F0E0FBB2-860D-4538-8BD5-3C913828EC89}"/>
    <dgm:cxn modelId="{D84089BF-0A8C-4EED-B114-9CA151D28277}" type="presOf" srcId="{B31B190D-79C8-45A4-8DF3-DC87914BC4C2}" destId="{2CBE0234-9DBA-493F-8D83-60A94DE22A3D}" srcOrd="0" destOrd="0" presId="urn:microsoft.com/office/officeart/2005/8/layout/bProcess3"/>
    <dgm:cxn modelId="{1B81FEBF-432E-4240-95F9-9857658B0810}" type="presOf" srcId="{CA056A35-031B-41AF-A9BF-2B57D492BD21}" destId="{EBC51A81-1C1D-4AC4-9E72-83EBC8873ECE}" srcOrd="0" destOrd="0" presId="urn:microsoft.com/office/officeart/2005/8/layout/bProcess3"/>
    <dgm:cxn modelId="{3FD87AC2-4199-4328-9F22-02E94830D089}" type="presOf" srcId="{9C522536-E131-4540-AD9F-DE815BDAC032}" destId="{C3DDE001-5C0C-4320-9691-45C857B807F2}" srcOrd="1" destOrd="0" presId="urn:microsoft.com/office/officeart/2005/8/layout/bProcess3"/>
    <dgm:cxn modelId="{684A55DF-AFC9-4DA2-B781-A6CB1CE977E0}" type="presOf" srcId="{CAA1E8B1-6A3F-4993-BE3C-280C8A753DB4}" destId="{2355C76E-381E-42AA-A0B5-53F5CEEF9AAF}" srcOrd="0" destOrd="0" presId="urn:microsoft.com/office/officeart/2005/8/layout/bProcess3"/>
    <dgm:cxn modelId="{65D01FF1-43F9-42AE-8F85-B73C7E2C308F}" srcId="{64A08511-F684-4922-9D19-AD0994EE1375}" destId="{BC6C4DED-BB88-4293-A52A-5D15F32E3DB3}" srcOrd="5" destOrd="0" parTransId="{BE8B9274-D385-4DB3-8CB5-7CC51EB6E4BC}" sibTransId="{03548F66-0EA1-49CA-B1C3-8EE04E39FBFC}"/>
    <dgm:cxn modelId="{EB9008F6-55A5-408F-BD83-883B0938590D}" type="presOf" srcId="{807A7781-E932-49EC-8C64-8DAE4A333683}" destId="{5EEFEEDC-9CA5-4601-A0CA-E0F668EEB2C7}" srcOrd="0" destOrd="0" presId="urn:microsoft.com/office/officeart/2005/8/layout/bProcess3"/>
    <dgm:cxn modelId="{C5F0CDFD-7065-4788-BDF4-F26BFCBBD9E8}" type="presOf" srcId="{EAFDD6EE-7DE1-4358-A5E7-6CEE9DD879AB}" destId="{71E60B8F-7EAA-4510-B100-734FF98B7BCD}" srcOrd="0" destOrd="0" presId="urn:microsoft.com/office/officeart/2005/8/layout/bProcess3"/>
    <dgm:cxn modelId="{C91BA488-A652-482A-9499-C550D76D623B}" type="presParOf" srcId="{78A9D4FA-9605-4A95-9ABA-1508FF32BB6C}" destId="{2355C76E-381E-42AA-A0B5-53F5CEEF9AAF}" srcOrd="0" destOrd="0" presId="urn:microsoft.com/office/officeart/2005/8/layout/bProcess3"/>
    <dgm:cxn modelId="{464CF911-AC7C-41FE-803C-E2C0F762F3B6}" type="presParOf" srcId="{78A9D4FA-9605-4A95-9ABA-1508FF32BB6C}" destId="{5EEFEEDC-9CA5-4601-A0CA-E0F668EEB2C7}" srcOrd="1" destOrd="0" presId="urn:microsoft.com/office/officeart/2005/8/layout/bProcess3"/>
    <dgm:cxn modelId="{7AD7D203-2BF7-40A2-A7EB-808EF0D18B32}" type="presParOf" srcId="{5EEFEEDC-9CA5-4601-A0CA-E0F668EEB2C7}" destId="{6C565713-9A3B-4D93-B1F1-E998EA3765C4}" srcOrd="0" destOrd="0" presId="urn:microsoft.com/office/officeart/2005/8/layout/bProcess3"/>
    <dgm:cxn modelId="{1FC2FB7B-281F-4B95-BA54-C493DEA4343A}" type="presParOf" srcId="{78A9D4FA-9605-4A95-9ABA-1508FF32BB6C}" destId="{ED265503-FF76-4684-883D-B8540C1E2D23}" srcOrd="2" destOrd="0" presId="urn:microsoft.com/office/officeart/2005/8/layout/bProcess3"/>
    <dgm:cxn modelId="{8C036EF8-7989-4671-8027-054B17F0D82A}" type="presParOf" srcId="{78A9D4FA-9605-4A95-9ABA-1508FF32BB6C}" destId="{B7E9EDA2-54CD-497A-9B74-326565A3F597}" srcOrd="3" destOrd="0" presId="urn:microsoft.com/office/officeart/2005/8/layout/bProcess3"/>
    <dgm:cxn modelId="{5A881B14-0058-46DB-8EC1-EADC95CB0D47}" type="presParOf" srcId="{B7E9EDA2-54CD-497A-9B74-326565A3F597}" destId="{C3DDE001-5C0C-4320-9691-45C857B807F2}" srcOrd="0" destOrd="0" presId="urn:microsoft.com/office/officeart/2005/8/layout/bProcess3"/>
    <dgm:cxn modelId="{0F3FB6BF-7801-4F1D-9372-D0AB5A9FC519}" type="presParOf" srcId="{78A9D4FA-9605-4A95-9ABA-1508FF32BB6C}" destId="{71E60B8F-7EAA-4510-B100-734FF98B7BCD}" srcOrd="4" destOrd="0" presId="urn:microsoft.com/office/officeart/2005/8/layout/bProcess3"/>
    <dgm:cxn modelId="{7E9FA2DB-9C21-4DE6-881F-DB1BFC59D090}" type="presParOf" srcId="{78A9D4FA-9605-4A95-9ABA-1508FF32BB6C}" destId="{D9EDF008-7260-4D15-8BE8-B700460BFAEC}" srcOrd="5" destOrd="0" presId="urn:microsoft.com/office/officeart/2005/8/layout/bProcess3"/>
    <dgm:cxn modelId="{5D25BC80-DC65-44F9-8656-A4437392F445}" type="presParOf" srcId="{D9EDF008-7260-4D15-8BE8-B700460BFAEC}" destId="{4BFB1408-C78B-43E0-A6F7-00408516E875}" srcOrd="0" destOrd="0" presId="urn:microsoft.com/office/officeart/2005/8/layout/bProcess3"/>
    <dgm:cxn modelId="{BE507C44-43FB-4F51-A3E8-2F290EBDB67C}" type="presParOf" srcId="{78A9D4FA-9605-4A95-9ABA-1508FF32BB6C}" destId="{EBC51A81-1C1D-4AC4-9E72-83EBC8873ECE}" srcOrd="6" destOrd="0" presId="urn:microsoft.com/office/officeart/2005/8/layout/bProcess3"/>
    <dgm:cxn modelId="{7EA8212D-76F7-4530-B106-C0CBA001FDF7}" type="presParOf" srcId="{78A9D4FA-9605-4A95-9ABA-1508FF32BB6C}" destId="{2CBE0234-9DBA-493F-8D83-60A94DE22A3D}" srcOrd="7" destOrd="0" presId="urn:microsoft.com/office/officeart/2005/8/layout/bProcess3"/>
    <dgm:cxn modelId="{342DB11B-D9C4-438C-AB60-15899F9CFEC4}" type="presParOf" srcId="{2CBE0234-9DBA-493F-8D83-60A94DE22A3D}" destId="{887A8760-B794-4F8D-9618-E504DE8A4B38}" srcOrd="0" destOrd="0" presId="urn:microsoft.com/office/officeart/2005/8/layout/bProcess3"/>
    <dgm:cxn modelId="{E3C5B62C-9EEE-41C1-8354-C29608EF1B17}" type="presParOf" srcId="{78A9D4FA-9605-4A95-9ABA-1508FF32BB6C}" destId="{1AE167D3-ACE4-40FB-94E3-BC1A220C3D04}" srcOrd="8" destOrd="0" presId="urn:microsoft.com/office/officeart/2005/8/layout/bProcess3"/>
    <dgm:cxn modelId="{85CAC47C-63DD-4BC0-8FA0-59D1A1B5A239}" type="presParOf" srcId="{78A9D4FA-9605-4A95-9ABA-1508FF32BB6C}" destId="{0A40A248-2E44-4108-9A47-82BF72BC8CFD}" srcOrd="9" destOrd="0" presId="urn:microsoft.com/office/officeart/2005/8/layout/bProcess3"/>
    <dgm:cxn modelId="{40D35CAD-869C-491E-A573-BC98CF4C7E9D}" type="presParOf" srcId="{0A40A248-2E44-4108-9A47-82BF72BC8CFD}" destId="{1D5C5B7B-A8B2-4235-8173-56FE55716D84}" srcOrd="0" destOrd="0" presId="urn:microsoft.com/office/officeart/2005/8/layout/bProcess3"/>
    <dgm:cxn modelId="{0FD9AE9F-BDB5-4FAF-87B6-209672B69A52}" type="presParOf" srcId="{78A9D4FA-9605-4A95-9ABA-1508FF32BB6C}" destId="{E026147D-AFE0-42A2-A53D-B6E02E76329C}" srcOrd="1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85EBA9-080E-4712-85A2-71F6E941F18A}"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IN"/>
        </a:p>
      </dgm:t>
    </dgm:pt>
    <dgm:pt modelId="{BDFCA127-088B-48DB-BB9C-CDA890524074}">
      <dgm:prSet phldrT="[Text]" custT="1"/>
      <dgm:spPr>
        <a:solidFill>
          <a:srgbClr val="00B050"/>
        </a:solidFill>
      </dgm:spPr>
      <dgm:t>
        <a:bodyPr/>
        <a:lstStyle/>
        <a:p>
          <a:pPr algn="l"/>
          <a:r>
            <a:rPr lang="en-US" sz="1200" i="1" dirty="0"/>
            <a:t>. </a:t>
          </a:r>
          <a:r>
            <a:rPr lang="en-US" sz="1200" i="1" dirty="0" err="1"/>
            <a:t>Colour</a:t>
          </a:r>
          <a:endParaRPr lang="en-US" sz="1200" i="1" dirty="0"/>
        </a:p>
        <a:p>
          <a:pPr algn="l"/>
          <a:r>
            <a:rPr lang="en-US" sz="1200" i="1" dirty="0"/>
            <a:t>. Product sticking on fingers</a:t>
          </a:r>
        </a:p>
        <a:p>
          <a:pPr algn="l"/>
          <a:r>
            <a:rPr lang="en-US" sz="1200" i="1" dirty="0"/>
            <a:t>. Stickiness</a:t>
          </a:r>
        </a:p>
        <a:p>
          <a:pPr algn="l"/>
          <a:r>
            <a:rPr lang="en-US" sz="1200" i="1" dirty="0"/>
            <a:t>. Shape (Doesn’t crumble)</a:t>
          </a:r>
        </a:p>
        <a:p>
          <a:pPr algn="l"/>
          <a:r>
            <a:rPr lang="en-IN" sz="1200" i="1" dirty="0"/>
            <a:t>. Chocolatiness</a:t>
          </a:r>
        </a:p>
        <a:p>
          <a:pPr algn="l"/>
          <a:r>
            <a:rPr lang="en-IN" sz="1200" i="1" dirty="0"/>
            <a:t>. Sweet lingering taste</a:t>
          </a:r>
        </a:p>
        <a:p>
          <a:pPr algn="l"/>
          <a:r>
            <a:rPr lang="en-IN" sz="1200" i="1" dirty="0"/>
            <a:t>. Lingering chocolatiness</a:t>
          </a:r>
        </a:p>
        <a:p>
          <a:pPr algn="l"/>
          <a:r>
            <a:rPr lang="en-IN" sz="1200" i="1" dirty="0"/>
            <a:t>. Overall liking</a:t>
          </a:r>
        </a:p>
      </dgm:t>
    </dgm:pt>
    <dgm:pt modelId="{969C2822-ABDF-4009-A979-E45BEEBF28ED}" type="parTrans" cxnId="{058661E8-21D8-4A4A-8145-A7E701231139}">
      <dgm:prSet/>
      <dgm:spPr/>
      <dgm:t>
        <a:bodyPr/>
        <a:lstStyle/>
        <a:p>
          <a:endParaRPr lang="en-IN"/>
        </a:p>
      </dgm:t>
    </dgm:pt>
    <dgm:pt modelId="{BB234E72-3F6D-4B72-8652-75D5DCF28F9B}" type="sibTrans" cxnId="{058661E8-21D8-4A4A-8145-A7E701231139}">
      <dgm:prSet/>
      <dgm:spPr/>
      <dgm:t>
        <a:bodyPr/>
        <a:lstStyle/>
        <a:p>
          <a:endParaRPr lang="en-IN"/>
        </a:p>
      </dgm:t>
    </dgm:pt>
    <dgm:pt modelId="{23C6ABE1-9D9D-4592-8632-06BAC41364DC}">
      <dgm:prSet phldrT="[Text]" custT="1"/>
      <dgm:spPr>
        <a:solidFill>
          <a:srgbClr val="FF0000"/>
        </a:solidFill>
      </dgm:spPr>
      <dgm:t>
        <a:bodyPr/>
        <a:lstStyle/>
        <a:p>
          <a:r>
            <a:rPr lang="en-US" sz="1400" i="1" dirty="0"/>
            <a:t>Too Bitter</a:t>
          </a:r>
          <a:endParaRPr lang="en-IN" sz="1400" i="1" dirty="0"/>
        </a:p>
      </dgm:t>
    </dgm:pt>
    <dgm:pt modelId="{31AD1EF7-1011-4935-886A-661176D16431}" type="parTrans" cxnId="{9A187853-5D9C-4E59-8BDD-683C8945C443}">
      <dgm:prSet/>
      <dgm:spPr/>
      <dgm:t>
        <a:bodyPr/>
        <a:lstStyle/>
        <a:p>
          <a:endParaRPr lang="en-IN"/>
        </a:p>
      </dgm:t>
    </dgm:pt>
    <dgm:pt modelId="{E46C52FC-F129-48BA-AADB-F995163EAD35}" type="sibTrans" cxnId="{9A187853-5D9C-4E59-8BDD-683C8945C443}">
      <dgm:prSet/>
      <dgm:spPr/>
      <dgm:t>
        <a:bodyPr/>
        <a:lstStyle/>
        <a:p>
          <a:endParaRPr lang="en-IN"/>
        </a:p>
      </dgm:t>
    </dgm:pt>
    <dgm:pt modelId="{4DC1CE64-EED3-4505-949B-93A6D4CC1162}">
      <dgm:prSet phldrT="[Text]" custT="1"/>
      <dgm:spPr>
        <a:solidFill>
          <a:srgbClr val="FF7C80"/>
        </a:solidFill>
      </dgm:spPr>
      <dgm:t>
        <a:bodyPr/>
        <a:lstStyle/>
        <a:p>
          <a:pPr algn="ctr"/>
          <a:r>
            <a:rPr lang="en-US" sz="1400" i="1" dirty="0"/>
            <a:t>Too bitterness has been impacting the product's overall liking score. Product overall score can increase by reducing bitterness. </a:t>
          </a:r>
          <a:endParaRPr lang="en-IN" sz="1400" i="1" dirty="0"/>
        </a:p>
      </dgm:t>
    </dgm:pt>
    <dgm:pt modelId="{7B2B6C7F-4336-428E-9EF9-5302234B3759}" type="parTrans" cxnId="{02C71CEB-0D27-4437-B3B9-703CCC9CF4BF}">
      <dgm:prSet/>
      <dgm:spPr/>
      <dgm:t>
        <a:bodyPr/>
        <a:lstStyle/>
        <a:p>
          <a:endParaRPr lang="en-IN"/>
        </a:p>
      </dgm:t>
    </dgm:pt>
    <dgm:pt modelId="{6EEE0E0C-7146-430F-BD63-D4ABF5C16FA9}" type="sibTrans" cxnId="{02C71CEB-0D27-4437-B3B9-703CCC9CF4BF}">
      <dgm:prSet/>
      <dgm:spPr/>
      <dgm:t>
        <a:bodyPr/>
        <a:lstStyle/>
        <a:p>
          <a:endParaRPr lang="en-IN"/>
        </a:p>
      </dgm:t>
    </dgm:pt>
    <dgm:pt modelId="{913197E3-8D01-4634-A8F3-12F7D683D788}">
      <dgm:prSet phldrT="[Text]" custT="1"/>
      <dgm:spPr>
        <a:solidFill>
          <a:schemeClr val="accent4"/>
        </a:solidFill>
      </dgm:spPr>
      <dgm:t>
        <a:bodyPr/>
        <a:lstStyle/>
        <a:p>
          <a:r>
            <a:rPr lang="en-US" sz="1400" i="1" dirty="0"/>
            <a:t>Needs to reduce bitterness</a:t>
          </a:r>
          <a:endParaRPr lang="en-IN" sz="1400" i="1" dirty="0"/>
        </a:p>
      </dgm:t>
    </dgm:pt>
    <dgm:pt modelId="{3190D16E-6414-48AC-A8CA-0A8164BAE749}" type="parTrans" cxnId="{EBC90043-7EB1-4CB9-8A61-AFAA362194A0}">
      <dgm:prSet/>
      <dgm:spPr/>
      <dgm:t>
        <a:bodyPr/>
        <a:lstStyle/>
        <a:p>
          <a:endParaRPr lang="en-IN"/>
        </a:p>
      </dgm:t>
    </dgm:pt>
    <dgm:pt modelId="{C6E4BFB2-DE25-4034-829E-5FEAF5C68C37}" type="sibTrans" cxnId="{EBC90043-7EB1-4CB9-8A61-AFAA362194A0}">
      <dgm:prSet/>
      <dgm:spPr/>
      <dgm:t>
        <a:bodyPr/>
        <a:lstStyle/>
        <a:p>
          <a:endParaRPr lang="en-IN"/>
        </a:p>
      </dgm:t>
    </dgm:pt>
    <dgm:pt modelId="{4FE00F73-47D8-4118-BA56-BF57AB14F116}" type="pres">
      <dgm:prSet presAssocID="{2B85EBA9-080E-4712-85A2-71F6E941F18A}" presName="matrix" presStyleCnt="0">
        <dgm:presLayoutVars>
          <dgm:chMax val="1"/>
          <dgm:dir/>
          <dgm:resizeHandles val="exact"/>
        </dgm:presLayoutVars>
      </dgm:prSet>
      <dgm:spPr/>
    </dgm:pt>
    <dgm:pt modelId="{68ADFD46-1326-4EC8-9E71-2B91852A7A57}" type="pres">
      <dgm:prSet presAssocID="{2B85EBA9-080E-4712-85A2-71F6E941F18A}" presName="axisShape" presStyleLbl="bgShp" presStyleIdx="0" presStyleCnt="1"/>
      <dgm:spPr/>
    </dgm:pt>
    <dgm:pt modelId="{4530A3C6-5BEC-4BFD-BCD9-A180C1B4240C}" type="pres">
      <dgm:prSet presAssocID="{2B85EBA9-080E-4712-85A2-71F6E941F18A}" presName="rect1" presStyleLbl="node1" presStyleIdx="0" presStyleCnt="4">
        <dgm:presLayoutVars>
          <dgm:chMax val="0"/>
          <dgm:chPref val="0"/>
          <dgm:bulletEnabled val="1"/>
        </dgm:presLayoutVars>
      </dgm:prSet>
      <dgm:spPr/>
    </dgm:pt>
    <dgm:pt modelId="{7C6C32FB-495D-4EBB-83A7-CFBE3C6D2044}" type="pres">
      <dgm:prSet presAssocID="{2B85EBA9-080E-4712-85A2-71F6E941F18A}" presName="rect2" presStyleLbl="node1" presStyleIdx="1" presStyleCnt="4">
        <dgm:presLayoutVars>
          <dgm:chMax val="0"/>
          <dgm:chPref val="0"/>
          <dgm:bulletEnabled val="1"/>
        </dgm:presLayoutVars>
      </dgm:prSet>
      <dgm:spPr/>
    </dgm:pt>
    <dgm:pt modelId="{1AF05E8E-1C15-458A-863F-66A74FE94F6C}" type="pres">
      <dgm:prSet presAssocID="{2B85EBA9-080E-4712-85A2-71F6E941F18A}" presName="rect3" presStyleLbl="node1" presStyleIdx="2" presStyleCnt="4">
        <dgm:presLayoutVars>
          <dgm:chMax val="0"/>
          <dgm:chPref val="0"/>
          <dgm:bulletEnabled val="1"/>
        </dgm:presLayoutVars>
      </dgm:prSet>
      <dgm:spPr/>
    </dgm:pt>
    <dgm:pt modelId="{7B041517-C5DC-4B58-B6BA-B4C712A95058}" type="pres">
      <dgm:prSet presAssocID="{2B85EBA9-080E-4712-85A2-71F6E941F18A}" presName="rect4" presStyleLbl="node1" presStyleIdx="3" presStyleCnt="4">
        <dgm:presLayoutVars>
          <dgm:chMax val="0"/>
          <dgm:chPref val="0"/>
          <dgm:bulletEnabled val="1"/>
        </dgm:presLayoutVars>
      </dgm:prSet>
      <dgm:spPr/>
    </dgm:pt>
  </dgm:ptLst>
  <dgm:cxnLst>
    <dgm:cxn modelId="{EBC90043-7EB1-4CB9-8A61-AFAA362194A0}" srcId="{2B85EBA9-080E-4712-85A2-71F6E941F18A}" destId="{913197E3-8D01-4634-A8F3-12F7D683D788}" srcOrd="3" destOrd="0" parTransId="{3190D16E-6414-48AC-A8CA-0A8164BAE749}" sibTransId="{C6E4BFB2-DE25-4034-829E-5FEAF5C68C37}"/>
    <dgm:cxn modelId="{252D9348-3723-4A32-8A2C-C4552DE1D015}" type="presOf" srcId="{23C6ABE1-9D9D-4592-8632-06BAC41364DC}" destId="{7C6C32FB-495D-4EBB-83A7-CFBE3C6D2044}" srcOrd="0" destOrd="0" presId="urn:microsoft.com/office/officeart/2005/8/layout/matrix2"/>
    <dgm:cxn modelId="{8D3C474E-6D84-451F-8CE8-8D707EB93721}" type="presOf" srcId="{4DC1CE64-EED3-4505-949B-93A6D4CC1162}" destId="{1AF05E8E-1C15-458A-863F-66A74FE94F6C}" srcOrd="0" destOrd="0" presId="urn:microsoft.com/office/officeart/2005/8/layout/matrix2"/>
    <dgm:cxn modelId="{9A187853-5D9C-4E59-8BDD-683C8945C443}" srcId="{2B85EBA9-080E-4712-85A2-71F6E941F18A}" destId="{23C6ABE1-9D9D-4592-8632-06BAC41364DC}" srcOrd="1" destOrd="0" parTransId="{31AD1EF7-1011-4935-886A-661176D16431}" sibTransId="{E46C52FC-F129-48BA-AADB-F995163EAD35}"/>
    <dgm:cxn modelId="{1E83A77E-E517-4F63-BEB0-17E83765EFCC}" type="presOf" srcId="{BDFCA127-088B-48DB-BB9C-CDA890524074}" destId="{4530A3C6-5BEC-4BFD-BCD9-A180C1B4240C}" srcOrd="0" destOrd="0" presId="urn:microsoft.com/office/officeart/2005/8/layout/matrix2"/>
    <dgm:cxn modelId="{0BE23D83-2727-49A8-869F-BDE306906415}" type="presOf" srcId="{913197E3-8D01-4634-A8F3-12F7D683D788}" destId="{7B041517-C5DC-4B58-B6BA-B4C712A95058}" srcOrd="0" destOrd="0" presId="urn:microsoft.com/office/officeart/2005/8/layout/matrix2"/>
    <dgm:cxn modelId="{2B1803CB-0725-47D9-A7AF-03017C02CE23}" type="presOf" srcId="{2B85EBA9-080E-4712-85A2-71F6E941F18A}" destId="{4FE00F73-47D8-4118-BA56-BF57AB14F116}" srcOrd="0" destOrd="0" presId="urn:microsoft.com/office/officeart/2005/8/layout/matrix2"/>
    <dgm:cxn modelId="{058661E8-21D8-4A4A-8145-A7E701231139}" srcId="{2B85EBA9-080E-4712-85A2-71F6E941F18A}" destId="{BDFCA127-088B-48DB-BB9C-CDA890524074}" srcOrd="0" destOrd="0" parTransId="{969C2822-ABDF-4009-A979-E45BEEBF28ED}" sibTransId="{BB234E72-3F6D-4B72-8652-75D5DCF28F9B}"/>
    <dgm:cxn modelId="{02C71CEB-0D27-4437-B3B9-703CCC9CF4BF}" srcId="{2B85EBA9-080E-4712-85A2-71F6E941F18A}" destId="{4DC1CE64-EED3-4505-949B-93A6D4CC1162}" srcOrd="2" destOrd="0" parTransId="{7B2B6C7F-4336-428E-9EF9-5302234B3759}" sibTransId="{6EEE0E0C-7146-430F-BD63-D4ABF5C16FA9}"/>
    <dgm:cxn modelId="{E8B2299E-1814-4084-97C3-8C4F36831E55}" type="presParOf" srcId="{4FE00F73-47D8-4118-BA56-BF57AB14F116}" destId="{68ADFD46-1326-4EC8-9E71-2B91852A7A57}" srcOrd="0" destOrd="0" presId="urn:microsoft.com/office/officeart/2005/8/layout/matrix2"/>
    <dgm:cxn modelId="{79715E1D-663D-485D-8BCB-19DCBD5C1B0E}" type="presParOf" srcId="{4FE00F73-47D8-4118-BA56-BF57AB14F116}" destId="{4530A3C6-5BEC-4BFD-BCD9-A180C1B4240C}" srcOrd="1" destOrd="0" presId="urn:microsoft.com/office/officeart/2005/8/layout/matrix2"/>
    <dgm:cxn modelId="{852BD4B3-CA49-4C1E-B2D4-9B32DD503D9D}" type="presParOf" srcId="{4FE00F73-47D8-4118-BA56-BF57AB14F116}" destId="{7C6C32FB-495D-4EBB-83A7-CFBE3C6D2044}" srcOrd="2" destOrd="0" presId="urn:microsoft.com/office/officeart/2005/8/layout/matrix2"/>
    <dgm:cxn modelId="{E08CA167-23DA-4EAD-9B30-E80F53D6B7F5}" type="presParOf" srcId="{4FE00F73-47D8-4118-BA56-BF57AB14F116}" destId="{1AF05E8E-1C15-458A-863F-66A74FE94F6C}" srcOrd="3" destOrd="0" presId="urn:microsoft.com/office/officeart/2005/8/layout/matrix2"/>
    <dgm:cxn modelId="{A433AD8A-B902-4853-A109-5564A59CF2D5}" type="presParOf" srcId="{4FE00F73-47D8-4118-BA56-BF57AB14F116}" destId="{7B041517-C5DC-4B58-B6BA-B4C712A95058}"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FEEDC-9CA5-4601-A0CA-E0F668EEB2C7}">
      <dsp:nvSpPr>
        <dsp:cNvPr id="0" name=""/>
        <dsp:cNvSpPr/>
      </dsp:nvSpPr>
      <dsp:spPr>
        <a:xfrm>
          <a:off x="2596811" y="1304538"/>
          <a:ext cx="565497" cy="91440"/>
        </a:xfrm>
        <a:custGeom>
          <a:avLst/>
          <a:gdLst/>
          <a:ahLst/>
          <a:cxnLst/>
          <a:rect l="0" t="0" r="0" b="0"/>
          <a:pathLst>
            <a:path>
              <a:moveTo>
                <a:pt x="0" y="45720"/>
              </a:moveTo>
              <a:lnTo>
                <a:pt x="565497" y="45720"/>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latin typeface="Corbel" panose="020B0503020204020204" pitchFamily="34" charset="0"/>
          </a:endParaRPr>
        </a:p>
      </dsp:txBody>
      <dsp:txXfrm>
        <a:off x="2864657" y="1347277"/>
        <a:ext cx="29804" cy="5960"/>
      </dsp:txXfrm>
    </dsp:sp>
    <dsp:sp modelId="{2355C76E-381E-42AA-A0B5-53F5CEEF9AAF}">
      <dsp:nvSpPr>
        <dsp:cNvPr id="0" name=""/>
        <dsp:cNvSpPr/>
      </dsp:nvSpPr>
      <dsp:spPr>
        <a:xfrm>
          <a:off x="6884" y="572740"/>
          <a:ext cx="2591726" cy="1555035"/>
        </a:xfrm>
        <a:prstGeom prst="rect">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IN" sz="1500" kern="1200" dirty="0">
              <a:solidFill>
                <a:schemeClr val="tx1"/>
              </a:solidFill>
              <a:latin typeface="Corbel" panose="020B0503020204020204" pitchFamily="34" charset="0"/>
              <a:cs typeface="Calibri" panose="020F0502020204030204" pitchFamily="34" charset="0"/>
            </a:rPr>
            <a:t>All the participants were recruited on the spot for the research followed by all the selected criteria's.</a:t>
          </a:r>
          <a:endParaRPr lang="en-IN" sz="1500" kern="1200" dirty="0">
            <a:latin typeface="Corbel" panose="020B0503020204020204" pitchFamily="34" charset="0"/>
          </a:endParaRPr>
        </a:p>
      </dsp:txBody>
      <dsp:txXfrm>
        <a:off x="6884" y="572740"/>
        <a:ext cx="2591726" cy="1555035"/>
      </dsp:txXfrm>
    </dsp:sp>
    <dsp:sp modelId="{B7E9EDA2-54CD-497A-9B74-326565A3F597}">
      <dsp:nvSpPr>
        <dsp:cNvPr id="0" name=""/>
        <dsp:cNvSpPr/>
      </dsp:nvSpPr>
      <dsp:spPr>
        <a:xfrm>
          <a:off x="5784635" y="1304538"/>
          <a:ext cx="565497" cy="91440"/>
        </a:xfrm>
        <a:custGeom>
          <a:avLst/>
          <a:gdLst/>
          <a:ahLst/>
          <a:cxnLst/>
          <a:rect l="0" t="0" r="0" b="0"/>
          <a:pathLst>
            <a:path>
              <a:moveTo>
                <a:pt x="0" y="45720"/>
              </a:moveTo>
              <a:lnTo>
                <a:pt x="565497" y="45720"/>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latin typeface="Corbel" panose="020B0503020204020204" pitchFamily="34" charset="0"/>
          </a:endParaRPr>
        </a:p>
      </dsp:txBody>
      <dsp:txXfrm>
        <a:off x="6052481" y="1347277"/>
        <a:ext cx="29804" cy="5960"/>
      </dsp:txXfrm>
    </dsp:sp>
    <dsp:sp modelId="{ED265503-FF76-4684-883D-B8540C1E2D23}">
      <dsp:nvSpPr>
        <dsp:cNvPr id="0" name=""/>
        <dsp:cNvSpPr/>
      </dsp:nvSpPr>
      <dsp:spPr>
        <a:xfrm>
          <a:off x="3194708" y="572740"/>
          <a:ext cx="2591726" cy="1555035"/>
        </a:xfrm>
        <a:prstGeom prst="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IN" sz="1500" kern="1200" dirty="0">
              <a:solidFill>
                <a:schemeClr val="tx1"/>
              </a:solidFill>
              <a:latin typeface="Corbel" panose="020B0503020204020204" pitchFamily="34" charset="0"/>
              <a:cs typeface="Calibri" panose="020F0502020204030204" pitchFamily="34" charset="0"/>
            </a:rPr>
            <a:t>Take his/her consent to participate in the research and spend 20-25 min to complete the research process. </a:t>
          </a:r>
          <a:endParaRPr lang="en-IN" sz="1500" kern="1200" dirty="0">
            <a:latin typeface="Corbel" panose="020B0503020204020204" pitchFamily="34" charset="0"/>
          </a:endParaRPr>
        </a:p>
      </dsp:txBody>
      <dsp:txXfrm>
        <a:off x="3194708" y="572740"/>
        <a:ext cx="2591726" cy="1555035"/>
      </dsp:txXfrm>
    </dsp:sp>
    <dsp:sp modelId="{D9EDF008-7260-4D15-8BE8-B700460BFAEC}">
      <dsp:nvSpPr>
        <dsp:cNvPr id="0" name=""/>
        <dsp:cNvSpPr/>
      </dsp:nvSpPr>
      <dsp:spPr>
        <a:xfrm>
          <a:off x="1302748" y="2125976"/>
          <a:ext cx="6375647" cy="565497"/>
        </a:xfrm>
        <a:custGeom>
          <a:avLst/>
          <a:gdLst/>
          <a:ahLst/>
          <a:cxnLst/>
          <a:rect l="0" t="0" r="0" b="0"/>
          <a:pathLst>
            <a:path>
              <a:moveTo>
                <a:pt x="6375647" y="0"/>
              </a:moveTo>
              <a:lnTo>
                <a:pt x="6375647" y="299848"/>
              </a:lnTo>
              <a:lnTo>
                <a:pt x="0" y="299848"/>
              </a:lnTo>
              <a:lnTo>
                <a:pt x="0" y="565497"/>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latin typeface="Corbel" panose="020B0503020204020204" pitchFamily="34" charset="0"/>
          </a:endParaRPr>
        </a:p>
      </dsp:txBody>
      <dsp:txXfrm>
        <a:off x="4330485" y="2405744"/>
        <a:ext cx="320172" cy="5960"/>
      </dsp:txXfrm>
    </dsp:sp>
    <dsp:sp modelId="{71E60B8F-7EAA-4510-B100-734FF98B7BCD}">
      <dsp:nvSpPr>
        <dsp:cNvPr id="0" name=""/>
        <dsp:cNvSpPr/>
      </dsp:nvSpPr>
      <dsp:spPr>
        <a:xfrm>
          <a:off x="6382532" y="572740"/>
          <a:ext cx="2591726" cy="1555035"/>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IN" sz="1500" kern="1200" dirty="0">
              <a:solidFill>
                <a:schemeClr val="tx1"/>
              </a:solidFill>
              <a:latin typeface="Corbel" panose="020B0503020204020204" pitchFamily="34" charset="0"/>
              <a:cs typeface="Calibri" panose="020F0502020204030204" pitchFamily="34" charset="0"/>
            </a:rPr>
            <a:t>Screening : Ensure the correct respondent been selected for the research. </a:t>
          </a:r>
          <a:endParaRPr lang="en-IN" sz="1500" kern="1200" dirty="0">
            <a:latin typeface="Corbel" panose="020B0503020204020204" pitchFamily="34" charset="0"/>
          </a:endParaRPr>
        </a:p>
      </dsp:txBody>
      <dsp:txXfrm>
        <a:off x="6382532" y="572740"/>
        <a:ext cx="2591726" cy="1555035"/>
      </dsp:txXfrm>
    </dsp:sp>
    <dsp:sp modelId="{2CBE0234-9DBA-493F-8D83-60A94DE22A3D}">
      <dsp:nvSpPr>
        <dsp:cNvPr id="0" name=""/>
        <dsp:cNvSpPr/>
      </dsp:nvSpPr>
      <dsp:spPr>
        <a:xfrm>
          <a:off x="2596811" y="3455671"/>
          <a:ext cx="565497" cy="91440"/>
        </a:xfrm>
        <a:custGeom>
          <a:avLst/>
          <a:gdLst/>
          <a:ahLst/>
          <a:cxnLst/>
          <a:rect l="0" t="0" r="0" b="0"/>
          <a:pathLst>
            <a:path>
              <a:moveTo>
                <a:pt x="0" y="45720"/>
              </a:moveTo>
              <a:lnTo>
                <a:pt x="565497" y="45720"/>
              </a:lnTo>
            </a:path>
          </a:pathLst>
        </a:custGeom>
        <a:noFill/>
        <a:ln w="6350" cap="flat" cmpd="sng" algn="ctr">
          <a:solidFill>
            <a:schemeClr val="tx1"/>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latin typeface="Corbel" panose="020B0503020204020204" pitchFamily="34" charset="0"/>
          </a:endParaRPr>
        </a:p>
      </dsp:txBody>
      <dsp:txXfrm>
        <a:off x="2864657" y="3498411"/>
        <a:ext cx="29804" cy="5960"/>
      </dsp:txXfrm>
    </dsp:sp>
    <dsp:sp modelId="{EBC51A81-1C1D-4AC4-9E72-83EBC8873ECE}">
      <dsp:nvSpPr>
        <dsp:cNvPr id="0" name=""/>
        <dsp:cNvSpPr/>
      </dsp:nvSpPr>
      <dsp:spPr>
        <a:xfrm>
          <a:off x="6884" y="2723873"/>
          <a:ext cx="2591726" cy="1555035"/>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IN" sz="1500" kern="1200" dirty="0">
              <a:solidFill>
                <a:schemeClr val="tx1"/>
              </a:solidFill>
              <a:latin typeface="Corbel" panose="020B0503020204020204" pitchFamily="34" charset="0"/>
              <a:cs typeface="Calibri" panose="020F0502020204030204" pitchFamily="34" charset="0"/>
            </a:rPr>
            <a:t>Interviewer introduction and familiar to the respondent about the purpose of the research and allowed them to follow the product testing process.</a:t>
          </a:r>
          <a:endParaRPr lang="en-IN" sz="1500" kern="1200" dirty="0">
            <a:latin typeface="Corbel" panose="020B0503020204020204" pitchFamily="34" charset="0"/>
          </a:endParaRPr>
        </a:p>
      </dsp:txBody>
      <dsp:txXfrm>
        <a:off x="6884" y="2723873"/>
        <a:ext cx="2591726" cy="1555035"/>
      </dsp:txXfrm>
    </dsp:sp>
    <dsp:sp modelId="{0A40A248-2E44-4108-9A47-82BF72BC8CFD}">
      <dsp:nvSpPr>
        <dsp:cNvPr id="0" name=""/>
        <dsp:cNvSpPr/>
      </dsp:nvSpPr>
      <dsp:spPr>
        <a:xfrm>
          <a:off x="5784635" y="3455671"/>
          <a:ext cx="565497" cy="91440"/>
        </a:xfrm>
        <a:custGeom>
          <a:avLst/>
          <a:gdLst/>
          <a:ahLst/>
          <a:cxnLst/>
          <a:rect l="0" t="0" r="0" b="0"/>
          <a:pathLst>
            <a:path>
              <a:moveTo>
                <a:pt x="0" y="45720"/>
              </a:moveTo>
              <a:lnTo>
                <a:pt x="56549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latin typeface="Corbel" panose="020B0503020204020204" pitchFamily="34" charset="0"/>
          </a:endParaRPr>
        </a:p>
      </dsp:txBody>
      <dsp:txXfrm>
        <a:off x="6052481" y="3498411"/>
        <a:ext cx="29804" cy="5960"/>
      </dsp:txXfrm>
    </dsp:sp>
    <dsp:sp modelId="{1AE167D3-ACE4-40FB-94E3-BC1A220C3D04}">
      <dsp:nvSpPr>
        <dsp:cNvPr id="0" name=""/>
        <dsp:cNvSpPr/>
      </dsp:nvSpPr>
      <dsp:spPr>
        <a:xfrm>
          <a:off x="3194708" y="2723873"/>
          <a:ext cx="2591726" cy="1555035"/>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IN" sz="1500" kern="1200" dirty="0">
              <a:solidFill>
                <a:schemeClr val="tx1"/>
              </a:solidFill>
              <a:latin typeface="Corbel" panose="020B0503020204020204" pitchFamily="34" charset="0"/>
              <a:cs typeface="Calibri" panose="020F0502020204030204" pitchFamily="34" charset="0"/>
            </a:rPr>
            <a:t>Interviewer ask some structured and unstructured questions to the participant for the respective products to collect the feedbacks.</a:t>
          </a:r>
          <a:endParaRPr lang="en-IN" sz="1500" kern="1200" dirty="0">
            <a:latin typeface="Corbel" panose="020B0503020204020204" pitchFamily="34" charset="0"/>
          </a:endParaRPr>
        </a:p>
      </dsp:txBody>
      <dsp:txXfrm>
        <a:off x="3194708" y="2723873"/>
        <a:ext cx="2591726" cy="1555035"/>
      </dsp:txXfrm>
    </dsp:sp>
    <dsp:sp modelId="{E026147D-AFE0-42A2-A53D-B6E02E76329C}">
      <dsp:nvSpPr>
        <dsp:cNvPr id="0" name=""/>
        <dsp:cNvSpPr/>
      </dsp:nvSpPr>
      <dsp:spPr>
        <a:xfrm>
          <a:off x="6382532" y="2723873"/>
          <a:ext cx="2591726" cy="155503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IN" sz="1500" kern="1200" dirty="0">
              <a:solidFill>
                <a:schemeClr val="tx1"/>
              </a:solidFill>
              <a:latin typeface="Corbel" panose="020B0503020204020204" pitchFamily="34" charset="0"/>
              <a:cs typeface="Calibri" panose="020F0502020204030204" pitchFamily="34" charset="0"/>
            </a:rPr>
            <a:t>Feedback has to be recorded on the questionnaire with proper logic checks.</a:t>
          </a:r>
          <a:r>
            <a:rPr lang="en-IN" sz="1500" kern="1200" dirty="0">
              <a:latin typeface="Corbel" panose="020B0503020204020204" pitchFamily="34" charset="0"/>
              <a:cs typeface="Calibri" panose="020F0502020204030204" pitchFamily="34" charset="0"/>
            </a:rPr>
            <a:t> </a:t>
          </a:r>
          <a:endParaRPr lang="en-IN" sz="1500" kern="1200" dirty="0"/>
        </a:p>
      </dsp:txBody>
      <dsp:txXfrm>
        <a:off x="6382532" y="2723873"/>
        <a:ext cx="2591726" cy="15550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ADFD46-1326-4EC8-9E71-2B91852A7A57}">
      <dsp:nvSpPr>
        <dsp:cNvPr id="0" name=""/>
        <dsp:cNvSpPr/>
      </dsp:nvSpPr>
      <dsp:spPr>
        <a:xfrm>
          <a:off x="1879864" y="0"/>
          <a:ext cx="5623984" cy="5623984"/>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30A3C6-5BEC-4BFD-BCD9-A180C1B4240C}">
      <dsp:nvSpPr>
        <dsp:cNvPr id="0" name=""/>
        <dsp:cNvSpPr/>
      </dsp:nvSpPr>
      <dsp:spPr>
        <a:xfrm>
          <a:off x="2245423" y="365558"/>
          <a:ext cx="2249593" cy="2249593"/>
        </a:xfrm>
        <a:prstGeom prst="round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i="1" kern="1200" dirty="0"/>
            <a:t>. </a:t>
          </a:r>
          <a:r>
            <a:rPr lang="en-US" sz="1200" i="1" kern="1200" dirty="0" err="1"/>
            <a:t>Colour</a:t>
          </a:r>
          <a:endParaRPr lang="en-US" sz="1200" i="1" kern="1200" dirty="0"/>
        </a:p>
        <a:p>
          <a:pPr marL="0" lvl="0" indent="0" algn="l" defTabSz="533400">
            <a:lnSpc>
              <a:spcPct val="90000"/>
            </a:lnSpc>
            <a:spcBef>
              <a:spcPct val="0"/>
            </a:spcBef>
            <a:spcAft>
              <a:spcPct val="35000"/>
            </a:spcAft>
            <a:buNone/>
          </a:pPr>
          <a:r>
            <a:rPr lang="en-US" sz="1200" i="1" kern="1200" dirty="0"/>
            <a:t>. Product sticking on fingers</a:t>
          </a:r>
        </a:p>
        <a:p>
          <a:pPr marL="0" lvl="0" indent="0" algn="l" defTabSz="533400">
            <a:lnSpc>
              <a:spcPct val="90000"/>
            </a:lnSpc>
            <a:spcBef>
              <a:spcPct val="0"/>
            </a:spcBef>
            <a:spcAft>
              <a:spcPct val="35000"/>
            </a:spcAft>
            <a:buNone/>
          </a:pPr>
          <a:r>
            <a:rPr lang="en-US" sz="1200" i="1" kern="1200" dirty="0"/>
            <a:t>. Stickiness</a:t>
          </a:r>
        </a:p>
        <a:p>
          <a:pPr marL="0" lvl="0" indent="0" algn="l" defTabSz="533400">
            <a:lnSpc>
              <a:spcPct val="90000"/>
            </a:lnSpc>
            <a:spcBef>
              <a:spcPct val="0"/>
            </a:spcBef>
            <a:spcAft>
              <a:spcPct val="35000"/>
            </a:spcAft>
            <a:buNone/>
          </a:pPr>
          <a:r>
            <a:rPr lang="en-US" sz="1200" i="1" kern="1200" dirty="0"/>
            <a:t>. Shape (Doesn’t crumble)</a:t>
          </a:r>
        </a:p>
        <a:p>
          <a:pPr marL="0" lvl="0" indent="0" algn="l" defTabSz="533400">
            <a:lnSpc>
              <a:spcPct val="90000"/>
            </a:lnSpc>
            <a:spcBef>
              <a:spcPct val="0"/>
            </a:spcBef>
            <a:spcAft>
              <a:spcPct val="35000"/>
            </a:spcAft>
            <a:buNone/>
          </a:pPr>
          <a:r>
            <a:rPr lang="en-IN" sz="1200" i="1" kern="1200" dirty="0"/>
            <a:t>. Chocolatiness</a:t>
          </a:r>
        </a:p>
        <a:p>
          <a:pPr marL="0" lvl="0" indent="0" algn="l" defTabSz="533400">
            <a:lnSpc>
              <a:spcPct val="90000"/>
            </a:lnSpc>
            <a:spcBef>
              <a:spcPct val="0"/>
            </a:spcBef>
            <a:spcAft>
              <a:spcPct val="35000"/>
            </a:spcAft>
            <a:buNone/>
          </a:pPr>
          <a:r>
            <a:rPr lang="en-IN" sz="1200" i="1" kern="1200" dirty="0"/>
            <a:t>. Sweet lingering taste</a:t>
          </a:r>
        </a:p>
        <a:p>
          <a:pPr marL="0" lvl="0" indent="0" algn="l" defTabSz="533400">
            <a:lnSpc>
              <a:spcPct val="90000"/>
            </a:lnSpc>
            <a:spcBef>
              <a:spcPct val="0"/>
            </a:spcBef>
            <a:spcAft>
              <a:spcPct val="35000"/>
            </a:spcAft>
            <a:buNone/>
          </a:pPr>
          <a:r>
            <a:rPr lang="en-IN" sz="1200" i="1" kern="1200" dirty="0"/>
            <a:t>. Lingering chocolatiness</a:t>
          </a:r>
        </a:p>
        <a:p>
          <a:pPr marL="0" lvl="0" indent="0" algn="l" defTabSz="533400">
            <a:lnSpc>
              <a:spcPct val="90000"/>
            </a:lnSpc>
            <a:spcBef>
              <a:spcPct val="0"/>
            </a:spcBef>
            <a:spcAft>
              <a:spcPct val="35000"/>
            </a:spcAft>
            <a:buNone/>
          </a:pPr>
          <a:r>
            <a:rPr lang="en-IN" sz="1200" i="1" kern="1200" dirty="0"/>
            <a:t>. Overall liking</a:t>
          </a:r>
        </a:p>
      </dsp:txBody>
      <dsp:txXfrm>
        <a:off x="2355239" y="475374"/>
        <a:ext cx="2029961" cy="2029961"/>
      </dsp:txXfrm>
    </dsp:sp>
    <dsp:sp modelId="{7C6C32FB-495D-4EBB-83A7-CFBE3C6D2044}">
      <dsp:nvSpPr>
        <dsp:cNvPr id="0" name=""/>
        <dsp:cNvSpPr/>
      </dsp:nvSpPr>
      <dsp:spPr>
        <a:xfrm>
          <a:off x="4888696" y="365558"/>
          <a:ext cx="2249593" cy="2249593"/>
        </a:xfrm>
        <a:prstGeom prst="round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i="1" kern="1200" dirty="0"/>
            <a:t>Too Bitter</a:t>
          </a:r>
          <a:endParaRPr lang="en-IN" sz="1400" i="1" kern="1200" dirty="0"/>
        </a:p>
      </dsp:txBody>
      <dsp:txXfrm>
        <a:off x="4998512" y="475374"/>
        <a:ext cx="2029961" cy="2029961"/>
      </dsp:txXfrm>
    </dsp:sp>
    <dsp:sp modelId="{1AF05E8E-1C15-458A-863F-66A74FE94F6C}">
      <dsp:nvSpPr>
        <dsp:cNvPr id="0" name=""/>
        <dsp:cNvSpPr/>
      </dsp:nvSpPr>
      <dsp:spPr>
        <a:xfrm>
          <a:off x="2245423" y="3008831"/>
          <a:ext cx="2249593" cy="2249593"/>
        </a:xfrm>
        <a:prstGeom prst="roundRect">
          <a:avLst/>
        </a:prstGeom>
        <a:solidFill>
          <a:srgbClr val="FF7C8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i="1" kern="1200" dirty="0"/>
            <a:t>Too bitterness has been impacting the product's overall liking score. Product overall score can increase by reducing bitterness. </a:t>
          </a:r>
          <a:endParaRPr lang="en-IN" sz="1400" i="1" kern="1200" dirty="0"/>
        </a:p>
      </dsp:txBody>
      <dsp:txXfrm>
        <a:off x="2355239" y="3118647"/>
        <a:ext cx="2029961" cy="2029961"/>
      </dsp:txXfrm>
    </dsp:sp>
    <dsp:sp modelId="{7B041517-C5DC-4B58-B6BA-B4C712A95058}">
      <dsp:nvSpPr>
        <dsp:cNvPr id="0" name=""/>
        <dsp:cNvSpPr/>
      </dsp:nvSpPr>
      <dsp:spPr>
        <a:xfrm>
          <a:off x="4888696" y="3008831"/>
          <a:ext cx="2249593" cy="2249593"/>
        </a:xfrm>
        <a:prstGeom prst="roundRect">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i="1" kern="1200" dirty="0"/>
            <a:t>Needs to reduce bitterness</a:t>
          </a:r>
          <a:endParaRPr lang="en-IN" sz="1400" i="1" kern="1200" dirty="0"/>
        </a:p>
      </dsp:txBody>
      <dsp:txXfrm>
        <a:off x="4998512" y="3118647"/>
        <a:ext cx="2029961" cy="2029961"/>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0.17526</cdr:x>
      <cdr:y>0.85312</cdr:y>
    </cdr:from>
    <cdr:to>
      <cdr:x>0.25482</cdr:x>
      <cdr:y>0.90992</cdr:y>
    </cdr:to>
    <cdr:sp macro="" textlink="">
      <cdr:nvSpPr>
        <cdr:cNvPr id="2" name="TextBox 21">
          <a:extLst xmlns:a="http://schemas.openxmlformats.org/drawingml/2006/main">
            <a:ext uri="{FF2B5EF4-FFF2-40B4-BE49-F238E27FC236}">
              <a16:creationId xmlns:a16="http://schemas.microsoft.com/office/drawing/2014/main" id="{05F12C9F-B609-35DB-4780-8C2E86003E8E}"/>
            </a:ext>
          </a:extLst>
        </cdr:cNvPr>
        <cdr:cNvSpPr txBox="1"/>
      </cdr:nvSpPr>
      <cdr:spPr>
        <a:xfrm xmlns:a="http://schemas.openxmlformats.org/drawingml/2006/main">
          <a:off x="2136774" y="4622797"/>
          <a:ext cx="970009" cy="307777"/>
        </a:xfrm>
        <a:prstGeom xmlns:a="http://schemas.openxmlformats.org/drawingml/2006/main" prst="rect">
          <a:avLst/>
        </a:prstGeom>
        <a:noFill xmlns:a="http://schemas.openxmlformats.org/drawingml/2006/main"/>
      </cdr:spPr>
      <cdr:txBody>
        <a:bodyPr xmlns:a="http://schemas.openxmlformats.org/drawingml/2006/main" wrap="non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sz="1400" i="1" dirty="0">
              <a:solidFill>
                <a:schemeClr val="bg1">
                  <a:lumMod val="75000"/>
                </a:schemeClr>
              </a:solidFill>
            </a:rPr>
            <a:t>Key drivers</a:t>
          </a:r>
          <a:endParaRPr lang="en-IN" sz="1400" i="1" dirty="0">
            <a:solidFill>
              <a:schemeClr val="bg1">
                <a:lumMod val="75000"/>
              </a:schemeClr>
            </a:solidFill>
          </a:endParaRP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1D001-7E00-E748-42DA-DF4797C5FB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066DD94-316E-02CC-052B-DC88469AF4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1BB006A-2288-F83E-3AAF-EAE9CAAD3659}"/>
              </a:ext>
            </a:extLst>
          </p:cNvPr>
          <p:cNvSpPr>
            <a:spLocks noGrp="1"/>
          </p:cNvSpPr>
          <p:nvPr>
            <p:ph type="dt" sz="half" idx="10"/>
          </p:nvPr>
        </p:nvSpPr>
        <p:spPr/>
        <p:txBody>
          <a:bodyPr/>
          <a:lstStyle/>
          <a:p>
            <a:fld id="{DA137F8B-E61D-4A66-8FDC-A3C46862730C}" type="datetimeFigureOut">
              <a:rPr lang="en-IN" smtClean="0"/>
              <a:t>10-09-2025</a:t>
            </a:fld>
            <a:endParaRPr lang="en-IN" dirty="0"/>
          </a:p>
        </p:txBody>
      </p:sp>
      <p:sp>
        <p:nvSpPr>
          <p:cNvPr id="5" name="Footer Placeholder 4">
            <a:extLst>
              <a:ext uri="{FF2B5EF4-FFF2-40B4-BE49-F238E27FC236}">
                <a16:creationId xmlns:a16="http://schemas.microsoft.com/office/drawing/2014/main" id="{2CF49AA4-476A-4E76-AFB4-D1825E892DF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FF13215-FF67-E090-1256-683248D1C470}"/>
              </a:ext>
            </a:extLst>
          </p:cNvPr>
          <p:cNvSpPr>
            <a:spLocks noGrp="1"/>
          </p:cNvSpPr>
          <p:nvPr>
            <p:ph type="sldNum" sz="quarter" idx="12"/>
          </p:nvPr>
        </p:nvSpPr>
        <p:spPr/>
        <p:txBody>
          <a:bodyPr/>
          <a:lstStyle/>
          <a:p>
            <a:fld id="{C16641B7-005E-4067-AE33-10537712BF7F}" type="slidenum">
              <a:rPr lang="en-IN" smtClean="0"/>
              <a:t>‹#›</a:t>
            </a:fld>
            <a:endParaRPr lang="en-IN" dirty="0"/>
          </a:p>
        </p:txBody>
      </p:sp>
    </p:spTree>
    <p:extLst>
      <p:ext uri="{BB962C8B-B14F-4D97-AF65-F5344CB8AC3E}">
        <p14:creationId xmlns:p14="http://schemas.microsoft.com/office/powerpoint/2010/main" val="2194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B4F3B-94A4-D8B4-BA3C-EDDCF59E48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FD1A2F-4EAF-3F49-E6AE-90F76C56AA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C11F2D-CACD-1939-02E3-105AB253E3AE}"/>
              </a:ext>
            </a:extLst>
          </p:cNvPr>
          <p:cNvSpPr>
            <a:spLocks noGrp="1"/>
          </p:cNvSpPr>
          <p:nvPr>
            <p:ph type="dt" sz="half" idx="10"/>
          </p:nvPr>
        </p:nvSpPr>
        <p:spPr/>
        <p:txBody>
          <a:bodyPr/>
          <a:lstStyle/>
          <a:p>
            <a:fld id="{DA137F8B-E61D-4A66-8FDC-A3C46862730C}" type="datetimeFigureOut">
              <a:rPr lang="en-IN" smtClean="0"/>
              <a:t>10-09-2025</a:t>
            </a:fld>
            <a:endParaRPr lang="en-IN" dirty="0"/>
          </a:p>
        </p:txBody>
      </p:sp>
      <p:sp>
        <p:nvSpPr>
          <p:cNvPr id="5" name="Footer Placeholder 4">
            <a:extLst>
              <a:ext uri="{FF2B5EF4-FFF2-40B4-BE49-F238E27FC236}">
                <a16:creationId xmlns:a16="http://schemas.microsoft.com/office/drawing/2014/main" id="{21683F86-0F14-FB2E-F5F4-DFAA97E749E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78C3665-A930-B476-C4EA-31B84629471E}"/>
              </a:ext>
            </a:extLst>
          </p:cNvPr>
          <p:cNvSpPr>
            <a:spLocks noGrp="1"/>
          </p:cNvSpPr>
          <p:nvPr>
            <p:ph type="sldNum" sz="quarter" idx="12"/>
          </p:nvPr>
        </p:nvSpPr>
        <p:spPr/>
        <p:txBody>
          <a:bodyPr/>
          <a:lstStyle/>
          <a:p>
            <a:fld id="{C16641B7-005E-4067-AE33-10537712BF7F}" type="slidenum">
              <a:rPr lang="en-IN" smtClean="0"/>
              <a:t>‹#›</a:t>
            </a:fld>
            <a:endParaRPr lang="en-IN" dirty="0"/>
          </a:p>
        </p:txBody>
      </p:sp>
    </p:spTree>
    <p:extLst>
      <p:ext uri="{BB962C8B-B14F-4D97-AF65-F5344CB8AC3E}">
        <p14:creationId xmlns:p14="http://schemas.microsoft.com/office/powerpoint/2010/main" val="2387718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168DC-AFF1-6BB1-F965-02E34B0B51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A708CE6-0C93-6D64-138D-AEE69B567D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796726-190C-02DA-50F7-2AFD76C02BE4}"/>
              </a:ext>
            </a:extLst>
          </p:cNvPr>
          <p:cNvSpPr>
            <a:spLocks noGrp="1"/>
          </p:cNvSpPr>
          <p:nvPr>
            <p:ph type="dt" sz="half" idx="10"/>
          </p:nvPr>
        </p:nvSpPr>
        <p:spPr/>
        <p:txBody>
          <a:bodyPr/>
          <a:lstStyle/>
          <a:p>
            <a:fld id="{DA137F8B-E61D-4A66-8FDC-A3C46862730C}" type="datetimeFigureOut">
              <a:rPr lang="en-IN" smtClean="0"/>
              <a:t>10-09-2025</a:t>
            </a:fld>
            <a:endParaRPr lang="en-IN" dirty="0"/>
          </a:p>
        </p:txBody>
      </p:sp>
      <p:sp>
        <p:nvSpPr>
          <p:cNvPr id="5" name="Footer Placeholder 4">
            <a:extLst>
              <a:ext uri="{FF2B5EF4-FFF2-40B4-BE49-F238E27FC236}">
                <a16:creationId xmlns:a16="http://schemas.microsoft.com/office/drawing/2014/main" id="{082ECC6B-DAD7-7A6E-0BF2-80AC4E60A7D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A500B57-FDA9-F1DB-71F5-F100C87952D1}"/>
              </a:ext>
            </a:extLst>
          </p:cNvPr>
          <p:cNvSpPr>
            <a:spLocks noGrp="1"/>
          </p:cNvSpPr>
          <p:nvPr>
            <p:ph type="sldNum" sz="quarter" idx="12"/>
          </p:nvPr>
        </p:nvSpPr>
        <p:spPr/>
        <p:txBody>
          <a:bodyPr/>
          <a:lstStyle/>
          <a:p>
            <a:fld id="{C16641B7-005E-4067-AE33-10537712BF7F}" type="slidenum">
              <a:rPr lang="en-IN" smtClean="0"/>
              <a:t>‹#›</a:t>
            </a:fld>
            <a:endParaRPr lang="en-IN" dirty="0"/>
          </a:p>
        </p:txBody>
      </p:sp>
    </p:spTree>
    <p:extLst>
      <p:ext uri="{BB962C8B-B14F-4D97-AF65-F5344CB8AC3E}">
        <p14:creationId xmlns:p14="http://schemas.microsoft.com/office/powerpoint/2010/main" val="3034078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F175C-3BB0-061A-6466-C3D305FD11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33901E-D347-6ABC-0997-B4A40A8D30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990CAB-0047-0316-31AA-FBB2BB8329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DDDEA1-B764-B393-826E-EB8664E35286}"/>
              </a:ext>
            </a:extLst>
          </p:cNvPr>
          <p:cNvSpPr>
            <a:spLocks noGrp="1"/>
          </p:cNvSpPr>
          <p:nvPr>
            <p:ph type="dt" sz="half" idx="10"/>
          </p:nvPr>
        </p:nvSpPr>
        <p:spPr/>
        <p:txBody>
          <a:bodyPr/>
          <a:lstStyle/>
          <a:p>
            <a:fld id="{DA137F8B-E61D-4A66-8FDC-A3C46862730C}" type="datetimeFigureOut">
              <a:rPr lang="en-IN" smtClean="0"/>
              <a:t>10-09-2025</a:t>
            </a:fld>
            <a:endParaRPr lang="en-IN" dirty="0"/>
          </a:p>
        </p:txBody>
      </p:sp>
      <p:sp>
        <p:nvSpPr>
          <p:cNvPr id="6" name="Footer Placeholder 5">
            <a:extLst>
              <a:ext uri="{FF2B5EF4-FFF2-40B4-BE49-F238E27FC236}">
                <a16:creationId xmlns:a16="http://schemas.microsoft.com/office/drawing/2014/main" id="{30E9ACE4-A72B-81B4-4704-65A981A8E32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E42BF69D-80BB-893D-DF95-ACFBE92FD2B4}"/>
              </a:ext>
            </a:extLst>
          </p:cNvPr>
          <p:cNvSpPr>
            <a:spLocks noGrp="1"/>
          </p:cNvSpPr>
          <p:nvPr>
            <p:ph type="sldNum" sz="quarter" idx="12"/>
          </p:nvPr>
        </p:nvSpPr>
        <p:spPr/>
        <p:txBody>
          <a:bodyPr/>
          <a:lstStyle/>
          <a:p>
            <a:fld id="{C16641B7-005E-4067-AE33-10537712BF7F}" type="slidenum">
              <a:rPr lang="en-IN" smtClean="0"/>
              <a:t>‹#›</a:t>
            </a:fld>
            <a:endParaRPr lang="en-IN" dirty="0"/>
          </a:p>
        </p:txBody>
      </p:sp>
    </p:spTree>
    <p:extLst>
      <p:ext uri="{BB962C8B-B14F-4D97-AF65-F5344CB8AC3E}">
        <p14:creationId xmlns:p14="http://schemas.microsoft.com/office/powerpoint/2010/main" val="733277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EDEEC-B4E4-215F-C5C4-6D7F0BA0A73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98F6F5-0BAC-AA36-BFFA-09879DA823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39ACB5-5490-40F9-F5A9-C6BC58A6E7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522528-F053-D618-2217-8D19C24746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49C3B-9551-CCA6-6CAD-00D08CBA9D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00A2D7B-DCC7-9D4F-749F-07909B72ADB8}"/>
              </a:ext>
            </a:extLst>
          </p:cNvPr>
          <p:cNvSpPr>
            <a:spLocks noGrp="1"/>
          </p:cNvSpPr>
          <p:nvPr>
            <p:ph type="dt" sz="half" idx="10"/>
          </p:nvPr>
        </p:nvSpPr>
        <p:spPr/>
        <p:txBody>
          <a:bodyPr/>
          <a:lstStyle/>
          <a:p>
            <a:fld id="{DA137F8B-E61D-4A66-8FDC-A3C46862730C}" type="datetimeFigureOut">
              <a:rPr lang="en-IN" smtClean="0"/>
              <a:t>10-09-2025</a:t>
            </a:fld>
            <a:endParaRPr lang="en-IN" dirty="0"/>
          </a:p>
        </p:txBody>
      </p:sp>
      <p:sp>
        <p:nvSpPr>
          <p:cNvPr id="8" name="Footer Placeholder 7">
            <a:extLst>
              <a:ext uri="{FF2B5EF4-FFF2-40B4-BE49-F238E27FC236}">
                <a16:creationId xmlns:a16="http://schemas.microsoft.com/office/drawing/2014/main" id="{74FB881A-EFF7-F9A1-AF7D-FE40CE1F40DC}"/>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01B1B70F-E7B3-F4E9-E4BF-538CBD21406A}"/>
              </a:ext>
            </a:extLst>
          </p:cNvPr>
          <p:cNvSpPr>
            <a:spLocks noGrp="1"/>
          </p:cNvSpPr>
          <p:nvPr>
            <p:ph type="sldNum" sz="quarter" idx="12"/>
          </p:nvPr>
        </p:nvSpPr>
        <p:spPr/>
        <p:txBody>
          <a:bodyPr/>
          <a:lstStyle/>
          <a:p>
            <a:fld id="{C16641B7-005E-4067-AE33-10537712BF7F}" type="slidenum">
              <a:rPr lang="en-IN" smtClean="0"/>
              <a:t>‹#›</a:t>
            </a:fld>
            <a:endParaRPr lang="en-IN" dirty="0"/>
          </a:p>
        </p:txBody>
      </p:sp>
    </p:spTree>
    <p:extLst>
      <p:ext uri="{BB962C8B-B14F-4D97-AF65-F5344CB8AC3E}">
        <p14:creationId xmlns:p14="http://schemas.microsoft.com/office/powerpoint/2010/main" val="3213954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8DC42-2355-3B3F-ACC9-91BDE4B618C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70AB7E7-1C0D-6D97-1CF4-DB137D22B92C}"/>
              </a:ext>
            </a:extLst>
          </p:cNvPr>
          <p:cNvSpPr>
            <a:spLocks noGrp="1"/>
          </p:cNvSpPr>
          <p:nvPr>
            <p:ph type="dt" sz="half" idx="10"/>
          </p:nvPr>
        </p:nvSpPr>
        <p:spPr/>
        <p:txBody>
          <a:bodyPr/>
          <a:lstStyle/>
          <a:p>
            <a:fld id="{DA137F8B-E61D-4A66-8FDC-A3C46862730C}" type="datetimeFigureOut">
              <a:rPr lang="en-IN" smtClean="0"/>
              <a:t>10-09-2025</a:t>
            </a:fld>
            <a:endParaRPr lang="en-IN" dirty="0"/>
          </a:p>
        </p:txBody>
      </p:sp>
      <p:sp>
        <p:nvSpPr>
          <p:cNvPr id="4" name="Footer Placeholder 3">
            <a:extLst>
              <a:ext uri="{FF2B5EF4-FFF2-40B4-BE49-F238E27FC236}">
                <a16:creationId xmlns:a16="http://schemas.microsoft.com/office/drawing/2014/main" id="{A90F5B30-8CAF-58C1-AA69-DD6C297D2343}"/>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A47B516-27A9-CD79-167B-4C53E8836A94}"/>
              </a:ext>
            </a:extLst>
          </p:cNvPr>
          <p:cNvSpPr>
            <a:spLocks noGrp="1"/>
          </p:cNvSpPr>
          <p:nvPr>
            <p:ph type="sldNum" sz="quarter" idx="12"/>
          </p:nvPr>
        </p:nvSpPr>
        <p:spPr/>
        <p:txBody>
          <a:bodyPr/>
          <a:lstStyle/>
          <a:p>
            <a:fld id="{C16641B7-005E-4067-AE33-10537712BF7F}" type="slidenum">
              <a:rPr lang="en-IN" smtClean="0"/>
              <a:t>‹#›</a:t>
            </a:fld>
            <a:endParaRPr lang="en-IN" dirty="0"/>
          </a:p>
        </p:txBody>
      </p:sp>
    </p:spTree>
    <p:extLst>
      <p:ext uri="{BB962C8B-B14F-4D97-AF65-F5344CB8AC3E}">
        <p14:creationId xmlns:p14="http://schemas.microsoft.com/office/powerpoint/2010/main" val="2299004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1E5EF9-AA05-1E6F-0223-F24CFDBA387F}"/>
              </a:ext>
            </a:extLst>
          </p:cNvPr>
          <p:cNvSpPr>
            <a:spLocks noGrp="1"/>
          </p:cNvSpPr>
          <p:nvPr>
            <p:ph type="dt" sz="half" idx="10"/>
          </p:nvPr>
        </p:nvSpPr>
        <p:spPr/>
        <p:txBody>
          <a:bodyPr/>
          <a:lstStyle/>
          <a:p>
            <a:fld id="{DA137F8B-E61D-4A66-8FDC-A3C46862730C}" type="datetimeFigureOut">
              <a:rPr lang="en-IN" smtClean="0"/>
              <a:t>10-09-2025</a:t>
            </a:fld>
            <a:endParaRPr lang="en-IN" dirty="0"/>
          </a:p>
        </p:txBody>
      </p:sp>
      <p:sp>
        <p:nvSpPr>
          <p:cNvPr id="3" name="Footer Placeholder 2">
            <a:extLst>
              <a:ext uri="{FF2B5EF4-FFF2-40B4-BE49-F238E27FC236}">
                <a16:creationId xmlns:a16="http://schemas.microsoft.com/office/drawing/2014/main" id="{4BEA3B0D-A9DD-E292-EF05-6393D1EA5282}"/>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C19A7FE8-BDE0-0C71-AFF1-8644C77266D1}"/>
              </a:ext>
            </a:extLst>
          </p:cNvPr>
          <p:cNvSpPr>
            <a:spLocks noGrp="1"/>
          </p:cNvSpPr>
          <p:nvPr>
            <p:ph type="sldNum" sz="quarter" idx="12"/>
          </p:nvPr>
        </p:nvSpPr>
        <p:spPr/>
        <p:txBody>
          <a:bodyPr/>
          <a:lstStyle/>
          <a:p>
            <a:fld id="{C16641B7-005E-4067-AE33-10537712BF7F}" type="slidenum">
              <a:rPr lang="en-IN" smtClean="0"/>
              <a:t>‹#›</a:t>
            </a:fld>
            <a:endParaRPr lang="en-IN" dirty="0"/>
          </a:p>
        </p:txBody>
      </p:sp>
    </p:spTree>
    <p:extLst>
      <p:ext uri="{BB962C8B-B14F-4D97-AF65-F5344CB8AC3E}">
        <p14:creationId xmlns:p14="http://schemas.microsoft.com/office/powerpoint/2010/main" val="911250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B75E3-3ED3-C5D3-538D-BC53F44BCD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A81E071-3B91-1F12-68D7-6DD899B273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A65F291-417A-BF9F-D050-C7207AC4E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F8FF0B-4CA1-03DD-F962-AF018B92C1D9}"/>
              </a:ext>
            </a:extLst>
          </p:cNvPr>
          <p:cNvSpPr>
            <a:spLocks noGrp="1"/>
          </p:cNvSpPr>
          <p:nvPr>
            <p:ph type="dt" sz="half" idx="10"/>
          </p:nvPr>
        </p:nvSpPr>
        <p:spPr/>
        <p:txBody>
          <a:bodyPr/>
          <a:lstStyle/>
          <a:p>
            <a:fld id="{DA137F8B-E61D-4A66-8FDC-A3C46862730C}" type="datetimeFigureOut">
              <a:rPr lang="en-IN" smtClean="0"/>
              <a:t>10-09-2025</a:t>
            </a:fld>
            <a:endParaRPr lang="en-IN" dirty="0"/>
          </a:p>
        </p:txBody>
      </p:sp>
      <p:sp>
        <p:nvSpPr>
          <p:cNvPr id="6" name="Footer Placeholder 5">
            <a:extLst>
              <a:ext uri="{FF2B5EF4-FFF2-40B4-BE49-F238E27FC236}">
                <a16:creationId xmlns:a16="http://schemas.microsoft.com/office/drawing/2014/main" id="{2A54C0DE-6E30-60D2-CFB9-EABD364465C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E52BCC1A-2EFF-2BE1-2C9F-D9319B65285F}"/>
              </a:ext>
            </a:extLst>
          </p:cNvPr>
          <p:cNvSpPr>
            <a:spLocks noGrp="1"/>
          </p:cNvSpPr>
          <p:nvPr>
            <p:ph type="sldNum" sz="quarter" idx="12"/>
          </p:nvPr>
        </p:nvSpPr>
        <p:spPr/>
        <p:txBody>
          <a:bodyPr/>
          <a:lstStyle/>
          <a:p>
            <a:fld id="{C16641B7-005E-4067-AE33-10537712BF7F}" type="slidenum">
              <a:rPr lang="en-IN" smtClean="0"/>
              <a:t>‹#›</a:t>
            </a:fld>
            <a:endParaRPr lang="en-IN" dirty="0"/>
          </a:p>
        </p:txBody>
      </p:sp>
    </p:spTree>
    <p:extLst>
      <p:ext uri="{BB962C8B-B14F-4D97-AF65-F5344CB8AC3E}">
        <p14:creationId xmlns:p14="http://schemas.microsoft.com/office/powerpoint/2010/main" val="1017473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83C32-5D50-29C0-FE7D-F830842191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FDF1EB-9052-2454-7800-5CC731B6C0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2AF987D9-E89B-BB76-4DC1-40C9A428FA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69F12F-F1C4-1D29-ECFB-28E562870B4B}"/>
              </a:ext>
            </a:extLst>
          </p:cNvPr>
          <p:cNvSpPr>
            <a:spLocks noGrp="1"/>
          </p:cNvSpPr>
          <p:nvPr>
            <p:ph type="dt" sz="half" idx="10"/>
          </p:nvPr>
        </p:nvSpPr>
        <p:spPr/>
        <p:txBody>
          <a:bodyPr/>
          <a:lstStyle/>
          <a:p>
            <a:fld id="{DA137F8B-E61D-4A66-8FDC-A3C46862730C}" type="datetimeFigureOut">
              <a:rPr lang="en-IN" smtClean="0"/>
              <a:t>10-09-2025</a:t>
            </a:fld>
            <a:endParaRPr lang="en-IN" dirty="0"/>
          </a:p>
        </p:txBody>
      </p:sp>
      <p:sp>
        <p:nvSpPr>
          <p:cNvPr id="6" name="Footer Placeholder 5">
            <a:extLst>
              <a:ext uri="{FF2B5EF4-FFF2-40B4-BE49-F238E27FC236}">
                <a16:creationId xmlns:a16="http://schemas.microsoft.com/office/drawing/2014/main" id="{EA4A3B4E-470C-4F38-980A-6665ECADFC76}"/>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699386D-F724-6483-97D3-F50E8229190F}"/>
              </a:ext>
            </a:extLst>
          </p:cNvPr>
          <p:cNvSpPr>
            <a:spLocks noGrp="1"/>
          </p:cNvSpPr>
          <p:nvPr>
            <p:ph type="sldNum" sz="quarter" idx="12"/>
          </p:nvPr>
        </p:nvSpPr>
        <p:spPr/>
        <p:txBody>
          <a:bodyPr/>
          <a:lstStyle/>
          <a:p>
            <a:fld id="{C16641B7-005E-4067-AE33-10537712BF7F}" type="slidenum">
              <a:rPr lang="en-IN" smtClean="0"/>
              <a:t>‹#›</a:t>
            </a:fld>
            <a:endParaRPr lang="en-IN" dirty="0"/>
          </a:p>
        </p:txBody>
      </p:sp>
    </p:spTree>
    <p:extLst>
      <p:ext uri="{BB962C8B-B14F-4D97-AF65-F5344CB8AC3E}">
        <p14:creationId xmlns:p14="http://schemas.microsoft.com/office/powerpoint/2010/main" val="3369025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17F4A-5DBC-E228-97F6-CAA8D3748B8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0E5A2E-83CA-D929-E2FF-669527A3CE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A28DD6-6710-0ABE-5CAE-329F9C93C4EF}"/>
              </a:ext>
            </a:extLst>
          </p:cNvPr>
          <p:cNvSpPr>
            <a:spLocks noGrp="1"/>
          </p:cNvSpPr>
          <p:nvPr>
            <p:ph type="dt" sz="half" idx="10"/>
          </p:nvPr>
        </p:nvSpPr>
        <p:spPr/>
        <p:txBody>
          <a:bodyPr/>
          <a:lstStyle/>
          <a:p>
            <a:fld id="{DA137F8B-E61D-4A66-8FDC-A3C46862730C}" type="datetimeFigureOut">
              <a:rPr lang="en-IN" smtClean="0"/>
              <a:t>10-09-2025</a:t>
            </a:fld>
            <a:endParaRPr lang="en-IN" dirty="0"/>
          </a:p>
        </p:txBody>
      </p:sp>
      <p:sp>
        <p:nvSpPr>
          <p:cNvPr id="5" name="Footer Placeholder 4">
            <a:extLst>
              <a:ext uri="{FF2B5EF4-FFF2-40B4-BE49-F238E27FC236}">
                <a16:creationId xmlns:a16="http://schemas.microsoft.com/office/drawing/2014/main" id="{ACFE7E09-E9DA-A6E6-50A9-441B95A5F5F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26B2291-F1A0-044A-3497-F3DEAD4EA18A}"/>
              </a:ext>
            </a:extLst>
          </p:cNvPr>
          <p:cNvSpPr>
            <a:spLocks noGrp="1"/>
          </p:cNvSpPr>
          <p:nvPr>
            <p:ph type="sldNum" sz="quarter" idx="12"/>
          </p:nvPr>
        </p:nvSpPr>
        <p:spPr/>
        <p:txBody>
          <a:bodyPr/>
          <a:lstStyle/>
          <a:p>
            <a:fld id="{C16641B7-005E-4067-AE33-10537712BF7F}" type="slidenum">
              <a:rPr lang="en-IN" smtClean="0"/>
              <a:t>‹#›</a:t>
            </a:fld>
            <a:endParaRPr lang="en-IN" dirty="0"/>
          </a:p>
        </p:txBody>
      </p:sp>
    </p:spTree>
    <p:extLst>
      <p:ext uri="{BB962C8B-B14F-4D97-AF65-F5344CB8AC3E}">
        <p14:creationId xmlns:p14="http://schemas.microsoft.com/office/powerpoint/2010/main" val="1936471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A8455F-E494-14AA-9314-8EE9852974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A3541F3-4309-7EB8-12CC-FEA04AB747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0965E5-9308-D030-A50E-BC8033ECB9CD}"/>
              </a:ext>
            </a:extLst>
          </p:cNvPr>
          <p:cNvSpPr>
            <a:spLocks noGrp="1"/>
          </p:cNvSpPr>
          <p:nvPr>
            <p:ph type="dt" sz="half" idx="10"/>
          </p:nvPr>
        </p:nvSpPr>
        <p:spPr/>
        <p:txBody>
          <a:bodyPr/>
          <a:lstStyle/>
          <a:p>
            <a:fld id="{DA137F8B-E61D-4A66-8FDC-A3C46862730C}" type="datetimeFigureOut">
              <a:rPr lang="en-IN" smtClean="0"/>
              <a:t>10-09-2025</a:t>
            </a:fld>
            <a:endParaRPr lang="en-IN" dirty="0"/>
          </a:p>
        </p:txBody>
      </p:sp>
      <p:sp>
        <p:nvSpPr>
          <p:cNvPr id="5" name="Footer Placeholder 4">
            <a:extLst>
              <a:ext uri="{FF2B5EF4-FFF2-40B4-BE49-F238E27FC236}">
                <a16:creationId xmlns:a16="http://schemas.microsoft.com/office/drawing/2014/main" id="{9D64A417-F1FC-121E-EA94-4BFD28A49E9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3610717-0285-27D4-7BC5-A46BB0A90359}"/>
              </a:ext>
            </a:extLst>
          </p:cNvPr>
          <p:cNvSpPr>
            <a:spLocks noGrp="1"/>
          </p:cNvSpPr>
          <p:nvPr>
            <p:ph type="sldNum" sz="quarter" idx="12"/>
          </p:nvPr>
        </p:nvSpPr>
        <p:spPr/>
        <p:txBody>
          <a:bodyPr/>
          <a:lstStyle/>
          <a:p>
            <a:fld id="{C16641B7-005E-4067-AE33-10537712BF7F}" type="slidenum">
              <a:rPr lang="en-IN" smtClean="0"/>
              <a:t>‹#›</a:t>
            </a:fld>
            <a:endParaRPr lang="en-IN" dirty="0"/>
          </a:p>
        </p:txBody>
      </p:sp>
    </p:spTree>
    <p:extLst>
      <p:ext uri="{BB962C8B-B14F-4D97-AF65-F5344CB8AC3E}">
        <p14:creationId xmlns:p14="http://schemas.microsoft.com/office/powerpoint/2010/main" val="1943372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C5DC24-1B05-BFE9-9D98-5A2DF268CA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229D5B-E510-54F3-E468-EA6AA37BD2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C13972-E1D0-B8F7-9D1D-A2DCD511EC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137F8B-E61D-4A66-8FDC-A3C46862730C}" type="datetimeFigureOut">
              <a:rPr lang="en-IN" smtClean="0"/>
              <a:t>10-09-2025</a:t>
            </a:fld>
            <a:endParaRPr lang="en-IN" dirty="0"/>
          </a:p>
        </p:txBody>
      </p:sp>
      <p:sp>
        <p:nvSpPr>
          <p:cNvPr id="5" name="Footer Placeholder 4">
            <a:extLst>
              <a:ext uri="{FF2B5EF4-FFF2-40B4-BE49-F238E27FC236}">
                <a16:creationId xmlns:a16="http://schemas.microsoft.com/office/drawing/2014/main" id="{5D8DF8CB-19E0-0B79-39D8-7CF8E30521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1F441D8-D95E-BB7E-85D9-CF7CBF825F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6641B7-005E-4067-AE33-10537712BF7F}" type="slidenum">
              <a:rPr lang="en-IN" smtClean="0"/>
              <a:t>‹#›</a:t>
            </a:fld>
            <a:endParaRPr lang="en-IN" dirty="0"/>
          </a:p>
        </p:txBody>
      </p:sp>
    </p:spTree>
    <p:extLst>
      <p:ext uri="{BB962C8B-B14F-4D97-AF65-F5344CB8AC3E}">
        <p14:creationId xmlns:p14="http://schemas.microsoft.com/office/powerpoint/2010/main" val="5410607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 Id="rId9" Type="http://schemas.openxmlformats.org/officeDocument/2006/relationships/image" Target="../media/image14.jp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hart" Target="../charts/chart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umbai | History, Culture &amp; Attractions | Britannica">
            <a:extLst>
              <a:ext uri="{FF2B5EF4-FFF2-40B4-BE49-F238E27FC236}">
                <a16:creationId xmlns:a16="http://schemas.microsoft.com/office/drawing/2014/main" id="{479EA133-793E-C703-897E-4D6D1C74F1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067" y="2101555"/>
            <a:ext cx="6012000" cy="432710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ew Delhi And Delhi-NCR? - News18">
            <a:extLst>
              <a:ext uri="{FF2B5EF4-FFF2-40B4-BE49-F238E27FC236}">
                <a16:creationId xmlns:a16="http://schemas.microsoft.com/office/drawing/2014/main" id="{1C3D63A0-D530-DEEF-25CA-DB2176716B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6419" y="2114241"/>
            <a:ext cx="5760000" cy="4314417"/>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4249E8B2-B69A-ACE2-8979-B6832DF248AD}"/>
              </a:ext>
            </a:extLst>
          </p:cNvPr>
          <p:cNvSpPr txBox="1">
            <a:spLocks/>
          </p:cNvSpPr>
          <p:nvPr/>
        </p:nvSpPr>
        <p:spPr>
          <a:xfrm>
            <a:off x="21660" y="6506030"/>
            <a:ext cx="3528000" cy="324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600" i="1" dirty="0">
                <a:solidFill>
                  <a:schemeClr val="bg1">
                    <a:lumMod val="65000"/>
                  </a:schemeClr>
                </a:solidFill>
              </a:rPr>
              <a:t>Prepared by </a:t>
            </a:r>
            <a:r>
              <a:rPr lang="en-IN" sz="1600" i="1" dirty="0" err="1">
                <a:solidFill>
                  <a:schemeClr val="bg1">
                    <a:lumMod val="65000"/>
                  </a:schemeClr>
                </a:solidFill>
              </a:rPr>
              <a:t>xxxx</a:t>
            </a:r>
            <a:r>
              <a:rPr lang="en-IN" sz="1600" i="1" dirty="0">
                <a:solidFill>
                  <a:schemeClr val="bg1">
                    <a:lumMod val="65000"/>
                  </a:schemeClr>
                </a:solidFill>
              </a:rPr>
              <a:t> </a:t>
            </a:r>
            <a:r>
              <a:rPr lang="en-IN" sz="1600" i="1" dirty="0" err="1">
                <a:solidFill>
                  <a:schemeClr val="bg1">
                    <a:lumMod val="65000"/>
                  </a:schemeClr>
                </a:solidFill>
              </a:rPr>
              <a:t>xxxx</a:t>
            </a:r>
            <a:r>
              <a:rPr lang="en-IN" sz="1600" i="1" dirty="0">
                <a:solidFill>
                  <a:schemeClr val="bg1">
                    <a:lumMod val="65000"/>
                  </a:schemeClr>
                </a:solidFill>
              </a:rPr>
              <a:t> </a:t>
            </a:r>
            <a:r>
              <a:rPr lang="en-IN" sz="1600" i="1" dirty="0" err="1">
                <a:solidFill>
                  <a:schemeClr val="bg1">
                    <a:lumMod val="65000"/>
                  </a:schemeClr>
                </a:solidFill>
              </a:rPr>
              <a:t>xxxx</a:t>
            </a:r>
            <a:endParaRPr lang="en-IN" sz="1600" i="1" dirty="0">
              <a:solidFill>
                <a:schemeClr val="bg1">
                  <a:lumMod val="65000"/>
                </a:schemeClr>
              </a:solidFill>
            </a:endParaRPr>
          </a:p>
        </p:txBody>
      </p:sp>
      <p:sp>
        <p:nvSpPr>
          <p:cNvPr id="6" name="TextBox 5">
            <a:extLst>
              <a:ext uri="{FF2B5EF4-FFF2-40B4-BE49-F238E27FC236}">
                <a16:creationId xmlns:a16="http://schemas.microsoft.com/office/drawing/2014/main" id="{1247C68C-72F3-2475-D323-9ABD300760C3}"/>
              </a:ext>
            </a:extLst>
          </p:cNvPr>
          <p:cNvSpPr txBox="1"/>
          <p:nvPr/>
        </p:nvSpPr>
        <p:spPr>
          <a:xfrm>
            <a:off x="9256302" y="6475812"/>
            <a:ext cx="2952000" cy="338554"/>
          </a:xfrm>
          <a:prstGeom prst="rect">
            <a:avLst/>
          </a:prstGeom>
          <a:noFill/>
        </p:spPr>
        <p:txBody>
          <a:bodyPr wrap="square" rtlCol="0">
            <a:spAutoFit/>
          </a:bodyPr>
          <a:lstStyle/>
          <a:p>
            <a:pPr algn="r"/>
            <a:r>
              <a:rPr lang="en-IN" sz="1600" i="1" dirty="0">
                <a:solidFill>
                  <a:schemeClr val="bg1">
                    <a:lumMod val="65000"/>
                  </a:schemeClr>
                </a:solidFill>
              </a:rPr>
              <a:t>FW Date – xx </a:t>
            </a:r>
            <a:r>
              <a:rPr lang="en-IN" sz="1600" i="1" dirty="0" err="1">
                <a:solidFill>
                  <a:schemeClr val="bg1">
                    <a:lumMod val="65000"/>
                  </a:schemeClr>
                </a:solidFill>
              </a:rPr>
              <a:t>xx</a:t>
            </a:r>
            <a:r>
              <a:rPr lang="en-IN" sz="1600" i="1" dirty="0">
                <a:solidFill>
                  <a:schemeClr val="bg1">
                    <a:lumMod val="65000"/>
                  </a:schemeClr>
                </a:solidFill>
              </a:rPr>
              <a:t> </a:t>
            </a:r>
            <a:r>
              <a:rPr lang="en-IN" sz="1600" i="1" dirty="0" err="1">
                <a:solidFill>
                  <a:schemeClr val="bg1">
                    <a:lumMod val="65000"/>
                  </a:schemeClr>
                </a:solidFill>
              </a:rPr>
              <a:t>xxxx</a:t>
            </a:r>
            <a:endParaRPr lang="en-IN" sz="1600" i="1" dirty="0">
              <a:solidFill>
                <a:schemeClr val="bg1">
                  <a:lumMod val="65000"/>
                </a:schemeClr>
              </a:solidFill>
            </a:endParaRPr>
          </a:p>
        </p:txBody>
      </p:sp>
      <p:sp>
        <p:nvSpPr>
          <p:cNvPr id="7" name="Title 1">
            <a:extLst>
              <a:ext uri="{FF2B5EF4-FFF2-40B4-BE49-F238E27FC236}">
                <a16:creationId xmlns:a16="http://schemas.microsoft.com/office/drawing/2014/main" id="{B8423FE4-9F16-8E5C-FC0E-52059F05DE68}"/>
              </a:ext>
            </a:extLst>
          </p:cNvPr>
          <p:cNvSpPr txBox="1">
            <a:spLocks/>
          </p:cNvSpPr>
          <p:nvPr/>
        </p:nvSpPr>
        <p:spPr>
          <a:xfrm>
            <a:off x="3278869" y="606716"/>
            <a:ext cx="5220000" cy="113679"/>
          </a:xfrm>
          <a:prstGeom prst="rect">
            <a:avLst/>
          </a:prstGeom>
          <a:gradFill>
            <a:gsLst>
              <a:gs pos="46000">
                <a:schemeClr val="bg1">
                  <a:lumMod val="50000"/>
                </a:schemeClr>
              </a:gs>
              <a:gs pos="72000">
                <a:schemeClr val="tx2">
                  <a:lumMod val="60000"/>
                  <a:lumOff val="40000"/>
                </a:schemeClr>
              </a:gs>
            </a:gsLst>
            <a:lin ang="0" scaled="1"/>
          </a:gra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b="1" dirty="0">
                <a:solidFill>
                  <a:srgbClr val="002060"/>
                </a:solidFill>
                <a:latin typeface="+mn-lt"/>
              </a:rPr>
              <a:t>…… Consumer Research</a:t>
            </a:r>
          </a:p>
        </p:txBody>
      </p:sp>
      <p:sp>
        <p:nvSpPr>
          <p:cNvPr id="8" name="TextBox 7">
            <a:extLst>
              <a:ext uri="{FF2B5EF4-FFF2-40B4-BE49-F238E27FC236}">
                <a16:creationId xmlns:a16="http://schemas.microsoft.com/office/drawing/2014/main" id="{FCBEB465-BB69-1827-E1F7-2D36700894DA}"/>
              </a:ext>
            </a:extLst>
          </p:cNvPr>
          <p:cNvSpPr txBox="1"/>
          <p:nvPr/>
        </p:nvSpPr>
        <p:spPr>
          <a:xfrm>
            <a:off x="2470483" y="1716502"/>
            <a:ext cx="973343" cy="369332"/>
          </a:xfrm>
          <a:prstGeom prst="rect">
            <a:avLst/>
          </a:prstGeom>
          <a:noFill/>
        </p:spPr>
        <p:txBody>
          <a:bodyPr wrap="none" rtlCol="0">
            <a:spAutoFit/>
          </a:bodyPr>
          <a:lstStyle/>
          <a:p>
            <a:r>
              <a:rPr lang="en-IN" dirty="0"/>
              <a:t>Mumbai</a:t>
            </a:r>
          </a:p>
        </p:txBody>
      </p:sp>
      <p:sp>
        <p:nvSpPr>
          <p:cNvPr id="9" name="TextBox 8">
            <a:extLst>
              <a:ext uri="{FF2B5EF4-FFF2-40B4-BE49-F238E27FC236}">
                <a16:creationId xmlns:a16="http://schemas.microsoft.com/office/drawing/2014/main" id="{BE04BB99-D7EC-C55F-3601-BABC6E23E414}"/>
              </a:ext>
            </a:extLst>
          </p:cNvPr>
          <p:cNvSpPr txBox="1"/>
          <p:nvPr/>
        </p:nvSpPr>
        <p:spPr>
          <a:xfrm>
            <a:off x="8622626" y="1740566"/>
            <a:ext cx="670376" cy="369332"/>
          </a:xfrm>
          <a:prstGeom prst="rect">
            <a:avLst/>
          </a:prstGeom>
          <a:noFill/>
        </p:spPr>
        <p:txBody>
          <a:bodyPr wrap="none" rtlCol="0">
            <a:spAutoFit/>
          </a:bodyPr>
          <a:lstStyle/>
          <a:p>
            <a:r>
              <a:rPr lang="en-IN" dirty="0"/>
              <a:t>Delhi</a:t>
            </a:r>
          </a:p>
        </p:txBody>
      </p:sp>
    </p:spTree>
    <p:extLst>
      <p:ext uri="{BB962C8B-B14F-4D97-AF65-F5344CB8AC3E}">
        <p14:creationId xmlns:p14="http://schemas.microsoft.com/office/powerpoint/2010/main" val="2890669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CD1130-639E-9FC5-CAC9-17C6778EBAE3}"/>
              </a:ext>
            </a:extLst>
          </p:cNvPr>
          <p:cNvSpPr txBox="1">
            <a:spLocks/>
          </p:cNvSpPr>
          <p:nvPr/>
        </p:nvSpPr>
        <p:spPr>
          <a:xfrm>
            <a:off x="17797" y="638800"/>
            <a:ext cx="10515600" cy="113679"/>
          </a:xfrm>
          <a:prstGeom prst="rect">
            <a:avLst/>
          </a:prstGeom>
          <a:gradFill>
            <a:gsLst>
              <a:gs pos="46000">
                <a:schemeClr val="accent4">
                  <a:lumMod val="50000"/>
                </a:schemeClr>
              </a:gs>
              <a:gs pos="88000">
                <a:schemeClr val="accent5">
                  <a:lumMod val="20000"/>
                  <a:lumOff val="80000"/>
                </a:schemeClr>
              </a:gs>
              <a:gs pos="72000">
                <a:schemeClr val="accent4">
                  <a:lumMod val="20000"/>
                  <a:lumOff val="80000"/>
                </a:schemeClr>
              </a:gs>
            </a:gsLst>
            <a:lin ang="0" scaled="1"/>
          </a:gra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600" b="1" dirty="0">
                <a:solidFill>
                  <a:srgbClr val="002060"/>
                </a:solidFill>
                <a:latin typeface="+mn-lt"/>
              </a:rPr>
              <a:t>Research Background</a:t>
            </a:r>
          </a:p>
        </p:txBody>
      </p:sp>
      <p:sp>
        <p:nvSpPr>
          <p:cNvPr id="7" name="TextBox 6">
            <a:extLst>
              <a:ext uri="{FF2B5EF4-FFF2-40B4-BE49-F238E27FC236}">
                <a16:creationId xmlns:a16="http://schemas.microsoft.com/office/drawing/2014/main" id="{89821392-2A61-7193-C986-97A0C74643AA}"/>
              </a:ext>
            </a:extLst>
          </p:cNvPr>
          <p:cNvSpPr txBox="1"/>
          <p:nvPr/>
        </p:nvSpPr>
        <p:spPr>
          <a:xfrm>
            <a:off x="157157" y="1300159"/>
            <a:ext cx="11563350" cy="4093428"/>
          </a:xfrm>
          <a:prstGeom prst="rect">
            <a:avLst/>
          </a:prstGeom>
          <a:noFill/>
        </p:spPr>
        <p:txBody>
          <a:bodyPr wrap="square" rtlCol="0">
            <a:spAutoFit/>
          </a:bodyPr>
          <a:lstStyle/>
          <a:p>
            <a:r>
              <a:rPr lang="en-US" sz="2000" dirty="0"/>
              <a:t>In packaged cake category, advanced cakes formats are driving growth &amp; penetration. Layer cake is one such format and it contributes 14% of overall cake business, growing at 13% year on year. ITC, Dream Bake &amp; Mondelez are brands which have Layer at Rs 15 in market.</a:t>
            </a:r>
          </a:p>
          <a:p>
            <a:endParaRPr lang="en-US" sz="2000" dirty="0"/>
          </a:p>
          <a:p>
            <a:r>
              <a:rPr lang="en-US" sz="2000" dirty="0" err="1"/>
              <a:t>Abc</a:t>
            </a:r>
            <a:r>
              <a:rPr lang="en-US" sz="2000" dirty="0"/>
              <a:t> has launched Layer Enrobed at Rs.10, introducing a lot of excitement in the category and it has 69% share in the Rs 10 PP, that too with a new exciting enrobed variant.</a:t>
            </a:r>
          </a:p>
          <a:p>
            <a:endParaRPr lang="en-US" sz="2000" dirty="0"/>
          </a:p>
          <a:p>
            <a:r>
              <a:rPr lang="en-US" sz="2000" dirty="0"/>
              <a:t>Client wants to launch enrobed layer at Rs.10 to give direct competition to </a:t>
            </a:r>
            <a:r>
              <a:rPr lang="en-US" sz="2000" dirty="0" err="1"/>
              <a:t>Abc</a:t>
            </a:r>
            <a:r>
              <a:rPr lang="en-US" sz="2000" dirty="0"/>
              <a:t> at Rs.10.</a:t>
            </a:r>
          </a:p>
          <a:p>
            <a:endParaRPr lang="en-US" sz="2000" dirty="0"/>
          </a:p>
          <a:p>
            <a:r>
              <a:rPr lang="en-US" sz="2000" dirty="0"/>
              <a:t>Hence, client had developed a new recipe and tested it against </a:t>
            </a:r>
            <a:r>
              <a:rPr lang="en-US" sz="2000" dirty="0" err="1"/>
              <a:t>Abc</a:t>
            </a:r>
            <a:r>
              <a:rPr lang="en-US" sz="2000" dirty="0"/>
              <a:t> in February 2024, but the test product could not clear the action standards set at that time.</a:t>
            </a:r>
          </a:p>
          <a:p>
            <a:endParaRPr lang="en-US" sz="2000" dirty="0"/>
          </a:p>
          <a:p>
            <a:r>
              <a:rPr lang="en-US" sz="2000" dirty="0"/>
              <a:t>So, client has now developed new recipe of enrobed layer cake to be tested against </a:t>
            </a:r>
            <a:r>
              <a:rPr lang="en-US" sz="2000" dirty="0" err="1"/>
              <a:t>Abc</a:t>
            </a:r>
            <a:r>
              <a:rPr lang="en-US" sz="2000" dirty="0"/>
              <a:t>.</a:t>
            </a:r>
            <a:endParaRPr lang="en-IN" sz="2000" dirty="0"/>
          </a:p>
        </p:txBody>
      </p:sp>
    </p:spTree>
    <p:extLst>
      <p:ext uri="{BB962C8B-B14F-4D97-AF65-F5344CB8AC3E}">
        <p14:creationId xmlns:p14="http://schemas.microsoft.com/office/powerpoint/2010/main" val="2981489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CD1130-639E-9FC5-CAC9-17C6778EBAE3}"/>
              </a:ext>
            </a:extLst>
          </p:cNvPr>
          <p:cNvSpPr txBox="1">
            <a:spLocks/>
          </p:cNvSpPr>
          <p:nvPr/>
        </p:nvSpPr>
        <p:spPr>
          <a:xfrm>
            <a:off x="17797" y="638800"/>
            <a:ext cx="10515600" cy="113679"/>
          </a:xfrm>
          <a:prstGeom prst="rect">
            <a:avLst/>
          </a:prstGeom>
          <a:gradFill>
            <a:gsLst>
              <a:gs pos="46000">
                <a:schemeClr val="accent4">
                  <a:lumMod val="50000"/>
                </a:schemeClr>
              </a:gs>
              <a:gs pos="88000">
                <a:schemeClr val="accent5">
                  <a:lumMod val="20000"/>
                  <a:lumOff val="80000"/>
                </a:schemeClr>
              </a:gs>
              <a:gs pos="72000">
                <a:schemeClr val="accent4">
                  <a:lumMod val="20000"/>
                  <a:lumOff val="80000"/>
                </a:schemeClr>
              </a:gs>
            </a:gsLst>
            <a:lin ang="0" scaled="1"/>
          </a:gra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600" b="1" dirty="0">
                <a:solidFill>
                  <a:srgbClr val="002060"/>
                </a:solidFill>
                <a:latin typeface="+mn-lt"/>
              </a:rPr>
              <a:t>Research Objective | Methodology</a:t>
            </a:r>
          </a:p>
        </p:txBody>
      </p:sp>
      <p:sp>
        <p:nvSpPr>
          <p:cNvPr id="7" name="TextBox 6">
            <a:extLst>
              <a:ext uri="{FF2B5EF4-FFF2-40B4-BE49-F238E27FC236}">
                <a16:creationId xmlns:a16="http://schemas.microsoft.com/office/drawing/2014/main" id="{89821392-2A61-7193-C986-97A0C74643AA}"/>
              </a:ext>
            </a:extLst>
          </p:cNvPr>
          <p:cNvSpPr txBox="1"/>
          <p:nvPr/>
        </p:nvSpPr>
        <p:spPr>
          <a:xfrm>
            <a:off x="157157" y="1271576"/>
            <a:ext cx="11563350" cy="3046988"/>
          </a:xfrm>
          <a:prstGeom prst="rect">
            <a:avLst/>
          </a:prstGeom>
          <a:noFill/>
        </p:spPr>
        <p:txBody>
          <a:bodyPr wrap="square" rtlCol="0">
            <a:spAutoFit/>
          </a:bodyPr>
          <a:lstStyle/>
          <a:p>
            <a:r>
              <a:rPr lang="en-US" sz="2400" dirty="0"/>
              <a:t>To check product performance of test option FS18 Vs </a:t>
            </a:r>
            <a:r>
              <a:rPr lang="en-US" sz="2400" dirty="0" err="1"/>
              <a:t>Abc</a:t>
            </a:r>
            <a:r>
              <a:rPr lang="en-US" sz="2400" dirty="0"/>
              <a:t>.</a:t>
            </a:r>
          </a:p>
          <a:p>
            <a:endParaRPr lang="en-US" sz="2400" dirty="0"/>
          </a:p>
          <a:p>
            <a:endParaRPr lang="en-US" sz="2400" dirty="0"/>
          </a:p>
          <a:p>
            <a:endParaRPr lang="en-US" sz="2400" dirty="0"/>
          </a:p>
          <a:p>
            <a:endParaRPr lang="en-US" sz="2400" dirty="0"/>
          </a:p>
          <a:p>
            <a:r>
              <a:rPr lang="en-US" sz="2400" dirty="0"/>
              <a:t>Blind product evaluation in a CLT. Sequential monadic design. Each respondent tested two products (one sample of Client and in-market sample of </a:t>
            </a:r>
            <a:r>
              <a:rPr lang="en-US" sz="2400" dirty="0" err="1"/>
              <a:t>xxxx</a:t>
            </a:r>
            <a:r>
              <a:rPr lang="en-US" sz="2400" dirty="0"/>
              <a:t>- as per allocated panels. Panel allocation will be rotated.</a:t>
            </a:r>
            <a:endParaRPr lang="en-IN" sz="2400" dirty="0"/>
          </a:p>
        </p:txBody>
      </p:sp>
    </p:spTree>
    <p:extLst>
      <p:ext uri="{BB962C8B-B14F-4D97-AF65-F5344CB8AC3E}">
        <p14:creationId xmlns:p14="http://schemas.microsoft.com/office/powerpoint/2010/main" val="1983525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CD1130-639E-9FC5-CAC9-17C6778EBAE3}"/>
              </a:ext>
            </a:extLst>
          </p:cNvPr>
          <p:cNvSpPr txBox="1">
            <a:spLocks/>
          </p:cNvSpPr>
          <p:nvPr/>
        </p:nvSpPr>
        <p:spPr>
          <a:xfrm>
            <a:off x="17797" y="638800"/>
            <a:ext cx="10515600" cy="113679"/>
          </a:xfrm>
          <a:prstGeom prst="rect">
            <a:avLst/>
          </a:prstGeom>
          <a:gradFill>
            <a:gsLst>
              <a:gs pos="46000">
                <a:schemeClr val="accent4">
                  <a:lumMod val="50000"/>
                </a:schemeClr>
              </a:gs>
              <a:gs pos="88000">
                <a:schemeClr val="accent5">
                  <a:lumMod val="20000"/>
                  <a:lumOff val="80000"/>
                </a:schemeClr>
              </a:gs>
              <a:gs pos="72000">
                <a:schemeClr val="accent4">
                  <a:lumMod val="20000"/>
                  <a:lumOff val="80000"/>
                </a:schemeClr>
              </a:gs>
            </a:gsLst>
            <a:lin ang="0" scaled="1"/>
          </a:gra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600" b="1" dirty="0">
                <a:solidFill>
                  <a:srgbClr val="002060"/>
                </a:solidFill>
                <a:latin typeface="+mn-lt"/>
              </a:rPr>
              <a:t>Target Group</a:t>
            </a:r>
          </a:p>
        </p:txBody>
      </p:sp>
      <p:sp>
        <p:nvSpPr>
          <p:cNvPr id="7" name="TextBox 6">
            <a:extLst>
              <a:ext uri="{FF2B5EF4-FFF2-40B4-BE49-F238E27FC236}">
                <a16:creationId xmlns:a16="http://schemas.microsoft.com/office/drawing/2014/main" id="{89821392-2A61-7193-C986-97A0C74643AA}"/>
              </a:ext>
            </a:extLst>
          </p:cNvPr>
          <p:cNvSpPr txBox="1"/>
          <p:nvPr/>
        </p:nvSpPr>
        <p:spPr>
          <a:xfrm>
            <a:off x="157157" y="1271576"/>
            <a:ext cx="11563350" cy="4401205"/>
          </a:xfrm>
          <a:prstGeom prst="rect">
            <a:avLst/>
          </a:prstGeom>
          <a:noFill/>
        </p:spPr>
        <p:txBody>
          <a:bodyPr wrap="square" rtlCol="0">
            <a:spAutoFit/>
          </a:bodyPr>
          <a:lstStyle/>
          <a:p>
            <a:r>
              <a:rPr lang="en-US" sz="2000" dirty="0"/>
              <a:t>Males &amp; Females from SEC A Households </a:t>
            </a:r>
          </a:p>
          <a:p>
            <a:endParaRPr lang="en-US" sz="2000" dirty="0"/>
          </a:p>
          <a:p>
            <a:r>
              <a:rPr lang="en-US" sz="2000" dirty="0"/>
              <a:t>Aged between 8-40 years, Split in three groups 8-16(40%), 17-27 (40%) and 28-40(20%).   </a:t>
            </a:r>
          </a:p>
          <a:p>
            <a:endParaRPr lang="en-US" sz="2000" dirty="0"/>
          </a:p>
          <a:p>
            <a:r>
              <a:rPr lang="en-US" sz="2000" dirty="0"/>
              <a:t>Consume any packaged branded cakes regularly in their HH for the last 3 months</a:t>
            </a:r>
          </a:p>
          <a:p>
            <a:endParaRPr lang="en-US" sz="2000" dirty="0"/>
          </a:p>
          <a:p>
            <a:r>
              <a:rPr lang="en-US" sz="2000" dirty="0"/>
              <a:t>Branded Cake – Cake packaged and with a brand name on it (following forms – branded sliced cake/ bar cake, branded slab cake, Branded Layer/Pastry Cakes with some filling –center filled with vanilla/chocolate/strawberry, Branded Swiss Roll cake which is sponge cake roll filled with vanilla/chocolate/strawberry ).</a:t>
            </a:r>
          </a:p>
          <a:p>
            <a:endParaRPr lang="en-US" sz="2000" dirty="0"/>
          </a:p>
          <a:p>
            <a:r>
              <a:rPr lang="en-US" sz="2000" dirty="0"/>
              <a:t>Branded cakes considered for the study – Britannia, </a:t>
            </a:r>
            <a:r>
              <a:rPr lang="en-US" sz="2000" dirty="0" err="1"/>
              <a:t>Cintu</a:t>
            </a:r>
            <a:r>
              <a:rPr lang="en-US" sz="2000" dirty="0"/>
              <a:t>, </a:t>
            </a:r>
            <a:r>
              <a:rPr lang="en-US" sz="2000" dirty="0" err="1"/>
              <a:t>Lavian</a:t>
            </a:r>
            <a:r>
              <a:rPr lang="en-US" sz="2000" dirty="0"/>
              <a:t>, Cadbury (Mondelez), </a:t>
            </a:r>
            <a:r>
              <a:rPr lang="en-US" sz="2000" dirty="0" err="1"/>
              <a:t>Sunfeast</a:t>
            </a:r>
            <a:r>
              <a:rPr lang="en-US" sz="2000" dirty="0"/>
              <a:t>, Winkies (Dream cake), </a:t>
            </a:r>
            <a:r>
              <a:rPr lang="en-US" sz="2000" dirty="0" err="1"/>
              <a:t>Switz</a:t>
            </a:r>
            <a:r>
              <a:rPr lang="en-US" sz="2000" dirty="0"/>
              <a:t>, </a:t>
            </a:r>
            <a:r>
              <a:rPr lang="en-US" sz="2000" dirty="0" err="1"/>
              <a:t>Biskfarm</a:t>
            </a:r>
            <a:r>
              <a:rPr lang="en-US" sz="2000" dirty="0"/>
              <a:t>, Parle, Rich feast, </a:t>
            </a:r>
            <a:r>
              <a:rPr lang="en-US" sz="2000" dirty="0" err="1"/>
              <a:t>Sobisco</a:t>
            </a:r>
            <a:r>
              <a:rPr lang="en-US" sz="2000" dirty="0"/>
              <a:t> and </a:t>
            </a:r>
            <a:r>
              <a:rPr lang="en-US" sz="2000" dirty="0" err="1"/>
              <a:t>Swissyum</a:t>
            </a:r>
            <a:r>
              <a:rPr lang="en-US" sz="2000" dirty="0"/>
              <a:t>.</a:t>
            </a:r>
          </a:p>
          <a:p>
            <a:r>
              <a:rPr lang="en-US" sz="2000" dirty="0"/>
              <a:t>Non-rejectors of the chocolate </a:t>
            </a:r>
            <a:r>
              <a:rPr lang="en-US" sz="2000" dirty="0" err="1"/>
              <a:t>flavour</a:t>
            </a:r>
            <a:endParaRPr lang="en-IN" sz="2000" dirty="0"/>
          </a:p>
        </p:txBody>
      </p:sp>
    </p:spTree>
    <p:extLst>
      <p:ext uri="{BB962C8B-B14F-4D97-AF65-F5344CB8AC3E}">
        <p14:creationId xmlns:p14="http://schemas.microsoft.com/office/powerpoint/2010/main" val="2337434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CD1130-639E-9FC5-CAC9-17C6778EBAE3}"/>
              </a:ext>
            </a:extLst>
          </p:cNvPr>
          <p:cNvSpPr txBox="1">
            <a:spLocks/>
          </p:cNvSpPr>
          <p:nvPr/>
        </p:nvSpPr>
        <p:spPr>
          <a:xfrm>
            <a:off x="17797" y="638800"/>
            <a:ext cx="10515600" cy="113679"/>
          </a:xfrm>
          <a:prstGeom prst="rect">
            <a:avLst/>
          </a:prstGeom>
          <a:gradFill>
            <a:gsLst>
              <a:gs pos="46000">
                <a:schemeClr val="accent4">
                  <a:lumMod val="50000"/>
                </a:schemeClr>
              </a:gs>
              <a:gs pos="88000">
                <a:schemeClr val="accent5">
                  <a:lumMod val="20000"/>
                  <a:lumOff val="80000"/>
                </a:schemeClr>
              </a:gs>
              <a:gs pos="72000">
                <a:schemeClr val="accent4">
                  <a:lumMod val="20000"/>
                  <a:lumOff val="80000"/>
                </a:schemeClr>
              </a:gs>
            </a:gsLst>
            <a:lin ang="0" scaled="1"/>
          </a:gra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600" b="1" dirty="0">
                <a:solidFill>
                  <a:srgbClr val="002060"/>
                </a:solidFill>
                <a:latin typeface="+mn-lt"/>
              </a:rPr>
              <a:t>Action Standard | Analysis</a:t>
            </a:r>
          </a:p>
        </p:txBody>
      </p:sp>
      <p:sp>
        <p:nvSpPr>
          <p:cNvPr id="7" name="TextBox 6">
            <a:extLst>
              <a:ext uri="{FF2B5EF4-FFF2-40B4-BE49-F238E27FC236}">
                <a16:creationId xmlns:a16="http://schemas.microsoft.com/office/drawing/2014/main" id="{89821392-2A61-7193-C986-97A0C74643AA}"/>
              </a:ext>
            </a:extLst>
          </p:cNvPr>
          <p:cNvSpPr txBox="1"/>
          <p:nvPr/>
        </p:nvSpPr>
        <p:spPr>
          <a:xfrm>
            <a:off x="157157" y="1843078"/>
            <a:ext cx="11563350" cy="2677656"/>
          </a:xfrm>
          <a:prstGeom prst="rect">
            <a:avLst/>
          </a:prstGeom>
          <a:noFill/>
        </p:spPr>
        <p:txBody>
          <a:bodyPr wrap="square" rtlCol="0">
            <a:spAutoFit/>
          </a:bodyPr>
          <a:lstStyle/>
          <a:p>
            <a:r>
              <a:rPr lang="en-US" sz="2800" dirty="0"/>
              <a:t>Superiority on Overall opinion AND Preference Vs Abc@90 &amp; 95% CL two tailed.</a:t>
            </a:r>
          </a:p>
          <a:p>
            <a:endParaRPr lang="en-US" sz="2800" dirty="0"/>
          </a:p>
          <a:p>
            <a:endParaRPr lang="en-US" sz="2800" dirty="0"/>
          </a:p>
          <a:p>
            <a:r>
              <a:rPr lang="en-US" sz="2800" dirty="0"/>
              <a:t>JAR penalty analysis, top2box analysis, OO and preference read among </a:t>
            </a:r>
            <a:r>
              <a:rPr lang="en-US" sz="2800" dirty="0" err="1"/>
              <a:t>chocobakes</a:t>
            </a:r>
            <a:r>
              <a:rPr lang="en-US" sz="2800" dirty="0"/>
              <a:t> users!</a:t>
            </a:r>
          </a:p>
        </p:txBody>
      </p:sp>
    </p:spTree>
    <p:extLst>
      <p:ext uri="{BB962C8B-B14F-4D97-AF65-F5344CB8AC3E}">
        <p14:creationId xmlns:p14="http://schemas.microsoft.com/office/powerpoint/2010/main" val="2477580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CD1130-639E-9FC5-CAC9-17C6778EBAE3}"/>
              </a:ext>
            </a:extLst>
          </p:cNvPr>
          <p:cNvSpPr txBox="1">
            <a:spLocks/>
          </p:cNvSpPr>
          <p:nvPr/>
        </p:nvSpPr>
        <p:spPr>
          <a:xfrm>
            <a:off x="17797" y="638800"/>
            <a:ext cx="10515600" cy="113679"/>
          </a:xfrm>
          <a:prstGeom prst="rect">
            <a:avLst/>
          </a:prstGeom>
          <a:gradFill>
            <a:gsLst>
              <a:gs pos="46000">
                <a:schemeClr val="accent4">
                  <a:lumMod val="50000"/>
                </a:schemeClr>
              </a:gs>
              <a:gs pos="88000">
                <a:schemeClr val="accent5">
                  <a:lumMod val="20000"/>
                  <a:lumOff val="80000"/>
                </a:schemeClr>
              </a:gs>
              <a:gs pos="72000">
                <a:schemeClr val="accent4">
                  <a:lumMod val="20000"/>
                  <a:lumOff val="80000"/>
                </a:schemeClr>
              </a:gs>
            </a:gsLst>
            <a:lin ang="0" scaled="1"/>
          </a:gra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600" b="1" dirty="0">
                <a:solidFill>
                  <a:srgbClr val="002060"/>
                </a:solidFill>
                <a:latin typeface="+mn-lt"/>
              </a:rPr>
              <a:t>Centre | Sample Size</a:t>
            </a:r>
          </a:p>
        </p:txBody>
      </p:sp>
      <p:sp>
        <p:nvSpPr>
          <p:cNvPr id="7" name="TextBox 6">
            <a:extLst>
              <a:ext uri="{FF2B5EF4-FFF2-40B4-BE49-F238E27FC236}">
                <a16:creationId xmlns:a16="http://schemas.microsoft.com/office/drawing/2014/main" id="{89821392-2A61-7193-C986-97A0C74643AA}"/>
              </a:ext>
            </a:extLst>
          </p:cNvPr>
          <p:cNvSpPr txBox="1"/>
          <p:nvPr/>
        </p:nvSpPr>
        <p:spPr>
          <a:xfrm>
            <a:off x="157157" y="871521"/>
            <a:ext cx="5486406" cy="4739759"/>
          </a:xfrm>
          <a:prstGeom prst="rect">
            <a:avLst/>
          </a:prstGeom>
          <a:noFill/>
        </p:spPr>
        <p:txBody>
          <a:bodyPr wrap="square" rtlCol="0">
            <a:spAutoFit/>
          </a:bodyPr>
          <a:lstStyle/>
          <a:p>
            <a:r>
              <a:rPr lang="en-US" sz="2800" dirty="0"/>
              <a:t>Mumbai = 90</a:t>
            </a:r>
          </a:p>
          <a:p>
            <a:r>
              <a:rPr lang="en-US" sz="1200" b="1" i="1" u="sng" dirty="0">
                <a:solidFill>
                  <a:schemeClr val="bg1">
                    <a:lumMod val="50000"/>
                  </a:schemeClr>
                </a:solidFill>
              </a:rPr>
              <a:t>19</a:t>
            </a:r>
            <a:r>
              <a:rPr lang="en-US" sz="1200" b="1" i="1" u="sng" baseline="30000" dirty="0">
                <a:solidFill>
                  <a:schemeClr val="bg1">
                    <a:lumMod val="50000"/>
                  </a:schemeClr>
                </a:solidFill>
              </a:rPr>
              <a:t>th</a:t>
            </a:r>
            <a:r>
              <a:rPr lang="en-US" sz="1200" b="1" i="1" u="sng" dirty="0">
                <a:solidFill>
                  <a:schemeClr val="bg1">
                    <a:lumMod val="50000"/>
                  </a:schemeClr>
                </a:solidFill>
              </a:rPr>
              <a:t> Sep 2024</a:t>
            </a:r>
          </a:p>
          <a:p>
            <a:r>
              <a:rPr lang="en-US" sz="1200" i="1" dirty="0">
                <a:solidFill>
                  <a:schemeClr val="bg1">
                    <a:lumMod val="50000"/>
                  </a:schemeClr>
                </a:solidFill>
              </a:rPr>
              <a:t>Sita Sindhu Bhavan Street no. 8, Sita </a:t>
            </a:r>
            <a:r>
              <a:rPr lang="en-US" sz="1200" i="1" dirty="0" err="1">
                <a:solidFill>
                  <a:schemeClr val="bg1">
                    <a:lumMod val="50000"/>
                  </a:schemeClr>
                </a:solidFill>
              </a:rPr>
              <a:t>sindhu</a:t>
            </a:r>
            <a:r>
              <a:rPr lang="en-US" sz="1200" i="1" dirty="0">
                <a:solidFill>
                  <a:schemeClr val="bg1">
                    <a:lumMod val="50000"/>
                  </a:schemeClr>
                </a:solidFill>
              </a:rPr>
              <a:t> bhavan, </a:t>
            </a:r>
          </a:p>
          <a:p>
            <a:r>
              <a:rPr lang="en-US" sz="1200" i="1" dirty="0">
                <a:solidFill>
                  <a:schemeClr val="bg1">
                    <a:lumMod val="50000"/>
                  </a:schemeClr>
                </a:solidFill>
              </a:rPr>
              <a:t>near </a:t>
            </a:r>
            <a:r>
              <a:rPr lang="en-US" sz="1200" i="1" dirty="0" err="1">
                <a:solidFill>
                  <a:schemeClr val="bg1">
                    <a:lumMod val="50000"/>
                  </a:schemeClr>
                </a:solidFill>
              </a:rPr>
              <a:t>venus</a:t>
            </a:r>
            <a:r>
              <a:rPr lang="en-US" sz="1200" i="1" dirty="0">
                <a:solidFill>
                  <a:schemeClr val="bg1">
                    <a:lumMod val="50000"/>
                  </a:schemeClr>
                </a:solidFill>
              </a:rPr>
              <a:t> photo studio, Sen Nagar, Santacruz East, </a:t>
            </a:r>
          </a:p>
          <a:p>
            <a:r>
              <a:rPr lang="en-US" sz="1200" i="1" dirty="0">
                <a:solidFill>
                  <a:schemeClr val="bg1">
                    <a:lumMod val="50000"/>
                  </a:schemeClr>
                </a:solidFill>
              </a:rPr>
              <a:t>Mumbai, Maharashtra 400055</a:t>
            </a:r>
          </a:p>
          <a:p>
            <a:endParaRPr lang="en-US" sz="1400" dirty="0">
              <a:solidFill>
                <a:schemeClr val="bg1">
                  <a:lumMod val="50000"/>
                </a:schemeClr>
              </a:solidFill>
            </a:endParaRPr>
          </a:p>
          <a:p>
            <a:r>
              <a:rPr lang="en-US" sz="1200" b="1" i="1" u="sng" dirty="0">
                <a:solidFill>
                  <a:schemeClr val="bg1">
                    <a:lumMod val="50000"/>
                  </a:schemeClr>
                </a:solidFill>
              </a:rPr>
              <a:t>20</a:t>
            </a:r>
            <a:r>
              <a:rPr lang="en-US" sz="1200" b="1" i="1" u="sng" baseline="30000" dirty="0">
                <a:solidFill>
                  <a:schemeClr val="bg1">
                    <a:lumMod val="50000"/>
                  </a:schemeClr>
                </a:solidFill>
              </a:rPr>
              <a:t>th</a:t>
            </a:r>
            <a:r>
              <a:rPr lang="en-US" sz="1200" b="1" i="1" u="sng" dirty="0">
                <a:solidFill>
                  <a:schemeClr val="bg1">
                    <a:lumMod val="50000"/>
                  </a:schemeClr>
                </a:solidFill>
              </a:rPr>
              <a:t> Sep 2024</a:t>
            </a:r>
          </a:p>
          <a:p>
            <a:r>
              <a:rPr lang="en-US" sz="1200" i="1" dirty="0">
                <a:solidFill>
                  <a:schemeClr val="bg1">
                    <a:lumMod val="50000"/>
                  </a:schemeClr>
                </a:solidFill>
              </a:rPr>
              <a:t>Anand Road, Sta Rd, </a:t>
            </a:r>
            <a:r>
              <a:rPr lang="en-US" sz="1200" i="1" dirty="0" err="1">
                <a:solidFill>
                  <a:schemeClr val="bg1">
                    <a:lumMod val="50000"/>
                  </a:schemeClr>
                </a:solidFill>
              </a:rPr>
              <a:t>Malad</a:t>
            </a:r>
            <a:r>
              <a:rPr lang="en-US" sz="1200" i="1" dirty="0">
                <a:solidFill>
                  <a:schemeClr val="bg1">
                    <a:lumMod val="50000"/>
                  </a:schemeClr>
                </a:solidFill>
              </a:rPr>
              <a:t>, </a:t>
            </a:r>
            <a:r>
              <a:rPr lang="en-US" sz="1200" i="1" dirty="0" err="1">
                <a:solidFill>
                  <a:schemeClr val="bg1">
                    <a:lumMod val="50000"/>
                  </a:schemeClr>
                </a:solidFill>
              </a:rPr>
              <a:t>Vijaykar</a:t>
            </a:r>
            <a:r>
              <a:rPr lang="en-US" sz="1200" i="1" dirty="0">
                <a:solidFill>
                  <a:schemeClr val="bg1">
                    <a:lumMod val="50000"/>
                  </a:schemeClr>
                </a:solidFill>
              </a:rPr>
              <a:t> Wadi, </a:t>
            </a:r>
            <a:r>
              <a:rPr lang="en-US" sz="1200" i="1" dirty="0" err="1">
                <a:solidFill>
                  <a:schemeClr val="bg1">
                    <a:lumMod val="50000"/>
                  </a:schemeClr>
                </a:solidFill>
              </a:rPr>
              <a:t>Malad</a:t>
            </a:r>
            <a:r>
              <a:rPr lang="en-US" sz="1200" i="1" dirty="0">
                <a:solidFill>
                  <a:schemeClr val="bg1">
                    <a:lumMod val="50000"/>
                  </a:schemeClr>
                </a:solidFill>
              </a:rPr>
              <a:t> West, </a:t>
            </a:r>
          </a:p>
          <a:p>
            <a:r>
              <a:rPr lang="en-US" sz="1200" i="1" dirty="0">
                <a:solidFill>
                  <a:schemeClr val="bg1">
                    <a:lumMod val="50000"/>
                  </a:schemeClr>
                </a:solidFill>
              </a:rPr>
              <a:t>Mumbai, Maharashtra 400064</a:t>
            </a:r>
          </a:p>
          <a:p>
            <a:endParaRPr lang="en-US" sz="2800" dirty="0"/>
          </a:p>
          <a:p>
            <a:r>
              <a:rPr lang="en-US" sz="2800" dirty="0"/>
              <a:t>Delhi = 90</a:t>
            </a:r>
          </a:p>
          <a:p>
            <a:r>
              <a:rPr lang="en-US" sz="1200" b="1" i="1" u="sng" dirty="0">
                <a:solidFill>
                  <a:schemeClr val="bg1">
                    <a:lumMod val="50000"/>
                  </a:schemeClr>
                </a:solidFill>
              </a:rPr>
              <a:t>22</a:t>
            </a:r>
            <a:r>
              <a:rPr lang="en-US" sz="1200" b="1" i="1" u="sng" baseline="30000" dirty="0">
                <a:solidFill>
                  <a:schemeClr val="bg1">
                    <a:lumMod val="50000"/>
                  </a:schemeClr>
                </a:solidFill>
              </a:rPr>
              <a:t>nd</a:t>
            </a:r>
            <a:r>
              <a:rPr lang="en-US" sz="1200" b="1" i="1" u="sng" dirty="0">
                <a:solidFill>
                  <a:schemeClr val="bg1">
                    <a:lumMod val="50000"/>
                  </a:schemeClr>
                </a:solidFill>
              </a:rPr>
              <a:t> Sep 2024</a:t>
            </a:r>
          </a:p>
          <a:p>
            <a:r>
              <a:rPr lang="en-US" sz="1200" i="1" dirty="0">
                <a:solidFill>
                  <a:schemeClr val="bg1">
                    <a:lumMod val="50000"/>
                  </a:schemeClr>
                </a:solidFill>
              </a:rPr>
              <a:t>j-48, west Patel Nagar,  new Delhi  (West Delhi)</a:t>
            </a:r>
          </a:p>
          <a:p>
            <a:endParaRPr lang="en-US" sz="1600" dirty="0">
              <a:solidFill>
                <a:schemeClr val="bg1">
                  <a:lumMod val="50000"/>
                </a:schemeClr>
              </a:solidFill>
            </a:endParaRPr>
          </a:p>
          <a:p>
            <a:r>
              <a:rPr lang="en-US" sz="1200" b="1" i="1" u="sng" dirty="0">
                <a:solidFill>
                  <a:schemeClr val="bg1">
                    <a:lumMod val="50000"/>
                  </a:schemeClr>
                </a:solidFill>
              </a:rPr>
              <a:t>23</a:t>
            </a:r>
            <a:r>
              <a:rPr lang="en-US" sz="1200" b="1" i="1" u="sng" baseline="30000" dirty="0">
                <a:solidFill>
                  <a:schemeClr val="bg1">
                    <a:lumMod val="50000"/>
                  </a:schemeClr>
                </a:solidFill>
              </a:rPr>
              <a:t>rd</a:t>
            </a:r>
            <a:r>
              <a:rPr lang="en-US" sz="1200" b="1" i="1" u="sng" dirty="0">
                <a:solidFill>
                  <a:schemeClr val="bg1">
                    <a:lumMod val="50000"/>
                  </a:schemeClr>
                </a:solidFill>
              </a:rPr>
              <a:t> Sep 2024</a:t>
            </a:r>
          </a:p>
          <a:p>
            <a:r>
              <a:rPr lang="en-US" sz="1200" i="1" dirty="0">
                <a:solidFill>
                  <a:schemeClr val="bg1">
                    <a:lumMod val="50000"/>
                  </a:schemeClr>
                </a:solidFill>
              </a:rPr>
              <a:t>House no 44/10 Ashok  Nagar,  near Tilak Nagar,  New Delhi</a:t>
            </a:r>
          </a:p>
          <a:p>
            <a:endParaRPr lang="en-US" sz="2800" dirty="0"/>
          </a:p>
          <a:p>
            <a:r>
              <a:rPr lang="en-US" sz="2800" dirty="0"/>
              <a:t>Prototype FS18 Vs </a:t>
            </a:r>
            <a:r>
              <a:rPr lang="en-US" sz="2800" dirty="0" err="1"/>
              <a:t>Abc</a:t>
            </a:r>
            <a:r>
              <a:rPr lang="en-US" sz="2800" dirty="0"/>
              <a:t> (CB 24)</a:t>
            </a:r>
          </a:p>
        </p:txBody>
      </p:sp>
      <p:pic>
        <p:nvPicPr>
          <p:cNvPr id="9" name="Picture 8">
            <a:extLst>
              <a:ext uri="{FF2B5EF4-FFF2-40B4-BE49-F238E27FC236}">
                <a16:creationId xmlns:a16="http://schemas.microsoft.com/office/drawing/2014/main" id="{6AD5D55D-0933-D74C-0012-6559A95F9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1674" y="3356625"/>
            <a:ext cx="3420000" cy="3132839"/>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11" name="Picture 10">
            <a:extLst>
              <a:ext uri="{FF2B5EF4-FFF2-40B4-BE49-F238E27FC236}">
                <a16:creationId xmlns:a16="http://schemas.microsoft.com/office/drawing/2014/main" id="{EA67B733-AC5B-14CE-BB04-8AFE23EB82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4843" y="3170885"/>
            <a:ext cx="3420000" cy="331740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5" name="Picture 4">
            <a:extLst>
              <a:ext uri="{FF2B5EF4-FFF2-40B4-BE49-F238E27FC236}">
                <a16:creationId xmlns:a16="http://schemas.microsoft.com/office/drawing/2014/main" id="{B55DD1B0-C282-4117-9084-4AE0256CFB43}"/>
              </a:ext>
            </a:extLst>
          </p:cNvPr>
          <p:cNvPicPr>
            <a:picLocks noChangeAspect="1"/>
          </p:cNvPicPr>
          <p:nvPr/>
        </p:nvPicPr>
        <p:blipFill>
          <a:blip r:embed="rId4"/>
          <a:stretch>
            <a:fillRect/>
          </a:stretch>
        </p:blipFill>
        <p:spPr>
          <a:xfrm>
            <a:off x="8561914" y="1242995"/>
            <a:ext cx="3420000" cy="1620000"/>
          </a:xfrm>
          <a:prstGeom prst="rect">
            <a:avLst/>
          </a:prstGeom>
        </p:spPr>
      </p:pic>
      <p:pic>
        <p:nvPicPr>
          <p:cNvPr id="10" name="Picture 9">
            <a:extLst>
              <a:ext uri="{FF2B5EF4-FFF2-40B4-BE49-F238E27FC236}">
                <a16:creationId xmlns:a16="http://schemas.microsoft.com/office/drawing/2014/main" id="{DF2DB23A-C1A7-BB0A-63F7-D2D6DDEA4BA4}"/>
              </a:ext>
            </a:extLst>
          </p:cNvPr>
          <p:cNvPicPr>
            <a:picLocks noChangeAspect="1"/>
          </p:cNvPicPr>
          <p:nvPr/>
        </p:nvPicPr>
        <p:blipFill>
          <a:blip r:embed="rId5"/>
          <a:stretch>
            <a:fillRect/>
          </a:stretch>
        </p:blipFill>
        <p:spPr>
          <a:xfrm>
            <a:off x="4643256" y="1223691"/>
            <a:ext cx="2808000" cy="1795445"/>
          </a:xfrm>
          <a:prstGeom prst="rect">
            <a:avLst/>
          </a:prstGeom>
        </p:spPr>
      </p:pic>
      <p:sp>
        <p:nvSpPr>
          <p:cNvPr id="2" name="Rectangle 1">
            <a:extLst>
              <a:ext uri="{FF2B5EF4-FFF2-40B4-BE49-F238E27FC236}">
                <a16:creationId xmlns:a16="http://schemas.microsoft.com/office/drawing/2014/main" id="{0792A91C-7494-A5CC-7597-46C79F96D390}"/>
              </a:ext>
            </a:extLst>
          </p:cNvPr>
          <p:cNvSpPr/>
          <p:nvPr/>
        </p:nvSpPr>
        <p:spPr>
          <a:xfrm>
            <a:off x="9186863" y="1685925"/>
            <a:ext cx="1171575" cy="585788"/>
          </a:xfrm>
          <a:prstGeom prst="rect">
            <a:avLst/>
          </a:prstGeom>
          <a:solidFill>
            <a:srgbClr val="0033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90245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CD1130-639E-9FC5-CAC9-17C6778EBAE3}"/>
              </a:ext>
            </a:extLst>
          </p:cNvPr>
          <p:cNvSpPr txBox="1">
            <a:spLocks/>
          </p:cNvSpPr>
          <p:nvPr/>
        </p:nvSpPr>
        <p:spPr>
          <a:xfrm>
            <a:off x="17797" y="638800"/>
            <a:ext cx="10515600" cy="113679"/>
          </a:xfrm>
          <a:prstGeom prst="rect">
            <a:avLst/>
          </a:prstGeom>
          <a:gradFill>
            <a:gsLst>
              <a:gs pos="46000">
                <a:schemeClr val="accent4">
                  <a:lumMod val="50000"/>
                </a:schemeClr>
              </a:gs>
              <a:gs pos="88000">
                <a:schemeClr val="accent5">
                  <a:lumMod val="20000"/>
                  <a:lumOff val="80000"/>
                </a:schemeClr>
              </a:gs>
              <a:gs pos="72000">
                <a:schemeClr val="accent4">
                  <a:lumMod val="20000"/>
                  <a:lumOff val="80000"/>
                </a:schemeClr>
              </a:gs>
            </a:gsLst>
            <a:lin ang="0" scaled="1"/>
          </a:gra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600" b="1" dirty="0">
                <a:solidFill>
                  <a:srgbClr val="002060"/>
                </a:solidFill>
                <a:latin typeface="+mn-lt"/>
              </a:rPr>
              <a:t>Centre | Sample Size</a:t>
            </a:r>
          </a:p>
        </p:txBody>
      </p:sp>
      <p:sp>
        <p:nvSpPr>
          <p:cNvPr id="7" name="TextBox 6">
            <a:extLst>
              <a:ext uri="{FF2B5EF4-FFF2-40B4-BE49-F238E27FC236}">
                <a16:creationId xmlns:a16="http://schemas.microsoft.com/office/drawing/2014/main" id="{89821392-2A61-7193-C986-97A0C74643AA}"/>
              </a:ext>
            </a:extLst>
          </p:cNvPr>
          <p:cNvSpPr txBox="1"/>
          <p:nvPr/>
        </p:nvSpPr>
        <p:spPr>
          <a:xfrm>
            <a:off x="157157" y="871521"/>
            <a:ext cx="5486406" cy="4739759"/>
          </a:xfrm>
          <a:prstGeom prst="rect">
            <a:avLst/>
          </a:prstGeom>
          <a:noFill/>
        </p:spPr>
        <p:txBody>
          <a:bodyPr wrap="square" rtlCol="0">
            <a:spAutoFit/>
          </a:bodyPr>
          <a:lstStyle/>
          <a:p>
            <a:r>
              <a:rPr lang="en-US" sz="2800" dirty="0"/>
              <a:t>Mumbai = 90</a:t>
            </a:r>
          </a:p>
          <a:p>
            <a:r>
              <a:rPr lang="en-US" sz="1200" b="1" i="1" u="sng" dirty="0">
                <a:solidFill>
                  <a:schemeClr val="bg1">
                    <a:lumMod val="50000"/>
                  </a:schemeClr>
                </a:solidFill>
              </a:rPr>
              <a:t>19</a:t>
            </a:r>
            <a:r>
              <a:rPr lang="en-US" sz="1200" b="1" i="1" u="sng" baseline="30000" dirty="0">
                <a:solidFill>
                  <a:schemeClr val="bg1">
                    <a:lumMod val="50000"/>
                  </a:schemeClr>
                </a:solidFill>
              </a:rPr>
              <a:t>th</a:t>
            </a:r>
            <a:r>
              <a:rPr lang="en-US" sz="1200" b="1" i="1" u="sng" dirty="0">
                <a:solidFill>
                  <a:schemeClr val="bg1">
                    <a:lumMod val="50000"/>
                  </a:schemeClr>
                </a:solidFill>
              </a:rPr>
              <a:t> Sep 2024</a:t>
            </a:r>
          </a:p>
          <a:p>
            <a:r>
              <a:rPr lang="en-US" sz="1200" i="1" dirty="0">
                <a:solidFill>
                  <a:schemeClr val="bg1">
                    <a:lumMod val="50000"/>
                  </a:schemeClr>
                </a:solidFill>
              </a:rPr>
              <a:t>Sita Sindhu Bhavan Street no. 8, Sita </a:t>
            </a:r>
            <a:r>
              <a:rPr lang="en-US" sz="1200" i="1" dirty="0" err="1">
                <a:solidFill>
                  <a:schemeClr val="bg1">
                    <a:lumMod val="50000"/>
                  </a:schemeClr>
                </a:solidFill>
              </a:rPr>
              <a:t>sindhu</a:t>
            </a:r>
            <a:r>
              <a:rPr lang="en-US" sz="1200" i="1" dirty="0">
                <a:solidFill>
                  <a:schemeClr val="bg1">
                    <a:lumMod val="50000"/>
                  </a:schemeClr>
                </a:solidFill>
              </a:rPr>
              <a:t> bhavan, </a:t>
            </a:r>
          </a:p>
          <a:p>
            <a:r>
              <a:rPr lang="en-US" sz="1200" i="1" dirty="0">
                <a:solidFill>
                  <a:schemeClr val="bg1">
                    <a:lumMod val="50000"/>
                  </a:schemeClr>
                </a:solidFill>
              </a:rPr>
              <a:t>near </a:t>
            </a:r>
            <a:r>
              <a:rPr lang="en-US" sz="1200" i="1" dirty="0" err="1">
                <a:solidFill>
                  <a:schemeClr val="bg1">
                    <a:lumMod val="50000"/>
                  </a:schemeClr>
                </a:solidFill>
              </a:rPr>
              <a:t>venus</a:t>
            </a:r>
            <a:r>
              <a:rPr lang="en-US" sz="1200" i="1" dirty="0">
                <a:solidFill>
                  <a:schemeClr val="bg1">
                    <a:lumMod val="50000"/>
                  </a:schemeClr>
                </a:solidFill>
              </a:rPr>
              <a:t> photo studio, Sen Nagar, Santacruz East, </a:t>
            </a:r>
          </a:p>
          <a:p>
            <a:r>
              <a:rPr lang="en-US" sz="1200" i="1" dirty="0">
                <a:solidFill>
                  <a:schemeClr val="bg1">
                    <a:lumMod val="50000"/>
                  </a:schemeClr>
                </a:solidFill>
              </a:rPr>
              <a:t>Mumbai, Maharashtra 400055</a:t>
            </a:r>
          </a:p>
          <a:p>
            <a:endParaRPr lang="en-US" sz="1400" dirty="0">
              <a:solidFill>
                <a:schemeClr val="bg1">
                  <a:lumMod val="50000"/>
                </a:schemeClr>
              </a:solidFill>
            </a:endParaRPr>
          </a:p>
          <a:p>
            <a:r>
              <a:rPr lang="en-US" sz="1200" b="1" i="1" u="sng" dirty="0">
                <a:solidFill>
                  <a:schemeClr val="bg1">
                    <a:lumMod val="50000"/>
                  </a:schemeClr>
                </a:solidFill>
              </a:rPr>
              <a:t>20</a:t>
            </a:r>
            <a:r>
              <a:rPr lang="en-US" sz="1200" b="1" i="1" u="sng" baseline="30000" dirty="0">
                <a:solidFill>
                  <a:schemeClr val="bg1">
                    <a:lumMod val="50000"/>
                  </a:schemeClr>
                </a:solidFill>
              </a:rPr>
              <a:t>th</a:t>
            </a:r>
            <a:r>
              <a:rPr lang="en-US" sz="1200" b="1" i="1" u="sng" dirty="0">
                <a:solidFill>
                  <a:schemeClr val="bg1">
                    <a:lumMod val="50000"/>
                  </a:schemeClr>
                </a:solidFill>
              </a:rPr>
              <a:t> Sep 2024</a:t>
            </a:r>
          </a:p>
          <a:p>
            <a:r>
              <a:rPr lang="en-US" sz="1200" i="1" dirty="0">
                <a:solidFill>
                  <a:schemeClr val="bg1">
                    <a:lumMod val="50000"/>
                  </a:schemeClr>
                </a:solidFill>
              </a:rPr>
              <a:t>Anand Road, Sta Rd, </a:t>
            </a:r>
            <a:r>
              <a:rPr lang="en-US" sz="1200" i="1" dirty="0" err="1">
                <a:solidFill>
                  <a:schemeClr val="bg1">
                    <a:lumMod val="50000"/>
                  </a:schemeClr>
                </a:solidFill>
              </a:rPr>
              <a:t>Malad</a:t>
            </a:r>
            <a:r>
              <a:rPr lang="en-US" sz="1200" i="1" dirty="0">
                <a:solidFill>
                  <a:schemeClr val="bg1">
                    <a:lumMod val="50000"/>
                  </a:schemeClr>
                </a:solidFill>
              </a:rPr>
              <a:t>, </a:t>
            </a:r>
            <a:r>
              <a:rPr lang="en-US" sz="1200" i="1" dirty="0" err="1">
                <a:solidFill>
                  <a:schemeClr val="bg1">
                    <a:lumMod val="50000"/>
                  </a:schemeClr>
                </a:solidFill>
              </a:rPr>
              <a:t>Vijaykar</a:t>
            </a:r>
            <a:r>
              <a:rPr lang="en-US" sz="1200" i="1" dirty="0">
                <a:solidFill>
                  <a:schemeClr val="bg1">
                    <a:lumMod val="50000"/>
                  </a:schemeClr>
                </a:solidFill>
              </a:rPr>
              <a:t> Wadi, </a:t>
            </a:r>
            <a:r>
              <a:rPr lang="en-US" sz="1200" i="1" dirty="0" err="1">
                <a:solidFill>
                  <a:schemeClr val="bg1">
                    <a:lumMod val="50000"/>
                  </a:schemeClr>
                </a:solidFill>
              </a:rPr>
              <a:t>Malad</a:t>
            </a:r>
            <a:r>
              <a:rPr lang="en-US" sz="1200" i="1" dirty="0">
                <a:solidFill>
                  <a:schemeClr val="bg1">
                    <a:lumMod val="50000"/>
                  </a:schemeClr>
                </a:solidFill>
              </a:rPr>
              <a:t> West, </a:t>
            </a:r>
          </a:p>
          <a:p>
            <a:r>
              <a:rPr lang="en-US" sz="1200" i="1" dirty="0">
                <a:solidFill>
                  <a:schemeClr val="bg1">
                    <a:lumMod val="50000"/>
                  </a:schemeClr>
                </a:solidFill>
              </a:rPr>
              <a:t>Mumbai, Maharashtra 400064</a:t>
            </a:r>
          </a:p>
          <a:p>
            <a:endParaRPr lang="en-US" sz="2800" dirty="0"/>
          </a:p>
          <a:p>
            <a:r>
              <a:rPr lang="en-US" sz="2800" dirty="0"/>
              <a:t>Delhi = 90</a:t>
            </a:r>
          </a:p>
          <a:p>
            <a:r>
              <a:rPr lang="en-US" sz="1200" b="1" i="1" u="sng" dirty="0">
                <a:solidFill>
                  <a:schemeClr val="bg1">
                    <a:lumMod val="50000"/>
                  </a:schemeClr>
                </a:solidFill>
              </a:rPr>
              <a:t>22</a:t>
            </a:r>
            <a:r>
              <a:rPr lang="en-US" sz="1200" b="1" i="1" u="sng" baseline="30000" dirty="0">
                <a:solidFill>
                  <a:schemeClr val="bg1">
                    <a:lumMod val="50000"/>
                  </a:schemeClr>
                </a:solidFill>
              </a:rPr>
              <a:t>nd</a:t>
            </a:r>
            <a:r>
              <a:rPr lang="en-US" sz="1200" b="1" i="1" u="sng" dirty="0">
                <a:solidFill>
                  <a:schemeClr val="bg1">
                    <a:lumMod val="50000"/>
                  </a:schemeClr>
                </a:solidFill>
              </a:rPr>
              <a:t> Sep 2024</a:t>
            </a:r>
          </a:p>
          <a:p>
            <a:r>
              <a:rPr lang="en-US" sz="1200" i="1" dirty="0">
                <a:solidFill>
                  <a:schemeClr val="bg1">
                    <a:lumMod val="50000"/>
                  </a:schemeClr>
                </a:solidFill>
              </a:rPr>
              <a:t>j-48, west Patel Nagar,  new Delhi  (West Delhi)</a:t>
            </a:r>
          </a:p>
          <a:p>
            <a:endParaRPr lang="en-US" sz="1600" dirty="0">
              <a:solidFill>
                <a:schemeClr val="bg1">
                  <a:lumMod val="50000"/>
                </a:schemeClr>
              </a:solidFill>
            </a:endParaRPr>
          </a:p>
          <a:p>
            <a:r>
              <a:rPr lang="en-US" sz="1200" b="1" i="1" u="sng" dirty="0">
                <a:solidFill>
                  <a:schemeClr val="bg1">
                    <a:lumMod val="50000"/>
                  </a:schemeClr>
                </a:solidFill>
              </a:rPr>
              <a:t>23</a:t>
            </a:r>
            <a:r>
              <a:rPr lang="en-US" sz="1200" b="1" i="1" u="sng" baseline="30000" dirty="0">
                <a:solidFill>
                  <a:schemeClr val="bg1">
                    <a:lumMod val="50000"/>
                  </a:schemeClr>
                </a:solidFill>
              </a:rPr>
              <a:t>rd</a:t>
            </a:r>
            <a:r>
              <a:rPr lang="en-US" sz="1200" b="1" i="1" u="sng" dirty="0">
                <a:solidFill>
                  <a:schemeClr val="bg1">
                    <a:lumMod val="50000"/>
                  </a:schemeClr>
                </a:solidFill>
              </a:rPr>
              <a:t> Sep 2024</a:t>
            </a:r>
          </a:p>
          <a:p>
            <a:r>
              <a:rPr lang="en-US" sz="1200" i="1" dirty="0">
                <a:solidFill>
                  <a:schemeClr val="bg1">
                    <a:lumMod val="50000"/>
                  </a:schemeClr>
                </a:solidFill>
              </a:rPr>
              <a:t>House no 44/10 Ashok  Nagar,  near Tilak Nagar,  New Delhi</a:t>
            </a:r>
          </a:p>
          <a:p>
            <a:endParaRPr lang="en-US" sz="2800" dirty="0"/>
          </a:p>
          <a:p>
            <a:r>
              <a:rPr lang="en-US" sz="2800" dirty="0"/>
              <a:t>Prototype FS18 Vs </a:t>
            </a:r>
            <a:r>
              <a:rPr lang="en-US" sz="2800" dirty="0" err="1"/>
              <a:t>Abc</a:t>
            </a:r>
            <a:r>
              <a:rPr lang="en-US" sz="2800" dirty="0"/>
              <a:t> (CB 24)</a:t>
            </a:r>
          </a:p>
        </p:txBody>
      </p:sp>
      <p:graphicFrame>
        <p:nvGraphicFramePr>
          <p:cNvPr id="3" name="Table 2">
            <a:extLst>
              <a:ext uri="{FF2B5EF4-FFF2-40B4-BE49-F238E27FC236}">
                <a16:creationId xmlns:a16="http://schemas.microsoft.com/office/drawing/2014/main" id="{E4ED8BFE-71A4-5399-C4D6-42319BFC03C0}"/>
              </a:ext>
            </a:extLst>
          </p:cNvPr>
          <p:cNvGraphicFramePr>
            <a:graphicFrameLocks noGrp="1"/>
          </p:cNvGraphicFramePr>
          <p:nvPr>
            <p:extLst>
              <p:ext uri="{D42A27DB-BD31-4B8C-83A1-F6EECF244321}">
                <p14:modId xmlns:p14="http://schemas.microsoft.com/office/powerpoint/2010/main" val="1418350169"/>
              </p:ext>
            </p:extLst>
          </p:nvPr>
        </p:nvGraphicFramePr>
        <p:xfrm>
          <a:off x="5307015" y="1615285"/>
          <a:ext cx="5237158" cy="4128300"/>
        </p:xfrm>
        <a:graphic>
          <a:graphicData uri="http://schemas.openxmlformats.org/drawingml/2006/table">
            <a:tbl>
              <a:tblPr/>
              <a:tblGrid>
                <a:gridCol w="1803520">
                  <a:extLst>
                    <a:ext uri="{9D8B030D-6E8A-4147-A177-3AD203B41FA5}">
                      <a16:colId xmlns:a16="http://schemas.microsoft.com/office/drawing/2014/main" val="734156902"/>
                    </a:ext>
                  </a:extLst>
                </a:gridCol>
                <a:gridCol w="572273">
                  <a:extLst>
                    <a:ext uri="{9D8B030D-6E8A-4147-A177-3AD203B41FA5}">
                      <a16:colId xmlns:a16="http://schemas.microsoft.com/office/drawing/2014/main" val="395525414"/>
                    </a:ext>
                  </a:extLst>
                </a:gridCol>
                <a:gridCol w="572273">
                  <a:extLst>
                    <a:ext uri="{9D8B030D-6E8A-4147-A177-3AD203B41FA5}">
                      <a16:colId xmlns:a16="http://schemas.microsoft.com/office/drawing/2014/main" val="443395179"/>
                    </a:ext>
                  </a:extLst>
                </a:gridCol>
                <a:gridCol w="572273">
                  <a:extLst>
                    <a:ext uri="{9D8B030D-6E8A-4147-A177-3AD203B41FA5}">
                      <a16:colId xmlns:a16="http://schemas.microsoft.com/office/drawing/2014/main" val="498850201"/>
                    </a:ext>
                  </a:extLst>
                </a:gridCol>
                <a:gridCol w="572273">
                  <a:extLst>
                    <a:ext uri="{9D8B030D-6E8A-4147-A177-3AD203B41FA5}">
                      <a16:colId xmlns:a16="http://schemas.microsoft.com/office/drawing/2014/main" val="3347388617"/>
                    </a:ext>
                  </a:extLst>
                </a:gridCol>
                <a:gridCol w="572273">
                  <a:extLst>
                    <a:ext uri="{9D8B030D-6E8A-4147-A177-3AD203B41FA5}">
                      <a16:colId xmlns:a16="http://schemas.microsoft.com/office/drawing/2014/main" val="2231178871"/>
                    </a:ext>
                  </a:extLst>
                </a:gridCol>
                <a:gridCol w="572273">
                  <a:extLst>
                    <a:ext uri="{9D8B030D-6E8A-4147-A177-3AD203B41FA5}">
                      <a16:colId xmlns:a16="http://schemas.microsoft.com/office/drawing/2014/main" val="373003135"/>
                    </a:ext>
                  </a:extLst>
                </a:gridCol>
              </a:tblGrid>
              <a:tr h="275220">
                <a:tc>
                  <a:txBody>
                    <a:bodyPr/>
                    <a:lstStyle/>
                    <a:p>
                      <a:pPr algn="ctr" fontAlgn="ctr"/>
                      <a:r>
                        <a:rPr lang="en-IN" sz="1400" b="0" i="0" u="none" strike="noStrike" dirty="0">
                          <a:solidFill>
                            <a:srgbClr val="FFFFFF"/>
                          </a:solidFill>
                          <a:effectLst/>
                          <a:latin typeface="+mj-lt"/>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gridSpan="2">
                  <a:txBody>
                    <a:bodyPr/>
                    <a:lstStyle/>
                    <a:p>
                      <a:pPr algn="ctr" fontAlgn="ctr"/>
                      <a:r>
                        <a:rPr lang="en-IN" sz="1400" b="0" i="0" u="none" strike="noStrike" dirty="0">
                          <a:solidFill>
                            <a:srgbClr val="FFFFFF"/>
                          </a:solidFill>
                          <a:effectLst/>
                          <a:latin typeface="+mj-lt"/>
                        </a:rPr>
                        <a:t>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IN"/>
                    </a:p>
                  </a:txBody>
                  <a:tcPr/>
                </a:tc>
                <a:tc gridSpan="2">
                  <a:txBody>
                    <a:bodyPr/>
                    <a:lstStyle/>
                    <a:p>
                      <a:pPr algn="ctr" fontAlgn="ctr"/>
                      <a:r>
                        <a:rPr lang="en-IN" sz="1400" b="0" i="0" u="none" strike="noStrike">
                          <a:solidFill>
                            <a:srgbClr val="000000"/>
                          </a:solidFill>
                          <a:effectLst/>
                          <a:latin typeface="+mj-lt"/>
                        </a:rPr>
                        <a:t>Mumbai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IN"/>
                    </a:p>
                  </a:txBody>
                  <a:tcPr/>
                </a:tc>
                <a:tc gridSpan="2">
                  <a:txBody>
                    <a:bodyPr/>
                    <a:lstStyle/>
                    <a:p>
                      <a:pPr algn="ctr" fontAlgn="ctr"/>
                      <a:r>
                        <a:rPr lang="en-IN" sz="1400" b="0" i="0" u="none" strike="noStrike">
                          <a:solidFill>
                            <a:srgbClr val="000000"/>
                          </a:solidFill>
                          <a:effectLst/>
                          <a:latin typeface="+mj-lt"/>
                        </a:rPr>
                        <a:t>Delhi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hMerge="1">
                  <a:txBody>
                    <a:bodyPr/>
                    <a:lstStyle/>
                    <a:p>
                      <a:endParaRPr lang="en-IN"/>
                    </a:p>
                  </a:txBody>
                  <a:tcPr/>
                </a:tc>
                <a:extLst>
                  <a:ext uri="{0D108BD9-81ED-4DB2-BD59-A6C34878D82A}">
                    <a16:rowId xmlns:a16="http://schemas.microsoft.com/office/drawing/2014/main" val="2764782443"/>
                  </a:ext>
                </a:extLst>
              </a:tr>
              <a:tr h="275220">
                <a:tc>
                  <a:txBody>
                    <a:bodyPr/>
                    <a:lstStyle/>
                    <a:p>
                      <a:pPr algn="ctr" fontAlgn="ctr"/>
                      <a:r>
                        <a:rPr lang="en-IN" sz="1400" b="0" i="0" u="none" strike="noStrike" dirty="0">
                          <a:effectLst/>
                          <a:latin typeface="+mj-lt"/>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IN" sz="1400" b="0" i="1" u="none" strike="noStrike" dirty="0">
                          <a:effectLst/>
                          <a:latin typeface="+mj-lt"/>
                        </a:rPr>
                        <a:t>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IN" sz="1400" b="0" i="1" u="none" strike="noStrike">
                          <a:effectLst/>
                          <a:latin typeface="+mj-lt"/>
                        </a:rPr>
                        <a:t>Col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IN" sz="1400" b="0" i="1" u="none" strike="noStrike">
                          <a:solidFill>
                            <a:srgbClr val="000000"/>
                          </a:solidFill>
                          <a:effectLst/>
                          <a:latin typeface="+mj-lt"/>
                        </a:rPr>
                        <a:t>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IN" sz="1400" b="0" i="1" u="none" strike="noStrike">
                          <a:solidFill>
                            <a:srgbClr val="000000"/>
                          </a:solidFill>
                          <a:effectLst/>
                          <a:latin typeface="+mj-lt"/>
                        </a:rPr>
                        <a:t>Col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IN" sz="1400" b="0" i="1" u="none" strike="noStrike">
                          <a:solidFill>
                            <a:srgbClr val="000000"/>
                          </a:solidFill>
                          <a:effectLst/>
                          <a:latin typeface="+mj-lt"/>
                        </a:rPr>
                        <a:t>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IN" sz="1400" b="0" i="1" u="none" strike="noStrike" dirty="0">
                          <a:solidFill>
                            <a:srgbClr val="000000"/>
                          </a:solidFill>
                          <a:effectLst/>
                          <a:latin typeface="+mj-lt"/>
                        </a:rPr>
                        <a:t>Col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373108020"/>
                  </a:ext>
                </a:extLst>
              </a:tr>
              <a:tr h="275220">
                <a:tc>
                  <a:txBody>
                    <a:bodyPr/>
                    <a:lstStyle/>
                    <a:p>
                      <a:pPr algn="l" fontAlgn="ctr"/>
                      <a:r>
                        <a:rPr lang="en-IN" sz="1400" b="0" i="1" u="none" strike="noStrike" dirty="0">
                          <a:solidFill>
                            <a:srgbClr val="000000"/>
                          </a:solidFill>
                          <a:effectLst/>
                          <a:latin typeface="+mj-lt"/>
                        </a:rPr>
                        <a:t>Sample Size / Base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gridSpan="2">
                  <a:txBody>
                    <a:bodyPr/>
                    <a:lstStyle/>
                    <a:p>
                      <a:pPr algn="ctr" fontAlgn="ctr"/>
                      <a:r>
                        <a:rPr lang="en-IN" sz="1400" b="0" i="1" u="none" strike="noStrike" dirty="0">
                          <a:solidFill>
                            <a:srgbClr val="000000"/>
                          </a:solidFill>
                          <a:effectLst/>
                          <a:latin typeface="+mj-lt"/>
                        </a:rPr>
                        <a:t>129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xBody>
                    <a:bodyPr/>
                    <a:lstStyle/>
                    <a:p>
                      <a:endParaRPr lang="en-IN"/>
                    </a:p>
                  </a:txBody>
                  <a:tcPr/>
                </a:tc>
                <a:tc gridSpan="2">
                  <a:txBody>
                    <a:bodyPr/>
                    <a:lstStyle/>
                    <a:p>
                      <a:pPr algn="ctr" fontAlgn="ctr"/>
                      <a:r>
                        <a:rPr lang="en-IN" sz="1400" b="0" i="1" u="none" strike="noStrike" dirty="0">
                          <a:solidFill>
                            <a:srgbClr val="000000"/>
                          </a:solidFill>
                          <a:effectLst/>
                          <a:latin typeface="+mj-lt"/>
                        </a:rPr>
                        <a:t>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xBody>
                    <a:bodyPr/>
                    <a:lstStyle/>
                    <a:p>
                      <a:endParaRPr lang="en-IN"/>
                    </a:p>
                  </a:txBody>
                  <a:tcPr/>
                </a:tc>
                <a:tc gridSpan="2">
                  <a:txBody>
                    <a:bodyPr/>
                    <a:lstStyle/>
                    <a:p>
                      <a:pPr algn="ctr" fontAlgn="ctr"/>
                      <a:r>
                        <a:rPr lang="en-IN" sz="1400" b="0" i="1" u="none" strike="noStrike" dirty="0">
                          <a:solidFill>
                            <a:srgbClr val="000000"/>
                          </a:solidFill>
                          <a:effectLst/>
                          <a:latin typeface="+mj-lt"/>
                        </a:rPr>
                        <a:t>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xBody>
                    <a:bodyPr/>
                    <a:lstStyle/>
                    <a:p>
                      <a:endParaRPr lang="en-IN"/>
                    </a:p>
                  </a:txBody>
                  <a:tcPr/>
                </a:tc>
                <a:extLst>
                  <a:ext uri="{0D108BD9-81ED-4DB2-BD59-A6C34878D82A}">
                    <a16:rowId xmlns:a16="http://schemas.microsoft.com/office/drawing/2014/main" val="871138387"/>
                  </a:ext>
                </a:extLst>
              </a:tr>
              <a:tr h="275220">
                <a:tc>
                  <a:txBody>
                    <a:bodyPr/>
                    <a:lstStyle/>
                    <a:p>
                      <a:pPr algn="l" fontAlgn="b"/>
                      <a:r>
                        <a:rPr lang="en-IN" sz="1400" b="0" i="0" u="none" strike="noStrike" dirty="0">
                          <a:effectLst/>
                          <a:latin typeface="+mj-lt"/>
                        </a:rPr>
                        <a:t>Britannia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192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771923913"/>
                  </a:ext>
                </a:extLst>
              </a:tr>
              <a:tr h="275220">
                <a:tc>
                  <a:txBody>
                    <a:bodyPr/>
                    <a:lstStyle/>
                    <a:p>
                      <a:pPr algn="l" fontAlgn="b"/>
                      <a:r>
                        <a:rPr lang="en-IN" sz="1400" b="0" i="1" u="none" strike="noStrike" dirty="0">
                          <a:effectLst/>
                          <a:latin typeface="+mj-lt"/>
                        </a:rPr>
                        <a:t>Cadbury (Mondelez)</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1" u="none" strike="noStrike" dirty="0">
                          <a:effectLst/>
                          <a:latin typeface="+mj-lt"/>
                        </a:rPr>
                        <a:t>129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1" u="none" strike="noStrike">
                          <a:effectLst/>
                          <a:latin typeface="+mj-lt"/>
                        </a:rPr>
                        <a:t>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1" u="none" strike="noStrike" dirty="0">
                          <a:effectLst/>
                          <a:latin typeface="+mj-lt"/>
                        </a:rPr>
                        <a:t>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1" u="none" strike="noStrike">
                          <a:effectLst/>
                          <a:latin typeface="+mj-lt"/>
                        </a:rPr>
                        <a:t>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1" u="none" strike="noStrike" dirty="0">
                          <a:effectLst/>
                          <a:latin typeface="+mj-lt"/>
                        </a:rPr>
                        <a:t>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1" u="none" strike="noStrike" dirty="0">
                          <a:effectLst/>
                          <a:latin typeface="+mj-lt"/>
                        </a:rPr>
                        <a:t>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782675254"/>
                  </a:ext>
                </a:extLst>
              </a:tr>
              <a:tr h="275220">
                <a:tc>
                  <a:txBody>
                    <a:bodyPr/>
                    <a:lstStyle/>
                    <a:p>
                      <a:pPr algn="l" fontAlgn="b"/>
                      <a:r>
                        <a:rPr lang="en-IN" sz="1400" b="0" i="0" u="none" strike="noStrike" dirty="0">
                          <a:effectLst/>
                          <a:latin typeface="+mj-lt"/>
                        </a:rPr>
                        <a:t>Parle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107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b"/>
                      <a:r>
                        <a:rPr lang="en-IN" sz="1400" b="0" i="0" u="none" strike="noStrike" dirty="0">
                          <a:effectLst/>
                          <a:latin typeface="+mj-lt"/>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42769159"/>
                  </a:ext>
                </a:extLst>
              </a:tr>
              <a:tr h="275220">
                <a:tc>
                  <a:txBody>
                    <a:bodyPr/>
                    <a:lstStyle/>
                    <a:p>
                      <a:pPr algn="l" fontAlgn="b"/>
                      <a:r>
                        <a:rPr lang="en-IN" sz="1400" b="0" i="0" u="none" strike="noStrike" dirty="0" err="1">
                          <a:effectLst/>
                          <a:latin typeface="+mj-lt"/>
                        </a:rPr>
                        <a:t>Sunfeast</a:t>
                      </a:r>
                      <a:endParaRPr lang="en-IN" sz="1400" b="0" i="0" u="none" strike="noStrike" dirty="0">
                        <a:effectLst/>
                        <a:latin typeface="+mj-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400" b="0" i="0" u="none" strike="noStrike" dirty="0">
                          <a:effectLst/>
                          <a:latin typeface="+mj-lt"/>
                        </a:rPr>
                        <a:t>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400" b="0" i="0" u="none" strike="noStrike">
                          <a:effectLst/>
                          <a:latin typeface="+mj-lt"/>
                        </a:rPr>
                        <a:t>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400" b="0" i="0" u="none" strike="noStrike">
                          <a:effectLst/>
                          <a:latin typeface="+mj-lt"/>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400" b="0" i="0" u="none" strike="noStrike" dirty="0">
                          <a:effectLst/>
                          <a:latin typeface="+mj-lt"/>
                        </a:rPr>
                        <a:t>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400" b="0" i="0" u="none" strike="noStrike" dirty="0">
                          <a:effectLst/>
                          <a:latin typeface="+mj-lt"/>
                        </a:rPr>
                        <a:t>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400" b="0" i="0" u="none" strike="noStrike" dirty="0">
                          <a:effectLst/>
                          <a:latin typeface="+mj-lt"/>
                        </a:rPr>
                        <a:t>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8736460"/>
                  </a:ext>
                </a:extLst>
              </a:tr>
              <a:tr h="275220">
                <a:tc>
                  <a:txBody>
                    <a:bodyPr/>
                    <a:lstStyle/>
                    <a:p>
                      <a:pPr algn="l" fontAlgn="b"/>
                      <a:r>
                        <a:rPr lang="en-IN" sz="1400" b="0" i="0" u="none" strike="noStrike" dirty="0">
                          <a:effectLst/>
                          <a:latin typeface="+mj-lt"/>
                        </a:rPr>
                        <a:t>Winkies (Dream cake)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22627814"/>
                  </a:ext>
                </a:extLst>
              </a:tr>
              <a:tr h="275220">
                <a:tc>
                  <a:txBody>
                    <a:bodyPr/>
                    <a:lstStyle/>
                    <a:p>
                      <a:pPr algn="l" fontAlgn="b"/>
                      <a:r>
                        <a:rPr lang="en-IN" sz="1400" b="0" i="0" u="none" strike="noStrike" dirty="0">
                          <a:effectLst/>
                          <a:latin typeface="+mj-lt"/>
                        </a:rPr>
                        <a:t>Rich feast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00533074"/>
                  </a:ext>
                </a:extLst>
              </a:tr>
              <a:tr h="275220">
                <a:tc>
                  <a:txBody>
                    <a:bodyPr/>
                    <a:lstStyle/>
                    <a:p>
                      <a:pPr algn="l" fontAlgn="b"/>
                      <a:r>
                        <a:rPr lang="en-IN" sz="1400" b="0" i="0" u="none" strike="noStrike" dirty="0" err="1">
                          <a:effectLst/>
                          <a:latin typeface="+mj-lt"/>
                        </a:rPr>
                        <a:t>Biskfarm</a:t>
                      </a:r>
                      <a:endParaRPr lang="en-IN" sz="1400" b="0" i="0" u="none" strike="noStrike" dirty="0">
                        <a:effectLst/>
                        <a:latin typeface="+mj-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45594990"/>
                  </a:ext>
                </a:extLst>
              </a:tr>
              <a:tr h="275220">
                <a:tc>
                  <a:txBody>
                    <a:bodyPr/>
                    <a:lstStyle/>
                    <a:p>
                      <a:pPr algn="l" fontAlgn="b"/>
                      <a:r>
                        <a:rPr lang="en-IN" sz="1400" b="0" i="0" u="none" strike="noStrike" dirty="0" err="1">
                          <a:effectLst/>
                          <a:latin typeface="+mj-lt"/>
                        </a:rPr>
                        <a:t>Switz</a:t>
                      </a:r>
                      <a:endParaRPr lang="en-IN" sz="1400" b="0" i="0" u="none" strike="noStrike" dirty="0">
                        <a:effectLst/>
                        <a:latin typeface="+mj-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02304411"/>
                  </a:ext>
                </a:extLst>
              </a:tr>
              <a:tr h="275220">
                <a:tc>
                  <a:txBody>
                    <a:bodyPr/>
                    <a:lstStyle/>
                    <a:p>
                      <a:pPr algn="l" fontAlgn="b"/>
                      <a:r>
                        <a:rPr lang="en-IN" sz="1400" b="0" i="0" u="none" strike="noStrike" dirty="0" err="1">
                          <a:effectLst/>
                          <a:latin typeface="+mj-lt"/>
                        </a:rPr>
                        <a:t>Swissyum</a:t>
                      </a:r>
                      <a:endParaRPr lang="en-IN" sz="1400" b="0" i="0" u="none" strike="noStrike" dirty="0">
                        <a:effectLst/>
                        <a:latin typeface="+mj-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66592166"/>
                  </a:ext>
                </a:extLst>
              </a:tr>
              <a:tr h="275220">
                <a:tc>
                  <a:txBody>
                    <a:bodyPr/>
                    <a:lstStyle/>
                    <a:p>
                      <a:pPr algn="l" fontAlgn="b"/>
                      <a:r>
                        <a:rPr lang="en-IN" sz="1400" b="0" i="0" u="none" strike="noStrike" dirty="0" err="1">
                          <a:effectLst/>
                          <a:latin typeface="+mj-lt"/>
                        </a:rPr>
                        <a:t>Lavian</a:t>
                      </a:r>
                      <a:endParaRPr lang="en-IN" sz="1400" b="0" i="0" u="none" strike="noStrike" dirty="0">
                        <a:effectLst/>
                        <a:latin typeface="+mj-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56817944"/>
                  </a:ext>
                </a:extLst>
              </a:tr>
              <a:tr h="275220">
                <a:tc>
                  <a:txBody>
                    <a:bodyPr/>
                    <a:lstStyle/>
                    <a:p>
                      <a:pPr algn="l" fontAlgn="b"/>
                      <a:r>
                        <a:rPr lang="en-IN" sz="1400" b="0" i="0" u="none" strike="noStrike" dirty="0" err="1">
                          <a:effectLst/>
                          <a:latin typeface="+mj-lt"/>
                        </a:rPr>
                        <a:t>Cintu</a:t>
                      </a:r>
                      <a:endParaRPr lang="en-IN" sz="1400" b="0" i="0" u="none" strike="noStrike" dirty="0">
                        <a:effectLst/>
                        <a:latin typeface="+mj-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a:effectLst/>
                          <a:latin typeface="+mj-lt"/>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17201682"/>
                  </a:ext>
                </a:extLst>
              </a:tr>
              <a:tr h="275220">
                <a:tc>
                  <a:txBody>
                    <a:bodyPr/>
                    <a:lstStyle/>
                    <a:p>
                      <a:pPr algn="l" fontAlgn="b"/>
                      <a:r>
                        <a:rPr lang="en-IN" sz="1400" b="0" i="0" u="none" strike="noStrike" dirty="0" err="1">
                          <a:effectLst/>
                          <a:latin typeface="+mj-lt"/>
                        </a:rPr>
                        <a:t>Sobisco</a:t>
                      </a:r>
                      <a:endParaRPr lang="en-IN" sz="1400" b="0" i="0" u="none" strike="noStrike" dirty="0">
                        <a:effectLst/>
                        <a:latin typeface="+mj-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0" i="0" u="none" strike="noStrike" dirty="0">
                          <a:effectLst/>
                          <a:latin typeface="+mj-lt"/>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07581270"/>
                  </a:ext>
                </a:extLst>
              </a:tr>
            </a:tbl>
          </a:graphicData>
        </a:graphic>
      </p:graphicFrame>
      <p:sp>
        <p:nvSpPr>
          <p:cNvPr id="4" name="TextBox 3">
            <a:extLst>
              <a:ext uri="{FF2B5EF4-FFF2-40B4-BE49-F238E27FC236}">
                <a16:creationId xmlns:a16="http://schemas.microsoft.com/office/drawing/2014/main" id="{472A270C-D60F-CB9F-AC24-4F7D86C1E8F6}"/>
              </a:ext>
            </a:extLst>
          </p:cNvPr>
          <p:cNvSpPr txBox="1"/>
          <p:nvPr/>
        </p:nvSpPr>
        <p:spPr>
          <a:xfrm>
            <a:off x="5200653" y="951886"/>
            <a:ext cx="5389896" cy="461665"/>
          </a:xfrm>
          <a:prstGeom prst="rect">
            <a:avLst/>
          </a:prstGeom>
          <a:noFill/>
        </p:spPr>
        <p:txBody>
          <a:bodyPr wrap="square" rtlCol="0">
            <a:spAutoFit/>
          </a:bodyPr>
          <a:lstStyle/>
          <a:p>
            <a:r>
              <a:rPr lang="en-US" sz="1200" i="1" dirty="0"/>
              <a:t>S8. You told you liked to eat cakes, please tell us which of the following brands have you been eaten in last 3 months in your household?</a:t>
            </a:r>
          </a:p>
        </p:txBody>
      </p:sp>
      <p:sp>
        <p:nvSpPr>
          <p:cNvPr id="8" name="TextBox 7">
            <a:extLst>
              <a:ext uri="{FF2B5EF4-FFF2-40B4-BE49-F238E27FC236}">
                <a16:creationId xmlns:a16="http://schemas.microsoft.com/office/drawing/2014/main" id="{859F7F20-9227-0D7F-61E1-35152315C64B}"/>
              </a:ext>
            </a:extLst>
          </p:cNvPr>
          <p:cNvSpPr txBox="1"/>
          <p:nvPr/>
        </p:nvSpPr>
        <p:spPr>
          <a:xfrm>
            <a:off x="5307015" y="5872158"/>
            <a:ext cx="5283534" cy="461665"/>
          </a:xfrm>
          <a:prstGeom prst="rect">
            <a:avLst/>
          </a:prstGeom>
          <a:solidFill>
            <a:schemeClr val="bg1">
              <a:lumMod val="95000"/>
            </a:schemeClr>
          </a:solidFill>
        </p:spPr>
        <p:txBody>
          <a:bodyPr wrap="square" rtlCol="0">
            <a:spAutoFit/>
          </a:bodyPr>
          <a:lstStyle/>
          <a:p>
            <a:r>
              <a:rPr lang="en-US" sz="1200" i="1" dirty="0"/>
              <a:t>The peoples have been eaten most in last 3 months top 3 brands are Britannia, Cadbury and Parle.</a:t>
            </a:r>
            <a:endParaRPr lang="en-IN" sz="1200" i="1" dirty="0"/>
          </a:p>
        </p:txBody>
      </p:sp>
    </p:spTree>
    <p:extLst>
      <p:ext uri="{BB962C8B-B14F-4D97-AF65-F5344CB8AC3E}">
        <p14:creationId xmlns:p14="http://schemas.microsoft.com/office/powerpoint/2010/main" val="2038733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CD1130-639E-9FC5-CAC9-17C6778EBAE3}"/>
              </a:ext>
            </a:extLst>
          </p:cNvPr>
          <p:cNvSpPr txBox="1">
            <a:spLocks/>
          </p:cNvSpPr>
          <p:nvPr/>
        </p:nvSpPr>
        <p:spPr>
          <a:xfrm>
            <a:off x="17797" y="638800"/>
            <a:ext cx="10515600" cy="113679"/>
          </a:xfrm>
          <a:prstGeom prst="rect">
            <a:avLst/>
          </a:prstGeom>
          <a:gradFill>
            <a:gsLst>
              <a:gs pos="46000">
                <a:schemeClr val="accent4">
                  <a:lumMod val="50000"/>
                </a:schemeClr>
              </a:gs>
              <a:gs pos="88000">
                <a:schemeClr val="accent5">
                  <a:lumMod val="20000"/>
                  <a:lumOff val="80000"/>
                </a:schemeClr>
              </a:gs>
              <a:gs pos="72000">
                <a:schemeClr val="accent4">
                  <a:lumMod val="20000"/>
                  <a:lumOff val="80000"/>
                </a:schemeClr>
              </a:gs>
            </a:gsLst>
            <a:lin ang="0" scaled="1"/>
          </a:gra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600" b="1" dirty="0">
                <a:solidFill>
                  <a:srgbClr val="002060"/>
                </a:solidFill>
                <a:latin typeface="+mn-lt"/>
              </a:rPr>
              <a:t>Research Flow</a:t>
            </a:r>
          </a:p>
        </p:txBody>
      </p:sp>
      <p:graphicFrame>
        <p:nvGraphicFramePr>
          <p:cNvPr id="2" name="Diagram 1">
            <a:extLst>
              <a:ext uri="{FF2B5EF4-FFF2-40B4-BE49-F238E27FC236}">
                <a16:creationId xmlns:a16="http://schemas.microsoft.com/office/drawing/2014/main" id="{8EC3CDC2-6144-1BEE-8A4B-865EE2C3B079}"/>
              </a:ext>
            </a:extLst>
          </p:cNvPr>
          <p:cNvGraphicFramePr/>
          <p:nvPr>
            <p:extLst>
              <p:ext uri="{D42A27DB-BD31-4B8C-83A1-F6EECF244321}">
                <p14:modId xmlns:p14="http://schemas.microsoft.com/office/powerpoint/2010/main" val="555148493"/>
              </p:ext>
            </p:extLst>
          </p:nvPr>
        </p:nvGraphicFramePr>
        <p:xfrm>
          <a:off x="1448735" y="1299541"/>
          <a:ext cx="8981144" cy="4851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val 2">
            <a:extLst>
              <a:ext uri="{FF2B5EF4-FFF2-40B4-BE49-F238E27FC236}">
                <a16:creationId xmlns:a16="http://schemas.microsoft.com/office/drawing/2014/main" id="{511BC9F3-1D50-EABE-5DAF-FB9F18B63BC7}"/>
              </a:ext>
            </a:extLst>
          </p:cNvPr>
          <p:cNvSpPr/>
          <p:nvPr/>
        </p:nvSpPr>
        <p:spPr>
          <a:xfrm>
            <a:off x="142866" y="799483"/>
            <a:ext cx="11601448" cy="5887071"/>
          </a:xfrm>
          <a:prstGeom prst="ellipse">
            <a:avLst/>
          </a:prstGeom>
          <a:noFill/>
          <a:ln>
            <a:noFill/>
          </a:ln>
          <a:effectLst/>
          <a:scene3d>
            <a:camera prst="orthographicFront">
              <a:rot lat="0" lon="0" rev="0"/>
            </a:camera>
            <a:lightRig rig="chilly" dir="t">
              <a:rot lat="0" lon="0" rev="18480000"/>
            </a:lightRig>
          </a:scene3d>
          <a:sp3d prstMaterial="clear">
            <a:bevelT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102982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CD1130-639E-9FC5-CAC9-17C6778EBAE3}"/>
              </a:ext>
            </a:extLst>
          </p:cNvPr>
          <p:cNvSpPr txBox="1">
            <a:spLocks/>
          </p:cNvSpPr>
          <p:nvPr/>
        </p:nvSpPr>
        <p:spPr>
          <a:xfrm>
            <a:off x="17797" y="638800"/>
            <a:ext cx="10515600" cy="113679"/>
          </a:xfrm>
          <a:prstGeom prst="rect">
            <a:avLst/>
          </a:prstGeom>
          <a:gradFill>
            <a:gsLst>
              <a:gs pos="46000">
                <a:schemeClr val="accent4">
                  <a:lumMod val="50000"/>
                </a:schemeClr>
              </a:gs>
              <a:gs pos="88000">
                <a:schemeClr val="accent5">
                  <a:lumMod val="20000"/>
                  <a:lumOff val="80000"/>
                </a:schemeClr>
              </a:gs>
              <a:gs pos="72000">
                <a:schemeClr val="accent4">
                  <a:lumMod val="20000"/>
                  <a:lumOff val="80000"/>
                </a:schemeClr>
              </a:gs>
            </a:gsLst>
            <a:lin ang="0" scaled="1"/>
          </a:gra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IN" sz="3600" b="1" dirty="0">
                <a:solidFill>
                  <a:srgbClr val="002060"/>
                </a:solidFill>
                <a:latin typeface="+mn-lt"/>
              </a:rPr>
              <a:t>CLT : Primary Research</a:t>
            </a:r>
          </a:p>
        </p:txBody>
      </p:sp>
      <p:pic>
        <p:nvPicPr>
          <p:cNvPr id="5" name="Picture 4">
            <a:extLst>
              <a:ext uri="{FF2B5EF4-FFF2-40B4-BE49-F238E27FC236}">
                <a16:creationId xmlns:a16="http://schemas.microsoft.com/office/drawing/2014/main" id="{28456D25-9641-E5F5-9B8F-69A976D2EEA7}"/>
              </a:ext>
            </a:extLst>
          </p:cNvPr>
          <p:cNvPicPr>
            <a:picLocks noChangeAspect="1"/>
          </p:cNvPicPr>
          <p:nvPr/>
        </p:nvPicPr>
        <p:blipFill>
          <a:blip r:embed="rId2"/>
          <a:stretch>
            <a:fillRect/>
          </a:stretch>
        </p:blipFill>
        <p:spPr>
          <a:xfrm>
            <a:off x="159901" y="862219"/>
            <a:ext cx="1883212" cy="2510949"/>
          </a:xfrm>
          <a:prstGeom prst="rect">
            <a:avLst/>
          </a:prstGeom>
        </p:spPr>
      </p:pic>
      <p:pic>
        <p:nvPicPr>
          <p:cNvPr id="10" name="Picture 9">
            <a:extLst>
              <a:ext uri="{FF2B5EF4-FFF2-40B4-BE49-F238E27FC236}">
                <a16:creationId xmlns:a16="http://schemas.microsoft.com/office/drawing/2014/main" id="{D5384008-17E8-886A-28DF-29B9C4F586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901" y="3429000"/>
            <a:ext cx="2556000" cy="3408000"/>
          </a:xfrm>
          <a:prstGeom prst="rect">
            <a:avLst/>
          </a:prstGeom>
        </p:spPr>
      </p:pic>
      <p:pic>
        <p:nvPicPr>
          <p:cNvPr id="14" name="Picture 13">
            <a:extLst>
              <a:ext uri="{FF2B5EF4-FFF2-40B4-BE49-F238E27FC236}">
                <a16:creationId xmlns:a16="http://schemas.microsoft.com/office/drawing/2014/main" id="{16E4AFFA-D0EF-EC8F-43CE-C746878AA8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32433" y="3461559"/>
            <a:ext cx="2520000" cy="3359999"/>
          </a:xfrm>
          <a:prstGeom prst="rect">
            <a:avLst/>
          </a:prstGeom>
        </p:spPr>
      </p:pic>
      <p:pic>
        <p:nvPicPr>
          <p:cNvPr id="18" name="Picture 17">
            <a:extLst>
              <a:ext uri="{FF2B5EF4-FFF2-40B4-BE49-F238E27FC236}">
                <a16:creationId xmlns:a16="http://schemas.microsoft.com/office/drawing/2014/main" id="{EFC2C447-F8A8-304E-EDBE-1E73E7EB16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7246" y="862220"/>
            <a:ext cx="3319463" cy="2489597"/>
          </a:xfrm>
          <a:prstGeom prst="rect">
            <a:avLst/>
          </a:prstGeom>
        </p:spPr>
      </p:pic>
      <p:pic>
        <p:nvPicPr>
          <p:cNvPr id="3" name="Picture 2">
            <a:extLst>
              <a:ext uri="{FF2B5EF4-FFF2-40B4-BE49-F238E27FC236}">
                <a16:creationId xmlns:a16="http://schemas.microsoft.com/office/drawing/2014/main" id="{D30AC968-5559-506F-1A17-397DCEAB7EB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81663" y="862218"/>
            <a:ext cx="3576638" cy="2489597"/>
          </a:xfrm>
          <a:prstGeom prst="rect">
            <a:avLst/>
          </a:prstGeom>
        </p:spPr>
      </p:pic>
      <p:pic>
        <p:nvPicPr>
          <p:cNvPr id="7" name="Picture 6">
            <a:extLst>
              <a:ext uri="{FF2B5EF4-FFF2-40B4-BE49-F238E27FC236}">
                <a16:creationId xmlns:a16="http://schemas.microsoft.com/office/drawing/2014/main" id="{48F64035-99C6-74EC-52C0-AD3BCB9FF48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59567" y="862217"/>
            <a:ext cx="2672532" cy="2510949"/>
          </a:xfrm>
          <a:prstGeom prst="rect">
            <a:avLst/>
          </a:prstGeom>
        </p:spPr>
      </p:pic>
      <p:sp>
        <p:nvSpPr>
          <p:cNvPr id="8" name="Rectangle 7">
            <a:extLst>
              <a:ext uri="{FF2B5EF4-FFF2-40B4-BE49-F238E27FC236}">
                <a16:creationId xmlns:a16="http://schemas.microsoft.com/office/drawing/2014/main" id="{C18A6969-1EB2-1631-9FD9-44EDA189FFB2}"/>
              </a:ext>
            </a:extLst>
          </p:cNvPr>
          <p:cNvSpPr/>
          <p:nvPr/>
        </p:nvSpPr>
        <p:spPr>
          <a:xfrm>
            <a:off x="5526407" y="862217"/>
            <a:ext cx="45719" cy="5959341"/>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59AF2333-9E1A-5C9E-FF01-E284AAA92A1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359566" y="3461558"/>
            <a:ext cx="2672531" cy="3360000"/>
          </a:xfrm>
          <a:prstGeom prst="rect">
            <a:avLst/>
          </a:prstGeom>
        </p:spPr>
      </p:pic>
      <p:pic>
        <p:nvPicPr>
          <p:cNvPr id="16" name="Picture 15">
            <a:extLst>
              <a:ext uri="{FF2B5EF4-FFF2-40B4-BE49-F238E27FC236}">
                <a16:creationId xmlns:a16="http://schemas.microsoft.com/office/drawing/2014/main" id="{7D36F48E-F21B-F9FB-8DB4-1C20B95FEDF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688948" y="3506186"/>
            <a:ext cx="3600000" cy="3315372"/>
          </a:xfrm>
          <a:prstGeom prst="rect">
            <a:avLst/>
          </a:prstGeom>
        </p:spPr>
      </p:pic>
    </p:spTree>
    <p:extLst>
      <p:ext uri="{BB962C8B-B14F-4D97-AF65-F5344CB8AC3E}">
        <p14:creationId xmlns:p14="http://schemas.microsoft.com/office/powerpoint/2010/main" val="2147860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40000"/>
                <a:lumOff val="60000"/>
              </a:schemeClr>
            </a:gs>
            <a:gs pos="74000">
              <a:schemeClr val="bg1">
                <a:lumMod val="9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21473D0-563C-32DD-49D6-2768DC774BB7}"/>
              </a:ext>
            </a:extLst>
          </p:cNvPr>
          <p:cNvSpPr txBox="1"/>
          <p:nvPr/>
        </p:nvSpPr>
        <p:spPr>
          <a:xfrm>
            <a:off x="2500315" y="757224"/>
            <a:ext cx="7008329" cy="1107996"/>
          </a:xfrm>
          <a:prstGeom prst="rect">
            <a:avLst/>
          </a:prstGeom>
          <a:noFill/>
        </p:spPr>
        <p:txBody>
          <a:bodyPr wrap="none" rtlCol="0">
            <a:spAutoFit/>
          </a:bodyPr>
          <a:lstStyle/>
          <a:p>
            <a:r>
              <a:rPr lang="en-US" sz="6600" b="1" dirty="0"/>
              <a:t>Executive Summary</a:t>
            </a:r>
            <a:endParaRPr lang="en-IN" sz="6600" b="1" dirty="0"/>
          </a:p>
        </p:txBody>
      </p:sp>
      <p:pic>
        <p:nvPicPr>
          <p:cNvPr id="1026" name="Picture 2" descr="4 Tips for Writing a Good Summary ...">
            <a:extLst>
              <a:ext uri="{FF2B5EF4-FFF2-40B4-BE49-F238E27FC236}">
                <a16:creationId xmlns:a16="http://schemas.microsoft.com/office/drawing/2014/main" id="{EFB55465-C5D4-0A41-C909-11C83735BD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17" y="2062160"/>
            <a:ext cx="6760989"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3698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4E60847-D14A-2878-9748-245B13ACDF08}"/>
              </a:ext>
            </a:extLst>
          </p:cNvPr>
          <p:cNvSpPr>
            <a:spLocks noGrp="1"/>
          </p:cNvSpPr>
          <p:nvPr>
            <p:ph idx="1"/>
          </p:nvPr>
        </p:nvSpPr>
        <p:spPr>
          <a:xfrm>
            <a:off x="1174441" y="627523"/>
            <a:ext cx="9052560" cy="5701831"/>
          </a:xfrm>
        </p:spPr>
        <p:txBody>
          <a:bodyPr>
            <a:noAutofit/>
          </a:bodyPr>
          <a:lstStyle/>
          <a:p>
            <a:pPr marL="0" lvl="0" indent="0">
              <a:buNone/>
            </a:pPr>
            <a:r>
              <a:rPr lang="en-IN" sz="2000" b="1" u="sng" dirty="0">
                <a:solidFill>
                  <a:srgbClr val="C00000"/>
                </a:solidFill>
              </a:rPr>
              <a:t>Product performance:</a:t>
            </a:r>
            <a:r>
              <a:rPr lang="en-IN" sz="2000" dirty="0">
                <a:solidFill>
                  <a:srgbClr val="C00000"/>
                </a:solidFill>
              </a:rPr>
              <a:t> </a:t>
            </a:r>
          </a:p>
          <a:p>
            <a:pPr marL="457200" lvl="0" indent="-457200">
              <a:buFont typeface="+mj-lt"/>
              <a:buAutoNum type="arabicPeriod"/>
            </a:pPr>
            <a:endParaRPr lang="en-IN" sz="2000" dirty="0">
              <a:solidFill>
                <a:srgbClr val="C00000"/>
              </a:solidFill>
            </a:endParaRPr>
          </a:p>
          <a:p>
            <a:pPr lvl="1">
              <a:lnSpc>
                <a:spcPct val="150000"/>
              </a:lnSpc>
              <a:buFont typeface="Wingdings" panose="05000000000000000000" pitchFamily="2" charset="2"/>
              <a:buChar char="v"/>
            </a:pPr>
            <a:r>
              <a:rPr lang="en-IN" sz="1800" i="1" dirty="0">
                <a:solidFill>
                  <a:srgbClr val="002060"/>
                </a:solidFill>
              </a:rPr>
              <a:t>Keeping in mind the action standards, FS 18 (Client) sample has performed better significantly and at par over CB 24 (</a:t>
            </a:r>
            <a:r>
              <a:rPr lang="en-IN" sz="1800" i="1" dirty="0" err="1">
                <a:solidFill>
                  <a:srgbClr val="002060"/>
                </a:solidFill>
              </a:rPr>
              <a:t>Abc</a:t>
            </a:r>
            <a:r>
              <a:rPr lang="en-IN" sz="1800" i="1" dirty="0">
                <a:solidFill>
                  <a:srgbClr val="002060"/>
                </a:solidFill>
              </a:rPr>
              <a:t>).</a:t>
            </a:r>
          </a:p>
          <a:p>
            <a:pPr lvl="1">
              <a:lnSpc>
                <a:spcPct val="150000"/>
              </a:lnSpc>
              <a:buFont typeface="Wingdings" panose="05000000000000000000" pitchFamily="2" charset="2"/>
              <a:buChar char="v"/>
            </a:pPr>
            <a:r>
              <a:rPr lang="en-IN" sz="1800" i="1" dirty="0">
                <a:solidFill>
                  <a:srgbClr val="002060"/>
                </a:solidFill>
              </a:rPr>
              <a:t>On Preference, FS 18 has been liked (58%) highest over CB 24 (42%) at All India level. Similar trend seen in Mumbai, Delhi and across demographics as well.</a:t>
            </a:r>
            <a:endParaRPr lang="en-IN" sz="1800" dirty="0">
              <a:solidFill>
                <a:srgbClr val="002060"/>
              </a:solidFill>
            </a:endParaRPr>
          </a:p>
          <a:p>
            <a:pPr lvl="1">
              <a:lnSpc>
                <a:spcPct val="150000"/>
              </a:lnSpc>
              <a:buFont typeface="Wingdings" panose="05000000000000000000" pitchFamily="2" charset="2"/>
              <a:buChar char="v"/>
            </a:pPr>
            <a:r>
              <a:rPr lang="en-IN" sz="1800" i="1" dirty="0">
                <a:solidFill>
                  <a:srgbClr val="002060"/>
                </a:solidFill>
              </a:rPr>
              <a:t>On Key Measure of Colour, Aroma, Taste, Texture, Bite, Aftertaste and Overall Likeability, </a:t>
            </a:r>
            <a:r>
              <a:rPr lang="en-US" sz="1800" i="1" dirty="0">
                <a:solidFill>
                  <a:srgbClr val="002060"/>
                </a:solidFill>
              </a:rPr>
              <a:t>FS 18 sample scores highest &amp; at parity followed by CB 24 at All India level and as well as  similar trend holds true for other </a:t>
            </a:r>
            <a:r>
              <a:rPr lang="en-IN" sz="1800" i="1" dirty="0">
                <a:solidFill>
                  <a:srgbClr val="002060"/>
                </a:solidFill>
              </a:rPr>
              <a:t>demographics. </a:t>
            </a:r>
            <a:endParaRPr lang="en-IN" sz="1800" dirty="0">
              <a:solidFill>
                <a:srgbClr val="002060"/>
              </a:solidFill>
            </a:endParaRPr>
          </a:p>
          <a:p>
            <a:pPr lvl="1">
              <a:lnSpc>
                <a:spcPct val="150000"/>
              </a:lnSpc>
              <a:buFont typeface="Wingdings" panose="05000000000000000000" pitchFamily="2" charset="2"/>
              <a:buChar char="v"/>
            </a:pPr>
            <a:r>
              <a:rPr lang="en-IN" sz="1800" i="1" dirty="0">
                <a:solidFill>
                  <a:srgbClr val="002060"/>
                </a:solidFill>
              </a:rPr>
              <a:t>Except Mumbai product bitterness, Penalty analysis does not highlight any improvement opportunities and JAR scores are good for FS 18.</a:t>
            </a:r>
          </a:p>
          <a:p>
            <a:pPr lvl="1">
              <a:lnSpc>
                <a:spcPct val="150000"/>
              </a:lnSpc>
              <a:buFont typeface="Wingdings" panose="05000000000000000000" pitchFamily="2" charset="2"/>
              <a:buChar char="v"/>
            </a:pPr>
            <a:r>
              <a:rPr lang="en-IN" sz="1800" i="1" dirty="0">
                <a:solidFill>
                  <a:srgbClr val="002060"/>
                </a:solidFill>
              </a:rPr>
              <a:t>Mumbai consumers perceived more bitterness in product FS 18 in comparison of </a:t>
            </a:r>
            <a:r>
              <a:rPr lang="en-IN" sz="1800" b="1" i="1" dirty="0">
                <a:solidFill>
                  <a:srgbClr val="002060"/>
                </a:solidFill>
              </a:rPr>
              <a:t> </a:t>
            </a:r>
            <a:r>
              <a:rPr lang="en-IN" sz="1800" i="1" dirty="0">
                <a:solidFill>
                  <a:srgbClr val="002060"/>
                </a:solidFill>
              </a:rPr>
              <a:t>CB 24 and it needs to be reduced.</a:t>
            </a:r>
            <a:endParaRPr lang="en-IN" sz="1800" dirty="0">
              <a:solidFill>
                <a:srgbClr val="002060"/>
              </a:solidFill>
            </a:endParaRPr>
          </a:p>
        </p:txBody>
      </p:sp>
    </p:spTree>
    <p:extLst>
      <p:ext uri="{BB962C8B-B14F-4D97-AF65-F5344CB8AC3E}">
        <p14:creationId xmlns:p14="http://schemas.microsoft.com/office/powerpoint/2010/main" val="3947633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F375-5B3F-A1D3-3770-4B7B259EC9A8}"/>
              </a:ext>
            </a:extLst>
          </p:cNvPr>
          <p:cNvSpPr>
            <a:spLocks noGrp="1"/>
          </p:cNvSpPr>
          <p:nvPr>
            <p:ph type="title"/>
          </p:nvPr>
        </p:nvSpPr>
        <p:spPr>
          <a:xfrm>
            <a:off x="0" y="442913"/>
            <a:ext cx="12191998" cy="1028699"/>
          </a:xfrm>
          <a:solidFill>
            <a:srgbClr val="002060"/>
          </a:solidFill>
        </p:spPr>
        <p:txBody>
          <a:bodyPr>
            <a:noAutofit/>
          </a:bodyPr>
          <a:lstStyle/>
          <a:p>
            <a:r>
              <a:rPr lang="en-US" sz="2400" b="1" dirty="0">
                <a:solidFill>
                  <a:schemeClr val="bg1"/>
                </a:solidFill>
              </a:rPr>
              <a:t>Consumers are preferred FS 18 product is significantly better over the CB 24. FS 18 sample (FS18) has preferred 58%  while CB 24 sample (</a:t>
            </a:r>
            <a:r>
              <a:rPr lang="en-US" sz="2400" b="1" dirty="0" err="1">
                <a:solidFill>
                  <a:schemeClr val="bg1"/>
                </a:solidFill>
              </a:rPr>
              <a:t>Abc</a:t>
            </a:r>
            <a:r>
              <a:rPr lang="en-US" sz="2400" b="1" dirty="0">
                <a:solidFill>
                  <a:schemeClr val="bg1"/>
                </a:solidFill>
              </a:rPr>
              <a:t>) has preferred 42%. Whoever preferred product FS 18, they also rated a better score to its overall mean over CB 24.</a:t>
            </a:r>
            <a:endParaRPr lang="en-IN" sz="2400" b="1" dirty="0">
              <a:solidFill>
                <a:schemeClr val="bg1"/>
              </a:solidFill>
            </a:endParaRPr>
          </a:p>
        </p:txBody>
      </p:sp>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a:p>
            <a:endParaRPr lang="en-IN" dirty="0"/>
          </a:p>
        </p:txBody>
      </p:sp>
      <p:sp>
        <p:nvSpPr>
          <p:cNvPr id="4" name="Rectangle 3">
            <a:extLst>
              <a:ext uri="{FF2B5EF4-FFF2-40B4-BE49-F238E27FC236}">
                <a16:creationId xmlns:a16="http://schemas.microsoft.com/office/drawing/2014/main" id="{B9967A11-7A33-E76F-D4C5-249666051152}"/>
              </a:ext>
            </a:extLst>
          </p:cNvPr>
          <p:cNvSpPr/>
          <p:nvPr/>
        </p:nvSpPr>
        <p:spPr>
          <a:xfrm>
            <a:off x="0" y="0"/>
            <a:ext cx="12191998" cy="442913"/>
          </a:xfrm>
          <a:prstGeom prst="rect">
            <a:avLst/>
          </a:prstGeom>
          <a:gradFill flip="none" rotWithShape="1">
            <a:gsLst>
              <a:gs pos="0">
                <a:srgbClr val="003366"/>
              </a:gs>
              <a:gs pos="55000">
                <a:schemeClr val="accent1">
                  <a:lumMod val="45000"/>
                  <a:lumOff val="55000"/>
                </a:schemeClr>
              </a:gs>
              <a:gs pos="75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effectLst/>
                <a:latin typeface="Calibri" panose="020F0502020204030204" pitchFamily="34" charset="0"/>
                <a:ea typeface="Calibri" panose="020F0502020204030204" pitchFamily="34" charset="0"/>
                <a:cs typeface="Mangal" panose="02040503050203030202" pitchFamily="18" charset="0"/>
              </a:rPr>
              <a:t>Preference - </a:t>
            </a:r>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Total</a:t>
            </a:r>
            <a:endParaRPr lang="en-IN" i="1" dirty="0">
              <a:solidFill>
                <a:schemeClr val="tx1"/>
              </a:solidFill>
            </a:endParaRPr>
          </a:p>
        </p:txBody>
      </p:sp>
      <p:graphicFrame>
        <p:nvGraphicFramePr>
          <p:cNvPr id="16" name="Content Placeholder 15">
            <a:extLst>
              <a:ext uri="{FF2B5EF4-FFF2-40B4-BE49-F238E27FC236}">
                <a16:creationId xmlns:a16="http://schemas.microsoft.com/office/drawing/2014/main" id="{F22D9177-BB0D-2002-09AA-E50D41801033}"/>
              </a:ext>
            </a:extLst>
          </p:cNvPr>
          <p:cNvGraphicFramePr>
            <a:graphicFrameLocks noGrp="1"/>
          </p:cNvGraphicFramePr>
          <p:nvPr>
            <p:ph idx="1"/>
            <p:extLst>
              <p:ext uri="{D42A27DB-BD31-4B8C-83A1-F6EECF244321}">
                <p14:modId xmlns:p14="http://schemas.microsoft.com/office/powerpoint/2010/main" val="1929926475"/>
              </p:ext>
            </p:extLst>
          </p:nvPr>
        </p:nvGraphicFramePr>
        <p:xfrm>
          <a:off x="2195522" y="3507402"/>
          <a:ext cx="7020000" cy="2880000"/>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a:extLst>
              <a:ext uri="{FF2B5EF4-FFF2-40B4-BE49-F238E27FC236}">
                <a16:creationId xmlns:a16="http://schemas.microsoft.com/office/drawing/2014/main" id="{A153EB26-481F-EDBF-1681-8AF9821B21B5}"/>
              </a:ext>
            </a:extLst>
          </p:cNvPr>
          <p:cNvSpPr txBox="1"/>
          <p:nvPr/>
        </p:nvSpPr>
        <p:spPr>
          <a:xfrm>
            <a:off x="842963" y="3429001"/>
            <a:ext cx="2286000" cy="523220"/>
          </a:xfrm>
          <a:prstGeom prst="rect">
            <a:avLst/>
          </a:prstGeom>
          <a:noFill/>
        </p:spPr>
        <p:txBody>
          <a:bodyPr wrap="square" rtlCol="0">
            <a:spAutoFit/>
          </a:bodyPr>
          <a:lstStyle/>
          <a:p>
            <a:r>
              <a:rPr lang="en-IN" sz="1400" i="1" dirty="0">
                <a:solidFill>
                  <a:schemeClr val="bg1">
                    <a:lumMod val="50000"/>
                  </a:schemeClr>
                </a:solidFill>
              </a:rPr>
              <a:t>Overall mean score when preferred product…</a:t>
            </a:r>
          </a:p>
        </p:txBody>
      </p:sp>
      <p:sp>
        <p:nvSpPr>
          <p:cNvPr id="5" name="TextBox 4">
            <a:extLst>
              <a:ext uri="{FF2B5EF4-FFF2-40B4-BE49-F238E27FC236}">
                <a16:creationId xmlns:a16="http://schemas.microsoft.com/office/drawing/2014/main" id="{8641B75C-59FB-B897-26B5-27D7F38CA28C}"/>
              </a:ext>
            </a:extLst>
          </p:cNvPr>
          <p:cNvSpPr txBox="1"/>
          <p:nvPr/>
        </p:nvSpPr>
        <p:spPr>
          <a:xfrm>
            <a:off x="3599538" y="3767298"/>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6" name="TextBox 5">
            <a:extLst>
              <a:ext uri="{FF2B5EF4-FFF2-40B4-BE49-F238E27FC236}">
                <a16:creationId xmlns:a16="http://schemas.microsoft.com/office/drawing/2014/main" id="{DD66B92B-4EA9-BE8B-16BC-2E7C4372AC55}"/>
              </a:ext>
            </a:extLst>
          </p:cNvPr>
          <p:cNvSpPr txBox="1"/>
          <p:nvPr/>
        </p:nvSpPr>
        <p:spPr>
          <a:xfrm>
            <a:off x="6965710" y="3977313"/>
            <a:ext cx="263214" cy="276999"/>
          </a:xfrm>
          <a:prstGeom prst="rect">
            <a:avLst/>
          </a:prstGeom>
          <a:noFill/>
        </p:spPr>
        <p:txBody>
          <a:bodyPr wrap="none" rtlCol="0">
            <a:spAutoFit/>
          </a:bodyPr>
          <a:lstStyle/>
          <a:p>
            <a:r>
              <a:rPr lang="en-US" sz="1200" i="1" dirty="0">
                <a:solidFill>
                  <a:srgbClr val="FF0000"/>
                </a:solidFill>
              </a:rPr>
              <a:t>b</a:t>
            </a:r>
            <a:endParaRPr lang="en-IN" sz="1200" i="1" dirty="0">
              <a:solidFill>
                <a:srgbClr val="FF0000"/>
              </a:solidFill>
            </a:endParaRPr>
          </a:p>
        </p:txBody>
      </p:sp>
      <p:sp>
        <p:nvSpPr>
          <p:cNvPr id="8" name="TextBox 7">
            <a:extLst>
              <a:ext uri="{FF2B5EF4-FFF2-40B4-BE49-F238E27FC236}">
                <a16:creationId xmlns:a16="http://schemas.microsoft.com/office/drawing/2014/main" id="{4E4FA199-A4F6-1C26-C86E-D1A5A29946D0}"/>
              </a:ext>
            </a:extLst>
          </p:cNvPr>
          <p:cNvSpPr txBox="1"/>
          <p:nvPr/>
        </p:nvSpPr>
        <p:spPr>
          <a:xfrm>
            <a:off x="14283" y="6372227"/>
            <a:ext cx="5396029" cy="507831"/>
          </a:xfrm>
          <a:prstGeom prst="rect">
            <a:avLst/>
          </a:prstGeom>
          <a:noFill/>
        </p:spPr>
        <p:txBody>
          <a:bodyPr wrap="none" rtlCol="0">
            <a:spAutoFit/>
          </a:bodyPr>
          <a:lstStyle/>
          <a:p>
            <a:r>
              <a:rPr lang="en-IN" sz="900" i="1" u="sng" dirty="0"/>
              <a:t>Note:</a:t>
            </a:r>
          </a:p>
          <a:p>
            <a:r>
              <a:rPr lang="en-IN" sz="900" i="1" dirty="0"/>
              <a:t>Capital letter “B” use for 95% confidence interval  level and Small letter “b” use for 90% confidence interval level</a:t>
            </a:r>
          </a:p>
          <a:p>
            <a:r>
              <a:rPr lang="en-IN" sz="900" i="1" dirty="0">
                <a:solidFill>
                  <a:srgbClr val="00B050"/>
                </a:solidFill>
              </a:rPr>
              <a:t>Green</a:t>
            </a:r>
            <a:r>
              <a:rPr lang="en-IN" sz="900" i="1" dirty="0"/>
              <a:t> colour means, FS 18 is higher than CB 24 and </a:t>
            </a:r>
            <a:r>
              <a:rPr lang="en-IN" sz="900" i="1" dirty="0">
                <a:solidFill>
                  <a:srgbClr val="FF0000"/>
                </a:solidFill>
              </a:rPr>
              <a:t>Red</a:t>
            </a:r>
            <a:r>
              <a:rPr lang="en-IN" sz="900" i="1" dirty="0"/>
              <a:t> colour means FS 18 is inferior than CB 24.  </a:t>
            </a:r>
          </a:p>
        </p:txBody>
      </p:sp>
      <p:graphicFrame>
        <p:nvGraphicFramePr>
          <p:cNvPr id="12" name="Chart 11">
            <a:extLst>
              <a:ext uri="{FF2B5EF4-FFF2-40B4-BE49-F238E27FC236}">
                <a16:creationId xmlns:a16="http://schemas.microsoft.com/office/drawing/2014/main" id="{5DE6706D-3AC7-18FC-EC96-3DCCEC18DBF4}"/>
              </a:ext>
            </a:extLst>
          </p:cNvPr>
          <p:cNvGraphicFramePr/>
          <p:nvPr>
            <p:extLst>
              <p:ext uri="{D42A27DB-BD31-4B8C-83A1-F6EECF244321}">
                <p14:modId xmlns:p14="http://schemas.microsoft.com/office/powerpoint/2010/main" val="463251328"/>
              </p:ext>
            </p:extLst>
          </p:nvPr>
        </p:nvGraphicFramePr>
        <p:xfrm>
          <a:off x="3128962" y="1529286"/>
          <a:ext cx="5292367" cy="2515011"/>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5225AA2F-2C7B-52BC-D97D-BE21C8E12277}"/>
              </a:ext>
            </a:extLst>
          </p:cNvPr>
          <p:cNvSpPr txBox="1"/>
          <p:nvPr/>
        </p:nvSpPr>
        <p:spPr>
          <a:xfrm>
            <a:off x="5135878" y="2853454"/>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Tree>
    <p:extLst>
      <p:ext uri="{BB962C8B-B14F-4D97-AF65-F5344CB8AC3E}">
        <p14:creationId xmlns:p14="http://schemas.microsoft.com/office/powerpoint/2010/main" val="5247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F375-5B3F-A1D3-3770-4B7B259EC9A8}"/>
              </a:ext>
            </a:extLst>
          </p:cNvPr>
          <p:cNvSpPr>
            <a:spLocks noGrp="1"/>
          </p:cNvSpPr>
          <p:nvPr>
            <p:ph type="title"/>
          </p:nvPr>
        </p:nvSpPr>
        <p:spPr>
          <a:xfrm>
            <a:off x="0" y="442913"/>
            <a:ext cx="12191998" cy="1028699"/>
          </a:xfrm>
          <a:solidFill>
            <a:srgbClr val="002060"/>
          </a:solidFill>
        </p:spPr>
        <p:txBody>
          <a:bodyPr>
            <a:normAutofit/>
          </a:bodyPr>
          <a:lstStyle/>
          <a:p>
            <a:pPr algn="ctr"/>
            <a:r>
              <a:rPr lang="en-US" sz="2400" b="1" dirty="0">
                <a:solidFill>
                  <a:schemeClr val="bg1"/>
                </a:solidFill>
              </a:rPr>
              <a:t>FS 18 product has significantly better preference over CB 24 across demographics.</a:t>
            </a:r>
            <a:endParaRPr lang="en-IN" sz="2400" b="1" dirty="0">
              <a:solidFill>
                <a:schemeClr val="bg1"/>
              </a:solidFill>
            </a:endParaRPr>
          </a:p>
        </p:txBody>
      </p:sp>
      <p:graphicFrame>
        <p:nvGraphicFramePr>
          <p:cNvPr id="9" name="Content Placeholder 8">
            <a:extLst>
              <a:ext uri="{FF2B5EF4-FFF2-40B4-BE49-F238E27FC236}">
                <a16:creationId xmlns:a16="http://schemas.microsoft.com/office/drawing/2014/main" id="{5E6C8E29-C22E-8AC7-58C6-8BBFA6A216EA}"/>
              </a:ext>
            </a:extLst>
          </p:cNvPr>
          <p:cNvGraphicFramePr>
            <a:graphicFrameLocks noGrp="1"/>
          </p:cNvGraphicFramePr>
          <p:nvPr>
            <p:ph idx="1"/>
            <p:extLst>
              <p:ext uri="{D42A27DB-BD31-4B8C-83A1-F6EECF244321}">
                <p14:modId xmlns:p14="http://schemas.microsoft.com/office/powerpoint/2010/main" val="738281748"/>
              </p:ext>
            </p:extLst>
          </p:nvPr>
        </p:nvGraphicFramePr>
        <p:xfrm>
          <a:off x="42864" y="2285999"/>
          <a:ext cx="12060000" cy="3240000"/>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CDF4F1C0-4D14-738D-7852-8A3382A377FF}"/>
              </a:ext>
            </a:extLst>
          </p:cNvPr>
          <p:cNvSpPr/>
          <p:nvPr/>
        </p:nvSpPr>
        <p:spPr>
          <a:xfrm>
            <a:off x="0" y="0"/>
            <a:ext cx="12191998" cy="442913"/>
          </a:xfrm>
          <a:prstGeom prst="rect">
            <a:avLst/>
          </a:prstGeom>
          <a:gradFill flip="none" rotWithShape="1">
            <a:gsLst>
              <a:gs pos="0">
                <a:srgbClr val="003366"/>
              </a:gs>
              <a:gs pos="55000">
                <a:schemeClr val="accent1">
                  <a:lumMod val="45000"/>
                  <a:lumOff val="55000"/>
                </a:schemeClr>
              </a:gs>
              <a:gs pos="75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effectLst/>
                <a:latin typeface="Calibri" panose="020F0502020204030204" pitchFamily="34" charset="0"/>
                <a:ea typeface="Calibri" panose="020F0502020204030204" pitchFamily="34" charset="0"/>
                <a:cs typeface="Mangal" panose="02040503050203030202" pitchFamily="18" charset="0"/>
              </a:rPr>
              <a:t>Preference</a:t>
            </a:r>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 - Demographics</a:t>
            </a:r>
            <a:endParaRPr lang="en-IN" i="1" dirty="0">
              <a:solidFill>
                <a:schemeClr val="tx1"/>
              </a:solidFill>
            </a:endParaRPr>
          </a:p>
        </p:txBody>
      </p:sp>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E68C6B5-0FE5-A8CB-48F0-59191AFCCA39}"/>
              </a:ext>
            </a:extLst>
          </p:cNvPr>
          <p:cNvSpPr txBox="1"/>
          <p:nvPr/>
        </p:nvSpPr>
        <p:spPr>
          <a:xfrm>
            <a:off x="471485" y="2571752"/>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4" name="TextBox 3">
            <a:extLst>
              <a:ext uri="{FF2B5EF4-FFF2-40B4-BE49-F238E27FC236}">
                <a16:creationId xmlns:a16="http://schemas.microsoft.com/office/drawing/2014/main" id="{B4626205-939A-7D42-C6A8-DFFB717C7529}"/>
              </a:ext>
            </a:extLst>
          </p:cNvPr>
          <p:cNvSpPr txBox="1"/>
          <p:nvPr/>
        </p:nvSpPr>
        <p:spPr>
          <a:xfrm>
            <a:off x="2138371" y="2566989"/>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5" name="TextBox 4">
            <a:extLst>
              <a:ext uri="{FF2B5EF4-FFF2-40B4-BE49-F238E27FC236}">
                <a16:creationId xmlns:a16="http://schemas.microsoft.com/office/drawing/2014/main" id="{F2838F46-94AC-9E57-8980-A4099924A55E}"/>
              </a:ext>
            </a:extLst>
          </p:cNvPr>
          <p:cNvSpPr txBox="1"/>
          <p:nvPr/>
        </p:nvSpPr>
        <p:spPr>
          <a:xfrm>
            <a:off x="3805255" y="2505073"/>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8" name="TextBox 7">
            <a:extLst>
              <a:ext uri="{FF2B5EF4-FFF2-40B4-BE49-F238E27FC236}">
                <a16:creationId xmlns:a16="http://schemas.microsoft.com/office/drawing/2014/main" id="{19AD38AF-0049-B1DF-65A3-BDA4B4CBF2E3}"/>
              </a:ext>
            </a:extLst>
          </p:cNvPr>
          <p:cNvSpPr txBox="1"/>
          <p:nvPr/>
        </p:nvSpPr>
        <p:spPr>
          <a:xfrm>
            <a:off x="5500719" y="2643185"/>
            <a:ext cx="26321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0" name="TextBox 9">
            <a:extLst>
              <a:ext uri="{FF2B5EF4-FFF2-40B4-BE49-F238E27FC236}">
                <a16:creationId xmlns:a16="http://schemas.microsoft.com/office/drawing/2014/main" id="{A1BE8F8E-2C06-018B-7FCA-E5F58BCD4D57}"/>
              </a:ext>
            </a:extLst>
          </p:cNvPr>
          <p:cNvSpPr txBox="1"/>
          <p:nvPr/>
        </p:nvSpPr>
        <p:spPr>
          <a:xfrm>
            <a:off x="8886854" y="2528883"/>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1" name="TextBox 10">
            <a:extLst>
              <a:ext uri="{FF2B5EF4-FFF2-40B4-BE49-F238E27FC236}">
                <a16:creationId xmlns:a16="http://schemas.microsoft.com/office/drawing/2014/main" id="{FF65865B-6A52-FBAD-14F4-08E46D3EB3A7}"/>
              </a:ext>
            </a:extLst>
          </p:cNvPr>
          <p:cNvSpPr txBox="1"/>
          <p:nvPr/>
        </p:nvSpPr>
        <p:spPr>
          <a:xfrm>
            <a:off x="10582309" y="2209791"/>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2" name="TextBox 11">
            <a:extLst>
              <a:ext uri="{FF2B5EF4-FFF2-40B4-BE49-F238E27FC236}">
                <a16:creationId xmlns:a16="http://schemas.microsoft.com/office/drawing/2014/main" id="{515BA624-67E9-5B65-D20F-3FD9E82F3AF5}"/>
              </a:ext>
            </a:extLst>
          </p:cNvPr>
          <p:cNvSpPr txBox="1"/>
          <p:nvPr/>
        </p:nvSpPr>
        <p:spPr>
          <a:xfrm>
            <a:off x="14283" y="6372227"/>
            <a:ext cx="5396029" cy="507831"/>
          </a:xfrm>
          <a:prstGeom prst="rect">
            <a:avLst/>
          </a:prstGeom>
          <a:noFill/>
        </p:spPr>
        <p:txBody>
          <a:bodyPr wrap="none" rtlCol="0">
            <a:spAutoFit/>
          </a:bodyPr>
          <a:lstStyle/>
          <a:p>
            <a:r>
              <a:rPr lang="en-IN" sz="900" i="1" u="sng" dirty="0"/>
              <a:t>Note:</a:t>
            </a:r>
          </a:p>
          <a:p>
            <a:r>
              <a:rPr lang="en-IN" sz="900" i="1" dirty="0"/>
              <a:t>Capital letter “B” use for 95% confidence interval  level and Small letter “b” use for 90% confidence interval level</a:t>
            </a:r>
          </a:p>
          <a:p>
            <a:r>
              <a:rPr lang="en-IN" sz="900" i="1" dirty="0">
                <a:solidFill>
                  <a:srgbClr val="00B050"/>
                </a:solidFill>
              </a:rPr>
              <a:t>Green</a:t>
            </a:r>
            <a:r>
              <a:rPr lang="en-IN" sz="900" i="1" dirty="0"/>
              <a:t> colour means, FS 18 is higher than CB 24 and </a:t>
            </a:r>
            <a:r>
              <a:rPr lang="en-IN" sz="900" i="1" dirty="0">
                <a:solidFill>
                  <a:srgbClr val="FF0000"/>
                </a:solidFill>
              </a:rPr>
              <a:t>Red</a:t>
            </a:r>
            <a:r>
              <a:rPr lang="en-IN" sz="900" i="1" dirty="0"/>
              <a:t> colour means FS 18 is inferior than CB 24.  </a:t>
            </a:r>
          </a:p>
        </p:txBody>
      </p:sp>
    </p:spTree>
    <p:extLst>
      <p:ext uri="{BB962C8B-B14F-4D97-AF65-F5344CB8AC3E}">
        <p14:creationId xmlns:p14="http://schemas.microsoft.com/office/powerpoint/2010/main" val="4035360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F375-5B3F-A1D3-3770-4B7B259EC9A8}"/>
              </a:ext>
            </a:extLst>
          </p:cNvPr>
          <p:cNvSpPr>
            <a:spLocks noGrp="1"/>
          </p:cNvSpPr>
          <p:nvPr>
            <p:ph type="title"/>
          </p:nvPr>
        </p:nvSpPr>
        <p:spPr>
          <a:xfrm>
            <a:off x="0" y="442913"/>
            <a:ext cx="12191998" cy="1028699"/>
          </a:xfrm>
          <a:solidFill>
            <a:srgbClr val="002060"/>
          </a:solidFill>
        </p:spPr>
        <p:txBody>
          <a:bodyPr>
            <a:normAutofit/>
          </a:bodyPr>
          <a:lstStyle/>
          <a:p>
            <a:pPr algn="ctr"/>
            <a:r>
              <a:rPr lang="en-US" sz="2400" b="1" dirty="0">
                <a:solidFill>
                  <a:schemeClr val="bg1"/>
                </a:solidFill>
              </a:rPr>
              <a:t>Overall likeability is significantly better of FS 18 over CB 24.</a:t>
            </a:r>
            <a:endParaRPr lang="en-IN" sz="2400" b="1" dirty="0">
              <a:solidFill>
                <a:schemeClr val="bg1"/>
              </a:solidFill>
            </a:endParaRPr>
          </a:p>
        </p:txBody>
      </p:sp>
      <p:graphicFrame>
        <p:nvGraphicFramePr>
          <p:cNvPr id="9" name="Content Placeholder 8">
            <a:extLst>
              <a:ext uri="{FF2B5EF4-FFF2-40B4-BE49-F238E27FC236}">
                <a16:creationId xmlns:a16="http://schemas.microsoft.com/office/drawing/2014/main" id="{5E6C8E29-C22E-8AC7-58C6-8BBFA6A216EA}"/>
              </a:ext>
            </a:extLst>
          </p:cNvPr>
          <p:cNvGraphicFramePr>
            <a:graphicFrameLocks noGrp="1"/>
          </p:cNvGraphicFramePr>
          <p:nvPr>
            <p:ph idx="1"/>
            <p:extLst>
              <p:ext uri="{D42A27DB-BD31-4B8C-83A1-F6EECF244321}">
                <p14:modId xmlns:p14="http://schemas.microsoft.com/office/powerpoint/2010/main" val="2653385418"/>
              </p:ext>
            </p:extLst>
          </p:nvPr>
        </p:nvGraphicFramePr>
        <p:xfrm>
          <a:off x="1500187" y="2700339"/>
          <a:ext cx="8064000" cy="3476624"/>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DCCAEF9-E7A8-A7C5-8CA7-7CEBAA9CFC4D}"/>
              </a:ext>
            </a:extLst>
          </p:cNvPr>
          <p:cNvSpPr txBox="1"/>
          <p:nvPr/>
        </p:nvSpPr>
        <p:spPr>
          <a:xfrm rot="16200000">
            <a:off x="1345084" y="2571756"/>
            <a:ext cx="516488" cy="261610"/>
          </a:xfrm>
          <a:prstGeom prst="rect">
            <a:avLst/>
          </a:prstGeom>
          <a:noFill/>
        </p:spPr>
        <p:txBody>
          <a:bodyPr wrap="none" rtlCol="0">
            <a:spAutoFit/>
          </a:bodyPr>
          <a:lstStyle/>
          <a:p>
            <a:r>
              <a:rPr lang="en-US" sz="1050" i="1" u="sng" dirty="0">
                <a:solidFill>
                  <a:schemeClr val="bg1">
                    <a:lumMod val="50000"/>
                  </a:schemeClr>
                </a:solidFill>
              </a:rPr>
              <a:t>Mean</a:t>
            </a:r>
            <a:endParaRPr lang="en-IN" sz="1050" i="1" u="sng" dirty="0">
              <a:solidFill>
                <a:schemeClr val="bg1">
                  <a:lumMod val="50000"/>
                </a:schemeClr>
              </a:solidFill>
            </a:endParaRPr>
          </a:p>
        </p:txBody>
      </p:sp>
      <p:sp>
        <p:nvSpPr>
          <p:cNvPr id="10" name="TextBox 9">
            <a:extLst>
              <a:ext uri="{FF2B5EF4-FFF2-40B4-BE49-F238E27FC236}">
                <a16:creationId xmlns:a16="http://schemas.microsoft.com/office/drawing/2014/main" id="{981507F8-8962-58F4-F0F4-43CC20BC3849}"/>
              </a:ext>
            </a:extLst>
          </p:cNvPr>
          <p:cNvSpPr txBox="1"/>
          <p:nvPr/>
        </p:nvSpPr>
        <p:spPr>
          <a:xfrm rot="16200000">
            <a:off x="1398826" y="2095497"/>
            <a:ext cx="399468" cy="261610"/>
          </a:xfrm>
          <a:prstGeom prst="rect">
            <a:avLst/>
          </a:prstGeom>
          <a:noFill/>
        </p:spPr>
        <p:txBody>
          <a:bodyPr wrap="none" rtlCol="0">
            <a:spAutoFit/>
          </a:bodyPr>
          <a:lstStyle/>
          <a:p>
            <a:r>
              <a:rPr lang="en-US" sz="1050" i="1" u="sng" dirty="0">
                <a:solidFill>
                  <a:schemeClr val="bg1">
                    <a:lumMod val="50000"/>
                  </a:schemeClr>
                </a:solidFill>
              </a:rPr>
              <a:t>TTB</a:t>
            </a:r>
            <a:endParaRPr lang="en-IN" sz="1050" i="1" u="sng" dirty="0">
              <a:solidFill>
                <a:schemeClr val="bg1">
                  <a:lumMod val="50000"/>
                </a:schemeClr>
              </a:solidFill>
            </a:endParaRPr>
          </a:p>
        </p:txBody>
      </p:sp>
      <p:sp>
        <p:nvSpPr>
          <p:cNvPr id="4" name="Rectangle 3">
            <a:extLst>
              <a:ext uri="{FF2B5EF4-FFF2-40B4-BE49-F238E27FC236}">
                <a16:creationId xmlns:a16="http://schemas.microsoft.com/office/drawing/2014/main" id="{5A8E71FF-B9DC-B7C9-B338-484F386EA54E}"/>
              </a:ext>
            </a:extLst>
          </p:cNvPr>
          <p:cNvSpPr/>
          <p:nvPr/>
        </p:nvSpPr>
        <p:spPr>
          <a:xfrm>
            <a:off x="0" y="14288"/>
            <a:ext cx="12191998" cy="442913"/>
          </a:xfrm>
          <a:prstGeom prst="rect">
            <a:avLst/>
          </a:prstGeom>
          <a:gradFill flip="none" rotWithShape="1">
            <a:gsLst>
              <a:gs pos="0">
                <a:srgbClr val="003366"/>
              </a:gs>
              <a:gs pos="55000">
                <a:schemeClr val="accent1">
                  <a:lumMod val="45000"/>
                  <a:lumOff val="55000"/>
                </a:schemeClr>
              </a:gs>
              <a:gs pos="75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How would you rate the </a:t>
            </a:r>
            <a:r>
              <a:rPr lang="en-US" sz="1600" b="1"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overall liking</a:t>
            </a:r>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 of the product (Likeability)</a:t>
            </a:r>
            <a:endParaRPr lang="en-IN" sz="1600" i="1" dirty="0">
              <a:solidFill>
                <a:schemeClr val="tx1"/>
              </a:solidFill>
            </a:endParaRPr>
          </a:p>
        </p:txBody>
      </p:sp>
      <p:graphicFrame>
        <p:nvGraphicFramePr>
          <p:cNvPr id="5" name="Table 4">
            <a:extLst>
              <a:ext uri="{FF2B5EF4-FFF2-40B4-BE49-F238E27FC236}">
                <a16:creationId xmlns:a16="http://schemas.microsoft.com/office/drawing/2014/main" id="{D045A387-E450-27AC-4284-0C69947AB94F}"/>
              </a:ext>
            </a:extLst>
          </p:cNvPr>
          <p:cNvGraphicFramePr>
            <a:graphicFrameLocks noGrp="1"/>
          </p:cNvGraphicFramePr>
          <p:nvPr>
            <p:extLst>
              <p:ext uri="{D42A27DB-BD31-4B8C-83A1-F6EECF244321}">
                <p14:modId xmlns:p14="http://schemas.microsoft.com/office/powerpoint/2010/main" val="1795191833"/>
              </p:ext>
            </p:extLst>
          </p:nvPr>
        </p:nvGraphicFramePr>
        <p:xfrm>
          <a:off x="1609705" y="2157409"/>
          <a:ext cx="7740000" cy="600075"/>
        </p:xfrm>
        <a:graphic>
          <a:graphicData uri="http://schemas.openxmlformats.org/drawingml/2006/table">
            <a:tbl>
              <a:tblPr>
                <a:tableStyleId>{5C22544A-7EE6-4342-B048-85BDC9FD1C3A}</a:tableStyleId>
              </a:tblPr>
              <a:tblGrid>
                <a:gridCol w="1290000">
                  <a:extLst>
                    <a:ext uri="{9D8B030D-6E8A-4147-A177-3AD203B41FA5}">
                      <a16:colId xmlns:a16="http://schemas.microsoft.com/office/drawing/2014/main" val="742224706"/>
                    </a:ext>
                  </a:extLst>
                </a:gridCol>
                <a:gridCol w="1290000">
                  <a:extLst>
                    <a:ext uri="{9D8B030D-6E8A-4147-A177-3AD203B41FA5}">
                      <a16:colId xmlns:a16="http://schemas.microsoft.com/office/drawing/2014/main" val="303050526"/>
                    </a:ext>
                  </a:extLst>
                </a:gridCol>
                <a:gridCol w="1290000">
                  <a:extLst>
                    <a:ext uri="{9D8B030D-6E8A-4147-A177-3AD203B41FA5}">
                      <a16:colId xmlns:a16="http://schemas.microsoft.com/office/drawing/2014/main" val="404934917"/>
                    </a:ext>
                  </a:extLst>
                </a:gridCol>
                <a:gridCol w="1290000">
                  <a:extLst>
                    <a:ext uri="{9D8B030D-6E8A-4147-A177-3AD203B41FA5}">
                      <a16:colId xmlns:a16="http://schemas.microsoft.com/office/drawing/2014/main" val="2557982135"/>
                    </a:ext>
                  </a:extLst>
                </a:gridCol>
                <a:gridCol w="1290000">
                  <a:extLst>
                    <a:ext uri="{9D8B030D-6E8A-4147-A177-3AD203B41FA5}">
                      <a16:colId xmlns:a16="http://schemas.microsoft.com/office/drawing/2014/main" val="1608828115"/>
                    </a:ext>
                  </a:extLst>
                </a:gridCol>
                <a:gridCol w="1290000">
                  <a:extLst>
                    <a:ext uri="{9D8B030D-6E8A-4147-A177-3AD203B41FA5}">
                      <a16:colId xmlns:a16="http://schemas.microsoft.com/office/drawing/2014/main" val="3069341788"/>
                    </a:ext>
                  </a:extLst>
                </a:gridCol>
              </a:tblGrid>
              <a:tr h="200025">
                <a:tc>
                  <a:txBody>
                    <a:bodyPr/>
                    <a:lstStyle/>
                    <a:p>
                      <a:pPr algn="ctr" fontAlgn="ctr"/>
                      <a:r>
                        <a:rPr lang="en-IN" sz="1200" i="1" u="none" strike="noStrike">
                          <a:effectLst/>
                        </a:rPr>
                        <a:t>80%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71%</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a:effectLst/>
                        </a:rPr>
                        <a:t>93%</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79%</a:t>
                      </a:r>
                      <a:endParaRPr lang="en-IN" sz="1200" b="0" i="1" u="none" strike="noStrike">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2728024247"/>
                  </a:ext>
                </a:extLst>
              </a:tr>
              <a:tr h="200025">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3974172277"/>
                  </a:ext>
                </a:extLst>
              </a:tr>
              <a:tr h="200025">
                <a:tc>
                  <a:txBody>
                    <a:bodyPr/>
                    <a:lstStyle/>
                    <a:p>
                      <a:pPr algn="ctr" fontAlgn="ctr"/>
                      <a:r>
                        <a:rPr lang="en-IN" sz="1200" i="1" u="none" strike="noStrike">
                          <a:effectLst/>
                        </a:rPr>
                        <a:t>5.2</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a:effectLst/>
                        </a:rPr>
                        <a:t>5.4</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5.1</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1840015309"/>
                  </a:ext>
                </a:extLst>
              </a:tr>
            </a:tbl>
          </a:graphicData>
        </a:graphic>
      </p:graphicFrame>
      <p:sp>
        <p:nvSpPr>
          <p:cNvPr id="3" name="TextBox 2">
            <a:extLst>
              <a:ext uri="{FF2B5EF4-FFF2-40B4-BE49-F238E27FC236}">
                <a16:creationId xmlns:a16="http://schemas.microsoft.com/office/drawing/2014/main" id="{FE06044E-3143-E7CF-607D-A59C3A31B199}"/>
              </a:ext>
            </a:extLst>
          </p:cNvPr>
          <p:cNvSpPr txBox="1"/>
          <p:nvPr/>
        </p:nvSpPr>
        <p:spPr>
          <a:xfrm>
            <a:off x="2338408" y="2538400"/>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6" name="TextBox 5">
            <a:extLst>
              <a:ext uri="{FF2B5EF4-FFF2-40B4-BE49-F238E27FC236}">
                <a16:creationId xmlns:a16="http://schemas.microsoft.com/office/drawing/2014/main" id="{02F89AF0-C46E-7975-6B10-6CC6134290E1}"/>
              </a:ext>
            </a:extLst>
          </p:cNvPr>
          <p:cNvSpPr txBox="1"/>
          <p:nvPr/>
        </p:nvSpPr>
        <p:spPr>
          <a:xfrm>
            <a:off x="7510486" y="2538400"/>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1" name="TextBox 10">
            <a:extLst>
              <a:ext uri="{FF2B5EF4-FFF2-40B4-BE49-F238E27FC236}">
                <a16:creationId xmlns:a16="http://schemas.microsoft.com/office/drawing/2014/main" id="{AD4BE00E-54F7-40D2-5E90-0978CB1809EE}"/>
              </a:ext>
            </a:extLst>
          </p:cNvPr>
          <p:cNvSpPr txBox="1"/>
          <p:nvPr/>
        </p:nvSpPr>
        <p:spPr>
          <a:xfrm>
            <a:off x="7510475" y="2124067"/>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2" name="TextBox 11">
            <a:extLst>
              <a:ext uri="{FF2B5EF4-FFF2-40B4-BE49-F238E27FC236}">
                <a16:creationId xmlns:a16="http://schemas.microsoft.com/office/drawing/2014/main" id="{4D1C83E4-BA67-377F-959D-7FEA9947EE05}"/>
              </a:ext>
            </a:extLst>
          </p:cNvPr>
          <p:cNvSpPr txBox="1"/>
          <p:nvPr/>
        </p:nvSpPr>
        <p:spPr>
          <a:xfrm>
            <a:off x="2338378" y="2124067"/>
            <a:ext cx="26321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3" name="TextBox 12">
            <a:extLst>
              <a:ext uri="{FF2B5EF4-FFF2-40B4-BE49-F238E27FC236}">
                <a16:creationId xmlns:a16="http://schemas.microsoft.com/office/drawing/2014/main" id="{5528CCA9-DC3E-DEAF-8EFC-3523CBB27F27}"/>
              </a:ext>
            </a:extLst>
          </p:cNvPr>
          <p:cNvSpPr txBox="1"/>
          <p:nvPr/>
        </p:nvSpPr>
        <p:spPr>
          <a:xfrm>
            <a:off x="2114545" y="3086110"/>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4" name="TextBox 13">
            <a:extLst>
              <a:ext uri="{FF2B5EF4-FFF2-40B4-BE49-F238E27FC236}">
                <a16:creationId xmlns:a16="http://schemas.microsoft.com/office/drawing/2014/main" id="{EC3160D6-6CC6-4FE3-C2A5-CBC8E60A549E}"/>
              </a:ext>
            </a:extLst>
          </p:cNvPr>
          <p:cNvSpPr txBox="1"/>
          <p:nvPr/>
        </p:nvSpPr>
        <p:spPr>
          <a:xfrm>
            <a:off x="14283" y="6372227"/>
            <a:ext cx="5396029" cy="507831"/>
          </a:xfrm>
          <a:prstGeom prst="rect">
            <a:avLst/>
          </a:prstGeom>
          <a:noFill/>
        </p:spPr>
        <p:txBody>
          <a:bodyPr wrap="none" rtlCol="0">
            <a:spAutoFit/>
          </a:bodyPr>
          <a:lstStyle/>
          <a:p>
            <a:r>
              <a:rPr lang="en-IN" sz="900" i="1" u="sng" dirty="0"/>
              <a:t>Note:</a:t>
            </a:r>
          </a:p>
          <a:p>
            <a:r>
              <a:rPr lang="en-IN" sz="900" i="1" dirty="0"/>
              <a:t>Capital letter “B” use for 95% confidence interval  level and Small letter “b” use for 90% confidence interval level</a:t>
            </a:r>
          </a:p>
          <a:p>
            <a:r>
              <a:rPr lang="en-IN" sz="900" i="1" dirty="0">
                <a:solidFill>
                  <a:srgbClr val="00B050"/>
                </a:solidFill>
              </a:rPr>
              <a:t>Green</a:t>
            </a:r>
            <a:r>
              <a:rPr lang="en-IN" sz="900" i="1" dirty="0"/>
              <a:t> colour means, FS 18 is higher than CB 24 and </a:t>
            </a:r>
            <a:r>
              <a:rPr lang="en-IN" sz="900" i="1" dirty="0">
                <a:solidFill>
                  <a:srgbClr val="FF0000"/>
                </a:solidFill>
              </a:rPr>
              <a:t>Red</a:t>
            </a:r>
            <a:r>
              <a:rPr lang="en-IN" sz="900" i="1" dirty="0"/>
              <a:t> colour means FS 18 is inferior than CB 24.  </a:t>
            </a:r>
          </a:p>
        </p:txBody>
      </p:sp>
      <p:pic>
        <p:nvPicPr>
          <p:cNvPr id="15" name="Picture 14">
            <a:extLst>
              <a:ext uri="{FF2B5EF4-FFF2-40B4-BE49-F238E27FC236}">
                <a16:creationId xmlns:a16="http://schemas.microsoft.com/office/drawing/2014/main" id="{CBC13D0A-14D5-97D5-D51C-56EF1730F79F}"/>
              </a:ext>
            </a:extLst>
          </p:cNvPr>
          <p:cNvPicPr>
            <a:picLocks noChangeAspect="1"/>
          </p:cNvPicPr>
          <p:nvPr/>
        </p:nvPicPr>
        <p:blipFill>
          <a:blip r:embed="rId3"/>
          <a:stretch>
            <a:fillRect/>
          </a:stretch>
        </p:blipFill>
        <p:spPr>
          <a:xfrm>
            <a:off x="3314429" y="6086470"/>
            <a:ext cx="4631998" cy="180000"/>
          </a:xfrm>
          <a:prstGeom prst="rect">
            <a:avLst/>
          </a:prstGeom>
        </p:spPr>
      </p:pic>
    </p:spTree>
    <p:extLst>
      <p:ext uri="{BB962C8B-B14F-4D97-AF65-F5344CB8AC3E}">
        <p14:creationId xmlns:p14="http://schemas.microsoft.com/office/powerpoint/2010/main" val="819577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F375-5B3F-A1D3-3770-4B7B259EC9A8}"/>
              </a:ext>
            </a:extLst>
          </p:cNvPr>
          <p:cNvSpPr>
            <a:spLocks noGrp="1"/>
          </p:cNvSpPr>
          <p:nvPr>
            <p:ph type="title"/>
          </p:nvPr>
        </p:nvSpPr>
        <p:spPr>
          <a:xfrm>
            <a:off x="0" y="442913"/>
            <a:ext cx="12191998" cy="1028699"/>
          </a:xfrm>
          <a:solidFill>
            <a:srgbClr val="002060"/>
          </a:solidFill>
        </p:spPr>
        <p:txBody>
          <a:bodyPr>
            <a:noAutofit/>
          </a:bodyPr>
          <a:lstStyle/>
          <a:p>
            <a:pPr algn="ctr"/>
            <a:r>
              <a:rPr lang="en-US" sz="2400" b="1" dirty="0">
                <a:solidFill>
                  <a:schemeClr val="bg1"/>
                </a:solidFill>
              </a:rPr>
              <a:t>In Delhi, male and elder age group consumers are liked significantly better to the FS 18 product over CB 24, while in Mumbai, male, female, small age, and mid-age group consumers stand at parity.</a:t>
            </a:r>
            <a:endParaRPr lang="en-IN" sz="2400" b="1" dirty="0">
              <a:solidFill>
                <a:schemeClr val="bg1"/>
              </a:solidFill>
            </a:endParaRPr>
          </a:p>
        </p:txBody>
      </p:sp>
      <p:sp>
        <p:nvSpPr>
          <p:cNvPr id="6" name="Rectangle 5">
            <a:extLst>
              <a:ext uri="{FF2B5EF4-FFF2-40B4-BE49-F238E27FC236}">
                <a16:creationId xmlns:a16="http://schemas.microsoft.com/office/drawing/2014/main" id="{CDF4F1C0-4D14-738D-7852-8A3382A377FF}"/>
              </a:ext>
            </a:extLst>
          </p:cNvPr>
          <p:cNvSpPr/>
          <p:nvPr/>
        </p:nvSpPr>
        <p:spPr>
          <a:xfrm>
            <a:off x="0" y="14288"/>
            <a:ext cx="12191998" cy="442913"/>
          </a:xfrm>
          <a:prstGeom prst="rect">
            <a:avLst/>
          </a:prstGeom>
          <a:gradFill flip="none" rotWithShape="1">
            <a:gsLst>
              <a:gs pos="0">
                <a:srgbClr val="003366"/>
              </a:gs>
              <a:gs pos="55000">
                <a:schemeClr val="accent1">
                  <a:lumMod val="45000"/>
                  <a:lumOff val="55000"/>
                </a:schemeClr>
              </a:gs>
              <a:gs pos="75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How would you rate the </a:t>
            </a:r>
            <a:r>
              <a:rPr lang="en-US" sz="1600" b="1"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overall liking</a:t>
            </a:r>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 of the product (Likeability)</a:t>
            </a:r>
            <a:endParaRPr lang="en-IN" sz="1600" i="1" dirty="0">
              <a:solidFill>
                <a:schemeClr val="tx1"/>
              </a:solidFill>
            </a:endParaRPr>
          </a:p>
        </p:txBody>
      </p:sp>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5" name="Content Placeholder 8">
            <a:extLst>
              <a:ext uri="{FF2B5EF4-FFF2-40B4-BE49-F238E27FC236}">
                <a16:creationId xmlns:a16="http://schemas.microsoft.com/office/drawing/2014/main" id="{50B302A9-9B31-2562-4677-31416FCC9D29}"/>
              </a:ext>
            </a:extLst>
          </p:cNvPr>
          <p:cNvGraphicFramePr>
            <a:graphicFrameLocks noGrp="1"/>
          </p:cNvGraphicFramePr>
          <p:nvPr>
            <p:ph idx="1"/>
            <p:extLst>
              <p:ext uri="{D42A27DB-BD31-4B8C-83A1-F6EECF244321}">
                <p14:modId xmlns:p14="http://schemas.microsoft.com/office/powerpoint/2010/main" val="3160325107"/>
              </p:ext>
            </p:extLst>
          </p:nvPr>
        </p:nvGraphicFramePr>
        <p:xfrm>
          <a:off x="42864" y="2700339"/>
          <a:ext cx="12060000" cy="3476624"/>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a:extLst>
              <a:ext uri="{FF2B5EF4-FFF2-40B4-BE49-F238E27FC236}">
                <a16:creationId xmlns:a16="http://schemas.microsoft.com/office/drawing/2014/main" id="{6FCDFB66-2492-A080-5467-E0B6221C9E4F}"/>
              </a:ext>
            </a:extLst>
          </p:cNvPr>
          <p:cNvSpPr txBox="1"/>
          <p:nvPr/>
        </p:nvSpPr>
        <p:spPr>
          <a:xfrm rot="16200000">
            <a:off x="-140817" y="2528892"/>
            <a:ext cx="516488" cy="261610"/>
          </a:xfrm>
          <a:prstGeom prst="rect">
            <a:avLst/>
          </a:prstGeom>
          <a:noFill/>
        </p:spPr>
        <p:txBody>
          <a:bodyPr wrap="none" rtlCol="0">
            <a:spAutoFit/>
          </a:bodyPr>
          <a:lstStyle/>
          <a:p>
            <a:r>
              <a:rPr lang="en-US" sz="1050" i="1" u="sng" dirty="0">
                <a:solidFill>
                  <a:schemeClr val="bg1">
                    <a:lumMod val="50000"/>
                  </a:schemeClr>
                </a:solidFill>
              </a:rPr>
              <a:t>Mean</a:t>
            </a:r>
            <a:endParaRPr lang="en-IN" sz="1050" i="1" u="sng" dirty="0">
              <a:solidFill>
                <a:schemeClr val="bg1">
                  <a:lumMod val="50000"/>
                </a:schemeClr>
              </a:solidFill>
            </a:endParaRPr>
          </a:p>
        </p:txBody>
      </p:sp>
      <p:sp>
        <p:nvSpPr>
          <p:cNvPr id="14" name="TextBox 13">
            <a:extLst>
              <a:ext uri="{FF2B5EF4-FFF2-40B4-BE49-F238E27FC236}">
                <a16:creationId xmlns:a16="http://schemas.microsoft.com/office/drawing/2014/main" id="{BEA4704A-F364-4B82-DF63-476BD67C4CB3}"/>
              </a:ext>
            </a:extLst>
          </p:cNvPr>
          <p:cNvSpPr txBox="1"/>
          <p:nvPr/>
        </p:nvSpPr>
        <p:spPr>
          <a:xfrm rot="16200000">
            <a:off x="-87075" y="2052633"/>
            <a:ext cx="399468" cy="261610"/>
          </a:xfrm>
          <a:prstGeom prst="rect">
            <a:avLst/>
          </a:prstGeom>
          <a:noFill/>
        </p:spPr>
        <p:txBody>
          <a:bodyPr wrap="none" rtlCol="0">
            <a:spAutoFit/>
          </a:bodyPr>
          <a:lstStyle/>
          <a:p>
            <a:r>
              <a:rPr lang="en-US" sz="1050" i="1" u="sng" dirty="0">
                <a:solidFill>
                  <a:schemeClr val="bg1">
                    <a:lumMod val="50000"/>
                  </a:schemeClr>
                </a:solidFill>
              </a:rPr>
              <a:t>TTB</a:t>
            </a:r>
            <a:endParaRPr lang="en-IN" sz="1050" i="1" u="sng" dirty="0">
              <a:solidFill>
                <a:schemeClr val="bg1">
                  <a:lumMod val="50000"/>
                </a:schemeClr>
              </a:solidFill>
            </a:endParaRPr>
          </a:p>
        </p:txBody>
      </p:sp>
      <p:graphicFrame>
        <p:nvGraphicFramePr>
          <p:cNvPr id="3" name="Table 2">
            <a:extLst>
              <a:ext uri="{FF2B5EF4-FFF2-40B4-BE49-F238E27FC236}">
                <a16:creationId xmlns:a16="http://schemas.microsoft.com/office/drawing/2014/main" id="{D4E4741C-4C20-C2BC-0FA4-6642C4005B3A}"/>
              </a:ext>
            </a:extLst>
          </p:cNvPr>
          <p:cNvGraphicFramePr>
            <a:graphicFrameLocks noGrp="1"/>
          </p:cNvGraphicFramePr>
          <p:nvPr>
            <p:extLst>
              <p:ext uri="{D42A27DB-BD31-4B8C-83A1-F6EECF244321}">
                <p14:modId xmlns:p14="http://schemas.microsoft.com/office/powerpoint/2010/main" val="101826103"/>
              </p:ext>
            </p:extLst>
          </p:nvPr>
        </p:nvGraphicFramePr>
        <p:xfrm>
          <a:off x="171440" y="2128833"/>
          <a:ext cx="11879994" cy="600075"/>
        </p:xfrm>
        <a:graphic>
          <a:graphicData uri="http://schemas.openxmlformats.org/drawingml/2006/table">
            <a:tbl>
              <a:tblPr>
                <a:tableStyleId>{5C22544A-7EE6-4342-B048-85BDC9FD1C3A}</a:tableStyleId>
              </a:tblPr>
              <a:tblGrid>
                <a:gridCol w="848571">
                  <a:extLst>
                    <a:ext uri="{9D8B030D-6E8A-4147-A177-3AD203B41FA5}">
                      <a16:colId xmlns:a16="http://schemas.microsoft.com/office/drawing/2014/main" val="278005536"/>
                    </a:ext>
                  </a:extLst>
                </a:gridCol>
                <a:gridCol w="848571">
                  <a:extLst>
                    <a:ext uri="{9D8B030D-6E8A-4147-A177-3AD203B41FA5}">
                      <a16:colId xmlns:a16="http://schemas.microsoft.com/office/drawing/2014/main" val="758501093"/>
                    </a:ext>
                  </a:extLst>
                </a:gridCol>
                <a:gridCol w="848571">
                  <a:extLst>
                    <a:ext uri="{9D8B030D-6E8A-4147-A177-3AD203B41FA5}">
                      <a16:colId xmlns:a16="http://schemas.microsoft.com/office/drawing/2014/main" val="2482351811"/>
                    </a:ext>
                  </a:extLst>
                </a:gridCol>
                <a:gridCol w="848571">
                  <a:extLst>
                    <a:ext uri="{9D8B030D-6E8A-4147-A177-3AD203B41FA5}">
                      <a16:colId xmlns:a16="http://schemas.microsoft.com/office/drawing/2014/main" val="838033238"/>
                    </a:ext>
                  </a:extLst>
                </a:gridCol>
                <a:gridCol w="848571">
                  <a:extLst>
                    <a:ext uri="{9D8B030D-6E8A-4147-A177-3AD203B41FA5}">
                      <a16:colId xmlns:a16="http://schemas.microsoft.com/office/drawing/2014/main" val="4103268875"/>
                    </a:ext>
                  </a:extLst>
                </a:gridCol>
                <a:gridCol w="848571">
                  <a:extLst>
                    <a:ext uri="{9D8B030D-6E8A-4147-A177-3AD203B41FA5}">
                      <a16:colId xmlns:a16="http://schemas.microsoft.com/office/drawing/2014/main" val="815936739"/>
                    </a:ext>
                  </a:extLst>
                </a:gridCol>
                <a:gridCol w="848571">
                  <a:extLst>
                    <a:ext uri="{9D8B030D-6E8A-4147-A177-3AD203B41FA5}">
                      <a16:colId xmlns:a16="http://schemas.microsoft.com/office/drawing/2014/main" val="1049978882"/>
                    </a:ext>
                  </a:extLst>
                </a:gridCol>
                <a:gridCol w="848571">
                  <a:extLst>
                    <a:ext uri="{9D8B030D-6E8A-4147-A177-3AD203B41FA5}">
                      <a16:colId xmlns:a16="http://schemas.microsoft.com/office/drawing/2014/main" val="2363958230"/>
                    </a:ext>
                  </a:extLst>
                </a:gridCol>
                <a:gridCol w="848571">
                  <a:extLst>
                    <a:ext uri="{9D8B030D-6E8A-4147-A177-3AD203B41FA5}">
                      <a16:colId xmlns:a16="http://schemas.microsoft.com/office/drawing/2014/main" val="133990247"/>
                    </a:ext>
                  </a:extLst>
                </a:gridCol>
                <a:gridCol w="848571">
                  <a:extLst>
                    <a:ext uri="{9D8B030D-6E8A-4147-A177-3AD203B41FA5}">
                      <a16:colId xmlns:a16="http://schemas.microsoft.com/office/drawing/2014/main" val="188982038"/>
                    </a:ext>
                  </a:extLst>
                </a:gridCol>
                <a:gridCol w="848571">
                  <a:extLst>
                    <a:ext uri="{9D8B030D-6E8A-4147-A177-3AD203B41FA5}">
                      <a16:colId xmlns:a16="http://schemas.microsoft.com/office/drawing/2014/main" val="3848204289"/>
                    </a:ext>
                  </a:extLst>
                </a:gridCol>
                <a:gridCol w="848571">
                  <a:extLst>
                    <a:ext uri="{9D8B030D-6E8A-4147-A177-3AD203B41FA5}">
                      <a16:colId xmlns:a16="http://schemas.microsoft.com/office/drawing/2014/main" val="1532594056"/>
                    </a:ext>
                  </a:extLst>
                </a:gridCol>
                <a:gridCol w="848571">
                  <a:extLst>
                    <a:ext uri="{9D8B030D-6E8A-4147-A177-3AD203B41FA5}">
                      <a16:colId xmlns:a16="http://schemas.microsoft.com/office/drawing/2014/main" val="1486272217"/>
                    </a:ext>
                  </a:extLst>
                </a:gridCol>
                <a:gridCol w="848571">
                  <a:extLst>
                    <a:ext uri="{9D8B030D-6E8A-4147-A177-3AD203B41FA5}">
                      <a16:colId xmlns:a16="http://schemas.microsoft.com/office/drawing/2014/main" val="149685826"/>
                    </a:ext>
                  </a:extLst>
                </a:gridCol>
              </a:tblGrid>
              <a:tr h="200025">
                <a:tc>
                  <a:txBody>
                    <a:bodyPr/>
                    <a:lstStyle/>
                    <a:p>
                      <a:pPr algn="ctr" fontAlgn="ctr"/>
                      <a:r>
                        <a:rPr lang="en-IN" sz="1200" i="1" u="none" strike="noStrike">
                          <a:effectLst/>
                        </a:rPr>
                        <a:t>81%</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65%</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85%</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68%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75%</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75%</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77%</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73%</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79%</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76%</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88%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59%</a:t>
                      </a:r>
                      <a:endParaRPr lang="en-IN" sz="1200" b="0" i="1" u="none" strike="noStrike">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698187825"/>
                  </a:ext>
                </a:extLst>
              </a:tr>
              <a:tr h="200025">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3140594464"/>
                  </a:ext>
                </a:extLst>
              </a:tr>
              <a:tr h="200025">
                <a:tc>
                  <a:txBody>
                    <a:bodyPr/>
                    <a:lstStyle/>
                    <a:p>
                      <a:pPr algn="ctr" fontAlgn="ctr"/>
                      <a:r>
                        <a:rPr lang="en-IN" sz="1200" i="1" u="none" strike="noStrike">
                          <a:effectLst/>
                        </a:rPr>
                        <a:t>5.3</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5.2</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5.1</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5.3</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5.1</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5.2</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5.1</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5.1</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5.1</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5.4</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4.6</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858152277"/>
                  </a:ext>
                </a:extLst>
              </a:tr>
            </a:tbl>
          </a:graphicData>
        </a:graphic>
      </p:graphicFrame>
      <p:sp>
        <p:nvSpPr>
          <p:cNvPr id="4" name="TextBox 3">
            <a:extLst>
              <a:ext uri="{FF2B5EF4-FFF2-40B4-BE49-F238E27FC236}">
                <a16:creationId xmlns:a16="http://schemas.microsoft.com/office/drawing/2014/main" id="{EC6783D6-58A0-7DA5-E214-CD00FAD56AA5}"/>
              </a:ext>
            </a:extLst>
          </p:cNvPr>
          <p:cNvSpPr txBox="1"/>
          <p:nvPr/>
        </p:nvSpPr>
        <p:spPr>
          <a:xfrm>
            <a:off x="2366984" y="2495536"/>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8" name="TextBox 7">
            <a:extLst>
              <a:ext uri="{FF2B5EF4-FFF2-40B4-BE49-F238E27FC236}">
                <a16:creationId xmlns:a16="http://schemas.microsoft.com/office/drawing/2014/main" id="{975F8503-334C-23F9-DBC1-B060EBC84D2F}"/>
              </a:ext>
            </a:extLst>
          </p:cNvPr>
          <p:cNvSpPr txBox="1"/>
          <p:nvPr/>
        </p:nvSpPr>
        <p:spPr>
          <a:xfrm>
            <a:off x="4081478" y="2495536"/>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9" name="TextBox 8">
            <a:extLst>
              <a:ext uri="{FF2B5EF4-FFF2-40B4-BE49-F238E27FC236}">
                <a16:creationId xmlns:a16="http://schemas.microsoft.com/office/drawing/2014/main" id="{CA5C9A9A-1C41-59F2-A13D-0C8B40CBFDCA}"/>
              </a:ext>
            </a:extLst>
          </p:cNvPr>
          <p:cNvSpPr txBox="1"/>
          <p:nvPr/>
        </p:nvSpPr>
        <p:spPr>
          <a:xfrm>
            <a:off x="10868054" y="2495536"/>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0" name="TextBox 9">
            <a:extLst>
              <a:ext uri="{FF2B5EF4-FFF2-40B4-BE49-F238E27FC236}">
                <a16:creationId xmlns:a16="http://schemas.microsoft.com/office/drawing/2014/main" id="{9B368E1C-94A2-C7B7-DB25-34964196E934}"/>
              </a:ext>
            </a:extLst>
          </p:cNvPr>
          <p:cNvSpPr txBox="1"/>
          <p:nvPr/>
        </p:nvSpPr>
        <p:spPr>
          <a:xfrm>
            <a:off x="2395547" y="2109779"/>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1" name="TextBox 10">
            <a:extLst>
              <a:ext uri="{FF2B5EF4-FFF2-40B4-BE49-F238E27FC236}">
                <a16:creationId xmlns:a16="http://schemas.microsoft.com/office/drawing/2014/main" id="{FA4E319B-5CA8-006A-DA00-B4166831D635}"/>
              </a:ext>
            </a:extLst>
          </p:cNvPr>
          <p:cNvSpPr txBox="1"/>
          <p:nvPr/>
        </p:nvSpPr>
        <p:spPr>
          <a:xfrm>
            <a:off x="4081460" y="2095491"/>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2" name="TextBox 11">
            <a:extLst>
              <a:ext uri="{FF2B5EF4-FFF2-40B4-BE49-F238E27FC236}">
                <a16:creationId xmlns:a16="http://schemas.microsoft.com/office/drawing/2014/main" id="{AC63D8DF-1E6D-CAB6-915F-3EB4ADF56732}"/>
              </a:ext>
            </a:extLst>
          </p:cNvPr>
          <p:cNvSpPr txBox="1"/>
          <p:nvPr/>
        </p:nvSpPr>
        <p:spPr>
          <a:xfrm>
            <a:off x="10882333" y="2095491"/>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5" name="TextBox 14">
            <a:extLst>
              <a:ext uri="{FF2B5EF4-FFF2-40B4-BE49-F238E27FC236}">
                <a16:creationId xmlns:a16="http://schemas.microsoft.com/office/drawing/2014/main" id="{CFD2CA5F-E3E0-68D0-D813-6E8CEA25CF88}"/>
              </a:ext>
            </a:extLst>
          </p:cNvPr>
          <p:cNvSpPr txBox="1"/>
          <p:nvPr/>
        </p:nvSpPr>
        <p:spPr>
          <a:xfrm>
            <a:off x="428613" y="3114686"/>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6" name="TextBox 15">
            <a:extLst>
              <a:ext uri="{FF2B5EF4-FFF2-40B4-BE49-F238E27FC236}">
                <a16:creationId xmlns:a16="http://schemas.microsoft.com/office/drawing/2014/main" id="{3A18047E-9978-80E3-CBE5-003C6490D19E}"/>
              </a:ext>
            </a:extLst>
          </p:cNvPr>
          <p:cNvSpPr txBox="1"/>
          <p:nvPr/>
        </p:nvSpPr>
        <p:spPr>
          <a:xfrm>
            <a:off x="5486403" y="3086110"/>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7" name="TextBox 16">
            <a:extLst>
              <a:ext uri="{FF2B5EF4-FFF2-40B4-BE49-F238E27FC236}">
                <a16:creationId xmlns:a16="http://schemas.microsoft.com/office/drawing/2014/main" id="{8A4BC094-9329-AAD3-C989-CABA67009F11}"/>
              </a:ext>
            </a:extLst>
          </p:cNvPr>
          <p:cNvSpPr txBox="1"/>
          <p:nvPr/>
        </p:nvSpPr>
        <p:spPr>
          <a:xfrm>
            <a:off x="2114545" y="3057534"/>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8" name="TextBox 17">
            <a:extLst>
              <a:ext uri="{FF2B5EF4-FFF2-40B4-BE49-F238E27FC236}">
                <a16:creationId xmlns:a16="http://schemas.microsoft.com/office/drawing/2014/main" id="{6C7E3357-50D7-70E5-9DC3-2F3BA6B5AFA3}"/>
              </a:ext>
            </a:extLst>
          </p:cNvPr>
          <p:cNvSpPr txBox="1"/>
          <p:nvPr/>
        </p:nvSpPr>
        <p:spPr>
          <a:xfrm>
            <a:off x="7186625" y="3086110"/>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9" name="TextBox 18">
            <a:extLst>
              <a:ext uri="{FF2B5EF4-FFF2-40B4-BE49-F238E27FC236}">
                <a16:creationId xmlns:a16="http://schemas.microsoft.com/office/drawing/2014/main" id="{304DAF4B-E82A-6A41-1CBB-B23529053E78}"/>
              </a:ext>
            </a:extLst>
          </p:cNvPr>
          <p:cNvSpPr txBox="1"/>
          <p:nvPr/>
        </p:nvSpPr>
        <p:spPr>
          <a:xfrm>
            <a:off x="10544184" y="3086110"/>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20" name="TextBox 19">
            <a:extLst>
              <a:ext uri="{FF2B5EF4-FFF2-40B4-BE49-F238E27FC236}">
                <a16:creationId xmlns:a16="http://schemas.microsoft.com/office/drawing/2014/main" id="{B810446D-6389-3642-6756-B163FB59C17C}"/>
              </a:ext>
            </a:extLst>
          </p:cNvPr>
          <p:cNvSpPr txBox="1"/>
          <p:nvPr/>
        </p:nvSpPr>
        <p:spPr>
          <a:xfrm>
            <a:off x="14283" y="6372227"/>
            <a:ext cx="5396029" cy="507831"/>
          </a:xfrm>
          <a:prstGeom prst="rect">
            <a:avLst/>
          </a:prstGeom>
          <a:noFill/>
        </p:spPr>
        <p:txBody>
          <a:bodyPr wrap="none" rtlCol="0">
            <a:spAutoFit/>
          </a:bodyPr>
          <a:lstStyle/>
          <a:p>
            <a:r>
              <a:rPr lang="en-IN" sz="900" i="1" u="sng" dirty="0"/>
              <a:t>Note:</a:t>
            </a:r>
          </a:p>
          <a:p>
            <a:r>
              <a:rPr lang="en-IN" sz="900" i="1" dirty="0"/>
              <a:t>Capital letter “B” use for 95% confidence interval  level and Small letter “b” use for 90% confidence interval level</a:t>
            </a:r>
          </a:p>
          <a:p>
            <a:r>
              <a:rPr lang="en-IN" sz="900" i="1" dirty="0">
                <a:solidFill>
                  <a:srgbClr val="00B050"/>
                </a:solidFill>
              </a:rPr>
              <a:t>Green</a:t>
            </a:r>
            <a:r>
              <a:rPr lang="en-IN" sz="900" i="1" dirty="0"/>
              <a:t> colour means, FS 18 is higher than CB 24 and </a:t>
            </a:r>
            <a:r>
              <a:rPr lang="en-IN" sz="900" i="1" dirty="0">
                <a:solidFill>
                  <a:srgbClr val="FF0000"/>
                </a:solidFill>
              </a:rPr>
              <a:t>Red</a:t>
            </a:r>
            <a:r>
              <a:rPr lang="en-IN" sz="900" i="1" dirty="0"/>
              <a:t> colour means FS 18 is inferior than CB 24.  </a:t>
            </a:r>
          </a:p>
        </p:txBody>
      </p:sp>
      <p:pic>
        <p:nvPicPr>
          <p:cNvPr id="21" name="Picture 20">
            <a:extLst>
              <a:ext uri="{FF2B5EF4-FFF2-40B4-BE49-F238E27FC236}">
                <a16:creationId xmlns:a16="http://schemas.microsoft.com/office/drawing/2014/main" id="{84985C1A-2056-B897-0178-3929694A64FA}"/>
              </a:ext>
            </a:extLst>
          </p:cNvPr>
          <p:cNvPicPr>
            <a:picLocks noChangeAspect="1"/>
          </p:cNvPicPr>
          <p:nvPr/>
        </p:nvPicPr>
        <p:blipFill>
          <a:blip r:embed="rId3"/>
          <a:stretch>
            <a:fillRect/>
          </a:stretch>
        </p:blipFill>
        <p:spPr>
          <a:xfrm>
            <a:off x="3843073" y="6086470"/>
            <a:ext cx="4631998" cy="180000"/>
          </a:xfrm>
          <a:prstGeom prst="rect">
            <a:avLst/>
          </a:prstGeom>
        </p:spPr>
      </p:pic>
    </p:spTree>
    <p:extLst>
      <p:ext uri="{BB962C8B-B14F-4D97-AF65-F5344CB8AC3E}">
        <p14:creationId xmlns:p14="http://schemas.microsoft.com/office/powerpoint/2010/main" val="3319042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5E6C8E29-C22E-8AC7-58C6-8BBFA6A216EA}"/>
              </a:ext>
            </a:extLst>
          </p:cNvPr>
          <p:cNvGraphicFramePr>
            <a:graphicFrameLocks noGrp="1"/>
          </p:cNvGraphicFramePr>
          <p:nvPr>
            <p:ph idx="1"/>
            <p:extLst>
              <p:ext uri="{D42A27DB-BD31-4B8C-83A1-F6EECF244321}">
                <p14:modId xmlns:p14="http://schemas.microsoft.com/office/powerpoint/2010/main" val="1150069971"/>
              </p:ext>
            </p:extLst>
          </p:nvPr>
        </p:nvGraphicFramePr>
        <p:xfrm>
          <a:off x="1500189" y="2686051"/>
          <a:ext cx="8064000" cy="3490912"/>
        </p:xfrm>
        <a:graphic>
          <a:graphicData uri="http://schemas.openxmlformats.org/drawingml/2006/chart">
            <c:chart xmlns:c="http://schemas.openxmlformats.org/drawingml/2006/chart" xmlns:r="http://schemas.openxmlformats.org/officeDocument/2006/relationships" r:id="rId2"/>
          </a:graphicData>
        </a:graphic>
      </p:graphicFrame>
      <p:sp>
        <p:nvSpPr>
          <p:cNvPr id="3" name="Title 1">
            <a:extLst>
              <a:ext uri="{FF2B5EF4-FFF2-40B4-BE49-F238E27FC236}">
                <a16:creationId xmlns:a16="http://schemas.microsoft.com/office/drawing/2014/main" id="{A45FB50F-B826-653E-305F-75DB04A7352E}"/>
              </a:ext>
            </a:extLst>
          </p:cNvPr>
          <p:cNvSpPr>
            <a:spLocks noGrp="1"/>
          </p:cNvSpPr>
          <p:nvPr>
            <p:ph type="title"/>
          </p:nvPr>
        </p:nvSpPr>
        <p:spPr>
          <a:xfrm>
            <a:off x="0" y="442913"/>
            <a:ext cx="12191998" cy="1028699"/>
          </a:xfrm>
          <a:solidFill>
            <a:srgbClr val="002060"/>
          </a:solidFill>
        </p:spPr>
        <p:txBody>
          <a:bodyPr>
            <a:normAutofit/>
          </a:bodyPr>
          <a:lstStyle/>
          <a:p>
            <a:pPr algn="ctr"/>
            <a:r>
              <a:rPr lang="en-US" sz="2400" b="1" dirty="0">
                <a:solidFill>
                  <a:schemeClr val="bg1"/>
                </a:solidFill>
              </a:rPr>
              <a:t>90%+ consumers stated Product FS 18 thickness is perfect at the combined and monadic level, and its JAR scores are significantly better than CB 24.</a:t>
            </a:r>
            <a:endParaRPr lang="en-IN" sz="2400" b="1" dirty="0">
              <a:solidFill>
                <a:schemeClr val="bg1"/>
              </a:solidFill>
            </a:endParaRPr>
          </a:p>
        </p:txBody>
      </p:sp>
      <p:sp>
        <p:nvSpPr>
          <p:cNvPr id="6" name="Rectangle 5">
            <a:extLst>
              <a:ext uri="{FF2B5EF4-FFF2-40B4-BE49-F238E27FC236}">
                <a16:creationId xmlns:a16="http://schemas.microsoft.com/office/drawing/2014/main" id="{5B3B01F1-6F46-B302-929B-580EB2892EA8}"/>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DEB568D7-DC19-D7D4-C300-ACFD47BF7A1A}"/>
              </a:ext>
            </a:extLst>
          </p:cNvPr>
          <p:cNvSpPr txBox="1"/>
          <p:nvPr/>
        </p:nvSpPr>
        <p:spPr>
          <a:xfrm rot="16200000">
            <a:off x="1345084" y="2571756"/>
            <a:ext cx="516488" cy="261610"/>
          </a:xfrm>
          <a:prstGeom prst="rect">
            <a:avLst/>
          </a:prstGeom>
          <a:noFill/>
        </p:spPr>
        <p:txBody>
          <a:bodyPr wrap="none" rtlCol="0">
            <a:spAutoFit/>
          </a:bodyPr>
          <a:lstStyle/>
          <a:p>
            <a:r>
              <a:rPr lang="en-US" sz="1050" i="1" u="sng" dirty="0">
                <a:solidFill>
                  <a:schemeClr val="bg1">
                    <a:lumMod val="50000"/>
                  </a:schemeClr>
                </a:solidFill>
              </a:rPr>
              <a:t>Mean</a:t>
            </a:r>
            <a:endParaRPr lang="en-IN" sz="1050" i="1" u="sng" dirty="0">
              <a:solidFill>
                <a:schemeClr val="bg1">
                  <a:lumMod val="50000"/>
                </a:schemeClr>
              </a:solidFill>
            </a:endParaRPr>
          </a:p>
        </p:txBody>
      </p:sp>
      <p:sp>
        <p:nvSpPr>
          <p:cNvPr id="11" name="TextBox 10">
            <a:extLst>
              <a:ext uri="{FF2B5EF4-FFF2-40B4-BE49-F238E27FC236}">
                <a16:creationId xmlns:a16="http://schemas.microsoft.com/office/drawing/2014/main" id="{2B23BF00-A06D-C79B-C3C1-3D4FB2A92EB7}"/>
              </a:ext>
            </a:extLst>
          </p:cNvPr>
          <p:cNvSpPr txBox="1"/>
          <p:nvPr/>
        </p:nvSpPr>
        <p:spPr>
          <a:xfrm rot="16200000">
            <a:off x="1408444" y="2099344"/>
            <a:ext cx="380232" cy="253916"/>
          </a:xfrm>
          <a:prstGeom prst="rect">
            <a:avLst/>
          </a:prstGeom>
          <a:noFill/>
        </p:spPr>
        <p:txBody>
          <a:bodyPr wrap="none" rtlCol="0">
            <a:spAutoFit/>
          </a:bodyPr>
          <a:lstStyle/>
          <a:p>
            <a:r>
              <a:rPr lang="en-US" sz="1050" i="1" u="sng" dirty="0">
                <a:solidFill>
                  <a:schemeClr val="bg1">
                    <a:lumMod val="50000"/>
                  </a:schemeClr>
                </a:solidFill>
              </a:rPr>
              <a:t>JAR</a:t>
            </a:r>
            <a:endParaRPr lang="en-IN" sz="1050" i="1" u="sng" dirty="0">
              <a:solidFill>
                <a:schemeClr val="bg1">
                  <a:lumMod val="50000"/>
                </a:schemeClr>
              </a:solidFill>
            </a:endParaRPr>
          </a:p>
        </p:txBody>
      </p:sp>
      <p:sp>
        <p:nvSpPr>
          <p:cNvPr id="2" name="Rectangle 1">
            <a:extLst>
              <a:ext uri="{FF2B5EF4-FFF2-40B4-BE49-F238E27FC236}">
                <a16:creationId xmlns:a16="http://schemas.microsoft.com/office/drawing/2014/main" id="{89D9CA50-184D-47CF-64EA-2A0F79978D93}"/>
              </a:ext>
            </a:extLst>
          </p:cNvPr>
          <p:cNvSpPr/>
          <p:nvPr/>
        </p:nvSpPr>
        <p:spPr>
          <a:xfrm>
            <a:off x="0" y="0"/>
            <a:ext cx="12191998" cy="442913"/>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What do you think about the </a:t>
            </a:r>
            <a:r>
              <a:rPr lang="en-US" sz="1600" b="1"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thickness</a:t>
            </a:r>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 of it (JAR)</a:t>
            </a:r>
            <a:endParaRPr lang="en-IN" sz="1600" i="1" dirty="0">
              <a:solidFill>
                <a:schemeClr val="tx1"/>
              </a:solidFill>
            </a:endParaRPr>
          </a:p>
        </p:txBody>
      </p:sp>
      <p:graphicFrame>
        <p:nvGraphicFramePr>
          <p:cNvPr id="4" name="Table 3">
            <a:extLst>
              <a:ext uri="{FF2B5EF4-FFF2-40B4-BE49-F238E27FC236}">
                <a16:creationId xmlns:a16="http://schemas.microsoft.com/office/drawing/2014/main" id="{6071B4C8-C347-5A8F-BCF1-8B4D8F03762C}"/>
              </a:ext>
            </a:extLst>
          </p:cNvPr>
          <p:cNvGraphicFramePr>
            <a:graphicFrameLocks noGrp="1"/>
          </p:cNvGraphicFramePr>
          <p:nvPr>
            <p:extLst>
              <p:ext uri="{D42A27DB-BD31-4B8C-83A1-F6EECF244321}">
                <p14:modId xmlns:p14="http://schemas.microsoft.com/office/powerpoint/2010/main" val="1733826684"/>
              </p:ext>
            </p:extLst>
          </p:nvPr>
        </p:nvGraphicFramePr>
        <p:xfrm>
          <a:off x="1652574" y="2143115"/>
          <a:ext cx="7740000" cy="600075"/>
        </p:xfrm>
        <a:graphic>
          <a:graphicData uri="http://schemas.openxmlformats.org/drawingml/2006/table">
            <a:tbl>
              <a:tblPr>
                <a:tableStyleId>{5C22544A-7EE6-4342-B048-85BDC9FD1C3A}</a:tableStyleId>
              </a:tblPr>
              <a:tblGrid>
                <a:gridCol w="1290000">
                  <a:extLst>
                    <a:ext uri="{9D8B030D-6E8A-4147-A177-3AD203B41FA5}">
                      <a16:colId xmlns:a16="http://schemas.microsoft.com/office/drawing/2014/main" val="3234774175"/>
                    </a:ext>
                  </a:extLst>
                </a:gridCol>
                <a:gridCol w="1290000">
                  <a:extLst>
                    <a:ext uri="{9D8B030D-6E8A-4147-A177-3AD203B41FA5}">
                      <a16:colId xmlns:a16="http://schemas.microsoft.com/office/drawing/2014/main" val="3529223605"/>
                    </a:ext>
                  </a:extLst>
                </a:gridCol>
                <a:gridCol w="1290000">
                  <a:extLst>
                    <a:ext uri="{9D8B030D-6E8A-4147-A177-3AD203B41FA5}">
                      <a16:colId xmlns:a16="http://schemas.microsoft.com/office/drawing/2014/main" val="2840695734"/>
                    </a:ext>
                  </a:extLst>
                </a:gridCol>
                <a:gridCol w="1290000">
                  <a:extLst>
                    <a:ext uri="{9D8B030D-6E8A-4147-A177-3AD203B41FA5}">
                      <a16:colId xmlns:a16="http://schemas.microsoft.com/office/drawing/2014/main" val="2929761101"/>
                    </a:ext>
                  </a:extLst>
                </a:gridCol>
                <a:gridCol w="1290000">
                  <a:extLst>
                    <a:ext uri="{9D8B030D-6E8A-4147-A177-3AD203B41FA5}">
                      <a16:colId xmlns:a16="http://schemas.microsoft.com/office/drawing/2014/main" val="3853131761"/>
                    </a:ext>
                  </a:extLst>
                </a:gridCol>
                <a:gridCol w="1290000">
                  <a:extLst>
                    <a:ext uri="{9D8B030D-6E8A-4147-A177-3AD203B41FA5}">
                      <a16:colId xmlns:a16="http://schemas.microsoft.com/office/drawing/2014/main" val="1521860837"/>
                    </a:ext>
                  </a:extLst>
                </a:gridCol>
              </a:tblGrid>
              <a:tr h="200025">
                <a:tc>
                  <a:txBody>
                    <a:bodyPr/>
                    <a:lstStyle/>
                    <a:p>
                      <a:pPr algn="ctr" fontAlgn="ctr"/>
                      <a:r>
                        <a:rPr lang="en-IN" sz="1200" i="1" u="none" strike="noStrike">
                          <a:effectLst/>
                        </a:rPr>
                        <a:t>91%</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77%</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100" i="1" u="none" strike="noStrike">
                          <a:effectLst/>
                        </a:rPr>
                        <a:t> </a:t>
                      </a:r>
                      <a:endParaRPr lang="en-IN" sz="1100" b="0" i="1"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a:effectLst/>
                        </a:rPr>
                        <a:t>94%</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84%</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2143891203"/>
                  </a:ext>
                </a:extLst>
              </a:tr>
              <a:tr h="200025">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100" i="1" u="none" strike="noStrike">
                          <a:effectLst/>
                        </a:rPr>
                        <a:t> </a:t>
                      </a:r>
                      <a:endParaRPr lang="en-IN" sz="1100" b="0" i="1"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1477146415"/>
                  </a:ext>
                </a:extLst>
              </a:tr>
              <a:tr h="200025">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100" i="1" u="none" strike="noStrike">
                          <a:effectLst/>
                        </a:rPr>
                        <a:t> </a:t>
                      </a:r>
                      <a:endParaRPr lang="en-IN" sz="1100" b="0" i="1"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2.0</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601811298"/>
                  </a:ext>
                </a:extLst>
              </a:tr>
            </a:tbl>
          </a:graphicData>
        </a:graphic>
      </p:graphicFrame>
      <p:sp>
        <p:nvSpPr>
          <p:cNvPr id="5" name="TextBox 4">
            <a:extLst>
              <a:ext uri="{FF2B5EF4-FFF2-40B4-BE49-F238E27FC236}">
                <a16:creationId xmlns:a16="http://schemas.microsoft.com/office/drawing/2014/main" id="{CCCAB05D-D77A-57B5-431A-06FB82E76C7C}"/>
              </a:ext>
            </a:extLst>
          </p:cNvPr>
          <p:cNvSpPr txBox="1"/>
          <p:nvPr/>
        </p:nvSpPr>
        <p:spPr>
          <a:xfrm>
            <a:off x="2443166" y="2128831"/>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7" name="TextBox 6">
            <a:extLst>
              <a:ext uri="{FF2B5EF4-FFF2-40B4-BE49-F238E27FC236}">
                <a16:creationId xmlns:a16="http://schemas.microsoft.com/office/drawing/2014/main" id="{22D8E2B9-90E0-7EFF-203A-3E1F168840FB}"/>
              </a:ext>
            </a:extLst>
          </p:cNvPr>
          <p:cNvSpPr txBox="1"/>
          <p:nvPr/>
        </p:nvSpPr>
        <p:spPr>
          <a:xfrm>
            <a:off x="7600954" y="2128831"/>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8" name="TextBox 7">
            <a:extLst>
              <a:ext uri="{FF2B5EF4-FFF2-40B4-BE49-F238E27FC236}">
                <a16:creationId xmlns:a16="http://schemas.microsoft.com/office/drawing/2014/main" id="{4E2DDEA9-2039-B85A-EE01-B85AFDED696E}"/>
              </a:ext>
            </a:extLst>
          </p:cNvPr>
          <p:cNvSpPr txBox="1"/>
          <p:nvPr/>
        </p:nvSpPr>
        <p:spPr>
          <a:xfrm>
            <a:off x="14283" y="6372227"/>
            <a:ext cx="5396029" cy="507831"/>
          </a:xfrm>
          <a:prstGeom prst="rect">
            <a:avLst/>
          </a:prstGeom>
          <a:noFill/>
        </p:spPr>
        <p:txBody>
          <a:bodyPr wrap="none" rtlCol="0">
            <a:spAutoFit/>
          </a:bodyPr>
          <a:lstStyle/>
          <a:p>
            <a:r>
              <a:rPr lang="en-IN" sz="900" i="1" u="sng" dirty="0"/>
              <a:t>Note:</a:t>
            </a:r>
          </a:p>
          <a:p>
            <a:r>
              <a:rPr lang="en-IN" sz="900" i="1" dirty="0"/>
              <a:t>Capital letter “B” use for 95% confidence interval  level and Small letter “b” use for 90% confidence interval level</a:t>
            </a:r>
          </a:p>
          <a:p>
            <a:r>
              <a:rPr lang="en-IN" sz="900" i="1" dirty="0">
                <a:solidFill>
                  <a:srgbClr val="00B050"/>
                </a:solidFill>
              </a:rPr>
              <a:t>Green</a:t>
            </a:r>
            <a:r>
              <a:rPr lang="en-IN" sz="900" i="1" dirty="0"/>
              <a:t> colour means, FS 18 is higher than CB 24 and </a:t>
            </a:r>
            <a:r>
              <a:rPr lang="en-IN" sz="900" i="1" dirty="0">
                <a:solidFill>
                  <a:srgbClr val="FF0000"/>
                </a:solidFill>
              </a:rPr>
              <a:t>Red</a:t>
            </a:r>
            <a:r>
              <a:rPr lang="en-IN" sz="900" i="1" dirty="0"/>
              <a:t> colour means FS 18 is inferior than CB 24.  </a:t>
            </a:r>
          </a:p>
        </p:txBody>
      </p:sp>
    </p:spTree>
    <p:extLst>
      <p:ext uri="{BB962C8B-B14F-4D97-AF65-F5344CB8AC3E}">
        <p14:creationId xmlns:p14="http://schemas.microsoft.com/office/powerpoint/2010/main" val="2168243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45FB50F-B826-653E-305F-75DB04A7352E}"/>
              </a:ext>
            </a:extLst>
          </p:cNvPr>
          <p:cNvSpPr>
            <a:spLocks noGrp="1"/>
          </p:cNvSpPr>
          <p:nvPr>
            <p:ph type="title"/>
          </p:nvPr>
        </p:nvSpPr>
        <p:spPr>
          <a:xfrm>
            <a:off x="0" y="442913"/>
            <a:ext cx="12191998" cy="1028699"/>
          </a:xfrm>
          <a:solidFill>
            <a:srgbClr val="002060"/>
          </a:solidFill>
        </p:spPr>
        <p:txBody>
          <a:bodyPr>
            <a:normAutofit/>
          </a:bodyPr>
          <a:lstStyle/>
          <a:p>
            <a:pPr algn="ctr"/>
            <a:r>
              <a:rPr lang="en-US" sz="2400" b="1" dirty="0">
                <a:solidFill>
                  <a:schemeClr val="bg1"/>
                </a:solidFill>
              </a:rPr>
              <a:t>FS 24 thickness is perfect, and its JAR level is significantly better across segments.</a:t>
            </a:r>
            <a:endParaRPr lang="en-IN" sz="2400" b="1" dirty="0">
              <a:solidFill>
                <a:schemeClr val="bg1"/>
              </a:solidFill>
            </a:endParaRPr>
          </a:p>
        </p:txBody>
      </p:sp>
      <p:sp>
        <p:nvSpPr>
          <p:cNvPr id="4" name="Rectangle 3">
            <a:extLst>
              <a:ext uri="{FF2B5EF4-FFF2-40B4-BE49-F238E27FC236}">
                <a16:creationId xmlns:a16="http://schemas.microsoft.com/office/drawing/2014/main" id="{E324B4EA-4898-5715-C1D2-BBA0D61D7BCF}"/>
              </a:ext>
            </a:extLst>
          </p:cNvPr>
          <p:cNvSpPr/>
          <p:nvPr/>
        </p:nvSpPr>
        <p:spPr>
          <a:xfrm>
            <a:off x="0" y="0"/>
            <a:ext cx="12191998" cy="442913"/>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What do you think about the </a:t>
            </a:r>
            <a:r>
              <a:rPr lang="en-US" sz="1600" b="1"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thickness</a:t>
            </a:r>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 of it (JAR)</a:t>
            </a:r>
            <a:endParaRPr lang="en-IN" sz="1600" i="1" dirty="0">
              <a:solidFill>
                <a:schemeClr val="tx1"/>
              </a:solidFill>
            </a:endParaRPr>
          </a:p>
        </p:txBody>
      </p:sp>
      <p:sp>
        <p:nvSpPr>
          <p:cNvPr id="5" name="Rectangle 4">
            <a:extLst>
              <a:ext uri="{FF2B5EF4-FFF2-40B4-BE49-F238E27FC236}">
                <a16:creationId xmlns:a16="http://schemas.microsoft.com/office/drawing/2014/main" id="{BA4F78BD-59BB-4B77-71AD-419D1FBB0B8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A69801A-D2F2-0318-5A36-541876566316}"/>
              </a:ext>
            </a:extLst>
          </p:cNvPr>
          <p:cNvSpPr txBox="1"/>
          <p:nvPr/>
        </p:nvSpPr>
        <p:spPr>
          <a:xfrm rot="16200000">
            <a:off x="-140817" y="2528892"/>
            <a:ext cx="516488" cy="261610"/>
          </a:xfrm>
          <a:prstGeom prst="rect">
            <a:avLst/>
          </a:prstGeom>
          <a:noFill/>
        </p:spPr>
        <p:txBody>
          <a:bodyPr wrap="none" rtlCol="0">
            <a:spAutoFit/>
          </a:bodyPr>
          <a:lstStyle/>
          <a:p>
            <a:r>
              <a:rPr lang="en-US" sz="1050" i="1" u="sng" dirty="0">
                <a:solidFill>
                  <a:schemeClr val="bg1">
                    <a:lumMod val="50000"/>
                  </a:schemeClr>
                </a:solidFill>
              </a:rPr>
              <a:t>Mean</a:t>
            </a:r>
            <a:endParaRPr lang="en-IN" sz="1050" i="1" u="sng" dirty="0">
              <a:solidFill>
                <a:schemeClr val="bg1">
                  <a:lumMod val="50000"/>
                </a:schemeClr>
              </a:solidFill>
            </a:endParaRPr>
          </a:p>
        </p:txBody>
      </p:sp>
      <p:sp>
        <p:nvSpPr>
          <p:cNvPr id="7" name="TextBox 6">
            <a:extLst>
              <a:ext uri="{FF2B5EF4-FFF2-40B4-BE49-F238E27FC236}">
                <a16:creationId xmlns:a16="http://schemas.microsoft.com/office/drawing/2014/main" id="{FDAB76FE-448B-6AF6-BBDB-2C84F2942197}"/>
              </a:ext>
            </a:extLst>
          </p:cNvPr>
          <p:cNvSpPr txBox="1"/>
          <p:nvPr/>
        </p:nvSpPr>
        <p:spPr>
          <a:xfrm rot="16200000">
            <a:off x="-77457" y="2056480"/>
            <a:ext cx="380232" cy="253916"/>
          </a:xfrm>
          <a:prstGeom prst="rect">
            <a:avLst/>
          </a:prstGeom>
          <a:noFill/>
        </p:spPr>
        <p:txBody>
          <a:bodyPr wrap="none" rtlCol="0">
            <a:spAutoFit/>
          </a:bodyPr>
          <a:lstStyle/>
          <a:p>
            <a:r>
              <a:rPr lang="en-US" sz="1050" i="1" u="sng" dirty="0">
                <a:solidFill>
                  <a:schemeClr val="bg1">
                    <a:lumMod val="50000"/>
                  </a:schemeClr>
                </a:solidFill>
              </a:rPr>
              <a:t>JAR</a:t>
            </a:r>
            <a:endParaRPr lang="en-IN" sz="1050" i="1" u="sng" dirty="0">
              <a:solidFill>
                <a:schemeClr val="bg1">
                  <a:lumMod val="50000"/>
                </a:schemeClr>
              </a:solidFill>
            </a:endParaRPr>
          </a:p>
        </p:txBody>
      </p:sp>
      <p:graphicFrame>
        <p:nvGraphicFramePr>
          <p:cNvPr id="9" name="Content Placeholder 8">
            <a:extLst>
              <a:ext uri="{FF2B5EF4-FFF2-40B4-BE49-F238E27FC236}">
                <a16:creationId xmlns:a16="http://schemas.microsoft.com/office/drawing/2014/main" id="{CA2D8205-EAAE-05C0-4588-5EA10CD55074}"/>
              </a:ext>
            </a:extLst>
          </p:cNvPr>
          <p:cNvGraphicFramePr>
            <a:graphicFrameLocks noGrp="1"/>
          </p:cNvGraphicFramePr>
          <p:nvPr>
            <p:ph idx="1"/>
            <p:extLst>
              <p:ext uri="{D42A27DB-BD31-4B8C-83A1-F6EECF244321}">
                <p14:modId xmlns:p14="http://schemas.microsoft.com/office/powerpoint/2010/main" val="281288339"/>
              </p:ext>
            </p:extLst>
          </p:nvPr>
        </p:nvGraphicFramePr>
        <p:xfrm>
          <a:off x="0" y="2686051"/>
          <a:ext cx="12191999" cy="34909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Table 1">
            <a:extLst>
              <a:ext uri="{FF2B5EF4-FFF2-40B4-BE49-F238E27FC236}">
                <a16:creationId xmlns:a16="http://schemas.microsoft.com/office/drawing/2014/main" id="{89135E5B-CAA3-81DC-5DAB-10423270AC28}"/>
              </a:ext>
            </a:extLst>
          </p:cNvPr>
          <p:cNvGraphicFramePr>
            <a:graphicFrameLocks noGrp="1"/>
          </p:cNvGraphicFramePr>
          <p:nvPr>
            <p:extLst>
              <p:ext uri="{D42A27DB-BD31-4B8C-83A1-F6EECF244321}">
                <p14:modId xmlns:p14="http://schemas.microsoft.com/office/powerpoint/2010/main" val="1497298073"/>
              </p:ext>
            </p:extLst>
          </p:nvPr>
        </p:nvGraphicFramePr>
        <p:xfrm>
          <a:off x="171437" y="2114545"/>
          <a:ext cx="11879994" cy="600075"/>
        </p:xfrm>
        <a:graphic>
          <a:graphicData uri="http://schemas.openxmlformats.org/drawingml/2006/table">
            <a:tbl>
              <a:tblPr>
                <a:tableStyleId>{5C22544A-7EE6-4342-B048-85BDC9FD1C3A}</a:tableStyleId>
              </a:tblPr>
              <a:tblGrid>
                <a:gridCol w="848571">
                  <a:extLst>
                    <a:ext uri="{9D8B030D-6E8A-4147-A177-3AD203B41FA5}">
                      <a16:colId xmlns:a16="http://schemas.microsoft.com/office/drawing/2014/main" val="3300382652"/>
                    </a:ext>
                  </a:extLst>
                </a:gridCol>
                <a:gridCol w="848571">
                  <a:extLst>
                    <a:ext uri="{9D8B030D-6E8A-4147-A177-3AD203B41FA5}">
                      <a16:colId xmlns:a16="http://schemas.microsoft.com/office/drawing/2014/main" val="2442766569"/>
                    </a:ext>
                  </a:extLst>
                </a:gridCol>
                <a:gridCol w="848571">
                  <a:extLst>
                    <a:ext uri="{9D8B030D-6E8A-4147-A177-3AD203B41FA5}">
                      <a16:colId xmlns:a16="http://schemas.microsoft.com/office/drawing/2014/main" val="3086527249"/>
                    </a:ext>
                  </a:extLst>
                </a:gridCol>
                <a:gridCol w="848571">
                  <a:extLst>
                    <a:ext uri="{9D8B030D-6E8A-4147-A177-3AD203B41FA5}">
                      <a16:colId xmlns:a16="http://schemas.microsoft.com/office/drawing/2014/main" val="1085492626"/>
                    </a:ext>
                  </a:extLst>
                </a:gridCol>
                <a:gridCol w="848571">
                  <a:extLst>
                    <a:ext uri="{9D8B030D-6E8A-4147-A177-3AD203B41FA5}">
                      <a16:colId xmlns:a16="http://schemas.microsoft.com/office/drawing/2014/main" val="1059154957"/>
                    </a:ext>
                  </a:extLst>
                </a:gridCol>
                <a:gridCol w="848571">
                  <a:extLst>
                    <a:ext uri="{9D8B030D-6E8A-4147-A177-3AD203B41FA5}">
                      <a16:colId xmlns:a16="http://schemas.microsoft.com/office/drawing/2014/main" val="1137698360"/>
                    </a:ext>
                  </a:extLst>
                </a:gridCol>
                <a:gridCol w="848571">
                  <a:extLst>
                    <a:ext uri="{9D8B030D-6E8A-4147-A177-3AD203B41FA5}">
                      <a16:colId xmlns:a16="http://schemas.microsoft.com/office/drawing/2014/main" val="2804807361"/>
                    </a:ext>
                  </a:extLst>
                </a:gridCol>
                <a:gridCol w="848571">
                  <a:extLst>
                    <a:ext uri="{9D8B030D-6E8A-4147-A177-3AD203B41FA5}">
                      <a16:colId xmlns:a16="http://schemas.microsoft.com/office/drawing/2014/main" val="2105769406"/>
                    </a:ext>
                  </a:extLst>
                </a:gridCol>
                <a:gridCol w="848571">
                  <a:extLst>
                    <a:ext uri="{9D8B030D-6E8A-4147-A177-3AD203B41FA5}">
                      <a16:colId xmlns:a16="http://schemas.microsoft.com/office/drawing/2014/main" val="1353314946"/>
                    </a:ext>
                  </a:extLst>
                </a:gridCol>
                <a:gridCol w="848571">
                  <a:extLst>
                    <a:ext uri="{9D8B030D-6E8A-4147-A177-3AD203B41FA5}">
                      <a16:colId xmlns:a16="http://schemas.microsoft.com/office/drawing/2014/main" val="448153248"/>
                    </a:ext>
                  </a:extLst>
                </a:gridCol>
                <a:gridCol w="848571">
                  <a:extLst>
                    <a:ext uri="{9D8B030D-6E8A-4147-A177-3AD203B41FA5}">
                      <a16:colId xmlns:a16="http://schemas.microsoft.com/office/drawing/2014/main" val="3331370123"/>
                    </a:ext>
                  </a:extLst>
                </a:gridCol>
                <a:gridCol w="848571">
                  <a:extLst>
                    <a:ext uri="{9D8B030D-6E8A-4147-A177-3AD203B41FA5}">
                      <a16:colId xmlns:a16="http://schemas.microsoft.com/office/drawing/2014/main" val="346610768"/>
                    </a:ext>
                  </a:extLst>
                </a:gridCol>
                <a:gridCol w="848571">
                  <a:extLst>
                    <a:ext uri="{9D8B030D-6E8A-4147-A177-3AD203B41FA5}">
                      <a16:colId xmlns:a16="http://schemas.microsoft.com/office/drawing/2014/main" val="648350495"/>
                    </a:ext>
                  </a:extLst>
                </a:gridCol>
                <a:gridCol w="848571">
                  <a:extLst>
                    <a:ext uri="{9D8B030D-6E8A-4147-A177-3AD203B41FA5}">
                      <a16:colId xmlns:a16="http://schemas.microsoft.com/office/drawing/2014/main" val="102026259"/>
                    </a:ext>
                  </a:extLst>
                </a:gridCol>
              </a:tblGrid>
              <a:tr h="200025">
                <a:tc>
                  <a:txBody>
                    <a:bodyPr/>
                    <a:lstStyle/>
                    <a:p>
                      <a:pPr algn="ctr" fontAlgn="ctr"/>
                      <a:r>
                        <a:rPr lang="en-IN" sz="1200" i="1" u="none" strike="noStrike">
                          <a:effectLst/>
                        </a:rPr>
                        <a:t>89%</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93%</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75%</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92%</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73%</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89%</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80%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89%</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77%</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92%</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91%</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74%</a:t>
                      </a:r>
                      <a:endParaRPr lang="en-IN" sz="1200" b="0" i="1" u="none" strike="noStrike">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3051366365"/>
                  </a:ext>
                </a:extLst>
              </a:tr>
              <a:tr h="200025">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2186974336"/>
                  </a:ext>
                </a:extLst>
              </a:tr>
              <a:tr h="200025">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2.1</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1.9</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1.9</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2.0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1.9</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370718087"/>
                  </a:ext>
                </a:extLst>
              </a:tr>
            </a:tbl>
          </a:graphicData>
        </a:graphic>
      </p:graphicFrame>
      <p:sp>
        <p:nvSpPr>
          <p:cNvPr id="8" name="TextBox 7">
            <a:extLst>
              <a:ext uri="{FF2B5EF4-FFF2-40B4-BE49-F238E27FC236}">
                <a16:creationId xmlns:a16="http://schemas.microsoft.com/office/drawing/2014/main" id="{8068BCCB-EF0D-050E-15D7-712F18DF85D2}"/>
              </a:ext>
            </a:extLst>
          </p:cNvPr>
          <p:cNvSpPr txBox="1"/>
          <p:nvPr/>
        </p:nvSpPr>
        <p:spPr>
          <a:xfrm>
            <a:off x="2443165" y="2085967"/>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0" name="TextBox 9">
            <a:extLst>
              <a:ext uri="{FF2B5EF4-FFF2-40B4-BE49-F238E27FC236}">
                <a16:creationId xmlns:a16="http://schemas.microsoft.com/office/drawing/2014/main" id="{3B56D956-3C1B-ED1C-5211-2405053DA6E3}"/>
              </a:ext>
            </a:extLst>
          </p:cNvPr>
          <p:cNvSpPr txBox="1"/>
          <p:nvPr/>
        </p:nvSpPr>
        <p:spPr>
          <a:xfrm>
            <a:off x="4129101" y="2085967"/>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1" name="TextBox 10">
            <a:extLst>
              <a:ext uri="{FF2B5EF4-FFF2-40B4-BE49-F238E27FC236}">
                <a16:creationId xmlns:a16="http://schemas.microsoft.com/office/drawing/2014/main" id="{CEB7C60E-F2DA-7475-638A-D49381B8F4F2}"/>
              </a:ext>
            </a:extLst>
          </p:cNvPr>
          <p:cNvSpPr txBox="1"/>
          <p:nvPr/>
        </p:nvSpPr>
        <p:spPr>
          <a:xfrm>
            <a:off x="7515239" y="2085967"/>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2" name="TextBox 11">
            <a:extLst>
              <a:ext uri="{FF2B5EF4-FFF2-40B4-BE49-F238E27FC236}">
                <a16:creationId xmlns:a16="http://schemas.microsoft.com/office/drawing/2014/main" id="{50A6541B-20F8-64EA-38E3-8EC482D9C591}"/>
              </a:ext>
            </a:extLst>
          </p:cNvPr>
          <p:cNvSpPr txBox="1"/>
          <p:nvPr/>
        </p:nvSpPr>
        <p:spPr>
          <a:xfrm>
            <a:off x="9215444" y="2085967"/>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3" name="TextBox 12">
            <a:extLst>
              <a:ext uri="{FF2B5EF4-FFF2-40B4-BE49-F238E27FC236}">
                <a16:creationId xmlns:a16="http://schemas.microsoft.com/office/drawing/2014/main" id="{1570C9D2-87BA-9829-DE9F-C5A4096E0922}"/>
              </a:ext>
            </a:extLst>
          </p:cNvPr>
          <p:cNvSpPr txBox="1"/>
          <p:nvPr/>
        </p:nvSpPr>
        <p:spPr>
          <a:xfrm>
            <a:off x="709605" y="2081202"/>
            <a:ext cx="26321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4" name="TextBox 13">
            <a:extLst>
              <a:ext uri="{FF2B5EF4-FFF2-40B4-BE49-F238E27FC236}">
                <a16:creationId xmlns:a16="http://schemas.microsoft.com/office/drawing/2014/main" id="{AE5E6810-6BA2-C548-4259-615359586217}"/>
              </a:ext>
            </a:extLst>
          </p:cNvPr>
          <p:cNvSpPr txBox="1"/>
          <p:nvPr/>
        </p:nvSpPr>
        <p:spPr>
          <a:xfrm>
            <a:off x="5791208" y="2076437"/>
            <a:ext cx="26321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5" name="TextBox 14">
            <a:extLst>
              <a:ext uri="{FF2B5EF4-FFF2-40B4-BE49-F238E27FC236}">
                <a16:creationId xmlns:a16="http://schemas.microsoft.com/office/drawing/2014/main" id="{695E2AC6-F3BD-295B-9773-232B3D8DCE3C}"/>
              </a:ext>
            </a:extLst>
          </p:cNvPr>
          <p:cNvSpPr txBox="1"/>
          <p:nvPr/>
        </p:nvSpPr>
        <p:spPr>
          <a:xfrm>
            <a:off x="10863260" y="2076439"/>
            <a:ext cx="26321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6" name="TextBox 15">
            <a:extLst>
              <a:ext uri="{FF2B5EF4-FFF2-40B4-BE49-F238E27FC236}">
                <a16:creationId xmlns:a16="http://schemas.microsoft.com/office/drawing/2014/main" id="{6727E161-E069-4A0F-50BA-73FFAB662F3F}"/>
              </a:ext>
            </a:extLst>
          </p:cNvPr>
          <p:cNvSpPr txBox="1"/>
          <p:nvPr/>
        </p:nvSpPr>
        <p:spPr>
          <a:xfrm>
            <a:off x="14283" y="6372227"/>
            <a:ext cx="5396029" cy="507831"/>
          </a:xfrm>
          <a:prstGeom prst="rect">
            <a:avLst/>
          </a:prstGeom>
          <a:noFill/>
        </p:spPr>
        <p:txBody>
          <a:bodyPr wrap="none" rtlCol="0">
            <a:spAutoFit/>
          </a:bodyPr>
          <a:lstStyle/>
          <a:p>
            <a:r>
              <a:rPr lang="en-IN" sz="900" i="1" u="sng" dirty="0"/>
              <a:t>Note:</a:t>
            </a:r>
          </a:p>
          <a:p>
            <a:r>
              <a:rPr lang="en-IN" sz="900" i="1" dirty="0"/>
              <a:t>Capital letter “B” use for 95% confidence interval  level and Small letter “b” use for 90% confidence interval level</a:t>
            </a:r>
          </a:p>
          <a:p>
            <a:r>
              <a:rPr lang="en-IN" sz="900" i="1" dirty="0">
                <a:solidFill>
                  <a:srgbClr val="00B050"/>
                </a:solidFill>
              </a:rPr>
              <a:t>Green</a:t>
            </a:r>
            <a:r>
              <a:rPr lang="en-IN" sz="900" i="1" dirty="0"/>
              <a:t> colour means, FS 18 is higher than CB 24 and </a:t>
            </a:r>
            <a:r>
              <a:rPr lang="en-IN" sz="900" i="1" dirty="0">
                <a:solidFill>
                  <a:srgbClr val="FF0000"/>
                </a:solidFill>
              </a:rPr>
              <a:t>Red</a:t>
            </a:r>
            <a:r>
              <a:rPr lang="en-IN" sz="900" i="1" dirty="0"/>
              <a:t> colour means FS 18 is inferior than CB 24.  </a:t>
            </a:r>
          </a:p>
        </p:txBody>
      </p:sp>
    </p:spTree>
    <p:extLst>
      <p:ext uri="{BB962C8B-B14F-4D97-AF65-F5344CB8AC3E}">
        <p14:creationId xmlns:p14="http://schemas.microsoft.com/office/powerpoint/2010/main" val="709533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5E6C8E29-C22E-8AC7-58C6-8BBFA6A216EA}"/>
              </a:ext>
            </a:extLst>
          </p:cNvPr>
          <p:cNvGraphicFramePr>
            <a:graphicFrameLocks noGrp="1"/>
          </p:cNvGraphicFramePr>
          <p:nvPr>
            <p:ph idx="1"/>
            <p:extLst>
              <p:ext uri="{D42A27DB-BD31-4B8C-83A1-F6EECF244321}">
                <p14:modId xmlns:p14="http://schemas.microsoft.com/office/powerpoint/2010/main" val="769097648"/>
              </p:ext>
            </p:extLst>
          </p:nvPr>
        </p:nvGraphicFramePr>
        <p:xfrm>
          <a:off x="1485901" y="2700339"/>
          <a:ext cx="8064000" cy="3476624"/>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a:extLst>
              <a:ext uri="{FF2B5EF4-FFF2-40B4-BE49-F238E27FC236}">
                <a16:creationId xmlns:a16="http://schemas.microsoft.com/office/drawing/2014/main" id="{0871FD2B-2BF1-53A5-B9BD-E8A79B45CDC2}"/>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EB657C72-A75C-2A60-052C-9277C0494234}"/>
              </a:ext>
            </a:extLst>
          </p:cNvPr>
          <p:cNvSpPr>
            <a:spLocks noGrp="1"/>
          </p:cNvSpPr>
          <p:nvPr>
            <p:ph type="title"/>
          </p:nvPr>
        </p:nvSpPr>
        <p:spPr>
          <a:xfrm>
            <a:off x="0" y="442913"/>
            <a:ext cx="12191998" cy="1028699"/>
          </a:xfrm>
          <a:solidFill>
            <a:srgbClr val="002060"/>
          </a:solidFill>
        </p:spPr>
        <p:txBody>
          <a:bodyPr>
            <a:noAutofit/>
          </a:bodyPr>
          <a:lstStyle/>
          <a:p>
            <a:pPr algn="ctr"/>
            <a:r>
              <a:rPr lang="en-US" sz="2400" b="1" dirty="0">
                <a:solidFill>
                  <a:schemeClr val="bg1"/>
                </a:solidFill>
              </a:rPr>
              <a:t>92% and 95% at all and monadic level consumers agreed that the FS 18 product has a perfect soft bite. If see, these % are not bad, but in comparison perspective, 92% is significantly inferior to CB 24. Consumers are more agreeing that CB 24 has a perfect soft bite over FS 18.</a:t>
            </a:r>
            <a:endParaRPr lang="en-IN" sz="2400" b="1" dirty="0">
              <a:solidFill>
                <a:schemeClr val="bg1"/>
              </a:solidFill>
            </a:endParaRPr>
          </a:p>
        </p:txBody>
      </p:sp>
      <p:sp>
        <p:nvSpPr>
          <p:cNvPr id="10" name="TextBox 9">
            <a:extLst>
              <a:ext uri="{FF2B5EF4-FFF2-40B4-BE49-F238E27FC236}">
                <a16:creationId xmlns:a16="http://schemas.microsoft.com/office/drawing/2014/main" id="{7438944D-AC78-536B-D0B3-A1D26D240282}"/>
              </a:ext>
            </a:extLst>
          </p:cNvPr>
          <p:cNvSpPr txBox="1"/>
          <p:nvPr/>
        </p:nvSpPr>
        <p:spPr>
          <a:xfrm rot="16200000">
            <a:off x="1345084" y="2571756"/>
            <a:ext cx="516488" cy="261610"/>
          </a:xfrm>
          <a:prstGeom prst="rect">
            <a:avLst/>
          </a:prstGeom>
          <a:noFill/>
        </p:spPr>
        <p:txBody>
          <a:bodyPr wrap="none" rtlCol="0">
            <a:spAutoFit/>
          </a:bodyPr>
          <a:lstStyle/>
          <a:p>
            <a:r>
              <a:rPr lang="en-US" sz="1050" i="1" u="sng" dirty="0">
                <a:solidFill>
                  <a:schemeClr val="bg1">
                    <a:lumMod val="50000"/>
                  </a:schemeClr>
                </a:solidFill>
              </a:rPr>
              <a:t>Mean</a:t>
            </a:r>
            <a:endParaRPr lang="en-IN" sz="1050" i="1" u="sng" dirty="0">
              <a:solidFill>
                <a:schemeClr val="bg1">
                  <a:lumMod val="50000"/>
                </a:schemeClr>
              </a:solidFill>
            </a:endParaRPr>
          </a:p>
        </p:txBody>
      </p:sp>
      <p:sp>
        <p:nvSpPr>
          <p:cNvPr id="11" name="TextBox 10">
            <a:extLst>
              <a:ext uri="{FF2B5EF4-FFF2-40B4-BE49-F238E27FC236}">
                <a16:creationId xmlns:a16="http://schemas.microsoft.com/office/drawing/2014/main" id="{526D9759-BF9A-9A01-3E7F-1BDCDADA1830}"/>
              </a:ext>
            </a:extLst>
          </p:cNvPr>
          <p:cNvSpPr txBox="1"/>
          <p:nvPr/>
        </p:nvSpPr>
        <p:spPr>
          <a:xfrm rot="16200000">
            <a:off x="1398826" y="2095497"/>
            <a:ext cx="399468" cy="261610"/>
          </a:xfrm>
          <a:prstGeom prst="rect">
            <a:avLst/>
          </a:prstGeom>
          <a:noFill/>
        </p:spPr>
        <p:txBody>
          <a:bodyPr wrap="none" rtlCol="0">
            <a:spAutoFit/>
          </a:bodyPr>
          <a:lstStyle/>
          <a:p>
            <a:r>
              <a:rPr lang="en-US" sz="1050" i="1" u="sng" dirty="0">
                <a:solidFill>
                  <a:schemeClr val="bg1">
                    <a:lumMod val="50000"/>
                  </a:schemeClr>
                </a:solidFill>
              </a:rPr>
              <a:t>TTB</a:t>
            </a:r>
            <a:endParaRPr lang="en-IN" sz="1050" i="1" u="sng" dirty="0">
              <a:solidFill>
                <a:schemeClr val="bg1">
                  <a:lumMod val="50000"/>
                </a:schemeClr>
              </a:solidFill>
            </a:endParaRPr>
          </a:p>
        </p:txBody>
      </p:sp>
      <p:sp>
        <p:nvSpPr>
          <p:cNvPr id="2" name="Rectangle 1">
            <a:extLst>
              <a:ext uri="{FF2B5EF4-FFF2-40B4-BE49-F238E27FC236}">
                <a16:creationId xmlns:a16="http://schemas.microsoft.com/office/drawing/2014/main" id="{B74D8BA7-B391-CF44-284B-0077C3472718}"/>
              </a:ext>
            </a:extLst>
          </p:cNvPr>
          <p:cNvSpPr/>
          <p:nvPr/>
        </p:nvSpPr>
        <p:spPr>
          <a:xfrm>
            <a:off x="0" y="0"/>
            <a:ext cx="12191998" cy="442913"/>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effectLst/>
                <a:latin typeface="Calibri" panose="020F0502020204030204" pitchFamily="34" charset="0"/>
                <a:ea typeface="Calibri" panose="020F0502020204030204" pitchFamily="34" charset="0"/>
                <a:cs typeface="Mangal" panose="02040503050203030202" pitchFamily="18" charset="0"/>
              </a:rPr>
              <a:t>Statement on the texture of the product (1/2) | </a:t>
            </a:r>
            <a:r>
              <a:rPr lang="en-US" sz="1600" b="1"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This cake has a perfect soft bite </a:t>
            </a:r>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(Agree/Disagree)</a:t>
            </a:r>
            <a:endParaRPr lang="en-IN" sz="1600" i="1" dirty="0">
              <a:solidFill>
                <a:schemeClr val="tx1"/>
              </a:solidFill>
            </a:endParaRPr>
          </a:p>
        </p:txBody>
      </p:sp>
      <p:graphicFrame>
        <p:nvGraphicFramePr>
          <p:cNvPr id="5" name="Table 4">
            <a:extLst>
              <a:ext uri="{FF2B5EF4-FFF2-40B4-BE49-F238E27FC236}">
                <a16:creationId xmlns:a16="http://schemas.microsoft.com/office/drawing/2014/main" id="{69FA2E2A-C2C2-AF88-7925-16041A82B96D}"/>
              </a:ext>
            </a:extLst>
          </p:cNvPr>
          <p:cNvGraphicFramePr>
            <a:graphicFrameLocks noGrp="1"/>
          </p:cNvGraphicFramePr>
          <p:nvPr>
            <p:extLst>
              <p:ext uri="{D42A27DB-BD31-4B8C-83A1-F6EECF244321}">
                <p14:modId xmlns:p14="http://schemas.microsoft.com/office/powerpoint/2010/main" val="2248843213"/>
              </p:ext>
            </p:extLst>
          </p:nvPr>
        </p:nvGraphicFramePr>
        <p:xfrm>
          <a:off x="1581130" y="2171689"/>
          <a:ext cx="7740000" cy="600075"/>
        </p:xfrm>
        <a:graphic>
          <a:graphicData uri="http://schemas.openxmlformats.org/drawingml/2006/table">
            <a:tbl>
              <a:tblPr>
                <a:tableStyleId>{5C22544A-7EE6-4342-B048-85BDC9FD1C3A}</a:tableStyleId>
              </a:tblPr>
              <a:tblGrid>
                <a:gridCol w="1290000">
                  <a:extLst>
                    <a:ext uri="{9D8B030D-6E8A-4147-A177-3AD203B41FA5}">
                      <a16:colId xmlns:a16="http://schemas.microsoft.com/office/drawing/2014/main" val="1196923837"/>
                    </a:ext>
                  </a:extLst>
                </a:gridCol>
                <a:gridCol w="1290000">
                  <a:extLst>
                    <a:ext uri="{9D8B030D-6E8A-4147-A177-3AD203B41FA5}">
                      <a16:colId xmlns:a16="http://schemas.microsoft.com/office/drawing/2014/main" val="36083745"/>
                    </a:ext>
                  </a:extLst>
                </a:gridCol>
                <a:gridCol w="1290000">
                  <a:extLst>
                    <a:ext uri="{9D8B030D-6E8A-4147-A177-3AD203B41FA5}">
                      <a16:colId xmlns:a16="http://schemas.microsoft.com/office/drawing/2014/main" val="2417108676"/>
                    </a:ext>
                  </a:extLst>
                </a:gridCol>
                <a:gridCol w="1290000">
                  <a:extLst>
                    <a:ext uri="{9D8B030D-6E8A-4147-A177-3AD203B41FA5}">
                      <a16:colId xmlns:a16="http://schemas.microsoft.com/office/drawing/2014/main" val="2237146397"/>
                    </a:ext>
                  </a:extLst>
                </a:gridCol>
                <a:gridCol w="1290000">
                  <a:extLst>
                    <a:ext uri="{9D8B030D-6E8A-4147-A177-3AD203B41FA5}">
                      <a16:colId xmlns:a16="http://schemas.microsoft.com/office/drawing/2014/main" val="474478090"/>
                    </a:ext>
                  </a:extLst>
                </a:gridCol>
                <a:gridCol w="1290000">
                  <a:extLst>
                    <a:ext uri="{9D8B030D-6E8A-4147-A177-3AD203B41FA5}">
                      <a16:colId xmlns:a16="http://schemas.microsoft.com/office/drawing/2014/main" val="564517884"/>
                    </a:ext>
                  </a:extLst>
                </a:gridCol>
              </a:tblGrid>
              <a:tr h="200025">
                <a:tc>
                  <a:txBody>
                    <a:bodyPr/>
                    <a:lstStyle/>
                    <a:p>
                      <a:pPr algn="ctr" fontAlgn="ctr"/>
                      <a:r>
                        <a:rPr lang="en-IN" sz="1200" i="1" u="none" strike="noStrike">
                          <a:effectLst/>
                        </a:rPr>
                        <a:t>92%</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97%</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a:effectLst/>
                        </a:rPr>
                        <a:t>95%</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99%</a:t>
                      </a:r>
                      <a:endParaRPr lang="en-IN" sz="1200" b="0" i="1" u="none" strike="noStrike">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1777147051"/>
                  </a:ext>
                </a:extLst>
              </a:tr>
              <a:tr h="200025">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3897617765"/>
                  </a:ext>
                </a:extLst>
              </a:tr>
              <a:tr h="200025">
                <a:tc>
                  <a:txBody>
                    <a:bodyPr/>
                    <a:lstStyle/>
                    <a:p>
                      <a:pPr algn="ctr" fontAlgn="ctr"/>
                      <a:r>
                        <a:rPr lang="en-IN" sz="1200" i="1" u="none" strike="noStrike">
                          <a:effectLst/>
                        </a:rPr>
                        <a:t>4.6</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4.7</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a:effectLst/>
                        </a:rPr>
                        <a:t>4.8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4.8</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4288991915"/>
                  </a:ext>
                </a:extLst>
              </a:tr>
            </a:tbl>
          </a:graphicData>
        </a:graphic>
      </p:graphicFrame>
      <p:sp>
        <p:nvSpPr>
          <p:cNvPr id="4" name="TextBox 3">
            <a:extLst>
              <a:ext uri="{FF2B5EF4-FFF2-40B4-BE49-F238E27FC236}">
                <a16:creationId xmlns:a16="http://schemas.microsoft.com/office/drawing/2014/main" id="{450973D2-4B1A-8A41-6CD1-0BF009395208}"/>
              </a:ext>
            </a:extLst>
          </p:cNvPr>
          <p:cNvSpPr txBox="1"/>
          <p:nvPr/>
        </p:nvSpPr>
        <p:spPr>
          <a:xfrm>
            <a:off x="2366965" y="2152643"/>
            <a:ext cx="274434" cy="276999"/>
          </a:xfrm>
          <a:prstGeom prst="rect">
            <a:avLst/>
          </a:prstGeom>
          <a:noFill/>
        </p:spPr>
        <p:txBody>
          <a:bodyPr wrap="none" rtlCol="0">
            <a:spAutoFit/>
          </a:bodyPr>
          <a:lstStyle/>
          <a:p>
            <a:r>
              <a:rPr lang="en-US" sz="1200" i="1" dirty="0">
                <a:solidFill>
                  <a:srgbClr val="FF0000"/>
                </a:solidFill>
              </a:rPr>
              <a:t>B</a:t>
            </a:r>
            <a:endParaRPr lang="en-IN" sz="1200" i="1" dirty="0">
              <a:solidFill>
                <a:srgbClr val="FF0000"/>
              </a:solidFill>
            </a:endParaRPr>
          </a:p>
        </p:txBody>
      </p:sp>
      <p:sp>
        <p:nvSpPr>
          <p:cNvPr id="6" name="TextBox 5">
            <a:extLst>
              <a:ext uri="{FF2B5EF4-FFF2-40B4-BE49-F238E27FC236}">
                <a16:creationId xmlns:a16="http://schemas.microsoft.com/office/drawing/2014/main" id="{0F70473F-FA73-FBBB-42B7-434E9732C6DC}"/>
              </a:ext>
            </a:extLst>
          </p:cNvPr>
          <p:cNvSpPr txBox="1"/>
          <p:nvPr/>
        </p:nvSpPr>
        <p:spPr>
          <a:xfrm>
            <a:off x="14283" y="6372227"/>
            <a:ext cx="5396029" cy="507831"/>
          </a:xfrm>
          <a:prstGeom prst="rect">
            <a:avLst/>
          </a:prstGeom>
          <a:noFill/>
        </p:spPr>
        <p:txBody>
          <a:bodyPr wrap="none" rtlCol="0">
            <a:spAutoFit/>
          </a:bodyPr>
          <a:lstStyle/>
          <a:p>
            <a:r>
              <a:rPr lang="en-IN" sz="900" i="1" u="sng" dirty="0"/>
              <a:t>Note:</a:t>
            </a:r>
          </a:p>
          <a:p>
            <a:r>
              <a:rPr lang="en-IN" sz="900" i="1" dirty="0"/>
              <a:t>Capital letter “B” use for 95% confidence interval  level and Small letter “b” use for 90% confidence interval level</a:t>
            </a:r>
          </a:p>
          <a:p>
            <a:r>
              <a:rPr lang="en-IN" sz="900" i="1" dirty="0">
                <a:solidFill>
                  <a:srgbClr val="00B050"/>
                </a:solidFill>
              </a:rPr>
              <a:t>Green</a:t>
            </a:r>
            <a:r>
              <a:rPr lang="en-IN" sz="900" i="1" dirty="0"/>
              <a:t> colour means, FS 18 is higher than CB 24 and </a:t>
            </a:r>
            <a:r>
              <a:rPr lang="en-IN" sz="900" i="1" dirty="0">
                <a:solidFill>
                  <a:srgbClr val="FF0000"/>
                </a:solidFill>
              </a:rPr>
              <a:t>Red</a:t>
            </a:r>
            <a:r>
              <a:rPr lang="en-IN" sz="900" i="1" dirty="0"/>
              <a:t> colour means FS 18 is inferior than CB 24.  </a:t>
            </a:r>
          </a:p>
        </p:txBody>
      </p:sp>
    </p:spTree>
    <p:extLst>
      <p:ext uri="{BB962C8B-B14F-4D97-AF65-F5344CB8AC3E}">
        <p14:creationId xmlns:p14="http://schemas.microsoft.com/office/powerpoint/2010/main" val="1568810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871FD2B-2BF1-53A5-B9BD-E8A79B45CDC2}"/>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9536BFD-7F1A-0318-7B3F-C366E56E76C0}"/>
              </a:ext>
            </a:extLst>
          </p:cNvPr>
          <p:cNvSpPr txBox="1"/>
          <p:nvPr/>
        </p:nvSpPr>
        <p:spPr>
          <a:xfrm rot="16200000">
            <a:off x="-140817" y="2528892"/>
            <a:ext cx="516488" cy="261610"/>
          </a:xfrm>
          <a:prstGeom prst="rect">
            <a:avLst/>
          </a:prstGeom>
          <a:noFill/>
        </p:spPr>
        <p:txBody>
          <a:bodyPr wrap="none" rtlCol="0">
            <a:spAutoFit/>
          </a:bodyPr>
          <a:lstStyle/>
          <a:p>
            <a:r>
              <a:rPr lang="en-US" sz="1050" i="1" u="sng" dirty="0">
                <a:solidFill>
                  <a:schemeClr val="bg1">
                    <a:lumMod val="50000"/>
                  </a:schemeClr>
                </a:solidFill>
              </a:rPr>
              <a:t>Mean</a:t>
            </a:r>
            <a:endParaRPr lang="en-IN" sz="1050" i="1" u="sng" dirty="0">
              <a:solidFill>
                <a:schemeClr val="bg1">
                  <a:lumMod val="50000"/>
                </a:schemeClr>
              </a:solidFill>
            </a:endParaRPr>
          </a:p>
        </p:txBody>
      </p:sp>
      <p:sp>
        <p:nvSpPr>
          <p:cNvPr id="6" name="TextBox 5">
            <a:extLst>
              <a:ext uri="{FF2B5EF4-FFF2-40B4-BE49-F238E27FC236}">
                <a16:creationId xmlns:a16="http://schemas.microsoft.com/office/drawing/2014/main" id="{5AF23D8A-7B95-2C4E-9DA5-D2176201FE51}"/>
              </a:ext>
            </a:extLst>
          </p:cNvPr>
          <p:cNvSpPr txBox="1"/>
          <p:nvPr/>
        </p:nvSpPr>
        <p:spPr>
          <a:xfrm rot="16200000">
            <a:off x="-87075" y="2052633"/>
            <a:ext cx="399468" cy="261610"/>
          </a:xfrm>
          <a:prstGeom prst="rect">
            <a:avLst/>
          </a:prstGeom>
          <a:noFill/>
        </p:spPr>
        <p:txBody>
          <a:bodyPr wrap="none" rtlCol="0">
            <a:spAutoFit/>
          </a:bodyPr>
          <a:lstStyle/>
          <a:p>
            <a:r>
              <a:rPr lang="en-US" sz="1050" i="1" u="sng" dirty="0">
                <a:solidFill>
                  <a:schemeClr val="bg1">
                    <a:lumMod val="50000"/>
                  </a:schemeClr>
                </a:solidFill>
              </a:rPr>
              <a:t>TTB</a:t>
            </a:r>
            <a:endParaRPr lang="en-IN" sz="1050" i="1" u="sng" dirty="0">
              <a:solidFill>
                <a:schemeClr val="bg1">
                  <a:lumMod val="50000"/>
                </a:schemeClr>
              </a:solidFill>
            </a:endParaRPr>
          </a:p>
        </p:txBody>
      </p:sp>
      <p:sp>
        <p:nvSpPr>
          <p:cNvPr id="7" name="Title 1">
            <a:extLst>
              <a:ext uri="{FF2B5EF4-FFF2-40B4-BE49-F238E27FC236}">
                <a16:creationId xmlns:a16="http://schemas.microsoft.com/office/drawing/2014/main" id="{EB657C72-A75C-2A60-052C-9277C0494234}"/>
              </a:ext>
            </a:extLst>
          </p:cNvPr>
          <p:cNvSpPr>
            <a:spLocks noGrp="1"/>
          </p:cNvSpPr>
          <p:nvPr>
            <p:ph type="title"/>
          </p:nvPr>
        </p:nvSpPr>
        <p:spPr>
          <a:xfrm>
            <a:off x="0" y="442913"/>
            <a:ext cx="12191998" cy="1028699"/>
          </a:xfrm>
          <a:solidFill>
            <a:srgbClr val="002060"/>
          </a:solidFill>
        </p:spPr>
        <p:txBody>
          <a:bodyPr>
            <a:noAutofit/>
          </a:bodyPr>
          <a:lstStyle/>
          <a:p>
            <a:pPr algn="ctr"/>
            <a:r>
              <a:rPr lang="en-US" sz="2400" b="1" dirty="0">
                <a:solidFill>
                  <a:schemeClr val="bg1"/>
                </a:solidFill>
              </a:rPr>
              <a:t>Mumbai, female and small age group consumers less agreed (significantly) with this statement for FS 18 that </a:t>
            </a:r>
            <a:r>
              <a:rPr lang="en-US" sz="2400" b="1" i="1" dirty="0">
                <a:solidFill>
                  <a:schemeClr val="bg1"/>
                </a:solidFill>
              </a:rPr>
              <a:t>“This cake has a perfect soft bite." </a:t>
            </a:r>
            <a:r>
              <a:rPr lang="en-US" sz="2400" b="1" dirty="0">
                <a:solidFill>
                  <a:schemeClr val="bg1"/>
                </a:solidFill>
              </a:rPr>
              <a:t>Delhi, male, mid, and elder age group consumers stand at par with this statement. </a:t>
            </a:r>
            <a:endParaRPr lang="en-IN" sz="2400" b="1" dirty="0">
              <a:solidFill>
                <a:schemeClr val="bg1"/>
              </a:solidFill>
            </a:endParaRPr>
          </a:p>
        </p:txBody>
      </p:sp>
      <p:sp>
        <p:nvSpPr>
          <p:cNvPr id="8" name="Rectangle 7">
            <a:extLst>
              <a:ext uri="{FF2B5EF4-FFF2-40B4-BE49-F238E27FC236}">
                <a16:creationId xmlns:a16="http://schemas.microsoft.com/office/drawing/2014/main" id="{770AD064-1BBA-4B99-CB7F-71AA4EA16AF2}"/>
              </a:ext>
            </a:extLst>
          </p:cNvPr>
          <p:cNvSpPr/>
          <p:nvPr/>
        </p:nvSpPr>
        <p:spPr>
          <a:xfrm>
            <a:off x="0" y="0"/>
            <a:ext cx="12191998" cy="442913"/>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effectLst/>
                <a:latin typeface="Calibri" panose="020F0502020204030204" pitchFamily="34" charset="0"/>
                <a:ea typeface="Calibri" panose="020F0502020204030204" pitchFamily="34" charset="0"/>
                <a:cs typeface="Mangal" panose="02040503050203030202" pitchFamily="18" charset="0"/>
              </a:rPr>
              <a:t>Statement on the texture of the product (1/2) | </a:t>
            </a:r>
            <a:r>
              <a:rPr lang="en-US" sz="1600" b="1"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This cake has a perfect soft bite</a:t>
            </a:r>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 (Agree/Disagree)</a:t>
            </a:r>
            <a:endParaRPr lang="en-IN" sz="1600" i="1" dirty="0">
              <a:solidFill>
                <a:schemeClr val="tx1"/>
              </a:solidFill>
            </a:endParaRPr>
          </a:p>
        </p:txBody>
      </p:sp>
      <p:graphicFrame>
        <p:nvGraphicFramePr>
          <p:cNvPr id="9" name="Content Placeholder 8">
            <a:extLst>
              <a:ext uri="{FF2B5EF4-FFF2-40B4-BE49-F238E27FC236}">
                <a16:creationId xmlns:a16="http://schemas.microsoft.com/office/drawing/2014/main" id="{FE4B82CB-3F40-3A1E-C9A9-A97F0B9FAA5C}"/>
              </a:ext>
            </a:extLst>
          </p:cNvPr>
          <p:cNvGraphicFramePr>
            <a:graphicFrameLocks noGrp="1"/>
          </p:cNvGraphicFramePr>
          <p:nvPr>
            <p:ph idx="1"/>
            <p:extLst>
              <p:ext uri="{D42A27DB-BD31-4B8C-83A1-F6EECF244321}">
                <p14:modId xmlns:p14="http://schemas.microsoft.com/office/powerpoint/2010/main" val="2925784248"/>
              </p:ext>
            </p:extLst>
          </p:nvPr>
        </p:nvGraphicFramePr>
        <p:xfrm>
          <a:off x="0" y="2700339"/>
          <a:ext cx="12191999" cy="34766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Table 1">
            <a:extLst>
              <a:ext uri="{FF2B5EF4-FFF2-40B4-BE49-F238E27FC236}">
                <a16:creationId xmlns:a16="http://schemas.microsoft.com/office/drawing/2014/main" id="{9D9FECAC-47EB-7202-829C-D7196E25EDE5}"/>
              </a:ext>
            </a:extLst>
          </p:cNvPr>
          <p:cNvGraphicFramePr>
            <a:graphicFrameLocks noGrp="1"/>
          </p:cNvGraphicFramePr>
          <p:nvPr>
            <p:extLst>
              <p:ext uri="{D42A27DB-BD31-4B8C-83A1-F6EECF244321}">
                <p14:modId xmlns:p14="http://schemas.microsoft.com/office/powerpoint/2010/main" val="1306597066"/>
              </p:ext>
            </p:extLst>
          </p:nvPr>
        </p:nvGraphicFramePr>
        <p:xfrm>
          <a:off x="128574" y="2128836"/>
          <a:ext cx="11879994" cy="600075"/>
        </p:xfrm>
        <a:graphic>
          <a:graphicData uri="http://schemas.openxmlformats.org/drawingml/2006/table">
            <a:tbl>
              <a:tblPr>
                <a:tableStyleId>{5C22544A-7EE6-4342-B048-85BDC9FD1C3A}</a:tableStyleId>
              </a:tblPr>
              <a:tblGrid>
                <a:gridCol w="848571">
                  <a:extLst>
                    <a:ext uri="{9D8B030D-6E8A-4147-A177-3AD203B41FA5}">
                      <a16:colId xmlns:a16="http://schemas.microsoft.com/office/drawing/2014/main" val="3233898740"/>
                    </a:ext>
                  </a:extLst>
                </a:gridCol>
                <a:gridCol w="848571">
                  <a:extLst>
                    <a:ext uri="{9D8B030D-6E8A-4147-A177-3AD203B41FA5}">
                      <a16:colId xmlns:a16="http://schemas.microsoft.com/office/drawing/2014/main" val="3301471313"/>
                    </a:ext>
                  </a:extLst>
                </a:gridCol>
                <a:gridCol w="848571">
                  <a:extLst>
                    <a:ext uri="{9D8B030D-6E8A-4147-A177-3AD203B41FA5}">
                      <a16:colId xmlns:a16="http://schemas.microsoft.com/office/drawing/2014/main" val="1483351157"/>
                    </a:ext>
                  </a:extLst>
                </a:gridCol>
                <a:gridCol w="848571">
                  <a:extLst>
                    <a:ext uri="{9D8B030D-6E8A-4147-A177-3AD203B41FA5}">
                      <a16:colId xmlns:a16="http://schemas.microsoft.com/office/drawing/2014/main" val="1208306260"/>
                    </a:ext>
                  </a:extLst>
                </a:gridCol>
                <a:gridCol w="848571">
                  <a:extLst>
                    <a:ext uri="{9D8B030D-6E8A-4147-A177-3AD203B41FA5}">
                      <a16:colId xmlns:a16="http://schemas.microsoft.com/office/drawing/2014/main" val="2981944267"/>
                    </a:ext>
                  </a:extLst>
                </a:gridCol>
                <a:gridCol w="848571">
                  <a:extLst>
                    <a:ext uri="{9D8B030D-6E8A-4147-A177-3AD203B41FA5}">
                      <a16:colId xmlns:a16="http://schemas.microsoft.com/office/drawing/2014/main" val="913658641"/>
                    </a:ext>
                  </a:extLst>
                </a:gridCol>
                <a:gridCol w="848571">
                  <a:extLst>
                    <a:ext uri="{9D8B030D-6E8A-4147-A177-3AD203B41FA5}">
                      <a16:colId xmlns:a16="http://schemas.microsoft.com/office/drawing/2014/main" val="2776609110"/>
                    </a:ext>
                  </a:extLst>
                </a:gridCol>
                <a:gridCol w="848571">
                  <a:extLst>
                    <a:ext uri="{9D8B030D-6E8A-4147-A177-3AD203B41FA5}">
                      <a16:colId xmlns:a16="http://schemas.microsoft.com/office/drawing/2014/main" val="120768026"/>
                    </a:ext>
                  </a:extLst>
                </a:gridCol>
                <a:gridCol w="848571">
                  <a:extLst>
                    <a:ext uri="{9D8B030D-6E8A-4147-A177-3AD203B41FA5}">
                      <a16:colId xmlns:a16="http://schemas.microsoft.com/office/drawing/2014/main" val="4257610575"/>
                    </a:ext>
                  </a:extLst>
                </a:gridCol>
                <a:gridCol w="848571">
                  <a:extLst>
                    <a:ext uri="{9D8B030D-6E8A-4147-A177-3AD203B41FA5}">
                      <a16:colId xmlns:a16="http://schemas.microsoft.com/office/drawing/2014/main" val="322868669"/>
                    </a:ext>
                  </a:extLst>
                </a:gridCol>
                <a:gridCol w="848571">
                  <a:extLst>
                    <a:ext uri="{9D8B030D-6E8A-4147-A177-3AD203B41FA5}">
                      <a16:colId xmlns:a16="http://schemas.microsoft.com/office/drawing/2014/main" val="4209291988"/>
                    </a:ext>
                  </a:extLst>
                </a:gridCol>
                <a:gridCol w="848571">
                  <a:extLst>
                    <a:ext uri="{9D8B030D-6E8A-4147-A177-3AD203B41FA5}">
                      <a16:colId xmlns:a16="http://schemas.microsoft.com/office/drawing/2014/main" val="3220704976"/>
                    </a:ext>
                  </a:extLst>
                </a:gridCol>
                <a:gridCol w="848571">
                  <a:extLst>
                    <a:ext uri="{9D8B030D-6E8A-4147-A177-3AD203B41FA5}">
                      <a16:colId xmlns:a16="http://schemas.microsoft.com/office/drawing/2014/main" val="2672412173"/>
                    </a:ext>
                  </a:extLst>
                </a:gridCol>
                <a:gridCol w="848571">
                  <a:extLst>
                    <a:ext uri="{9D8B030D-6E8A-4147-A177-3AD203B41FA5}">
                      <a16:colId xmlns:a16="http://schemas.microsoft.com/office/drawing/2014/main" val="679623290"/>
                    </a:ext>
                  </a:extLst>
                </a:gridCol>
              </a:tblGrid>
              <a:tr h="200025">
                <a:tc>
                  <a:txBody>
                    <a:bodyPr/>
                    <a:lstStyle/>
                    <a:p>
                      <a:pPr algn="ctr" fontAlgn="ctr"/>
                      <a:r>
                        <a:rPr lang="en-IN" sz="1200" i="1" u="none" strike="noStrike">
                          <a:effectLst/>
                        </a:rPr>
                        <a:t>93%</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92%</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96%</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94%</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97%</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91%</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97%</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93%</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90%</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97%</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94%</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94%</a:t>
                      </a:r>
                      <a:endParaRPr lang="en-IN" sz="1200" b="0" i="1" u="none" strike="noStrike">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562628524"/>
                  </a:ext>
                </a:extLst>
              </a:tr>
              <a:tr h="200025">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 </a:t>
                      </a:r>
                      <a:endParaRPr lang="en-IN" sz="1200" b="0" i="1" u="none" strike="noStrike">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1719342598"/>
                  </a:ext>
                </a:extLst>
              </a:tr>
              <a:tr h="200025">
                <a:tc>
                  <a:txBody>
                    <a:bodyPr/>
                    <a:lstStyle/>
                    <a:p>
                      <a:pPr algn="ctr" fontAlgn="ctr"/>
                      <a:r>
                        <a:rPr lang="en-IN" sz="1200" i="1" u="none" strike="noStrike">
                          <a:effectLst/>
                        </a:rPr>
                        <a:t>4.6</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4.7</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4.6</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4.7</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4.7</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4.6</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4.5</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4.6</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4.5</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4.6</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a:effectLst/>
                        </a:rPr>
                        <a:t>4.8</a:t>
                      </a:r>
                      <a:endParaRPr lang="en-IN" sz="1200" b="0" i="1"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4.7</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2019160201"/>
                  </a:ext>
                </a:extLst>
              </a:tr>
            </a:tbl>
          </a:graphicData>
        </a:graphic>
      </p:graphicFrame>
      <p:sp>
        <p:nvSpPr>
          <p:cNvPr id="11" name="TextBox 10">
            <a:extLst>
              <a:ext uri="{FF2B5EF4-FFF2-40B4-BE49-F238E27FC236}">
                <a16:creationId xmlns:a16="http://schemas.microsoft.com/office/drawing/2014/main" id="{FB388254-B041-C8A2-24B7-9F5BADAD7367}"/>
              </a:ext>
            </a:extLst>
          </p:cNvPr>
          <p:cNvSpPr txBox="1"/>
          <p:nvPr/>
        </p:nvSpPr>
        <p:spPr>
          <a:xfrm>
            <a:off x="5738827" y="2495536"/>
            <a:ext cx="274434" cy="276999"/>
          </a:xfrm>
          <a:prstGeom prst="rect">
            <a:avLst/>
          </a:prstGeom>
          <a:noFill/>
        </p:spPr>
        <p:txBody>
          <a:bodyPr wrap="none" rtlCol="0">
            <a:spAutoFit/>
          </a:bodyPr>
          <a:lstStyle/>
          <a:p>
            <a:r>
              <a:rPr lang="en-US" sz="1200" i="1" dirty="0">
                <a:solidFill>
                  <a:srgbClr val="FF0000"/>
                </a:solidFill>
              </a:rPr>
              <a:t>B</a:t>
            </a:r>
            <a:endParaRPr lang="en-IN" sz="1200" i="1" dirty="0">
              <a:solidFill>
                <a:srgbClr val="FF0000"/>
              </a:solidFill>
            </a:endParaRPr>
          </a:p>
        </p:txBody>
      </p:sp>
      <p:sp>
        <p:nvSpPr>
          <p:cNvPr id="12" name="TextBox 11">
            <a:extLst>
              <a:ext uri="{FF2B5EF4-FFF2-40B4-BE49-F238E27FC236}">
                <a16:creationId xmlns:a16="http://schemas.microsoft.com/office/drawing/2014/main" id="{0D28F7B8-C1C3-C45E-3B7C-A77A5BE2153F}"/>
              </a:ext>
            </a:extLst>
          </p:cNvPr>
          <p:cNvSpPr txBox="1"/>
          <p:nvPr/>
        </p:nvSpPr>
        <p:spPr>
          <a:xfrm>
            <a:off x="7420004" y="2476480"/>
            <a:ext cx="274434" cy="276999"/>
          </a:xfrm>
          <a:prstGeom prst="rect">
            <a:avLst/>
          </a:prstGeom>
          <a:noFill/>
        </p:spPr>
        <p:txBody>
          <a:bodyPr wrap="none" rtlCol="0">
            <a:spAutoFit/>
          </a:bodyPr>
          <a:lstStyle/>
          <a:p>
            <a:r>
              <a:rPr lang="en-US" sz="1200" i="1" dirty="0">
                <a:solidFill>
                  <a:srgbClr val="FF0000"/>
                </a:solidFill>
              </a:rPr>
              <a:t>B</a:t>
            </a:r>
            <a:endParaRPr lang="en-IN" sz="1200" i="1" dirty="0">
              <a:solidFill>
                <a:srgbClr val="FF0000"/>
              </a:solidFill>
            </a:endParaRPr>
          </a:p>
        </p:txBody>
      </p:sp>
      <p:sp>
        <p:nvSpPr>
          <p:cNvPr id="13" name="TextBox 12">
            <a:extLst>
              <a:ext uri="{FF2B5EF4-FFF2-40B4-BE49-F238E27FC236}">
                <a16:creationId xmlns:a16="http://schemas.microsoft.com/office/drawing/2014/main" id="{2E988D3D-5BC4-98B7-5219-BF14B5B365F8}"/>
              </a:ext>
            </a:extLst>
          </p:cNvPr>
          <p:cNvSpPr txBox="1"/>
          <p:nvPr/>
        </p:nvSpPr>
        <p:spPr>
          <a:xfrm>
            <a:off x="652451" y="2081203"/>
            <a:ext cx="263214" cy="276999"/>
          </a:xfrm>
          <a:prstGeom prst="rect">
            <a:avLst/>
          </a:prstGeom>
          <a:noFill/>
        </p:spPr>
        <p:txBody>
          <a:bodyPr wrap="none" rtlCol="0">
            <a:spAutoFit/>
          </a:bodyPr>
          <a:lstStyle/>
          <a:p>
            <a:r>
              <a:rPr lang="en-US" sz="1200" i="1" dirty="0">
                <a:solidFill>
                  <a:srgbClr val="FF0000"/>
                </a:solidFill>
              </a:rPr>
              <a:t>b</a:t>
            </a:r>
            <a:endParaRPr lang="en-IN" sz="1200" i="1" dirty="0">
              <a:solidFill>
                <a:srgbClr val="FF0000"/>
              </a:solidFill>
            </a:endParaRPr>
          </a:p>
        </p:txBody>
      </p:sp>
      <p:sp>
        <p:nvSpPr>
          <p:cNvPr id="14" name="TextBox 13">
            <a:extLst>
              <a:ext uri="{FF2B5EF4-FFF2-40B4-BE49-F238E27FC236}">
                <a16:creationId xmlns:a16="http://schemas.microsoft.com/office/drawing/2014/main" id="{F1E02CB3-B9DE-CE19-EF36-F3E76B6611C4}"/>
              </a:ext>
            </a:extLst>
          </p:cNvPr>
          <p:cNvSpPr txBox="1"/>
          <p:nvPr/>
        </p:nvSpPr>
        <p:spPr>
          <a:xfrm>
            <a:off x="5724522" y="2081203"/>
            <a:ext cx="263214" cy="276999"/>
          </a:xfrm>
          <a:prstGeom prst="rect">
            <a:avLst/>
          </a:prstGeom>
          <a:noFill/>
        </p:spPr>
        <p:txBody>
          <a:bodyPr wrap="none" rtlCol="0">
            <a:spAutoFit/>
          </a:bodyPr>
          <a:lstStyle/>
          <a:p>
            <a:r>
              <a:rPr lang="en-US" sz="1200" i="1" dirty="0">
                <a:solidFill>
                  <a:srgbClr val="FF0000"/>
                </a:solidFill>
              </a:rPr>
              <a:t>b</a:t>
            </a:r>
            <a:endParaRPr lang="en-IN" sz="1200" i="1" dirty="0">
              <a:solidFill>
                <a:srgbClr val="FF0000"/>
              </a:solidFill>
            </a:endParaRPr>
          </a:p>
        </p:txBody>
      </p:sp>
      <p:sp>
        <p:nvSpPr>
          <p:cNvPr id="15" name="TextBox 14">
            <a:extLst>
              <a:ext uri="{FF2B5EF4-FFF2-40B4-BE49-F238E27FC236}">
                <a16:creationId xmlns:a16="http://schemas.microsoft.com/office/drawing/2014/main" id="{74FC7195-818A-AE81-CF40-9DDE7A04F72F}"/>
              </a:ext>
            </a:extLst>
          </p:cNvPr>
          <p:cNvSpPr txBox="1"/>
          <p:nvPr/>
        </p:nvSpPr>
        <p:spPr>
          <a:xfrm>
            <a:off x="7424744" y="2081203"/>
            <a:ext cx="263214" cy="276999"/>
          </a:xfrm>
          <a:prstGeom prst="rect">
            <a:avLst/>
          </a:prstGeom>
          <a:noFill/>
        </p:spPr>
        <p:txBody>
          <a:bodyPr wrap="none" rtlCol="0">
            <a:spAutoFit/>
          </a:bodyPr>
          <a:lstStyle/>
          <a:p>
            <a:r>
              <a:rPr lang="en-US" sz="1200" i="1" dirty="0">
                <a:solidFill>
                  <a:srgbClr val="FF0000"/>
                </a:solidFill>
              </a:rPr>
              <a:t>b</a:t>
            </a:r>
            <a:endParaRPr lang="en-IN" sz="1200" i="1" dirty="0">
              <a:solidFill>
                <a:srgbClr val="FF0000"/>
              </a:solidFill>
            </a:endParaRPr>
          </a:p>
        </p:txBody>
      </p:sp>
      <p:sp>
        <p:nvSpPr>
          <p:cNvPr id="4" name="TextBox 3">
            <a:extLst>
              <a:ext uri="{FF2B5EF4-FFF2-40B4-BE49-F238E27FC236}">
                <a16:creationId xmlns:a16="http://schemas.microsoft.com/office/drawing/2014/main" id="{5B5A62B8-3A7D-5521-C661-D31870C59B78}"/>
              </a:ext>
            </a:extLst>
          </p:cNvPr>
          <p:cNvSpPr txBox="1"/>
          <p:nvPr/>
        </p:nvSpPr>
        <p:spPr>
          <a:xfrm>
            <a:off x="5500695" y="3243270"/>
            <a:ext cx="274434" cy="276999"/>
          </a:xfrm>
          <a:prstGeom prst="rect">
            <a:avLst/>
          </a:prstGeom>
          <a:noFill/>
        </p:spPr>
        <p:txBody>
          <a:bodyPr wrap="none" rtlCol="0">
            <a:spAutoFit/>
          </a:bodyPr>
          <a:lstStyle/>
          <a:p>
            <a:r>
              <a:rPr lang="en-US" sz="1200" i="1" dirty="0">
                <a:solidFill>
                  <a:srgbClr val="FF0000"/>
                </a:solidFill>
              </a:rPr>
              <a:t>B</a:t>
            </a:r>
            <a:endParaRPr lang="en-IN" sz="1200" i="1" dirty="0">
              <a:solidFill>
                <a:srgbClr val="FF0000"/>
              </a:solidFill>
            </a:endParaRPr>
          </a:p>
        </p:txBody>
      </p:sp>
      <p:sp>
        <p:nvSpPr>
          <p:cNvPr id="10" name="TextBox 9">
            <a:extLst>
              <a:ext uri="{FF2B5EF4-FFF2-40B4-BE49-F238E27FC236}">
                <a16:creationId xmlns:a16="http://schemas.microsoft.com/office/drawing/2014/main" id="{65D9994F-5940-62C9-94E4-991E6F4CBDCB}"/>
              </a:ext>
            </a:extLst>
          </p:cNvPr>
          <p:cNvSpPr txBox="1"/>
          <p:nvPr/>
        </p:nvSpPr>
        <p:spPr>
          <a:xfrm>
            <a:off x="14283" y="6372227"/>
            <a:ext cx="5396029" cy="507831"/>
          </a:xfrm>
          <a:prstGeom prst="rect">
            <a:avLst/>
          </a:prstGeom>
          <a:noFill/>
        </p:spPr>
        <p:txBody>
          <a:bodyPr wrap="none" rtlCol="0">
            <a:spAutoFit/>
          </a:bodyPr>
          <a:lstStyle/>
          <a:p>
            <a:r>
              <a:rPr lang="en-IN" sz="900" i="1" u="sng" dirty="0"/>
              <a:t>Note:</a:t>
            </a:r>
          </a:p>
          <a:p>
            <a:r>
              <a:rPr lang="en-IN" sz="900" i="1" dirty="0"/>
              <a:t>Capital letter “B” use for 95% confidence interval  level and Small letter “b” use for 90% confidence interval level</a:t>
            </a:r>
          </a:p>
          <a:p>
            <a:r>
              <a:rPr lang="en-IN" sz="900" i="1" dirty="0">
                <a:solidFill>
                  <a:srgbClr val="00B050"/>
                </a:solidFill>
              </a:rPr>
              <a:t>Green</a:t>
            </a:r>
            <a:r>
              <a:rPr lang="en-IN" sz="900" i="1" dirty="0"/>
              <a:t> colour means, FS 18 is higher than CB 24 and </a:t>
            </a:r>
            <a:r>
              <a:rPr lang="en-IN" sz="900" i="1" dirty="0">
                <a:solidFill>
                  <a:srgbClr val="FF0000"/>
                </a:solidFill>
              </a:rPr>
              <a:t>Red</a:t>
            </a:r>
            <a:r>
              <a:rPr lang="en-IN" sz="900" i="1" dirty="0"/>
              <a:t> colour means FS 18 is inferior than CB 24.  </a:t>
            </a:r>
          </a:p>
        </p:txBody>
      </p:sp>
      <p:sp>
        <p:nvSpPr>
          <p:cNvPr id="16" name="Rectangle 15">
            <a:extLst>
              <a:ext uri="{FF2B5EF4-FFF2-40B4-BE49-F238E27FC236}">
                <a16:creationId xmlns:a16="http://schemas.microsoft.com/office/drawing/2014/main" id="{7781D852-0062-D9FC-F3BC-ACE3832FC678}"/>
              </a:ext>
            </a:extLst>
          </p:cNvPr>
          <p:cNvSpPr/>
          <p:nvPr/>
        </p:nvSpPr>
        <p:spPr>
          <a:xfrm>
            <a:off x="5272088" y="1940840"/>
            <a:ext cx="823912" cy="31597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DECA8C5-3171-9E96-12E4-F7F0D2759BF7}"/>
              </a:ext>
            </a:extLst>
          </p:cNvPr>
          <p:cNvSpPr/>
          <p:nvPr/>
        </p:nvSpPr>
        <p:spPr>
          <a:xfrm>
            <a:off x="6953260" y="1936074"/>
            <a:ext cx="823912" cy="315979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70935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E476B-B651-27B8-ACFB-C5B879DB3840}"/>
              </a:ext>
            </a:extLst>
          </p:cNvPr>
          <p:cNvSpPr>
            <a:spLocks noGrp="1"/>
          </p:cNvSpPr>
          <p:nvPr>
            <p:ph type="title"/>
          </p:nvPr>
        </p:nvSpPr>
        <p:spPr>
          <a:xfrm>
            <a:off x="0" y="0"/>
            <a:ext cx="12192000" cy="749300"/>
          </a:xfrm>
          <a:solidFill>
            <a:srgbClr val="002060"/>
          </a:solidFill>
        </p:spPr>
        <p:txBody>
          <a:bodyPr anchor="ctr">
            <a:normAutofit/>
          </a:bodyPr>
          <a:lstStyle/>
          <a:p>
            <a:r>
              <a:rPr lang="en-US" sz="3200" b="1" dirty="0">
                <a:solidFill>
                  <a:schemeClr val="bg1"/>
                </a:solidFill>
              </a:rPr>
              <a:t>Mean Drop Penalty Analysis</a:t>
            </a:r>
            <a:endParaRPr lang="en-IN" sz="3200" b="1" dirty="0">
              <a:solidFill>
                <a:schemeClr val="bg1"/>
              </a:solidFill>
            </a:endParaRPr>
          </a:p>
        </p:txBody>
      </p:sp>
      <p:sp>
        <p:nvSpPr>
          <p:cNvPr id="5" name="TextBox 4">
            <a:extLst>
              <a:ext uri="{FF2B5EF4-FFF2-40B4-BE49-F238E27FC236}">
                <a16:creationId xmlns:a16="http://schemas.microsoft.com/office/drawing/2014/main" id="{AB314FE4-F718-36C9-F079-8B961D0BB0A4}"/>
              </a:ext>
            </a:extLst>
          </p:cNvPr>
          <p:cNvSpPr txBox="1"/>
          <p:nvPr/>
        </p:nvSpPr>
        <p:spPr>
          <a:xfrm>
            <a:off x="157163" y="1000581"/>
            <a:ext cx="11772900" cy="5016758"/>
          </a:xfrm>
          <a:prstGeom prst="rect">
            <a:avLst/>
          </a:prstGeom>
          <a:noFill/>
        </p:spPr>
        <p:txBody>
          <a:bodyPr wrap="square">
            <a:spAutoFit/>
          </a:bodyPr>
          <a:lstStyle/>
          <a:p>
            <a:r>
              <a:rPr lang="en-US" sz="2000" b="0" i="0" dirty="0">
                <a:solidFill>
                  <a:srgbClr val="000000"/>
                </a:solidFill>
                <a:effectLst/>
                <a:latin typeface="+mj-lt"/>
                <a:cs typeface="Arial" panose="020B0604020202020204" pitchFamily="34" charset="0"/>
              </a:rPr>
              <a:t>Penalty (mean-drop) analysis is used by market researchers and product developers to gain an understanding of the product attributes that most affect liking, purchase interest or any other product-related measure. Product attributes used in penalty analysis are measured with “Just -about-right” (JAR) scales. These are categorical scales in which some points represent “too little” of a particular attribute, some points represent “too much,” and one point represents “Just -about-right” Penalty analysis measures the change in product liking (or any other measure) due to that product having “too much” or “too little” of the attribute of interest.</a:t>
            </a:r>
          </a:p>
          <a:p>
            <a:endParaRPr lang="en-US" sz="2000" dirty="0">
              <a:solidFill>
                <a:srgbClr val="000000"/>
              </a:solidFill>
              <a:latin typeface="+mj-lt"/>
              <a:cs typeface="Arial" panose="020B0604020202020204" pitchFamily="34" charset="0"/>
            </a:endParaRPr>
          </a:p>
          <a:p>
            <a:r>
              <a:rPr lang="en-US" sz="2000" dirty="0">
                <a:latin typeface="+mj-lt"/>
                <a:cs typeface="Arial" panose="020B0604020202020204" pitchFamily="34" charset="0"/>
              </a:rPr>
              <a:t>Penalty analysis is a method used in sensory data analysis to identify potential directions for the improvement of products, on the basis of surveys performed on consumers</a:t>
            </a:r>
            <a:endParaRPr lang="en-US" sz="2000" dirty="0">
              <a:solidFill>
                <a:srgbClr val="000000"/>
              </a:solidFill>
              <a:latin typeface="+mj-lt"/>
              <a:cs typeface="Arial" panose="020B0604020202020204" pitchFamily="34" charset="0"/>
            </a:endParaRPr>
          </a:p>
          <a:p>
            <a:endParaRPr lang="en-US" sz="2000" dirty="0">
              <a:solidFill>
                <a:srgbClr val="000000"/>
              </a:solidFill>
              <a:latin typeface="+mj-lt"/>
              <a:cs typeface="Arial" panose="020B0604020202020204" pitchFamily="34" charset="0"/>
            </a:endParaRPr>
          </a:p>
          <a:p>
            <a:r>
              <a:rPr lang="en-US" sz="2000" dirty="0">
                <a:latin typeface="+mj-lt"/>
                <a:cs typeface="Arial" panose="020B0604020202020204" pitchFamily="34" charset="0"/>
              </a:rPr>
              <a:t>Mean-Drop analysis only done when 20% or more of respondents rate attribute “NOT-JAR”.</a:t>
            </a:r>
            <a:endParaRPr lang="en-US" sz="2000" dirty="0">
              <a:solidFill>
                <a:srgbClr val="000000"/>
              </a:solidFill>
              <a:latin typeface="+mj-lt"/>
              <a:cs typeface="Arial" panose="020B0604020202020204" pitchFamily="34" charset="0"/>
            </a:endParaRPr>
          </a:p>
          <a:p>
            <a:endParaRPr lang="en-US" sz="2000" dirty="0">
              <a:solidFill>
                <a:srgbClr val="000000"/>
              </a:solidFill>
              <a:latin typeface="+mj-lt"/>
              <a:cs typeface="Arial" panose="020B0604020202020204" pitchFamily="34" charset="0"/>
            </a:endParaRPr>
          </a:p>
          <a:p>
            <a:r>
              <a:rPr lang="en-US" sz="2000" dirty="0">
                <a:latin typeface="+mj-lt"/>
                <a:cs typeface="Arial" panose="020B0604020202020204" pitchFamily="34" charset="0"/>
              </a:rPr>
              <a:t>Total Penalty represents the amount the overall liking score would increase if all of the “Not-JAR” respondents moved into the JAR category.</a:t>
            </a:r>
            <a:endParaRPr lang="en-US" sz="2000" dirty="0">
              <a:solidFill>
                <a:srgbClr val="000000"/>
              </a:solidFill>
              <a:latin typeface="+mj-lt"/>
              <a:cs typeface="Arial" panose="020B0604020202020204" pitchFamily="34" charset="0"/>
            </a:endParaRPr>
          </a:p>
          <a:p>
            <a:endParaRPr lang="en-US" sz="2000" dirty="0">
              <a:solidFill>
                <a:srgbClr val="000000"/>
              </a:solidFill>
              <a:latin typeface="+mj-lt"/>
              <a:cs typeface="Arial" panose="020B0604020202020204" pitchFamily="34" charset="0"/>
            </a:endParaRPr>
          </a:p>
          <a:p>
            <a:r>
              <a:rPr lang="en-US" sz="2000" dirty="0">
                <a:latin typeface="+mj-lt"/>
                <a:cs typeface="Arial" panose="020B0604020202020204" pitchFamily="34" charset="0"/>
              </a:rPr>
              <a:t>If the total penalty score =&gt;.25, consider under action level.</a:t>
            </a:r>
            <a:endParaRPr lang="en-IN" sz="2000" dirty="0">
              <a:latin typeface="+mj-lt"/>
              <a:cs typeface="Arial" panose="020B0604020202020204" pitchFamily="34" charset="0"/>
            </a:endParaRPr>
          </a:p>
        </p:txBody>
      </p:sp>
    </p:spTree>
    <p:extLst>
      <p:ext uri="{BB962C8B-B14F-4D97-AF65-F5344CB8AC3E}">
        <p14:creationId xmlns:p14="http://schemas.microsoft.com/office/powerpoint/2010/main" val="4115727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17" name="Chart 16">
            <a:extLst>
              <a:ext uri="{FF2B5EF4-FFF2-40B4-BE49-F238E27FC236}">
                <a16:creationId xmlns:a16="http://schemas.microsoft.com/office/drawing/2014/main" id="{FA0B0BBB-729B-9959-1E21-8CA41C6E7FF5}"/>
              </a:ext>
            </a:extLst>
          </p:cNvPr>
          <p:cNvGraphicFramePr/>
          <p:nvPr>
            <p:extLst>
              <p:ext uri="{D42A27DB-BD31-4B8C-83A1-F6EECF244321}">
                <p14:modId xmlns:p14="http://schemas.microsoft.com/office/powerpoint/2010/main" val="143218662"/>
              </p:ext>
            </p:extLst>
          </p:nvPr>
        </p:nvGraphicFramePr>
        <p:xfrm>
          <a:off x="3173" y="1528763"/>
          <a:ext cx="11592000" cy="4680000"/>
        </p:xfrm>
        <a:graphic>
          <a:graphicData uri="http://schemas.openxmlformats.org/drawingml/2006/chart">
            <c:chart xmlns:c="http://schemas.openxmlformats.org/drawingml/2006/chart" xmlns:r="http://schemas.openxmlformats.org/officeDocument/2006/relationships" r:id="rId2"/>
          </a:graphicData>
        </a:graphic>
      </p:graphicFrame>
      <p:cxnSp>
        <p:nvCxnSpPr>
          <p:cNvPr id="19" name="Straight Connector 18">
            <a:extLst>
              <a:ext uri="{FF2B5EF4-FFF2-40B4-BE49-F238E27FC236}">
                <a16:creationId xmlns:a16="http://schemas.microsoft.com/office/drawing/2014/main" id="{B149502B-85CE-D645-8372-BFDCEBD5DCBD}"/>
              </a:ext>
            </a:extLst>
          </p:cNvPr>
          <p:cNvCxnSpPr/>
          <p:nvPr/>
        </p:nvCxnSpPr>
        <p:spPr>
          <a:xfrm>
            <a:off x="485774" y="4214812"/>
            <a:ext cx="11700000"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F5CE5A-0A67-F9D9-4A50-63AE8FB8E52E}"/>
              </a:ext>
            </a:extLst>
          </p:cNvPr>
          <p:cNvCxnSpPr/>
          <p:nvPr/>
        </p:nvCxnSpPr>
        <p:spPr>
          <a:xfrm>
            <a:off x="481008" y="2381240"/>
            <a:ext cx="11700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7443B98-0EA9-A71C-4FD1-7352FF6357B4}"/>
              </a:ext>
            </a:extLst>
          </p:cNvPr>
          <p:cNvSpPr txBox="1"/>
          <p:nvPr/>
        </p:nvSpPr>
        <p:spPr>
          <a:xfrm rot="16200000">
            <a:off x="11239655" y="5117123"/>
            <a:ext cx="1530484" cy="307777"/>
          </a:xfrm>
          <a:prstGeom prst="rect">
            <a:avLst/>
          </a:prstGeom>
          <a:noFill/>
        </p:spPr>
        <p:txBody>
          <a:bodyPr wrap="none" rtlCol="0">
            <a:spAutoFit/>
          </a:bodyPr>
          <a:lstStyle/>
          <a:p>
            <a:r>
              <a:rPr lang="en-IN" sz="1400" u="sng" dirty="0">
                <a:solidFill>
                  <a:srgbClr val="00B050"/>
                </a:solidFill>
              </a:rPr>
              <a:t>Low Concern Area</a:t>
            </a:r>
          </a:p>
        </p:txBody>
      </p:sp>
      <p:sp>
        <p:nvSpPr>
          <p:cNvPr id="23" name="TextBox 22">
            <a:extLst>
              <a:ext uri="{FF2B5EF4-FFF2-40B4-BE49-F238E27FC236}">
                <a16:creationId xmlns:a16="http://schemas.microsoft.com/office/drawing/2014/main" id="{CC5EBDF0-B7B9-4684-9C1E-530DD2582BAB}"/>
              </a:ext>
            </a:extLst>
          </p:cNvPr>
          <p:cNvSpPr txBox="1"/>
          <p:nvPr/>
        </p:nvSpPr>
        <p:spPr>
          <a:xfrm rot="16200000">
            <a:off x="11369050" y="3212111"/>
            <a:ext cx="1290738" cy="307777"/>
          </a:xfrm>
          <a:prstGeom prst="rect">
            <a:avLst/>
          </a:prstGeom>
          <a:noFill/>
        </p:spPr>
        <p:txBody>
          <a:bodyPr wrap="none" rtlCol="0">
            <a:spAutoFit/>
          </a:bodyPr>
          <a:lstStyle/>
          <a:p>
            <a:r>
              <a:rPr lang="en-IN" sz="1400" u="sng" dirty="0">
                <a:solidFill>
                  <a:srgbClr val="FFC000"/>
                </a:solidFill>
              </a:rPr>
              <a:t>Moderate Area</a:t>
            </a:r>
          </a:p>
        </p:txBody>
      </p:sp>
      <p:sp>
        <p:nvSpPr>
          <p:cNvPr id="24" name="TextBox 23">
            <a:extLst>
              <a:ext uri="{FF2B5EF4-FFF2-40B4-BE49-F238E27FC236}">
                <a16:creationId xmlns:a16="http://schemas.microsoft.com/office/drawing/2014/main" id="{19CB1728-A92E-0369-54A9-7B8FC6E77F57}"/>
              </a:ext>
            </a:extLst>
          </p:cNvPr>
          <p:cNvSpPr txBox="1"/>
          <p:nvPr/>
        </p:nvSpPr>
        <p:spPr>
          <a:xfrm rot="16200000">
            <a:off x="11379203" y="1563147"/>
            <a:ext cx="832279" cy="738664"/>
          </a:xfrm>
          <a:prstGeom prst="rect">
            <a:avLst/>
          </a:prstGeom>
          <a:noFill/>
        </p:spPr>
        <p:txBody>
          <a:bodyPr wrap="none" rtlCol="0">
            <a:spAutoFit/>
          </a:bodyPr>
          <a:lstStyle/>
          <a:p>
            <a:pPr algn="ctr"/>
            <a:r>
              <a:rPr lang="en-IN" sz="1400" u="sng" dirty="0">
                <a:solidFill>
                  <a:srgbClr val="FF0000"/>
                </a:solidFill>
              </a:rPr>
              <a:t>High </a:t>
            </a:r>
          </a:p>
          <a:p>
            <a:pPr algn="ctr"/>
            <a:r>
              <a:rPr lang="en-IN" sz="1400" u="sng" dirty="0">
                <a:solidFill>
                  <a:srgbClr val="FF0000"/>
                </a:solidFill>
              </a:rPr>
              <a:t>Concern </a:t>
            </a:r>
          </a:p>
          <a:p>
            <a:pPr algn="ctr"/>
            <a:r>
              <a:rPr lang="en-IN" sz="1400" u="sng" dirty="0">
                <a:solidFill>
                  <a:srgbClr val="FF0000"/>
                </a:solidFill>
              </a:rPr>
              <a:t>Area</a:t>
            </a:r>
          </a:p>
        </p:txBody>
      </p:sp>
      <p:sp>
        <p:nvSpPr>
          <p:cNvPr id="27" name="Title 1">
            <a:extLst>
              <a:ext uri="{FF2B5EF4-FFF2-40B4-BE49-F238E27FC236}">
                <a16:creationId xmlns:a16="http://schemas.microsoft.com/office/drawing/2014/main" id="{86D9A704-6CD0-B4D2-40D5-3590DEA5B54C}"/>
              </a:ext>
            </a:extLst>
          </p:cNvPr>
          <p:cNvSpPr>
            <a:spLocks noGrp="1"/>
          </p:cNvSpPr>
          <p:nvPr>
            <p:ph type="title"/>
          </p:nvPr>
        </p:nvSpPr>
        <p:spPr>
          <a:xfrm>
            <a:off x="0" y="0"/>
            <a:ext cx="12192000" cy="749300"/>
          </a:xfrm>
          <a:solidFill>
            <a:srgbClr val="002060"/>
          </a:solidFill>
        </p:spPr>
        <p:txBody>
          <a:bodyPr anchor="ctr">
            <a:normAutofit/>
          </a:bodyPr>
          <a:lstStyle/>
          <a:p>
            <a:r>
              <a:rPr lang="en-US" sz="3200" b="1" dirty="0">
                <a:solidFill>
                  <a:schemeClr val="bg1"/>
                </a:solidFill>
              </a:rPr>
              <a:t>Mean Drop Penalty Analysis : Impact on Overall likeability (F 18)</a:t>
            </a:r>
            <a:endParaRPr lang="en-IN" sz="3200" b="1" dirty="0">
              <a:solidFill>
                <a:schemeClr val="bg1"/>
              </a:solidFill>
            </a:endParaRPr>
          </a:p>
        </p:txBody>
      </p:sp>
      <p:sp>
        <p:nvSpPr>
          <p:cNvPr id="2" name="TextBox 1">
            <a:extLst>
              <a:ext uri="{FF2B5EF4-FFF2-40B4-BE49-F238E27FC236}">
                <a16:creationId xmlns:a16="http://schemas.microsoft.com/office/drawing/2014/main" id="{96E3C618-BFCF-FF50-1815-DEA1125C281E}"/>
              </a:ext>
            </a:extLst>
          </p:cNvPr>
          <p:cNvSpPr txBox="1"/>
          <p:nvPr/>
        </p:nvSpPr>
        <p:spPr>
          <a:xfrm>
            <a:off x="-14288" y="6463390"/>
            <a:ext cx="3042821" cy="246221"/>
          </a:xfrm>
          <a:prstGeom prst="rect">
            <a:avLst/>
          </a:prstGeom>
          <a:noFill/>
        </p:spPr>
        <p:txBody>
          <a:bodyPr wrap="none" rtlCol="0">
            <a:spAutoFit/>
          </a:bodyPr>
          <a:lstStyle/>
          <a:p>
            <a:r>
              <a:rPr lang="en-IN" sz="1000" i="1" dirty="0">
                <a:solidFill>
                  <a:schemeClr val="bg1">
                    <a:lumMod val="50000"/>
                  </a:schemeClr>
                </a:solidFill>
              </a:rPr>
              <a:t>Note: Mean drop penalty analysis done for product F 18</a:t>
            </a:r>
          </a:p>
        </p:txBody>
      </p:sp>
      <p:sp>
        <p:nvSpPr>
          <p:cNvPr id="3" name="TextBox 2">
            <a:extLst>
              <a:ext uri="{FF2B5EF4-FFF2-40B4-BE49-F238E27FC236}">
                <a16:creationId xmlns:a16="http://schemas.microsoft.com/office/drawing/2014/main" id="{6A5ED079-C5AD-DAD5-3BA6-D779E0818362}"/>
              </a:ext>
            </a:extLst>
          </p:cNvPr>
          <p:cNvSpPr txBox="1"/>
          <p:nvPr/>
        </p:nvSpPr>
        <p:spPr>
          <a:xfrm>
            <a:off x="5429253" y="800094"/>
            <a:ext cx="1829540" cy="369332"/>
          </a:xfrm>
          <a:prstGeom prst="rect">
            <a:avLst/>
          </a:prstGeom>
          <a:noFill/>
        </p:spPr>
        <p:txBody>
          <a:bodyPr wrap="none" rtlCol="0">
            <a:spAutoFit/>
          </a:bodyPr>
          <a:lstStyle/>
          <a:p>
            <a:r>
              <a:rPr lang="en-US" dirty="0">
                <a:solidFill>
                  <a:schemeClr val="bg1">
                    <a:lumMod val="50000"/>
                  </a:schemeClr>
                </a:solidFill>
              </a:rPr>
              <a:t>Combined Center</a:t>
            </a:r>
            <a:endParaRPr lang="en-IN" dirty="0">
              <a:solidFill>
                <a:schemeClr val="bg1">
                  <a:lumMod val="50000"/>
                </a:schemeClr>
              </a:solidFill>
            </a:endParaRPr>
          </a:p>
        </p:txBody>
      </p:sp>
      <p:sp>
        <p:nvSpPr>
          <p:cNvPr id="4" name="TextBox 3">
            <a:extLst>
              <a:ext uri="{FF2B5EF4-FFF2-40B4-BE49-F238E27FC236}">
                <a16:creationId xmlns:a16="http://schemas.microsoft.com/office/drawing/2014/main" id="{9A80D577-5A60-914A-15E0-BA2562A90B55}"/>
              </a:ext>
            </a:extLst>
          </p:cNvPr>
          <p:cNvSpPr txBox="1"/>
          <p:nvPr/>
        </p:nvSpPr>
        <p:spPr>
          <a:xfrm>
            <a:off x="3186120" y="1269439"/>
            <a:ext cx="5976316" cy="400110"/>
          </a:xfrm>
          <a:prstGeom prst="rect">
            <a:avLst/>
          </a:prstGeom>
          <a:noFill/>
        </p:spPr>
        <p:txBody>
          <a:bodyPr wrap="none" rtlCol="0">
            <a:spAutoFit/>
          </a:bodyPr>
          <a:lstStyle/>
          <a:p>
            <a:r>
              <a:rPr lang="en-US" sz="2000" dirty="0">
                <a:solidFill>
                  <a:srgbClr val="002060"/>
                </a:solidFill>
              </a:rPr>
              <a:t>No penalty score has been registered for any attributes.</a:t>
            </a:r>
            <a:endParaRPr lang="en-IN" sz="2000" dirty="0">
              <a:solidFill>
                <a:srgbClr val="002060"/>
              </a:solidFill>
            </a:endParaRPr>
          </a:p>
        </p:txBody>
      </p:sp>
    </p:spTree>
    <p:extLst>
      <p:ext uri="{BB962C8B-B14F-4D97-AF65-F5344CB8AC3E}">
        <p14:creationId xmlns:p14="http://schemas.microsoft.com/office/powerpoint/2010/main" val="2027244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7" name="Chart 16">
            <a:extLst>
              <a:ext uri="{FF2B5EF4-FFF2-40B4-BE49-F238E27FC236}">
                <a16:creationId xmlns:a16="http://schemas.microsoft.com/office/drawing/2014/main" id="{FA0B0BBB-729B-9959-1E21-8CA41C6E7FF5}"/>
              </a:ext>
            </a:extLst>
          </p:cNvPr>
          <p:cNvGraphicFramePr/>
          <p:nvPr>
            <p:extLst>
              <p:ext uri="{D42A27DB-BD31-4B8C-83A1-F6EECF244321}">
                <p14:modId xmlns:p14="http://schemas.microsoft.com/office/powerpoint/2010/main" val="1340260106"/>
              </p:ext>
            </p:extLst>
          </p:nvPr>
        </p:nvGraphicFramePr>
        <p:xfrm>
          <a:off x="3173" y="1528763"/>
          <a:ext cx="11592000" cy="4680000"/>
        </p:xfrm>
        <a:graphic>
          <a:graphicData uri="http://schemas.openxmlformats.org/drawingml/2006/chart">
            <c:chart xmlns:c="http://schemas.openxmlformats.org/drawingml/2006/chart" xmlns:r="http://schemas.openxmlformats.org/officeDocument/2006/relationships" r:id="rId2"/>
          </a:graphicData>
        </a:graphic>
      </p:graphicFrame>
      <p:cxnSp>
        <p:nvCxnSpPr>
          <p:cNvPr id="19" name="Straight Connector 18">
            <a:extLst>
              <a:ext uri="{FF2B5EF4-FFF2-40B4-BE49-F238E27FC236}">
                <a16:creationId xmlns:a16="http://schemas.microsoft.com/office/drawing/2014/main" id="{B149502B-85CE-D645-8372-BFDCEBD5DCBD}"/>
              </a:ext>
            </a:extLst>
          </p:cNvPr>
          <p:cNvCxnSpPr/>
          <p:nvPr/>
        </p:nvCxnSpPr>
        <p:spPr>
          <a:xfrm>
            <a:off x="485774" y="4214812"/>
            <a:ext cx="11700000"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F5CE5A-0A67-F9D9-4A50-63AE8FB8E52E}"/>
              </a:ext>
            </a:extLst>
          </p:cNvPr>
          <p:cNvCxnSpPr/>
          <p:nvPr/>
        </p:nvCxnSpPr>
        <p:spPr>
          <a:xfrm>
            <a:off x="481008" y="2381240"/>
            <a:ext cx="11700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7443B98-0EA9-A71C-4FD1-7352FF6357B4}"/>
              </a:ext>
            </a:extLst>
          </p:cNvPr>
          <p:cNvSpPr txBox="1"/>
          <p:nvPr/>
        </p:nvSpPr>
        <p:spPr>
          <a:xfrm rot="16200000">
            <a:off x="11239655" y="5117123"/>
            <a:ext cx="1530484" cy="307777"/>
          </a:xfrm>
          <a:prstGeom prst="rect">
            <a:avLst/>
          </a:prstGeom>
          <a:noFill/>
        </p:spPr>
        <p:txBody>
          <a:bodyPr wrap="none" rtlCol="0">
            <a:spAutoFit/>
          </a:bodyPr>
          <a:lstStyle/>
          <a:p>
            <a:r>
              <a:rPr lang="en-IN" sz="1400" u="sng" dirty="0">
                <a:solidFill>
                  <a:srgbClr val="00B050"/>
                </a:solidFill>
              </a:rPr>
              <a:t>Low Concern Area</a:t>
            </a:r>
          </a:p>
        </p:txBody>
      </p:sp>
      <p:sp>
        <p:nvSpPr>
          <p:cNvPr id="23" name="TextBox 22">
            <a:extLst>
              <a:ext uri="{FF2B5EF4-FFF2-40B4-BE49-F238E27FC236}">
                <a16:creationId xmlns:a16="http://schemas.microsoft.com/office/drawing/2014/main" id="{CC5EBDF0-B7B9-4684-9C1E-530DD2582BAB}"/>
              </a:ext>
            </a:extLst>
          </p:cNvPr>
          <p:cNvSpPr txBox="1"/>
          <p:nvPr/>
        </p:nvSpPr>
        <p:spPr>
          <a:xfrm rot="16200000">
            <a:off x="11369050" y="3212111"/>
            <a:ext cx="1290738" cy="307777"/>
          </a:xfrm>
          <a:prstGeom prst="rect">
            <a:avLst/>
          </a:prstGeom>
          <a:noFill/>
        </p:spPr>
        <p:txBody>
          <a:bodyPr wrap="none" rtlCol="0">
            <a:spAutoFit/>
          </a:bodyPr>
          <a:lstStyle/>
          <a:p>
            <a:r>
              <a:rPr lang="en-IN" sz="1400" u="sng" dirty="0">
                <a:solidFill>
                  <a:srgbClr val="FFC000"/>
                </a:solidFill>
              </a:rPr>
              <a:t>Moderate Area</a:t>
            </a:r>
          </a:p>
        </p:txBody>
      </p:sp>
      <p:sp>
        <p:nvSpPr>
          <p:cNvPr id="24" name="TextBox 23">
            <a:extLst>
              <a:ext uri="{FF2B5EF4-FFF2-40B4-BE49-F238E27FC236}">
                <a16:creationId xmlns:a16="http://schemas.microsoft.com/office/drawing/2014/main" id="{19CB1728-A92E-0369-54A9-7B8FC6E77F57}"/>
              </a:ext>
            </a:extLst>
          </p:cNvPr>
          <p:cNvSpPr txBox="1"/>
          <p:nvPr/>
        </p:nvSpPr>
        <p:spPr>
          <a:xfrm rot="16200000">
            <a:off x="11379203" y="1563147"/>
            <a:ext cx="832279" cy="738664"/>
          </a:xfrm>
          <a:prstGeom prst="rect">
            <a:avLst/>
          </a:prstGeom>
          <a:noFill/>
        </p:spPr>
        <p:txBody>
          <a:bodyPr wrap="none" rtlCol="0">
            <a:spAutoFit/>
          </a:bodyPr>
          <a:lstStyle/>
          <a:p>
            <a:pPr algn="ctr"/>
            <a:r>
              <a:rPr lang="en-IN" sz="1400" u="sng" dirty="0">
                <a:solidFill>
                  <a:srgbClr val="FF0000"/>
                </a:solidFill>
              </a:rPr>
              <a:t>High </a:t>
            </a:r>
          </a:p>
          <a:p>
            <a:pPr algn="ctr"/>
            <a:r>
              <a:rPr lang="en-IN" sz="1400" u="sng" dirty="0">
                <a:solidFill>
                  <a:srgbClr val="FF0000"/>
                </a:solidFill>
              </a:rPr>
              <a:t>Concern </a:t>
            </a:r>
          </a:p>
          <a:p>
            <a:pPr algn="ctr"/>
            <a:r>
              <a:rPr lang="en-IN" sz="1400" u="sng" dirty="0">
                <a:solidFill>
                  <a:srgbClr val="FF0000"/>
                </a:solidFill>
              </a:rPr>
              <a:t>Area</a:t>
            </a:r>
          </a:p>
        </p:txBody>
      </p:sp>
      <p:sp>
        <p:nvSpPr>
          <p:cNvPr id="3" name="Rectangle 2">
            <a:extLst>
              <a:ext uri="{FF2B5EF4-FFF2-40B4-BE49-F238E27FC236}">
                <a16:creationId xmlns:a16="http://schemas.microsoft.com/office/drawing/2014/main" id="{2B86FEDA-9F14-EB4A-9938-992060819C30}"/>
              </a:ext>
            </a:extLst>
          </p:cNvPr>
          <p:cNvSpPr/>
          <p:nvPr/>
        </p:nvSpPr>
        <p:spPr>
          <a:xfrm>
            <a:off x="500060" y="6045777"/>
            <a:ext cx="2844000" cy="366428"/>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Bite</a:t>
            </a:r>
          </a:p>
        </p:txBody>
      </p:sp>
      <p:sp>
        <p:nvSpPr>
          <p:cNvPr id="5" name="Rectangle 4">
            <a:extLst>
              <a:ext uri="{FF2B5EF4-FFF2-40B4-BE49-F238E27FC236}">
                <a16:creationId xmlns:a16="http://schemas.microsoft.com/office/drawing/2014/main" id="{ED488025-4FA6-D646-9CDE-B9C92621014F}"/>
              </a:ext>
            </a:extLst>
          </p:cNvPr>
          <p:cNvSpPr/>
          <p:nvPr/>
        </p:nvSpPr>
        <p:spPr>
          <a:xfrm>
            <a:off x="5853118" y="6045777"/>
            <a:ext cx="2412000" cy="3744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Sweetness</a:t>
            </a:r>
          </a:p>
        </p:txBody>
      </p:sp>
      <p:sp>
        <p:nvSpPr>
          <p:cNvPr id="6" name="Rectangle 5">
            <a:extLst>
              <a:ext uri="{FF2B5EF4-FFF2-40B4-BE49-F238E27FC236}">
                <a16:creationId xmlns:a16="http://schemas.microsoft.com/office/drawing/2014/main" id="{E8671831-7621-A1BD-6FFC-C19CCB9A59C1}"/>
              </a:ext>
            </a:extLst>
          </p:cNvPr>
          <p:cNvSpPr/>
          <p:nvPr/>
        </p:nvSpPr>
        <p:spPr>
          <a:xfrm>
            <a:off x="8277240" y="6041011"/>
            <a:ext cx="3148770" cy="3744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Bitterness</a:t>
            </a:r>
          </a:p>
        </p:txBody>
      </p:sp>
      <p:sp>
        <p:nvSpPr>
          <p:cNvPr id="10" name="Title 1">
            <a:extLst>
              <a:ext uri="{FF2B5EF4-FFF2-40B4-BE49-F238E27FC236}">
                <a16:creationId xmlns:a16="http://schemas.microsoft.com/office/drawing/2014/main" id="{A1F66898-7ADC-74FE-3278-63E9A42144D7}"/>
              </a:ext>
            </a:extLst>
          </p:cNvPr>
          <p:cNvSpPr>
            <a:spLocks noGrp="1"/>
          </p:cNvSpPr>
          <p:nvPr>
            <p:ph type="title"/>
          </p:nvPr>
        </p:nvSpPr>
        <p:spPr>
          <a:xfrm>
            <a:off x="0" y="0"/>
            <a:ext cx="12192000" cy="749300"/>
          </a:xfrm>
          <a:solidFill>
            <a:srgbClr val="002060"/>
          </a:solidFill>
        </p:spPr>
        <p:txBody>
          <a:bodyPr anchor="ctr">
            <a:normAutofit fontScale="90000"/>
          </a:bodyPr>
          <a:lstStyle/>
          <a:p>
            <a:r>
              <a:rPr lang="en-US" sz="3200" b="1" dirty="0">
                <a:solidFill>
                  <a:schemeClr val="bg1"/>
                </a:solidFill>
              </a:rPr>
              <a:t>Mean Drop Penalty Analysis: Impact on respective likeability attributes (F 18)</a:t>
            </a:r>
            <a:endParaRPr lang="en-IN" sz="3200" b="1" dirty="0">
              <a:solidFill>
                <a:schemeClr val="bg1"/>
              </a:solidFill>
            </a:endParaRPr>
          </a:p>
        </p:txBody>
      </p:sp>
      <p:sp>
        <p:nvSpPr>
          <p:cNvPr id="2" name="TextBox 1">
            <a:extLst>
              <a:ext uri="{FF2B5EF4-FFF2-40B4-BE49-F238E27FC236}">
                <a16:creationId xmlns:a16="http://schemas.microsoft.com/office/drawing/2014/main" id="{E30516A9-3284-16B4-A4B3-1C023B08A47C}"/>
              </a:ext>
            </a:extLst>
          </p:cNvPr>
          <p:cNvSpPr txBox="1"/>
          <p:nvPr/>
        </p:nvSpPr>
        <p:spPr>
          <a:xfrm>
            <a:off x="-14288" y="6463390"/>
            <a:ext cx="3042821" cy="246221"/>
          </a:xfrm>
          <a:prstGeom prst="rect">
            <a:avLst/>
          </a:prstGeom>
          <a:noFill/>
        </p:spPr>
        <p:txBody>
          <a:bodyPr wrap="none" rtlCol="0">
            <a:spAutoFit/>
          </a:bodyPr>
          <a:lstStyle/>
          <a:p>
            <a:r>
              <a:rPr lang="en-IN" sz="1000" i="1" dirty="0">
                <a:solidFill>
                  <a:schemeClr val="bg1">
                    <a:lumMod val="50000"/>
                  </a:schemeClr>
                </a:solidFill>
              </a:rPr>
              <a:t>Note: Mean drop penalty analysis done for product F 18</a:t>
            </a:r>
          </a:p>
        </p:txBody>
      </p:sp>
      <p:sp>
        <p:nvSpPr>
          <p:cNvPr id="4" name="TextBox 3">
            <a:extLst>
              <a:ext uri="{FF2B5EF4-FFF2-40B4-BE49-F238E27FC236}">
                <a16:creationId xmlns:a16="http://schemas.microsoft.com/office/drawing/2014/main" id="{FC0ECFF9-7765-62EA-EB1F-404B2CFCFC9D}"/>
              </a:ext>
            </a:extLst>
          </p:cNvPr>
          <p:cNvSpPr txBox="1"/>
          <p:nvPr/>
        </p:nvSpPr>
        <p:spPr>
          <a:xfrm>
            <a:off x="5429253" y="800094"/>
            <a:ext cx="1829540" cy="369332"/>
          </a:xfrm>
          <a:prstGeom prst="rect">
            <a:avLst/>
          </a:prstGeom>
          <a:noFill/>
        </p:spPr>
        <p:txBody>
          <a:bodyPr wrap="none" rtlCol="0">
            <a:spAutoFit/>
          </a:bodyPr>
          <a:lstStyle/>
          <a:p>
            <a:r>
              <a:rPr lang="en-US" dirty="0">
                <a:solidFill>
                  <a:schemeClr val="bg1">
                    <a:lumMod val="50000"/>
                  </a:schemeClr>
                </a:solidFill>
              </a:rPr>
              <a:t>Combined Center</a:t>
            </a:r>
            <a:endParaRPr lang="en-IN" dirty="0">
              <a:solidFill>
                <a:schemeClr val="bg1">
                  <a:lumMod val="50000"/>
                </a:schemeClr>
              </a:solidFill>
            </a:endParaRPr>
          </a:p>
        </p:txBody>
      </p:sp>
      <p:sp>
        <p:nvSpPr>
          <p:cNvPr id="8" name="Rectangle 7">
            <a:extLst>
              <a:ext uri="{FF2B5EF4-FFF2-40B4-BE49-F238E27FC236}">
                <a16:creationId xmlns:a16="http://schemas.microsoft.com/office/drawing/2014/main" id="{F1AF188F-FA07-FCA1-B360-6E64395FFF08}"/>
              </a:ext>
            </a:extLst>
          </p:cNvPr>
          <p:cNvSpPr/>
          <p:nvPr/>
        </p:nvSpPr>
        <p:spPr>
          <a:xfrm>
            <a:off x="3338528" y="6041010"/>
            <a:ext cx="2520000" cy="366428"/>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Moistness</a:t>
            </a:r>
          </a:p>
        </p:txBody>
      </p:sp>
      <p:sp>
        <p:nvSpPr>
          <p:cNvPr id="9" name="TextBox 8">
            <a:extLst>
              <a:ext uri="{FF2B5EF4-FFF2-40B4-BE49-F238E27FC236}">
                <a16:creationId xmlns:a16="http://schemas.microsoft.com/office/drawing/2014/main" id="{60E45699-0AA7-D051-BA96-EB505F842909}"/>
              </a:ext>
            </a:extLst>
          </p:cNvPr>
          <p:cNvSpPr txBox="1"/>
          <p:nvPr/>
        </p:nvSpPr>
        <p:spPr>
          <a:xfrm>
            <a:off x="3186120" y="1269439"/>
            <a:ext cx="5976316" cy="400110"/>
          </a:xfrm>
          <a:prstGeom prst="rect">
            <a:avLst/>
          </a:prstGeom>
          <a:noFill/>
        </p:spPr>
        <p:txBody>
          <a:bodyPr wrap="none" rtlCol="0">
            <a:spAutoFit/>
          </a:bodyPr>
          <a:lstStyle/>
          <a:p>
            <a:r>
              <a:rPr lang="en-US" sz="2000" dirty="0">
                <a:solidFill>
                  <a:srgbClr val="002060"/>
                </a:solidFill>
              </a:rPr>
              <a:t>No penalty score has been registered for any attributes.</a:t>
            </a:r>
            <a:endParaRPr lang="en-IN" sz="2000" dirty="0">
              <a:solidFill>
                <a:srgbClr val="002060"/>
              </a:solidFill>
            </a:endParaRPr>
          </a:p>
        </p:txBody>
      </p:sp>
    </p:spTree>
    <p:extLst>
      <p:ext uri="{BB962C8B-B14F-4D97-AF65-F5344CB8AC3E}">
        <p14:creationId xmlns:p14="http://schemas.microsoft.com/office/powerpoint/2010/main" val="323893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17" name="Chart 16">
            <a:extLst>
              <a:ext uri="{FF2B5EF4-FFF2-40B4-BE49-F238E27FC236}">
                <a16:creationId xmlns:a16="http://schemas.microsoft.com/office/drawing/2014/main" id="{FA0B0BBB-729B-9959-1E21-8CA41C6E7FF5}"/>
              </a:ext>
            </a:extLst>
          </p:cNvPr>
          <p:cNvGraphicFramePr/>
          <p:nvPr>
            <p:extLst>
              <p:ext uri="{D42A27DB-BD31-4B8C-83A1-F6EECF244321}">
                <p14:modId xmlns:p14="http://schemas.microsoft.com/office/powerpoint/2010/main" val="3445602112"/>
              </p:ext>
            </p:extLst>
          </p:nvPr>
        </p:nvGraphicFramePr>
        <p:xfrm>
          <a:off x="3173" y="1528763"/>
          <a:ext cx="11592000" cy="4680000"/>
        </p:xfrm>
        <a:graphic>
          <a:graphicData uri="http://schemas.openxmlformats.org/drawingml/2006/chart">
            <c:chart xmlns:c="http://schemas.openxmlformats.org/drawingml/2006/chart" xmlns:r="http://schemas.openxmlformats.org/officeDocument/2006/relationships" r:id="rId2"/>
          </a:graphicData>
        </a:graphic>
      </p:graphicFrame>
      <p:cxnSp>
        <p:nvCxnSpPr>
          <p:cNvPr id="19" name="Straight Connector 18">
            <a:extLst>
              <a:ext uri="{FF2B5EF4-FFF2-40B4-BE49-F238E27FC236}">
                <a16:creationId xmlns:a16="http://schemas.microsoft.com/office/drawing/2014/main" id="{B149502B-85CE-D645-8372-BFDCEBD5DCBD}"/>
              </a:ext>
            </a:extLst>
          </p:cNvPr>
          <p:cNvCxnSpPr/>
          <p:nvPr/>
        </p:nvCxnSpPr>
        <p:spPr>
          <a:xfrm>
            <a:off x="485774" y="4000496"/>
            <a:ext cx="11700000"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F5CE5A-0A67-F9D9-4A50-63AE8FB8E52E}"/>
              </a:ext>
            </a:extLst>
          </p:cNvPr>
          <p:cNvCxnSpPr/>
          <p:nvPr/>
        </p:nvCxnSpPr>
        <p:spPr>
          <a:xfrm>
            <a:off x="481008" y="2324088"/>
            <a:ext cx="11700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7443B98-0EA9-A71C-4FD1-7352FF6357B4}"/>
              </a:ext>
            </a:extLst>
          </p:cNvPr>
          <p:cNvSpPr txBox="1"/>
          <p:nvPr/>
        </p:nvSpPr>
        <p:spPr>
          <a:xfrm rot="16200000">
            <a:off x="11239655" y="5117123"/>
            <a:ext cx="1530484" cy="307777"/>
          </a:xfrm>
          <a:prstGeom prst="rect">
            <a:avLst/>
          </a:prstGeom>
          <a:noFill/>
        </p:spPr>
        <p:txBody>
          <a:bodyPr wrap="none" rtlCol="0">
            <a:spAutoFit/>
          </a:bodyPr>
          <a:lstStyle/>
          <a:p>
            <a:r>
              <a:rPr lang="en-IN" sz="1400" u="sng" dirty="0">
                <a:solidFill>
                  <a:srgbClr val="00B050"/>
                </a:solidFill>
              </a:rPr>
              <a:t>Low Concern Area</a:t>
            </a:r>
          </a:p>
        </p:txBody>
      </p:sp>
      <p:sp>
        <p:nvSpPr>
          <p:cNvPr id="23" name="TextBox 22">
            <a:extLst>
              <a:ext uri="{FF2B5EF4-FFF2-40B4-BE49-F238E27FC236}">
                <a16:creationId xmlns:a16="http://schemas.microsoft.com/office/drawing/2014/main" id="{CC5EBDF0-B7B9-4684-9C1E-530DD2582BAB}"/>
              </a:ext>
            </a:extLst>
          </p:cNvPr>
          <p:cNvSpPr txBox="1"/>
          <p:nvPr/>
        </p:nvSpPr>
        <p:spPr>
          <a:xfrm rot="16200000">
            <a:off x="11369050" y="3212111"/>
            <a:ext cx="1290738" cy="307777"/>
          </a:xfrm>
          <a:prstGeom prst="rect">
            <a:avLst/>
          </a:prstGeom>
          <a:noFill/>
        </p:spPr>
        <p:txBody>
          <a:bodyPr wrap="none" rtlCol="0">
            <a:spAutoFit/>
          </a:bodyPr>
          <a:lstStyle/>
          <a:p>
            <a:r>
              <a:rPr lang="en-IN" sz="1400" u="sng" dirty="0">
                <a:solidFill>
                  <a:srgbClr val="FFC000"/>
                </a:solidFill>
              </a:rPr>
              <a:t>Moderate Area</a:t>
            </a:r>
          </a:p>
        </p:txBody>
      </p:sp>
      <p:sp>
        <p:nvSpPr>
          <p:cNvPr id="24" name="TextBox 23">
            <a:extLst>
              <a:ext uri="{FF2B5EF4-FFF2-40B4-BE49-F238E27FC236}">
                <a16:creationId xmlns:a16="http://schemas.microsoft.com/office/drawing/2014/main" id="{19CB1728-A92E-0369-54A9-7B8FC6E77F57}"/>
              </a:ext>
            </a:extLst>
          </p:cNvPr>
          <p:cNvSpPr txBox="1"/>
          <p:nvPr/>
        </p:nvSpPr>
        <p:spPr>
          <a:xfrm rot="16200000">
            <a:off x="11379203" y="1563147"/>
            <a:ext cx="832279" cy="738664"/>
          </a:xfrm>
          <a:prstGeom prst="rect">
            <a:avLst/>
          </a:prstGeom>
          <a:noFill/>
        </p:spPr>
        <p:txBody>
          <a:bodyPr wrap="none" rtlCol="0">
            <a:spAutoFit/>
          </a:bodyPr>
          <a:lstStyle/>
          <a:p>
            <a:pPr algn="ctr"/>
            <a:r>
              <a:rPr lang="en-IN" sz="1400" u="sng" dirty="0">
                <a:solidFill>
                  <a:srgbClr val="FF0000"/>
                </a:solidFill>
              </a:rPr>
              <a:t>High </a:t>
            </a:r>
          </a:p>
          <a:p>
            <a:pPr algn="ctr"/>
            <a:r>
              <a:rPr lang="en-IN" sz="1400" u="sng" dirty="0">
                <a:solidFill>
                  <a:srgbClr val="FF0000"/>
                </a:solidFill>
              </a:rPr>
              <a:t>Concern </a:t>
            </a:r>
          </a:p>
          <a:p>
            <a:pPr algn="ctr"/>
            <a:r>
              <a:rPr lang="en-IN" sz="1400" u="sng" dirty="0">
                <a:solidFill>
                  <a:srgbClr val="FF0000"/>
                </a:solidFill>
              </a:rPr>
              <a:t>Area</a:t>
            </a:r>
          </a:p>
        </p:txBody>
      </p:sp>
      <p:sp>
        <p:nvSpPr>
          <p:cNvPr id="27" name="Title 1">
            <a:extLst>
              <a:ext uri="{FF2B5EF4-FFF2-40B4-BE49-F238E27FC236}">
                <a16:creationId xmlns:a16="http://schemas.microsoft.com/office/drawing/2014/main" id="{86D9A704-6CD0-B4D2-40D5-3590DEA5B54C}"/>
              </a:ext>
            </a:extLst>
          </p:cNvPr>
          <p:cNvSpPr>
            <a:spLocks noGrp="1"/>
          </p:cNvSpPr>
          <p:nvPr>
            <p:ph type="title"/>
          </p:nvPr>
        </p:nvSpPr>
        <p:spPr>
          <a:xfrm>
            <a:off x="0" y="0"/>
            <a:ext cx="12192000" cy="749300"/>
          </a:xfrm>
          <a:solidFill>
            <a:srgbClr val="002060"/>
          </a:solidFill>
        </p:spPr>
        <p:txBody>
          <a:bodyPr anchor="ctr">
            <a:normAutofit/>
          </a:bodyPr>
          <a:lstStyle/>
          <a:p>
            <a:r>
              <a:rPr lang="en-US" sz="3200" b="1" dirty="0">
                <a:solidFill>
                  <a:schemeClr val="bg1"/>
                </a:solidFill>
              </a:rPr>
              <a:t>Mean Drop Penalty Analysis : Impact on Overall likeability (F 18)</a:t>
            </a:r>
            <a:endParaRPr lang="en-IN" sz="3200" b="1" dirty="0">
              <a:solidFill>
                <a:schemeClr val="bg1"/>
              </a:solidFill>
            </a:endParaRPr>
          </a:p>
        </p:txBody>
      </p:sp>
      <p:sp>
        <p:nvSpPr>
          <p:cNvPr id="2" name="TextBox 1">
            <a:extLst>
              <a:ext uri="{FF2B5EF4-FFF2-40B4-BE49-F238E27FC236}">
                <a16:creationId xmlns:a16="http://schemas.microsoft.com/office/drawing/2014/main" id="{96E3C618-BFCF-FF50-1815-DEA1125C281E}"/>
              </a:ext>
            </a:extLst>
          </p:cNvPr>
          <p:cNvSpPr txBox="1"/>
          <p:nvPr/>
        </p:nvSpPr>
        <p:spPr>
          <a:xfrm>
            <a:off x="-14288" y="6463390"/>
            <a:ext cx="3042821" cy="246221"/>
          </a:xfrm>
          <a:prstGeom prst="rect">
            <a:avLst/>
          </a:prstGeom>
          <a:noFill/>
        </p:spPr>
        <p:txBody>
          <a:bodyPr wrap="none" rtlCol="0">
            <a:spAutoFit/>
          </a:bodyPr>
          <a:lstStyle/>
          <a:p>
            <a:r>
              <a:rPr lang="en-IN" sz="1000" i="1" dirty="0">
                <a:solidFill>
                  <a:schemeClr val="bg1">
                    <a:lumMod val="50000"/>
                  </a:schemeClr>
                </a:solidFill>
              </a:rPr>
              <a:t>Note: Mean drop penalty analysis done for product F 18</a:t>
            </a:r>
          </a:p>
        </p:txBody>
      </p:sp>
      <p:sp>
        <p:nvSpPr>
          <p:cNvPr id="3" name="TextBox 2">
            <a:extLst>
              <a:ext uri="{FF2B5EF4-FFF2-40B4-BE49-F238E27FC236}">
                <a16:creationId xmlns:a16="http://schemas.microsoft.com/office/drawing/2014/main" id="{0611DE19-691E-BDE5-A4BE-92D73D67E465}"/>
              </a:ext>
            </a:extLst>
          </p:cNvPr>
          <p:cNvSpPr txBox="1"/>
          <p:nvPr/>
        </p:nvSpPr>
        <p:spPr>
          <a:xfrm>
            <a:off x="5472117" y="800094"/>
            <a:ext cx="973343" cy="369332"/>
          </a:xfrm>
          <a:prstGeom prst="rect">
            <a:avLst/>
          </a:prstGeom>
          <a:noFill/>
        </p:spPr>
        <p:txBody>
          <a:bodyPr wrap="none" rtlCol="0">
            <a:spAutoFit/>
          </a:bodyPr>
          <a:lstStyle/>
          <a:p>
            <a:r>
              <a:rPr lang="en-US" dirty="0">
                <a:solidFill>
                  <a:schemeClr val="bg1">
                    <a:lumMod val="50000"/>
                  </a:schemeClr>
                </a:solidFill>
              </a:rPr>
              <a:t>Mumbai</a:t>
            </a:r>
            <a:endParaRPr lang="en-IN" dirty="0">
              <a:solidFill>
                <a:schemeClr val="bg1">
                  <a:lumMod val="50000"/>
                </a:schemeClr>
              </a:solidFill>
            </a:endParaRPr>
          </a:p>
        </p:txBody>
      </p:sp>
      <p:sp>
        <p:nvSpPr>
          <p:cNvPr id="4" name="Oval 3">
            <a:extLst>
              <a:ext uri="{FF2B5EF4-FFF2-40B4-BE49-F238E27FC236}">
                <a16:creationId xmlns:a16="http://schemas.microsoft.com/office/drawing/2014/main" id="{6BC468D4-FA58-A0C0-0A4B-2FA485508D04}"/>
              </a:ext>
            </a:extLst>
          </p:cNvPr>
          <p:cNvSpPr/>
          <p:nvPr/>
        </p:nvSpPr>
        <p:spPr>
          <a:xfrm>
            <a:off x="9401170" y="3114673"/>
            <a:ext cx="2036835" cy="1057275"/>
          </a:xfrm>
          <a:prstGeom prst="ellipse">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1E99C84-8BD6-3B51-F79E-08EE6A55747E}"/>
              </a:ext>
            </a:extLst>
          </p:cNvPr>
          <p:cNvSpPr txBox="1"/>
          <p:nvPr/>
        </p:nvSpPr>
        <p:spPr>
          <a:xfrm>
            <a:off x="2300286" y="1269439"/>
            <a:ext cx="8089266" cy="400110"/>
          </a:xfrm>
          <a:prstGeom prst="rect">
            <a:avLst/>
          </a:prstGeom>
          <a:noFill/>
        </p:spPr>
        <p:txBody>
          <a:bodyPr wrap="none" rtlCol="0">
            <a:spAutoFit/>
          </a:bodyPr>
          <a:lstStyle/>
          <a:p>
            <a:r>
              <a:rPr lang="en-US" sz="2000" dirty="0">
                <a:solidFill>
                  <a:srgbClr val="002060"/>
                </a:solidFill>
              </a:rPr>
              <a:t>Too bitterness falls under the risk area and suggested an action plan further.</a:t>
            </a:r>
            <a:endParaRPr lang="en-IN" sz="2000" dirty="0">
              <a:solidFill>
                <a:srgbClr val="002060"/>
              </a:solidFill>
            </a:endParaRPr>
          </a:p>
        </p:txBody>
      </p:sp>
    </p:spTree>
    <p:extLst>
      <p:ext uri="{BB962C8B-B14F-4D97-AF65-F5344CB8AC3E}">
        <p14:creationId xmlns:p14="http://schemas.microsoft.com/office/powerpoint/2010/main" val="354037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7" name="Chart 16">
            <a:extLst>
              <a:ext uri="{FF2B5EF4-FFF2-40B4-BE49-F238E27FC236}">
                <a16:creationId xmlns:a16="http://schemas.microsoft.com/office/drawing/2014/main" id="{FA0B0BBB-729B-9959-1E21-8CA41C6E7FF5}"/>
              </a:ext>
            </a:extLst>
          </p:cNvPr>
          <p:cNvGraphicFramePr/>
          <p:nvPr>
            <p:extLst>
              <p:ext uri="{D42A27DB-BD31-4B8C-83A1-F6EECF244321}">
                <p14:modId xmlns:p14="http://schemas.microsoft.com/office/powerpoint/2010/main" val="1740013604"/>
              </p:ext>
            </p:extLst>
          </p:nvPr>
        </p:nvGraphicFramePr>
        <p:xfrm>
          <a:off x="3173" y="1528763"/>
          <a:ext cx="11592000" cy="4680000"/>
        </p:xfrm>
        <a:graphic>
          <a:graphicData uri="http://schemas.openxmlformats.org/drawingml/2006/chart">
            <c:chart xmlns:c="http://schemas.openxmlformats.org/drawingml/2006/chart" xmlns:r="http://schemas.openxmlformats.org/officeDocument/2006/relationships" r:id="rId2"/>
          </a:graphicData>
        </a:graphic>
      </p:graphicFrame>
      <p:cxnSp>
        <p:nvCxnSpPr>
          <p:cNvPr id="19" name="Straight Connector 18">
            <a:extLst>
              <a:ext uri="{FF2B5EF4-FFF2-40B4-BE49-F238E27FC236}">
                <a16:creationId xmlns:a16="http://schemas.microsoft.com/office/drawing/2014/main" id="{B149502B-85CE-D645-8372-BFDCEBD5DCBD}"/>
              </a:ext>
            </a:extLst>
          </p:cNvPr>
          <p:cNvCxnSpPr/>
          <p:nvPr/>
        </p:nvCxnSpPr>
        <p:spPr>
          <a:xfrm>
            <a:off x="514350" y="4000494"/>
            <a:ext cx="11700000"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F5CE5A-0A67-F9D9-4A50-63AE8FB8E52E}"/>
              </a:ext>
            </a:extLst>
          </p:cNvPr>
          <p:cNvCxnSpPr/>
          <p:nvPr/>
        </p:nvCxnSpPr>
        <p:spPr>
          <a:xfrm>
            <a:off x="495296" y="2324088"/>
            <a:ext cx="11700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7443B98-0EA9-A71C-4FD1-7352FF6357B4}"/>
              </a:ext>
            </a:extLst>
          </p:cNvPr>
          <p:cNvSpPr txBox="1"/>
          <p:nvPr/>
        </p:nvSpPr>
        <p:spPr>
          <a:xfrm rot="16200000">
            <a:off x="11239655" y="5117123"/>
            <a:ext cx="1530484" cy="307777"/>
          </a:xfrm>
          <a:prstGeom prst="rect">
            <a:avLst/>
          </a:prstGeom>
          <a:noFill/>
        </p:spPr>
        <p:txBody>
          <a:bodyPr wrap="none" rtlCol="0">
            <a:spAutoFit/>
          </a:bodyPr>
          <a:lstStyle/>
          <a:p>
            <a:r>
              <a:rPr lang="en-IN" sz="1400" u="sng" dirty="0">
                <a:solidFill>
                  <a:srgbClr val="00B050"/>
                </a:solidFill>
              </a:rPr>
              <a:t>Low Concern Area</a:t>
            </a:r>
          </a:p>
        </p:txBody>
      </p:sp>
      <p:sp>
        <p:nvSpPr>
          <p:cNvPr id="23" name="TextBox 22">
            <a:extLst>
              <a:ext uri="{FF2B5EF4-FFF2-40B4-BE49-F238E27FC236}">
                <a16:creationId xmlns:a16="http://schemas.microsoft.com/office/drawing/2014/main" id="{CC5EBDF0-B7B9-4684-9C1E-530DD2582BAB}"/>
              </a:ext>
            </a:extLst>
          </p:cNvPr>
          <p:cNvSpPr txBox="1"/>
          <p:nvPr/>
        </p:nvSpPr>
        <p:spPr>
          <a:xfrm rot="16200000">
            <a:off x="11369050" y="3212111"/>
            <a:ext cx="1290738" cy="307777"/>
          </a:xfrm>
          <a:prstGeom prst="rect">
            <a:avLst/>
          </a:prstGeom>
          <a:noFill/>
        </p:spPr>
        <p:txBody>
          <a:bodyPr wrap="none" rtlCol="0">
            <a:spAutoFit/>
          </a:bodyPr>
          <a:lstStyle/>
          <a:p>
            <a:r>
              <a:rPr lang="en-IN" sz="1400" u="sng" dirty="0">
                <a:solidFill>
                  <a:srgbClr val="FFC000"/>
                </a:solidFill>
              </a:rPr>
              <a:t>Moderate Area</a:t>
            </a:r>
          </a:p>
        </p:txBody>
      </p:sp>
      <p:sp>
        <p:nvSpPr>
          <p:cNvPr id="24" name="TextBox 23">
            <a:extLst>
              <a:ext uri="{FF2B5EF4-FFF2-40B4-BE49-F238E27FC236}">
                <a16:creationId xmlns:a16="http://schemas.microsoft.com/office/drawing/2014/main" id="{19CB1728-A92E-0369-54A9-7B8FC6E77F57}"/>
              </a:ext>
            </a:extLst>
          </p:cNvPr>
          <p:cNvSpPr txBox="1"/>
          <p:nvPr/>
        </p:nvSpPr>
        <p:spPr>
          <a:xfrm rot="16200000">
            <a:off x="11379203" y="1563147"/>
            <a:ext cx="832279" cy="738664"/>
          </a:xfrm>
          <a:prstGeom prst="rect">
            <a:avLst/>
          </a:prstGeom>
          <a:noFill/>
        </p:spPr>
        <p:txBody>
          <a:bodyPr wrap="none" rtlCol="0">
            <a:spAutoFit/>
          </a:bodyPr>
          <a:lstStyle/>
          <a:p>
            <a:pPr algn="ctr"/>
            <a:r>
              <a:rPr lang="en-IN" sz="1400" u="sng" dirty="0">
                <a:solidFill>
                  <a:srgbClr val="FF0000"/>
                </a:solidFill>
              </a:rPr>
              <a:t>High </a:t>
            </a:r>
          </a:p>
          <a:p>
            <a:pPr algn="ctr"/>
            <a:r>
              <a:rPr lang="en-IN" sz="1400" u="sng" dirty="0">
                <a:solidFill>
                  <a:srgbClr val="FF0000"/>
                </a:solidFill>
              </a:rPr>
              <a:t>Concern </a:t>
            </a:r>
          </a:p>
          <a:p>
            <a:pPr algn="ctr"/>
            <a:r>
              <a:rPr lang="en-IN" sz="1400" u="sng" dirty="0">
                <a:solidFill>
                  <a:srgbClr val="FF0000"/>
                </a:solidFill>
              </a:rPr>
              <a:t>Area</a:t>
            </a:r>
          </a:p>
        </p:txBody>
      </p:sp>
      <p:sp>
        <p:nvSpPr>
          <p:cNvPr id="3" name="Rectangle 2">
            <a:extLst>
              <a:ext uri="{FF2B5EF4-FFF2-40B4-BE49-F238E27FC236}">
                <a16:creationId xmlns:a16="http://schemas.microsoft.com/office/drawing/2014/main" id="{2B86FEDA-9F14-EB4A-9938-992060819C30}"/>
              </a:ext>
            </a:extLst>
          </p:cNvPr>
          <p:cNvSpPr/>
          <p:nvPr/>
        </p:nvSpPr>
        <p:spPr>
          <a:xfrm>
            <a:off x="500060" y="6045777"/>
            <a:ext cx="2844000" cy="366428"/>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Bite</a:t>
            </a:r>
          </a:p>
        </p:txBody>
      </p:sp>
      <p:sp>
        <p:nvSpPr>
          <p:cNvPr id="5" name="Rectangle 4">
            <a:extLst>
              <a:ext uri="{FF2B5EF4-FFF2-40B4-BE49-F238E27FC236}">
                <a16:creationId xmlns:a16="http://schemas.microsoft.com/office/drawing/2014/main" id="{ED488025-4FA6-D646-9CDE-B9C92621014F}"/>
              </a:ext>
            </a:extLst>
          </p:cNvPr>
          <p:cNvSpPr/>
          <p:nvPr/>
        </p:nvSpPr>
        <p:spPr>
          <a:xfrm>
            <a:off x="5853118" y="6045777"/>
            <a:ext cx="2412000" cy="3744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Sweetness</a:t>
            </a:r>
          </a:p>
        </p:txBody>
      </p:sp>
      <p:sp>
        <p:nvSpPr>
          <p:cNvPr id="6" name="Rectangle 5">
            <a:extLst>
              <a:ext uri="{FF2B5EF4-FFF2-40B4-BE49-F238E27FC236}">
                <a16:creationId xmlns:a16="http://schemas.microsoft.com/office/drawing/2014/main" id="{E8671831-7621-A1BD-6FFC-C19CCB9A59C1}"/>
              </a:ext>
            </a:extLst>
          </p:cNvPr>
          <p:cNvSpPr/>
          <p:nvPr/>
        </p:nvSpPr>
        <p:spPr>
          <a:xfrm>
            <a:off x="8277240" y="6041011"/>
            <a:ext cx="3148770" cy="3744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Bitterness</a:t>
            </a:r>
          </a:p>
        </p:txBody>
      </p:sp>
      <p:sp>
        <p:nvSpPr>
          <p:cNvPr id="10" name="Title 1">
            <a:extLst>
              <a:ext uri="{FF2B5EF4-FFF2-40B4-BE49-F238E27FC236}">
                <a16:creationId xmlns:a16="http://schemas.microsoft.com/office/drawing/2014/main" id="{A1F66898-7ADC-74FE-3278-63E9A42144D7}"/>
              </a:ext>
            </a:extLst>
          </p:cNvPr>
          <p:cNvSpPr>
            <a:spLocks noGrp="1"/>
          </p:cNvSpPr>
          <p:nvPr>
            <p:ph type="title"/>
          </p:nvPr>
        </p:nvSpPr>
        <p:spPr>
          <a:xfrm>
            <a:off x="0" y="0"/>
            <a:ext cx="12192000" cy="749300"/>
          </a:xfrm>
          <a:solidFill>
            <a:srgbClr val="002060"/>
          </a:solidFill>
        </p:spPr>
        <p:txBody>
          <a:bodyPr anchor="ctr">
            <a:normAutofit fontScale="90000"/>
          </a:bodyPr>
          <a:lstStyle/>
          <a:p>
            <a:r>
              <a:rPr lang="en-US" sz="3200" b="1" dirty="0">
                <a:solidFill>
                  <a:schemeClr val="bg1"/>
                </a:solidFill>
              </a:rPr>
              <a:t>Mean Drop Penalty Analysis: Impact on respective likeability attributes (F 18)</a:t>
            </a:r>
            <a:endParaRPr lang="en-IN" sz="3200" b="1" dirty="0">
              <a:solidFill>
                <a:schemeClr val="bg1"/>
              </a:solidFill>
            </a:endParaRPr>
          </a:p>
        </p:txBody>
      </p:sp>
      <p:sp>
        <p:nvSpPr>
          <p:cNvPr id="2" name="TextBox 1">
            <a:extLst>
              <a:ext uri="{FF2B5EF4-FFF2-40B4-BE49-F238E27FC236}">
                <a16:creationId xmlns:a16="http://schemas.microsoft.com/office/drawing/2014/main" id="{E30516A9-3284-16B4-A4B3-1C023B08A47C}"/>
              </a:ext>
            </a:extLst>
          </p:cNvPr>
          <p:cNvSpPr txBox="1"/>
          <p:nvPr/>
        </p:nvSpPr>
        <p:spPr>
          <a:xfrm>
            <a:off x="-14288" y="6463390"/>
            <a:ext cx="3042821" cy="246221"/>
          </a:xfrm>
          <a:prstGeom prst="rect">
            <a:avLst/>
          </a:prstGeom>
          <a:noFill/>
        </p:spPr>
        <p:txBody>
          <a:bodyPr wrap="none" rtlCol="0">
            <a:spAutoFit/>
          </a:bodyPr>
          <a:lstStyle/>
          <a:p>
            <a:r>
              <a:rPr lang="en-IN" sz="1000" i="1" dirty="0">
                <a:solidFill>
                  <a:schemeClr val="bg1">
                    <a:lumMod val="50000"/>
                  </a:schemeClr>
                </a:solidFill>
              </a:rPr>
              <a:t>Note: Mean drop penalty analysis done for product F 18</a:t>
            </a:r>
          </a:p>
        </p:txBody>
      </p:sp>
      <p:sp>
        <p:nvSpPr>
          <p:cNvPr id="4" name="TextBox 3">
            <a:extLst>
              <a:ext uri="{FF2B5EF4-FFF2-40B4-BE49-F238E27FC236}">
                <a16:creationId xmlns:a16="http://schemas.microsoft.com/office/drawing/2014/main" id="{6A9EF3CC-9A50-F9C5-FE90-D75045DF4F54}"/>
              </a:ext>
            </a:extLst>
          </p:cNvPr>
          <p:cNvSpPr txBox="1"/>
          <p:nvPr/>
        </p:nvSpPr>
        <p:spPr>
          <a:xfrm>
            <a:off x="5472117" y="800094"/>
            <a:ext cx="973343" cy="369332"/>
          </a:xfrm>
          <a:prstGeom prst="rect">
            <a:avLst/>
          </a:prstGeom>
          <a:noFill/>
        </p:spPr>
        <p:txBody>
          <a:bodyPr wrap="none" rtlCol="0">
            <a:spAutoFit/>
          </a:bodyPr>
          <a:lstStyle/>
          <a:p>
            <a:r>
              <a:rPr lang="en-US" dirty="0">
                <a:solidFill>
                  <a:schemeClr val="bg1">
                    <a:lumMod val="50000"/>
                  </a:schemeClr>
                </a:solidFill>
              </a:rPr>
              <a:t>Mumbai</a:t>
            </a:r>
            <a:endParaRPr lang="en-IN" dirty="0">
              <a:solidFill>
                <a:schemeClr val="bg1">
                  <a:lumMod val="50000"/>
                </a:schemeClr>
              </a:solidFill>
            </a:endParaRPr>
          </a:p>
        </p:txBody>
      </p:sp>
      <p:sp>
        <p:nvSpPr>
          <p:cNvPr id="8" name="Rectangle 7">
            <a:extLst>
              <a:ext uri="{FF2B5EF4-FFF2-40B4-BE49-F238E27FC236}">
                <a16:creationId xmlns:a16="http://schemas.microsoft.com/office/drawing/2014/main" id="{4E043546-AA6B-0589-0E30-C3FC893EEEF9}"/>
              </a:ext>
            </a:extLst>
          </p:cNvPr>
          <p:cNvSpPr/>
          <p:nvPr/>
        </p:nvSpPr>
        <p:spPr>
          <a:xfrm>
            <a:off x="3338528" y="6041010"/>
            <a:ext cx="2520000" cy="366428"/>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Moistness</a:t>
            </a:r>
          </a:p>
        </p:txBody>
      </p:sp>
      <p:sp>
        <p:nvSpPr>
          <p:cNvPr id="9" name="TextBox 8">
            <a:extLst>
              <a:ext uri="{FF2B5EF4-FFF2-40B4-BE49-F238E27FC236}">
                <a16:creationId xmlns:a16="http://schemas.microsoft.com/office/drawing/2014/main" id="{B2FC8B8D-C98D-0780-242E-25A1B970B4CA}"/>
              </a:ext>
            </a:extLst>
          </p:cNvPr>
          <p:cNvSpPr txBox="1"/>
          <p:nvPr/>
        </p:nvSpPr>
        <p:spPr>
          <a:xfrm>
            <a:off x="3186120" y="1269439"/>
            <a:ext cx="5976316" cy="400110"/>
          </a:xfrm>
          <a:prstGeom prst="rect">
            <a:avLst/>
          </a:prstGeom>
          <a:noFill/>
        </p:spPr>
        <p:txBody>
          <a:bodyPr wrap="none" rtlCol="0">
            <a:spAutoFit/>
          </a:bodyPr>
          <a:lstStyle/>
          <a:p>
            <a:r>
              <a:rPr lang="en-US" sz="2000" dirty="0">
                <a:solidFill>
                  <a:srgbClr val="002060"/>
                </a:solidFill>
              </a:rPr>
              <a:t>No penalty score has been registered for any attributes.</a:t>
            </a:r>
            <a:endParaRPr lang="en-IN" sz="2000" dirty="0">
              <a:solidFill>
                <a:srgbClr val="002060"/>
              </a:solidFill>
            </a:endParaRPr>
          </a:p>
        </p:txBody>
      </p:sp>
    </p:spTree>
    <p:extLst>
      <p:ext uri="{BB962C8B-B14F-4D97-AF65-F5344CB8AC3E}">
        <p14:creationId xmlns:p14="http://schemas.microsoft.com/office/powerpoint/2010/main" val="2483074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17" name="Chart 16">
            <a:extLst>
              <a:ext uri="{FF2B5EF4-FFF2-40B4-BE49-F238E27FC236}">
                <a16:creationId xmlns:a16="http://schemas.microsoft.com/office/drawing/2014/main" id="{FA0B0BBB-729B-9959-1E21-8CA41C6E7FF5}"/>
              </a:ext>
            </a:extLst>
          </p:cNvPr>
          <p:cNvGraphicFramePr/>
          <p:nvPr>
            <p:extLst>
              <p:ext uri="{D42A27DB-BD31-4B8C-83A1-F6EECF244321}">
                <p14:modId xmlns:p14="http://schemas.microsoft.com/office/powerpoint/2010/main" val="2138159963"/>
              </p:ext>
            </p:extLst>
          </p:nvPr>
        </p:nvGraphicFramePr>
        <p:xfrm>
          <a:off x="3173" y="1528763"/>
          <a:ext cx="11592000" cy="4680000"/>
        </p:xfrm>
        <a:graphic>
          <a:graphicData uri="http://schemas.openxmlformats.org/drawingml/2006/chart">
            <c:chart xmlns:c="http://schemas.openxmlformats.org/drawingml/2006/chart" xmlns:r="http://schemas.openxmlformats.org/officeDocument/2006/relationships" r:id="rId2"/>
          </a:graphicData>
        </a:graphic>
      </p:graphicFrame>
      <p:cxnSp>
        <p:nvCxnSpPr>
          <p:cNvPr id="19" name="Straight Connector 18">
            <a:extLst>
              <a:ext uri="{FF2B5EF4-FFF2-40B4-BE49-F238E27FC236}">
                <a16:creationId xmlns:a16="http://schemas.microsoft.com/office/drawing/2014/main" id="{B149502B-85CE-D645-8372-BFDCEBD5DCBD}"/>
              </a:ext>
            </a:extLst>
          </p:cNvPr>
          <p:cNvCxnSpPr/>
          <p:nvPr/>
        </p:nvCxnSpPr>
        <p:spPr>
          <a:xfrm>
            <a:off x="485774" y="4214812"/>
            <a:ext cx="11700000"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F5CE5A-0A67-F9D9-4A50-63AE8FB8E52E}"/>
              </a:ext>
            </a:extLst>
          </p:cNvPr>
          <p:cNvCxnSpPr/>
          <p:nvPr/>
        </p:nvCxnSpPr>
        <p:spPr>
          <a:xfrm>
            <a:off x="481008" y="2381240"/>
            <a:ext cx="11700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7443B98-0EA9-A71C-4FD1-7352FF6357B4}"/>
              </a:ext>
            </a:extLst>
          </p:cNvPr>
          <p:cNvSpPr txBox="1"/>
          <p:nvPr/>
        </p:nvSpPr>
        <p:spPr>
          <a:xfrm rot="16200000">
            <a:off x="11239655" y="5117123"/>
            <a:ext cx="1530484" cy="307777"/>
          </a:xfrm>
          <a:prstGeom prst="rect">
            <a:avLst/>
          </a:prstGeom>
          <a:noFill/>
        </p:spPr>
        <p:txBody>
          <a:bodyPr wrap="none" rtlCol="0">
            <a:spAutoFit/>
          </a:bodyPr>
          <a:lstStyle/>
          <a:p>
            <a:r>
              <a:rPr lang="en-IN" sz="1400" u="sng" dirty="0">
                <a:solidFill>
                  <a:srgbClr val="00B050"/>
                </a:solidFill>
              </a:rPr>
              <a:t>Low Concern Area</a:t>
            </a:r>
          </a:p>
        </p:txBody>
      </p:sp>
      <p:sp>
        <p:nvSpPr>
          <p:cNvPr id="23" name="TextBox 22">
            <a:extLst>
              <a:ext uri="{FF2B5EF4-FFF2-40B4-BE49-F238E27FC236}">
                <a16:creationId xmlns:a16="http://schemas.microsoft.com/office/drawing/2014/main" id="{CC5EBDF0-B7B9-4684-9C1E-530DD2582BAB}"/>
              </a:ext>
            </a:extLst>
          </p:cNvPr>
          <p:cNvSpPr txBox="1"/>
          <p:nvPr/>
        </p:nvSpPr>
        <p:spPr>
          <a:xfrm rot="16200000">
            <a:off x="11369050" y="3212111"/>
            <a:ext cx="1290738" cy="307777"/>
          </a:xfrm>
          <a:prstGeom prst="rect">
            <a:avLst/>
          </a:prstGeom>
          <a:noFill/>
        </p:spPr>
        <p:txBody>
          <a:bodyPr wrap="none" rtlCol="0">
            <a:spAutoFit/>
          </a:bodyPr>
          <a:lstStyle/>
          <a:p>
            <a:r>
              <a:rPr lang="en-IN" sz="1400" u="sng" dirty="0">
                <a:solidFill>
                  <a:srgbClr val="FFC000"/>
                </a:solidFill>
              </a:rPr>
              <a:t>Moderate Area</a:t>
            </a:r>
          </a:p>
        </p:txBody>
      </p:sp>
      <p:sp>
        <p:nvSpPr>
          <p:cNvPr id="24" name="TextBox 23">
            <a:extLst>
              <a:ext uri="{FF2B5EF4-FFF2-40B4-BE49-F238E27FC236}">
                <a16:creationId xmlns:a16="http://schemas.microsoft.com/office/drawing/2014/main" id="{19CB1728-A92E-0369-54A9-7B8FC6E77F57}"/>
              </a:ext>
            </a:extLst>
          </p:cNvPr>
          <p:cNvSpPr txBox="1"/>
          <p:nvPr/>
        </p:nvSpPr>
        <p:spPr>
          <a:xfrm rot="16200000">
            <a:off x="11379203" y="1563147"/>
            <a:ext cx="832279" cy="738664"/>
          </a:xfrm>
          <a:prstGeom prst="rect">
            <a:avLst/>
          </a:prstGeom>
          <a:noFill/>
        </p:spPr>
        <p:txBody>
          <a:bodyPr wrap="none" rtlCol="0">
            <a:spAutoFit/>
          </a:bodyPr>
          <a:lstStyle/>
          <a:p>
            <a:pPr algn="ctr"/>
            <a:r>
              <a:rPr lang="en-IN" sz="1400" u="sng" dirty="0">
                <a:solidFill>
                  <a:srgbClr val="FF0000"/>
                </a:solidFill>
              </a:rPr>
              <a:t>High </a:t>
            </a:r>
          </a:p>
          <a:p>
            <a:pPr algn="ctr"/>
            <a:r>
              <a:rPr lang="en-IN" sz="1400" u="sng" dirty="0">
                <a:solidFill>
                  <a:srgbClr val="FF0000"/>
                </a:solidFill>
              </a:rPr>
              <a:t>Concern </a:t>
            </a:r>
          </a:p>
          <a:p>
            <a:pPr algn="ctr"/>
            <a:r>
              <a:rPr lang="en-IN" sz="1400" u="sng" dirty="0">
                <a:solidFill>
                  <a:srgbClr val="FF0000"/>
                </a:solidFill>
              </a:rPr>
              <a:t>Area</a:t>
            </a:r>
          </a:p>
        </p:txBody>
      </p:sp>
      <p:sp>
        <p:nvSpPr>
          <p:cNvPr id="27" name="Title 1">
            <a:extLst>
              <a:ext uri="{FF2B5EF4-FFF2-40B4-BE49-F238E27FC236}">
                <a16:creationId xmlns:a16="http://schemas.microsoft.com/office/drawing/2014/main" id="{86D9A704-6CD0-B4D2-40D5-3590DEA5B54C}"/>
              </a:ext>
            </a:extLst>
          </p:cNvPr>
          <p:cNvSpPr>
            <a:spLocks noGrp="1"/>
          </p:cNvSpPr>
          <p:nvPr>
            <p:ph type="title"/>
          </p:nvPr>
        </p:nvSpPr>
        <p:spPr>
          <a:xfrm>
            <a:off x="0" y="0"/>
            <a:ext cx="12192000" cy="749300"/>
          </a:xfrm>
          <a:solidFill>
            <a:srgbClr val="002060"/>
          </a:solidFill>
        </p:spPr>
        <p:txBody>
          <a:bodyPr anchor="ctr">
            <a:normAutofit/>
          </a:bodyPr>
          <a:lstStyle/>
          <a:p>
            <a:r>
              <a:rPr lang="en-US" sz="3200" b="1" dirty="0">
                <a:solidFill>
                  <a:schemeClr val="bg1"/>
                </a:solidFill>
              </a:rPr>
              <a:t>Mean Drop Penalty Analysis : Impact on Overall likeability (F 18)</a:t>
            </a:r>
            <a:endParaRPr lang="en-IN" sz="3200" b="1" dirty="0">
              <a:solidFill>
                <a:schemeClr val="bg1"/>
              </a:solidFill>
            </a:endParaRPr>
          </a:p>
        </p:txBody>
      </p:sp>
      <p:sp>
        <p:nvSpPr>
          <p:cNvPr id="2" name="TextBox 1">
            <a:extLst>
              <a:ext uri="{FF2B5EF4-FFF2-40B4-BE49-F238E27FC236}">
                <a16:creationId xmlns:a16="http://schemas.microsoft.com/office/drawing/2014/main" id="{96E3C618-BFCF-FF50-1815-DEA1125C281E}"/>
              </a:ext>
            </a:extLst>
          </p:cNvPr>
          <p:cNvSpPr txBox="1"/>
          <p:nvPr/>
        </p:nvSpPr>
        <p:spPr>
          <a:xfrm>
            <a:off x="-14288" y="6463390"/>
            <a:ext cx="3042821" cy="246221"/>
          </a:xfrm>
          <a:prstGeom prst="rect">
            <a:avLst/>
          </a:prstGeom>
          <a:noFill/>
        </p:spPr>
        <p:txBody>
          <a:bodyPr wrap="none" rtlCol="0">
            <a:spAutoFit/>
          </a:bodyPr>
          <a:lstStyle/>
          <a:p>
            <a:r>
              <a:rPr lang="en-IN" sz="1000" i="1" dirty="0">
                <a:solidFill>
                  <a:schemeClr val="bg1">
                    <a:lumMod val="50000"/>
                  </a:schemeClr>
                </a:solidFill>
              </a:rPr>
              <a:t>Note: Mean drop penalty analysis done for product F 18</a:t>
            </a:r>
          </a:p>
        </p:txBody>
      </p:sp>
      <p:sp>
        <p:nvSpPr>
          <p:cNvPr id="3" name="TextBox 2">
            <a:extLst>
              <a:ext uri="{FF2B5EF4-FFF2-40B4-BE49-F238E27FC236}">
                <a16:creationId xmlns:a16="http://schemas.microsoft.com/office/drawing/2014/main" id="{0611DE19-691E-BDE5-A4BE-92D73D67E465}"/>
              </a:ext>
            </a:extLst>
          </p:cNvPr>
          <p:cNvSpPr txBox="1"/>
          <p:nvPr/>
        </p:nvSpPr>
        <p:spPr>
          <a:xfrm>
            <a:off x="5472117" y="800094"/>
            <a:ext cx="670376" cy="369332"/>
          </a:xfrm>
          <a:prstGeom prst="rect">
            <a:avLst/>
          </a:prstGeom>
          <a:noFill/>
        </p:spPr>
        <p:txBody>
          <a:bodyPr wrap="none" rtlCol="0">
            <a:spAutoFit/>
          </a:bodyPr>
          <a:lstStyle/>
          <a:p>
            <a:r>
              <a:rPr lang="en-US" dirty="0">
                <a:solidFill>
                  <a:schemeClr val="bg1">
                    <a:lumMod val="50000"/>
                  </a:schemeClr>
                </a:solidFill>
              </a:rPr>
              <a:t>Delhi</a:t>
            </a:r>
            <a:endParaRPr lang="en-IN" dirty="0">
              <a:solidFill>
                <a:schemeClr val="bg1">
                  <a:lumMod val="50000"/>
                </a:schemeClr>
              </a:solidFill>
            </a:endParaRPr>
          </a:p>
        </p:txBody>
      </p:sp>
      <p:sp>
        <p:nvSpPr>
          <p:cNvPr id="4" name="TextBox 3">
            <a:extLst>
              <a:ext uri="{FF2B5EF4-FFF2-40B4-BE49-F238E27FC236}">
                <a16:creationId xmlns:a16="http://schemas.microsoft.com/office/drawing/2014/main" id="{BAD04158-E8EB-2BF7-6545-AF04A5D15985}"/>
              </a:ext>
            </a:extLst>
          </p:cNvPr>
          <p:cNvSpPr txBox="1"/>
          <p:nvPr/>
        </p:nvSpPr>
        <p:spPr>
          <a:xfrm>
            <a:off x="3186120" y="1269439"/>
            <a:ext cx="5976316" cy="400110"/>
          </a:xfrm>
          <a:prstGeom prst="rect">
            <a:avLst/>
          </a:prstGeom>
          <a:noFill/>
        </p:spPr>
        <p:txBody>
          <a:bodyPr wrap="none" rtlCol="0">
            <a:spAutoFit/>
          </a:bodyPr>
          <a:lstStyle/>
          <a:p>
            <a:r>
              <a:rPr lang="en-US" sz="2000" dirty="0">
                <a:solidFill>
                  <a:srgbClr val="002060"/>
                </a:solidFill>
              </a:rPr>
              <a:t>No penalty score has been registered for any attributes.</a:t>
            </a:r>
            <a:endParaRPr lang="en-IN" sz="2000" dirty="0">
              <a:solidFill>
                <a:srgbClr val="002060"/>
              </a:solidFill>
            </a:endParaRPr>
          </a:p>
        </p:txBody>
      </p:sp>
    </p:spTree>
    <p:extLst>
      <p:ext uri="{BB962C8B-B14F-4D97-AF65-F5344CB8AC3E}">
        <p14:creationId xmlns:p14="http://schemas.microsoft.com/office/powerpoint/2010/main" val="26575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7" name="Chart 16">
            <a:extLst>
              <a:ext uri="{FF2B5EF4-FFF2-40B4-BE49-F238E27FC236}">
                <a16:creationId xmlns:a16="http://schemas.microsoft.com/office/drawing/2014/main" id="{FA0B0BBB-729B-9959-1E21-8CA41C6E7FF5}"/>
              </a:ext>
            </a:extLst>
          </p:cNvPr>
          <p:cNvGraphicFramePr/>
          <p:nvPr>
            <p:extLst>
              <p:ext uri="{D42A27DB-BD31-4B8C-83A1-F6EECF244321}">
                <p14:modId xmlns:p14="http://schemas.microsoft.com/office/powerpoint/2010/main" val="821742709"/>
              </p:ext>
            </p:extLst>
          </p:nvPr>
        </p:nvGraphicFramePr>
        <p:xfrm>
          <a:off x="3173" y="1528763"/>
          <a:ext cx="11592000" cy="4680000"/>
        </p:xfrm>
        <a:graphic>
          <a:graphicData uri="http://schemas.openxmlformats.org/drawingml/2006/chart">
            <c:chart xmlns:c="http://schemas.openxmlformats.org/drawingml/2006/chart" xmlns:r="http://schemas.openxmlformats.org/officeDocument/2006/relationships" r:id="rId2"/>
          </a:graphicData>
        </a:graphic>
      </p:graphicFrame>
      <p:cxnSp>
        <p:nvCxnSpPr>
          <p:cNvPr id="19" name="Straight Connector 18">
            <a:extLst>
              <a:ext uri="{FF2B5EF4-FFF2-40B4-BE49-F238E27FC236}">
                <a16:creationId xmlns:a16="http://schemas.microsoft.com/office/drawing/2014/main" id="{B149502B-85CE-D645-8372-BFDCEBD5DCBD}"/>
              </a:ext>
            </a:extLst>
          </p:cNvPr>
          <p:cNvCxnSpPr/>
          <p:nvPr/>
        </p:nvCxnSpPr>
        <p:spPr>
          <a:xfrm>
            <a:off x="485774" y="4214812"/>
            <a:ext cx="11700000"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DF5CE5A-0A67-F9D9-4A50-63AE8FB8E52E}"/>
              </a:ext>
            </a:extLst>
          </p:cNvPr>
          <p:cNvCxnSpPr/>
          <p:nvPr/>
        </p:nvCxnSpPr>
        <p:spPr>
          <a:xfrm>
            <a:off x="481008" y="2381240"/>
            <a:ext cx="11700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7443B98-0EA9-A71C-4FD1-7352FF6357B4}"/>
              </a:ext>
            </a:extLst>
          </p:cNvPr>
          <p:cNvSpPr txBox="1"/>
          <p:nvPr/>
        </p:nvSpPr>
        <p:spPr>
          <a:xfrm rot="16200000">
            <a:off x="11239655" y="5117123"/>
            <a:ext cx="1530484" cy="307777"/>
          </a:xfrm>
          <a:prstGeom prst="rect">
            <a:avLst/>
          </a:prstGeom>
          <a:noFill/>
        </p:spPr>
        <p:txBody>
          <a:bodyPr wrap="none" rtlCol="0">
            <a:spAutoFit/>
          </a:bodyPr>
          <a:lstStyle/>
          <a:p>
            <a:r>
              <a:rPr lang="en-IN" sz="1400" u="sng" dirty="0">
                <a:solidFill>
                  <a:srgbClr val="00B050"/>
                </a:solidFill>
              </a:rPr>
              <a:t>Low Concern Area</a:t>
            </a:r>
          </a:p>
        </p:txBody>
      </p:sp>
      <p:sp>
        <p:nvSpPr>
          <p:cNvPr id="23" name="TextBox 22">
            <a:extLst>
              <a:ext uri="{FF2B5EF4-FFF2-40B4-BE49-F238E27FC236}">
                <a16:creationId xmlns:a16="http://schemas.microsoft.com/office/drawing/2014/main" id="{CC5EBDF0-B7B9-4684-9C1E-530DD2582BAB}"/>
              </a:ext>
            </a:extLst>
          </p:cNvPr>
          <p:cNvSpPr txBox="1"/>
          <p:nvPr/>
        </p:nvSpPr>
        <p:spPr>
          <a:xfrm rot="16200000">
            <a:off x="11369050" y="3212111"/>
            <a:ext cx="1290738" cy="307777"/>
          </a:xfrm>
          <a:prstGeom prst="rect">
            <a:avLst/>
          </a:prstGeom>
          <a:noFill/>
        </p:spPr>
        <p:txBody>
          <a:bodyPr wrap="none" rtlCol="0">
            <a:spAutoFit/>
          </a:bodyPr>
          <a:lstStyle/>
          <a:p>
            <a:r>
              <a:rPr lang="en-IN" sz="1400" u="sng" dirty="0">
                <a:solidFill>
                  <a:srgbClr val="FFC000"/>
                </a:solidFill>
              </a:rPr>
              <a:t>Moderate Area</a:t>
            </a:r>
          </a:p>
        </p:txBody>
      </p:sp>
      <p:sp>
        <p:nvSpPr>
          <p:cNvPr id="24" name="TextBox 23">
            <a:extLst>
              <a:ext uri="{FF2B5EF4-FFF2-40B4-BE49-F238E27FC236}">
                <a16:creationId xmlns:a16="http://schemas.microsoft.com/office/drawing/2014/main" id="{19CB1728-A92E-0369-54A9-7B8FC6E77F57}"/>
              </a:ext>
            </a:extLst>
          </p:cNvPr>
          <p:cNvSpPr txBox="1"/>
          <p:nvPr/>
        </p:nvSpPr>
        <p:spPr>
          <a:xfrm rot="16200000">
            <a:off x="11379203" y="1563147"/>
            <a:ext cx="832279" cy="738664"/>
          </a:xfrm>
          <a:prstGeom prst="rect">
            <a:avLst/>
          </a:prstGeom>
          <a:noFill/>
        </p:spPr>
        <p:txBody>
          <a:bodyPr wrap="none" rtlCol="0">
            <a:spAutoFit/>
          </a:bodyPr>
          <a:lstStyle/>
          <a:p>
            <a:pPr algn="ctr"/>
            <a:r>
              <a:rPr lang="en-IN" sz="1400" u="sng" dirty="0">
                <a:solidFill>
                  <a:srgbClr val="FF0000"/>
                </a:solidFill>
              </a:rPr>
              <a:t>High </a:t>
            </a:r>
          </a:p>
          <a:p>
            <a:pPr algn="ctr"/>
            <a:r>
              <a:rPr lang="en-IN" sz="1400" u="sng" dirty="0">
                <a:solidFill>
                  <a:srgbClr val="FF0000"/>
                </a:solidFill>
              </a:rPr>
              <a:t>Concern </a:t>
            </a:r>
          </a:p>
          <a:p>
            <a:pPr algn="ctr"/>
            <a:r>
              <a:rPr lang="en-IN" sz="1400" u="sng" dirty="0">
                <a:solidFill>
                  <a:srgbClr val="FF0000"/>
                </a:solidFill>
              </a:rPr>
              <a:t>Area</a:t>
            </a:r>
          </a:p>
        </p:txBody>
      </p:sp>
      <p:sp>
        <p:nvSpPr>
          <p:cNvPr id="3" name="Rectangle 2">
            <a:extLst>
              <a:ext uri="{FF2B5EF4-FFF2-40B4-BE49-F238E27FC236}">
                <a16:creationId xmlns:a16="http://schemas.microsoft.com/office/drawing/2014/main" id="{2B86FEDA-9F14-EB4A-9938-992060819C30}"/>
              </a:ext>
            </a:extLst>
          </p:cNvPr>
          <p:cNvSpPr/>
          <p:nvPr/>
        </p:nvSpPr>
        <p:spPr>
          <a:xfrm>
            <a:off x="500060" y="6045777"/>
            <a:ext cx="2844000" cy="366428"/>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Bite</a:t>
            </a:r>
          </a:p>
        </p:txBody>
      </p:sp>
      <p:sp>
        <p:nvSpPr>
          <p:cNvPr id="5" name="Rectangle 4">
            <a:extLst>
              <a:ext uri="{FF2B5EF4-FFF2-40B4-BE49-F238E27FC236}">
                <a16:creationId xmlns:a16="http://schemas.microsoft.com/office/drawing/2014/main" id="{ED488025-4FA6-D646-9CDE-B9C92621014F}"/>
              </a:ext>
            </a:extLst>
          </p:cNvPr>
          <p:cNvSpPr/>
          <p:nvPr/>
        </p:nvSpPr>
        <p:spPr>
          <a:xfrm>
            <a:off x="5853118" y="6045777"/>
            <a:ext cx="2412000" cy="3744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Sweetness</a:t>
            </a:r>
          </a:p>
        </p:txBody>
      </p:sp>
      <p:sp>
        <p:nvSpPr>
          <p:cNvPr id="6" name="Rectangle 5">
            <a:extLst>
              <a:ext uri="{FF2B5EF4-FFF2-40B4-BE49-F238E27FC236}">
                <a16:creationId xmlns:a16="http://schemas.microsoft.com/office/drawing/2014/main" id="{E8671831-7621-A1BD-6FFC-C19CCB9A59C1}"/>
              </a:ext>
            </a:extLst>
          </p:cNvPr>
          <p:cNvSpPr/>
          <p:nvPr/>
        </p:nvSpPr>
        <p:spPr>
          <a:xfrm>
            <a:off x="8277240" y="6041011"/>
            <a:ext cx="3148770" cy="374400"/>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Bitterness</a:t>
            </a:r>
          </a:p>
        </p:txBody>
      </p:sp>
      <p:sp>
        <p:nvSpPr>
          <p:cNvPr id="10" name="Title 1">
            <a:extLst>
              <a:ext uri="{FF2B5EF4-FFF2-40B4-BE49-F238E27FC236}">
                <a16:creationId xmlns:a16="http://schemas.microsoft.com/office/drawing/2014/main" id="{A1F66898-7ADC-74FE-3278-63E9A42144D7}"/>
              </a:ext>
            </a:extLst>
          </p:cNvPr>
          <p:cNvSpPr>
            <a:spLocks noGrp="1"/>
          </p:cNvSpPr>
          <p:nvPr>
            <p:ph type="title"/>
          </p:nvPr>
        </p:nvSpPr>
        <p:spPr>
          <a:xfrm>
            <a:off x="0" y="0"/>
            <a:ext cx="12192000" cy="749300"/>
          </a:xfrm>
          <a:solidFill>
            <a:srgbClr val="002060"/>
          </a:solidFill>
        </p:spPr>
        <p:txBody>
          <a:bodyPr anchor="ctr">
            <a:normAutofit fontScale="90000"/>
          </a:bodyPr>
          <a:lstStyle/>
          <a:p>
            <a:r>
              <a:rPr lang="en-US" sz="3200" b="1" dirty="0">
                <a:solidFill>
                  <a:schemeClr val="bg1"/>
                </a:solidFill>
              </a:rPr>
              <a:t>Mean Drop Penalty Analysis: Impact on respective likeability attributes (F 18)</a:t>
            </a:r>
            <a:endParaRPr lang="en-IN" sz="3200" b="1" dirty="0">
              <a:solidFill>
                <a:schemeClr val="bg1"/>
              </a:solidFill>
            </a:endParaRPr>
          </a:p>
        </p:txBody>
      </p:sp>
      <p:sp>
        <p:nvSpPr>
          <p:cNvPr id="2" name="TextBox 1">
            <a:extLst>
              <a:ext uri="{FF2B5EF4-FFF2-40B4-BE49-F238E27FC236}">
                <a16:creationId xmlns:a16="http://schemas.microsoft.com/office/drawing/2014/main" id="{E30516A9-3284-16B4-A4B3-1C023B08A47C}"/>
              </a:ext>
            </a:extLst>
          </p:cNvPr>
          <p:cNvSpPr txBox="1"/>
          <p:nvPr/>
        </p:nvSpPr>
        <p:spPr>
          <a:xfrm>
            <a:off x="-14288" y="6463390"/>
            <a:ext cx="3042821" cy="246221"/>
          </a:xfrm>
          <a:prstGeom prst="rect">
            <a:avLst/>
          </a:prstGeom>
          <a:noFill/>
        </p:spPr>
        <p:txBody>
          <a:bodyPr wrap="none" rtlCol="0">
            <a:spAutoFit/>
          </a:bodyPr>
          <a:lstStyle/>
          <a:p>
            <a:r>
              <a:rPr lang="en-IN" sz="1000" i="1" dirty="0">
                <a:solidFill>
                  <a:schemeClr val="bg1">
                    <a:lumMod val="50000"/>
                  </a:schemeClr>
                </a:solidFill>
              </a:rPr>
              <a:t>Note: Mean drop penalty analysis done for product F 18</a:t>
            </a:r>
          </a:p>
        </p:txBody>
      </p:sp>
      <p:sp>
        <p:nvSpPr>
          <p:cNvPr id="4" name="TextBox 3">
            <a:extLst>
              <a:ext uri="{FF2B5EF4-FFF2-40B4-BE49-F238E27FC236}">
                <a16:creationId xmlns:a16="http://schemas.microsoft.com/office/drawing/2014/main" id="{6A9EF3CC-9A50-F9C5-FE90-D75045DF4F54}"/>
              </a:ext>
            </a:extLst>
          </p:cNvPr>
          <p:cNvSpPr txBox="1"/>
          <p:nvPr/>
        </p:nvSpPr>
        <p:spPr>
          <a:xfrm>
            <a:off x="5472117" y="800094"/>
            <a:ext cx="670376" cy="369332"/>
          </a:xfrm>
          <a:prstGeom prst="rect">
            <a:avLst/>
          </a:prstGeom>
          <a:noFill/>
        </p:spPr>
        <p:txBody>
          <a:bodyPr wrap="none" rtlCol="0">
            <a:spAutoFit/>
          </a:bodyPr>
          <a:lstStyle/>
          <a:p>
            <a:r>
              <a:rPr lang="en-US" dirty="0">
                <a:solidFill>
                  <a:schemeClr val="bg1">
                    <a:lumMod val="50000"/>
                  </a:schemeClr>
                </a:solidFill>
              </a:rPr>
              <a:t>Delhi</a:t>
            </a:r>
            <a:endParaRPr lang="en-IN" dirty="0">
              <a:solidFill>
                <a:schemeClr val="bg1">
                  <a:lumMod val="50000"/>
                </a:schemeClr>
              </a:solidFill>
            </a:endParaRPr>
          </a:p>
        </p:txBody>
      </p:sp>
      <p:sp>
        <p:nvSpPr>
          <p:cNvPr id="8" name="Rectangle 7">
            <a:extLst>
              <a:ext uri="{FF2B5EF4-FFF2-40B4-BE49-F238E27FC236}">
                <a16:creationId xmlns:a16="http://schemas.microsoft.com/office/drawing/2014/main" id="{593D70CA-395E-E336-60F5-BFAD58E88922}"/>
              </a:ext>
            </a:extLst>
          </p:cNvPr>
          <p:cNvSpPr/>
          <p:nvPr/>
        </p:nvSpPr>
        <p:spPr>
          <a:xfrm>
            <a:off x="3338528" y="6041010"/>
            <a:ext cx="2520000" cy="366428"/>
          </a:xfrm>
          <a:prstGeom prst="rect">
            <a:avLst/>
          </a:prstGeom>
          <a:solidFill>
            <a:schemeClr val="bg1">
              <a:lumMod val="9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i="1" dirty="0">
                <a:solidFill>
                  <a:srgbClr val="002060"/>
                </a:solidFill>
              </a:rPr>
              <a:t>Moistness</a:t>
            </a:r>
          </a:p>
        </p:txBody>
      </p:sp>
      <p:sp>
        <p:nvSpPr>
          <p:cNvPr id="9" name="TextBox 8">
            <a:extLst>
              <a:ext uri="{FF2B5EF4-FFF2-40B4-BE49-F238E27FC236}">
                <a16:creationId xmlns:a16="http://schemas.microsoft.com/office/drawing/2014/main" id="{F3DF08A4-E1AE-6927-C8F8-1A0EAF043D26}"/>
              </a:ext>
            </a:extLst>
          </p:cNvPr>
          <p:cNvSpPr txBox="1"/>
          <p:nvPr/>
        </p:nvSpPr>
        <p:spPr>
          <a:xfrm>
            <a:off x="3186120" y="1269439"/>
            <a:ext cx="5976316" cy="400110"/>
          </a:xfrm>
          <a:prstGeom prst="rect">
            <a:avLst/>
          </a:prstGeom>
          <a:noFill/>
        </p:spPr>
        <p:txBody>
          <a:bodyPr wrap="none" rtlCol="0">
            <a:spAutoFit/>
          </a:bodyPr>
          <a:lstStyle/>
          <a:p>
            <a:r>
              <a:rPr lang="en-US" sz="2000" dirty="0">
                <a:solidFill>
                  <a:srgbClr val="002060"/>
                </a:solidFill>
              </a:rPr>
              <a:t>No penalty score has been registered for any attributes.</a:t>
            </a:r>
            <a:endParaRPr lang="en-IN" sz="2000" dirty="0">
              <a:solidFill>
                <a:srgbClr val="002060"/>
              </a:solidFill>
            </a:endParaRPr>
          </a:p>
        </p:txBody>
      </p:sp>
    </p:spTree>
    <p:extLst>
      <p:ext uri="{BB962C8B-B14F-4D97-AF65-F5344CB8AC3E}">
        <p14:creationId xmlns:p14="http://schemas.microsoft.com/office/powerpoint/2010/main" val="2651828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7" name="Table 26">
            <a:extLst>
              <a:ext uri="{FF2B5EF4-FFF2-40B4-BE49-F238E27FC236}">
                <a16:creationId xmlns:a16="http://schemas.microsoft.com/office/drawing/2014/main" id="{C3D8A9B2-055A-CC91-DEF3-B1C4DAC8B27E}"/>
              </a:ext>
            </a:extLst>
          </p:cNvPr>
          <p:cNvGraphicFramePr>
            <a:graphicFrameLocks noGrp="1"/>
          </p:cNvGraphicFramePr>
          <p:nvPr/>
        </p:nvGraphicFramePr>
        <p:xfrm>
          <a:off x="1741573" y="911225"/>
          <a:ext cx="4680002" cy="5099852"/>
        </p:xfrm>
        <a:graphic>
          <a:graphicData uri="http://schemas.openxmlformats.org/drawingml/2006/table">
            <a:tbl>
              <a:tblPr/>
              <a:tblGrid>
                <a:gridCol w="1366752">
                  <a:extLst>
                    <a:ext uri="{9D8B030D-6E8A-4147-A177-3AD203B41FA5}">
                      <a16:colId xmlns:a16="http://schemas.microsoft.com/office/drawing/2014/main" val="3503374854"/>
                    </a:ext>
                  </a:extLst>
                </a:gridCol>
                <a:gridCol w="662650">
                  <a:extLst>
                    <a:ext uri="{9D8B030D-6E8A-4147-A177-3AD203B41FA5}">
                      <a16:colId xmlns:a16="http://schemas.microsoft.com/office/drawing/2014/main" val="3506308916"/>
                    </a:ext>
                  </a:extLst>
                </a:gridCol>
                <a:gridCol w="662650">
                  <a:extLst>
                    <a:ext uri="{9D8B030D-6E8A-4147-A177-3AD203B41FA5}">
                      <a16:colId xmlns:a16="http://schemas.microsoft.com/office/drawing/2014/main" val="2079279502"/>
                    </a:ext>
                  </a:extLst>
                </a:gridCol>
                <a:gridCol w="662650">
                  <a:extLst>
                    <a:ext uri="{9D8B030D-6E8A-4147-A177-3AD203B41FA5}">
                      <a16:colId xmlns:a16="http://schemas.microsoft.com/office/drawing/2014/main" val="1002774547"/>
                    </a:ext>
                  </a:extLst>
                </a:gridCol>
                <a:gridCol w="662650">
                  <a:extLst>
                    <a:ext uri="{9D8B030D-6E8A-4147-A177-3AD203B41FA5}">
                      <a16:colId xmlns:a16="http://schemas.microsoft.com/office/drawing/2014/main" val="2983618149"/>
                    </a:ext>
                  </a:extLst>
                </a:gridCol>
                <a:gridCol w="662650">
                  <a:extLst>
                    <a:ext uri="{9D8B030D-6E8A-4147-A177-3AD203B41FA5}">
                      <a16:colId xmlns:a16="http://schemas.microsoft.com/office/drawing/2014/main" val="2818256890"/>
                    </a:ext>
                  </a:extLst>
                </a:gridCol>
              </a:tblGrid>
              <a:tr h="170966">
                <a:tc>
                  <a:txBody>
                    <a:bodyPr/>
                    <a:lstStyle/>
                    <a:p>
                      <a:pPr algn="l" fontAlgn="b"/>
                      <a:r>
                        <a:rPr lang="en-IN" sz="1000" b="0" i="0" u="none" strike="noStrike" dirty="0">
                          <a:solidFill>
                            <a:srgbClr val="000000"/>
                          </a:solidFill>
                          <a:effectLst/>
                          <a:latin typeface="Calibri" panose="020F0502020204030204" pitchFamily="34" charset="0"/>
                        </a:rPr>
                        <a:t> </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noFill/>
                  </a:tcPr>
                </a:tc>
                <a:tc gridSpan="4">
                  <a:txBody>
                    <a:bodyPr/>
                    <a:lstStyle/>
                    <a:p>
                      <a:pPr algn="ctr" fontAlgn="b"/>
                      <a:r>
                        <a:rPr lang="en-IN" sz="1200" b="0" i="0" u="none" strike="noStrike" dirty="0" err="1">
                          <a:solidFill>
                            <a:srgbClr val="000000"/>
                          </a:solidFill>
                          <a:effectLst/>
                          <a:latin typeface="Calibri" panose="020F0502020204030204" pitchFamily="34" charset="0"/>
                        </a:rPr>
                        <a:t>Likeablity</a:t>
                      </a:r>
                      <a:endParaRPr lang="en-IN" sz="1200" b="0" i="0" u="none" strike="noStrike" dirty="0">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482522401"/>
                  </a:ext>
                </a:extLst>
              </a:tr>
              <a:tr h="170966">
                <a:tc>
                  <a:txBody>
                    <a:bodyPr/>
                    <a:lstStyle/>
                    <a:p>
                      <a:pPr algn="l" fontAlgn="b"/>
                      <a:endParaRPr lang="en-IN" sz="1000" b="0" i="0" u="none" strike="noStrike" dirty="0">
                        <a:solidFill>
                          <a:srgbClr val="000000"/>
                        </a:solidFill>
                        <a:effectLst/>
                        <a:latin typeface="Calibri" panose="020F0502020204030204" pitchFamily="34" charset="0"/>
                      </a:endParaRPr>
                    </a:p>
                  </a:txBody>
                  <a:tcPr marL="7328" marR="7328" marT="7328" marB="0" anchor="ctr">
                    <a:lnL>
                      <a:noFill/>
                    </a:lnL>
                    <a:lnR>
                      <a:noFill/>
                    </a:lnR>
                    <a:lnT>
                      <a:noFill/>
                    </a:lnT>
                    <a:lnB>
                      <a:noFill/>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r>
                        <a:rPr lang="en-IN" sz="1000" b="0" i="0" u="none" strike="noStrike" dirty="0">
                          <a:solidFill>
                            <a:srgbClr val="FFFFFF"/>
                          </a:solidFill>
                          <a:effectLst/>
                          <a:latin typeface="Arial" panose="020B0604020202020204" pitchFamily="34" charset="0"/>
                        </a:rPr>
                        <a:t>Total</a:t>
                      </a:r>
                    </a:p>
                  </a:txBody>
                  <a:tcPr marL="7328" marR="7328" marT="73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1000" b="0" i="0" u="none" strike="noStrike" dirty="0">
                          <a:solidFill>
                            <a:srgbClr val="000000"/>
                          </a:solidFill>
                          <a:effectLst/>
                          <a:latin typeface="Arial" panose="020B0604020202020204" pitchFamily="34" charset="0"/>
                        </a:rPr>
                        <a:t>Monadic</a:t>
                      </a:r>
                    </a:p>
                  </a:txBody>
                  <a:tcPr marL="7328" marR="7328" marT="73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000" b="0" i="0" u="none" strike="noStrike" dirty="0">
                          <a:solidFill>
                            <a:srgbClr val="000000"/>
                          </a:solidFill>
                          <a:effectLst/>
                          <a:latin typeface="Arial" panose="020B0604020202020204" pitchFamily="34" charset="0"/>
                        </a:rPr>
                        <a:t>Mumbai</a:t>
                      </a:r>
                    </a:p>
                  </a:txBody>
                  <a:tcPr marL="7328" marR="7328" marT="73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IN" sz="1000" b="0" i="0" u="none" strike="noStrike" dirty="0">
                          <a:solidFill>
                            <a:srgbClr val="000000"/>
                          </a:solidFill>
                          <a:effectLst/>
                          <a:latin typeface="Arial" panose="020B0604020202020204" pitchFamily="34" charset="0"/>
                        </a:rPr>
                        <a:t>Delhi</a:t>
                      </a:r>
                    </a:p>
                  </a:txBody>
                  <a:tcPr marL="7328" marR="7328" marT="73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31577471"/>
                  </a:ext>
                </a:extLst>
              </a:tr>
              <a:tr h="170966">
                <a:tc>
                  <a:txBody>
                    <a:bodyPr/>
                    <a:lstStyle/>
                    <a:p>
                      <a:pPr algn="l"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a:solidFill>
                            <a:srgbClr val="FFFFFF"/>
                          </a:solidFill>
                          <a:effectLst/>
                          <a:latin typeface="Arial" panose="020B0604020202020204" pitchFamily="34" charset="0"/>
                        </a:rPr>
                        <a:t>FS 18</a:t>
                      </a:r>
                    </a:p>
                  </a:txBody>
                  <a:tcPr marL="7328" marR="7328" marT="73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7328" marR="7328" marT="73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7328" marR="7328" marT="73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7328" marR="7328" marT="732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925721164"/>
                  </a:ext>
                </a:extLst>
              </a:tr>
              <a:tr h="170966">
                <a:tc rowSpan="2">
                  <a:txBody>
                    <a:bodyPr/>
                    <a:lstStyle/>
                    <a:p>
                      <a:pPr algn="l" fontAlgn="ctr"/>
                      <a:r>
                        <a:rPr lang="en-IN" sz="1000" b="0" i="0" u="none" strike="noStrike">
                          <a:solidFill>
                            <a:srgbClr val="000000"/>
                          </a:solidFill>
                          <a:effectLst/>
                          <a:latin typeface="Calibri" panose="020F0502020204030204" pitchFamily="34" charset="0"/>
                        </a:rPr>
                        <a:t>Colour</a:t>
                      </a: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2313835245"/>
                  </a:ext>
                </a:extLst>
              </a:tr>
              <a:tr h="17096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80%</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81%</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80%</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79%</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128740860"/>
                  </a:ext>
                </a:extLst>
              </a:tr>
              <a:tr h="170966">
                <a:tc>
                  <a:txBody>
                    <a:bodyPr/>
                    <a:lstStyle/>
                    <a:p>
                      <a:pPr algn="l" fontAlgn="ctr"/>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932397"/>
                  </a:ext>
                </a:extLst>
              </a:tr>
              <a:tr h="170966">
                <a:tc rowSpan="2">
                  <a:txBody>
                    <a:bodyPr/>
                    <a:lstStyle/>
                    <a:p>
                      <a:pPr algn="l" fontAlgn="ctr"/>
                      <a:r>
                        <a:rPr lang="en-IN" sz="1000" b="0" i="0" u="none" strike="noStrike">
                          <a:solidFill>
                            <a:srgbClr val="000000"/>
                          </a:solidFill>
                          <a:effectLst/>
                          <a:latin typeface="Calibri" panose="020F0502020204030204" pitchFamily="34" charset="0"/>
                        </a:rPr>
                        <a:t>Chocolatey aroma</a:t>
                      </a: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5.2</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3718163981"/>
                  </a:ext>
                </a:extLst>
              </a:tr>
              <a:tr h="17096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97%</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50%</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49%</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48%</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70706279"/>
                  </a:ext>
                </a:extLst>
              </a:tr>
              <a:tr h="170966">
                <a:tc>
                  <a:txBody>
                    <a:bodyPr/>
                    <a:lstStyle/>
                    <a:p>
                      <a:pPr algn="l" fontAlgn="ctr"/>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7039667"/>
                  </a:ext>
                </a:extLst>
              </a:tr>
              <a:tr h="170966">
                <a:tc rowSpan="2">
                  <a:txBody>
                    <a:bodyPr/>
                    <a:lstStyle/>
                    <a:p>
                      <a:pPr algn="l" fontAlgn="ctr"/>
                      <a:r>
                        <a:rPr lang="en-IN" sz="1000" b="0" i="0" u="none" strike="noStrike">
                          <a:solidFill>
                            <a:srgbClr val="000000"/>
                          </a:solidFill>
                          <a:effectLst/>
                          <a:latin typeface="Calibri" panose="020F0502020204030204" pitchFamily="34" charset="0"/>
                        </a:rPr>
                        <a:t>Cake like aroma</a:t>
                      </a: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4.9</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5.3</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3349937840"/>
                  </a:ext>
                </a:extLst>
              </a:tr>
              <a:tr h="170966">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TTB</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76%</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80%</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71%</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81%</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181687839"/>
                  </a:ext>
                </a:extLst>
              </a:tr>
              <a:tr h="170966">
                <a:tc>
                  <a:txBody>
                    <a:bodyPr/>
                    <a:lstStyle/>
                    <a:p>
                      <a:pPr algn="l" fontAlgn="ctr"/>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5014755"/>
                  </a:ext>
                </a:extLst>
              </a:tr>
              <a:tr h="170966">
                <a:tc rowSpan="2">
                  <a:txBody>
                    <a:bodyPr/>
                    <a:lstStyle/>
                    <a:p>
                      <a:pPr algn="l" fontAlgn="ctr"/>
                      <a:r>
                        <a:rPr lang="en-US" sz="1000" b="0" i="0" u="none" strike="noStrike">
                          <a:solidFill>
                            <a:srgbClr val="000000"/>
                          </a:solidFill>
                          <a:effectLst/>
                          <a:latin typeface="Calibri" panose="020F0502020204030204" pitchFamily="34" charset="0"/>
                        </a:rPr>
                        <a:t>Overall likeability of the aroma</a:t>
                      </a: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5.0</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2115079392"/>
                  </a:ext>
                </a:extLst>
              </a:tr>
              <a:tr h="17096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78%</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82%</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78%</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77%</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964416901"/>
                  </a:ext>
                </a:extLst>
              </a:tr>
              <a:tr h="170966">
                <a:tc>
                  <a:txBody>
                    <a:bodyPr/>
                    <a:lstStyle/>
                    <a:p>
                      <a:pPr algn="l" fontAlgn="ctr"/>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6928553"/>
                  </a:ext>
                </a:extLst>
              </a:tr>
              <a:tr h="170966">
                <a:tc rowSpan="2">
                  <a:txBody>
                    <a:bodyPr/>
                    <a:lstStyle/>
                    <a:p>
                      <a:pPr algn="l" fontAlgn="ctr"/>
                      <a:r>
                        <a:rPr lang="en-IN" sz="1000" b="0" i="0" u="none" strike="noStrike">
                          <a:solidFill>
                            <a:srgbClr val="000000"/>
                          </a:solidFill>
                          <a:effectLst/>
                          <a:latin typeface="Calibri" panose="020F0502020204030204" pitchFamily="34" charset="0"/>
                        </a:rPr>
                        <a:t>Bite</a:t>
                      </a: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5.3</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b"/>
                      <a:r>
                        <a:rPr lang="en-IN" sz="1000" b="0" i="0" u="none" strike="noStrike" dirty="0">
                          <a:solidFill>
                            <a:srgbClr val="000000"/>
                          </a:solidFill>
                          <a:effectLst/>
                          <a:latin typeface="Calibri" panose="020F0502020204030204" pitchFamily="34" charset="0"/>
                        </a:rPr>
                        <a:t>5.0</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2333139541"/>
                  </a:ext>
                </a:extLst>
              </a:tr>
              <a:tr h="17096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78%</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88%</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75%</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80%</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1265760008"/>
                  </a:ext>
                </a:extLst>
              </a:tr>
              <a:tr h="170966">
                <a:tc>
                  <a:txBody>
                    <a:bodyPr/>
                    <a:lstStyle/>
                    <a:p>
                      <a:pPr algn="l" fontAlgn="ctr"/>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5902493"/>
                  </a:ext>
                </a:extLst>
              </a:tr>
              <a:tr h="170966">
                <a:tc rowSpan="2">
                  <a:txBody>
                    <a:bodyPr/>
                    <a:lstStyle/>
                    <a:p>
                      <a:pPr algn="l" fontAlgn="ctr"/>
                      <a:r>
                        <a:rPr lang="en-US" sz="1000" b="0" i="0" u="none" strike="noStrike">
                          <a:solidFill>
                            <a:srgbClr val="000000"/>
                          </a:solidFill>
                          <a:effectLst/>
                          <a:latin typeface="Calibri" panose="020F0502020204030204" pitchFamily="34" charset="0"/>
                        </a:rPr>
                        <a:t>Product sticking to your fingers</a:t>
                      </a: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5.0</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2174360225"/>
                  </a:ext>
                </a:extLst>
              </a:tr>
              <a:tr h="17096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77%</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85%</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72%</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81%</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465269688"/>
                  </a:ext>
                </a:extLst>
              </a:tr>
              <a:tr h="170966">
                <a:tc>
                  <a:txBody>
                    <a:bodyPr/>
                    <a:lstStyle/>
                    <a:p>
                      <a:pPr algn="l" fontAlgn="ctr"/>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4769230"/>
                  </a:ext>
                </a:extLst>
              </a:tr>
              <a:tr h="170966">
                <a:tc rowSpan="2">
                  <a:txBody>
                    <a:bodyPr/>
                    <a:lstStyle/>
                    <a:p>
                      <a:pPr algn="l" fontAlgn="ctr"/>
                      <a:r>
                        <a:rPr lang="en-IN" sz="1000" b="0" i="0" u="none" strike="noStrike">
                          <a:solidFill>
                            <a:srgbClr val="000000"/>
                          </a:solidFill>
                          <a:effectLst/>
                          <a:latin typeface="Calibri" panose="020F0502020204030204" pitchFamily="34" charset="0"/>
                        </a:rPr>
                        <a:t>Stickiness</a:t>
                      </a: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5.0</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3845083335"/>
                  </a:ext>
                </a:extLst>
              </a:tr>
              <a:tr h="17096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75%</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000" b="0" i="0" u="none" strike="noStrike">
                          <a:solidFill>
                            <a:srgbClr val="000000"/>
                          </a:solidFill>
                          <a:effectLst/>
                          <a:latin typeface="Calibri" panose="020F0502020204030204" pitchFamily="34" charset="0"/>
                        </a:rPr>
                        <a:t>81%</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000" b="0" i="0" u="none" strike="noStrike" dirty="0">
                          <a:solidFill>
                            <a:srgbClr val="000000"/>
                          </a:solidFill>
                          <a:effectLst/>
                          <a:latin typeface="Calibri" panose="020F0502020204030204" pitchFamily="34" charset="0"/>
                        </a:rPr>
                        <a:t>76%</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74%</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4755578"/>
                  </a:ext>
                </a:extLst>
              </a:tr>
              <a:tr h="170966">
                <a:tc>
                  <a:txBody>
                    <a:bodyPr/>
                    <a:lstStyle/>
                    <a:p>
                      <a:pPr algn="l" fontAlgn="ctr"/>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9751262"/>
                  </a:ext>
                </a:extLst>
              </a:tr>
              <a:tr h="170966">
                <a:tc rowSpan="2">
                  <a:txBody>
                    <a:bodyPr/>
                    <a:lstStyle/>
                    <a:p>
                      <a:pPr algn="l" fontAlgn="ctr"/>
                      <a:r>
                        <a:rPr lang="en-IN" sz="1000" b="0" i="0" u="none" strike="noStrike">
                          <a:solidFill>
                            <a:srgbClr val="000000"/>
                          </a:solidFill>
                          <a:effectLst/>
                          <a:latin typeface="Calibri" panose="020F0502020204030204" pitchFamily="34" charset="0"/>
                        </a:rPr>
                        <a:t>Moistness</a:t>
                      </a: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5.0</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5.0</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4.8</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92D050"/>
                    </a:solidFill>
                  </a:tcPr>
                </a:tc>
                <a:extLst>
                  <a:ext uri="{0D108BD9-81ED-4DB2-BD59-A6C34878D82A}">
                    <a16:rowId xmlns:a16="http://schemas.microsoft.com/office/drawing/2014/main" val="3356340181"/>
                  </a:ext>
                </a:extLst>
              </a:tr>
              <a:tr h="17096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75%</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80%</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69%</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81%</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13412548"/>
                  </a:ext>
                </a:extLst>
              </a:tr>
              <a:tr h="170966">
                <a:tc>
                  <a:txBody>
                    <a:bodyPr/>
                    <a:lstStyle/>
                    <a:p>
                      <a:pPr algn="l" fontAlgn="ctr"/>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4613830"/>
                  </a:ext>
                </a:extLst>
              </a:tr>
              <a:tr h="170966">
                <a:tc rowSpan="2">
                  <a:txBody>
                    <a:bodyPr/>
                    <a:lstStyle/>
                    <a:p>
                      <a:pPr algn="l" fontAlgn="ctr"/>
                      <a:r>
                        <a:rPr lang="en-US" sz="1000" b="0" i="0" u="none" strike="noStrike">
                          <a:solidFill>
                            <a:srgbClr val="000000"/>
                          </a:solidFill>
                          <a:effectLst/>
                          <a:latin typeface="Calibri" panose="020F0502020204030204" pitchFamily="34" charset="0"/>
                        </a:rPr>
                        <a:t>Product retaining the shape (doesn’t break and crumble)</a:t>
                      </a:r>
                    </a:p>
                  </a:txBody>
                  <a:tcPr marL="7328" marR="7328" marT="732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5.3</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7328" marR="7328" marT="7328"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301146272"/>
                  </a:ext>
                </a:extLst>
              </a:tr>
              <a:tr h="288938">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84%</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87%</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84%</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83%</a:t>
                      </a:r>
                    </a:p>
                  </a:txBody>
                  <a:tcPr marL="7328" marR="7328" marT="7328"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660903221"/>
                  </a:ext>
                </a:extLst>
              </a:tr>
            </a:tbl>
          </a:graphicData>
        </a:graphic>
      </p:graphicFrame>
      <p:graphicFrame>
        <p:nvGraphicFramePr>
          <p:cNvPr id="29" name="Table 28">
            <a:extLst>
              <a:ext uri="{FF2B5EF4-FFF2-40B4-BE49-F238E27FC236}">
                <a16:creationId xmlns:a16="http://schemas.microsoft.com/office/drawing/2014/main" id="{E6A02D2C-5190-1F5E-F3DF-8A9BDA1DC878}"/>
              </a:ext>
            </a:extLst>
          </p:cNvPr>
          <p:cNvGraphicFramePr>
            <a:graphicFrameLocks noGrp="1"/>
          </p:cNvGraphicFramePr>
          <p:nvPr/>
        </p:nvGraphicFramePr>
        <p:xfrm>
          <a:off x="6923872" y="911225"/>
          <a:ext cx="4679998" cy="5080608"/>
        </p:xfrm>
        <a:graphic>
          <a:graphicData uri="http://schemas.openxmlformats.org/drawingml/2006/table">
            <a:tbl>
              <a:tblPr/>
              <a:tblGrid>
                <a:gridCol w="1366743">
                  <a:extLst>
                    <a:ext uri="{9D8B030D-6E8A-4147-A177-3AD203B41FA5}">
                      <a16:colId xmlns:a16="http://schemas.microsoft.com/office/drawing/2014/main" val="3161359035"/>
                    </a:ext>
                  </a:extLst>
                </a:gridCol>
                <a:gridCol w="662651">
                  <a:extLst>
                    <a:ext uri="{9D8B030D-6E8A-4147-A177-3AD203B41FA5}">
                      <a16:colId xmlns:a16="http://schemas.microsoft.com/office/drawing/2014/main" val="3405690500"/>
                    </a:ext>
                  </a:extLst>
                </a:gridCol>
                <a:gridCol w="662651">
                  <a:extLst>
                    <a:ext uri="{9D8B030D-6E8A-4147-A177-3AD203B41FA5}">
                      <a16:colId xmlns:a16="http://schemas.microsoft.com/office/drawing/2014/main" val="4233467456"/>
                    </a:ext>
                  </a:extLst>
                </a:gridCol>
                <a:gridCol w="662651">
                  <a:extLst>
                    <a:ext uri="{9D8B030D-6E8A-4147-A177-3AD203B41FA5}">
                      <a16:colId xmlns:a16="http://schemas.microsoft.com/office/drawing/2014/main" val="2652209910"/>
                    </a:ext>
                  </a:extLst>
                </a:gridCol>
                <a:gridCol w="662651">
                  <a:extLst>
                    <a:ext uri="{9D8B030D-6E8A-4147-A177-3AD203B41FA5}">
                      <a16:colId xmlns:a16="http://schemas.microsoft.com/office/drawing/2014/main" val="474015031"/>
                    </a:ext>
                  </a:extLst>
                </a:gridCol>
                <a:gridCol w="662651">
                  <a:extLst>
                    <a:ext uri="{9D8B030D-6E8A-4147-A177-3AD203B41FA5}">
                      <a16:colId xmlns:a16="http://schemas.microsoft.com/office/drawing/2014/main" val="643473055"/>
                    </a:ext>
                  </a:extLst>
                </a:gridCol>
              </a:tblGrid>
              <a:tr h="195408">
                <a:tc>
                  <a:txBody>
                    <a:bodyPr/>
                    <a:lstStyle/>
                    <a:p>
                      <a:pPr algn="l" fontAlgn="b"/>
                      <a:r>
                        <a:rPr lang="en-IN" sz="1000" b="0" i="0" u="none" strike="noStrike">
                          <a:solidFill>
                            <a:srgbClr val="000000"/>
                          </a:solidFill>
                          <a:effectLst/>
                          <a:latin typeface="Calibri" panose="020F0502020204030204" pitchFamily="34" charset="0"/>
                        </a:rPr>
                        <a:t> </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noFill/>
                  </a:tcPr>
                </a:tc>
                <a:tc gridSpan="4">
                  <a:txBody>
                    <a:bodyPr/>
                    <a:lstStyle/>
                    <a:p>
                      <a:pPr algn="ctr" fontAlgn="b"/>
                      <a:r>
                        <a:rPr lang="en-IN" sz="1200" b="0" i="0" u="none" strike="noStrike" dirty="0" err="1">
                          <a:solidFill>
                            <a:srgbClr val="000000"/>
                          </a:solidFill>
                          <a:effectLst/>
                          <a:latin typeface="Calibri" panose="020F0502020204030204" pitchFamily="34" charset="0"/>
                        </a:rPr>
                        <a:t>Likeablity</a:t>
                      </a:r>
                      <a:endParaRPr lang="en-IN" sz="1200" b="0" i="0" u="none" strike="noStrike" dirty="0">
                        <a:solidFill>
                          <a:srgbClr val="000000"/>
                        </a:solidFill>
                        <a:effectLst/>
                        <a:latin typeface="Calibri" panose="020F0502020204030204" pitchFamily="34" charset="0"/>
                      </a:endParaRP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21628688"/>
                  </a:ext>
                </a:extLst>
              </a:tr>
              <a:tr h="195408">
                <a:tc>
                  <a:txBody>
                    <a:bodyPr/>
                    <a:lstStyle/>
                    <a:p>
                      <a:pPr algn="l"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a:noFill/>
                    </a:lnT>
                    <a:lnB>
                      <a:noFill/>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r>
                        <a:rPr lang="en-IN" sz="1000" b="0" i="0" u="none" strike="noStrike">
                          <a:solidFill>
                            <a:srgbClr val="FFFFFF"/>
                          </a:solidFill>
                          <a:effectLst/>
                          <a:latin typeface="Arial" panose="020B0604020202020204" pitchFamily="34" charset="0"/>
                        </a:rPr>
                        <a:t>Total</a:t>
                      </a:r>
                    </a:p>
                  </a:txBody>
                  <a:tcPr marL="8368" marR="8368" marT="83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1000" b="0" i="0" u="none" strike="noStrike">
                          <a:solidFill>
                            <a:srgbClr val="000000"/>
                          </a:solidFill>
                          <a:effectLst/>
                          <a:latin typeface="Arial" panose="020B0604020202020204" pitchFamily="34" charset="0"/>
                        </a:rPr>
                        <a:t>Monadic</a:t>
                      </a:r>
                    </a:p>
                  </a:txBody>
                  <a:tcPr marL="8368" marR="8368" marT="83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000" b="0" i="0" u="none" strike="noStrike">
                          <a:solidFill>
                            <a:srgbClr val="000000"/>
                          </a:solidFill>
                          <a:effectLst/>
                          <a:latin typeface="Arial" panose="020B0604020202020204" pitchFamily="34" charset="0"/>
                        </a:rPr>
                        <a:t>Mumbai</a:t>
                      </a:r>
                    </a:p>
                  </a:txBody>
                  <a:tcPr marL="8368" marR="8368" marT="83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IN" sz="1000" b="0" i="0" u="none" strike="noStrike">
                          <a:solidFill>
                            <a:srgbClr val="000000"/>
                          </a:solidFill>
                          <a:effectLst/>
                          <a:latin typeface="Arial" panose="020B0604020202020204" pitchFamily="34" charset="0"/>
                        </a:rPr>
                        <a:t>Delhi</a:t>
                      </a:r>
                    </a:p>
                  </a:txBody>
                  <a:tcPr marL="8368" marR="8368" marT="83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729672877"/>
                  </a:ext>
                </a:extLst>
              </a:tr>
              <a:tr h="195408">
                <a:tc>
                  <a:txBody>
                    <a:bodyPr/>
                    <a:lstStyle/>
                    <a:p>
                      <a:pPr algn="l"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a:solidFill>
                            <a:srgbClr val="FFFFFF"/>
                          </a:solidFill>
                          <a:effectLst/>
                          <a:latin typeface="Arial" panose="020B0604020202020204" pitchFamily="34" charset="0"/>
                        </a:rPr>
                        <a:t>FS 18</a:t>
                      </a:r>
                    </a:p>
                  </a:txBody>
                  <a:tcPr marL="8368" marR="8368" marT="83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8368" marR="8368" marT="83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8368" marR="8368" marT="83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8368" marR="8368" marT="83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337009278"/>
                  </a:ext>
                </a:extLst>
              </a:tr>
              <a:tr h="195408">
                <a:tc rowSpan="2">
                  <a:txBody>
                    <a:bodyPr/>
                    <a:lstStyle/>
                    <a:p>
                      <a:pPr algn="l" fontAlgn="ctr"/>
                      <a:r>
                        <a:rPr lang="en-IN" sz="1000" b="0" i="0" u="none" strike="noStrike">
                          <a:solidFill>
                            <a:srgbClr val="000000"/>
                          </a:solidFill>
                          <a:effectLst/>
                          <a:latin typeface="Calibri" panose="020F0502020204030204" pitchFamily="34" charset="0"/>
                        </a:rPr>
                        <a:t>Sweetness</a:t>
                      </a: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5.3</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5.0</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328403995"/>
                  </a:ext>
                </a:extLst>
              </a:tr>
              <a:tr h="195408">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80%</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89%</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78%</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81%</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449121892"/>
                  </a:ext>
                </a:extLst>
              </a:tr>
              <a:tr h="195408">
                <a:tc>
                  <a:txBody>
                    <a:bodyPr/>
                    <a:lstStyle/>
                    <a:p>
                      <a:pPr algn="l" fontAlgn="ctr"/>
                      <a:endParaRPr lang="en-IN" sz="1000" b="0" i="0" u="none" strike="noStrike">
                        <a:solidFill>
                          <a:srgbClr val="000000"/>
                        </a:solidFill>
                        <a:effectLst/>
                        <a:latin typeface="Calibri" panose="020F0502020204030204" pitchFamily="34" charset="0"/>
                      </a:endParaRP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0503192"/>
                  </a:ext>
                </a:extLst>
              </a:tr>
              <a:tr h="195408">
                <a:tc rowSpan="2">
                  <a:txBody>
                    <a:bodyPr/>
                    <a:lstStyle/>
                    <a:p>
                      <a:pPr algn="l" fontAlgn="ctr"/>
                      <a:r>
                        <a:rPr lang="en-IN" sz="1000" b="0" i="0" u="none" strike="noStrike" dirty="0">
                          <a:solidFill>
                            <a:srgbClr val="000000"/>
                          </a:solidFill>
                          <a:effectLst/>
                          <a:latin typeface="Calibri" panose="020F0502020204030204" pitchFamily="34" charset="0"/>
                        </a:rPr>
                        <a:t>Bitterness</a:t>
                      </a: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4.7</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4.9</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4.4</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5.0</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1858614539"/>
                  </a:ext>
                </a:extLst>
              </a:tr>
              <a:tr h="195408">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64%</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70%</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77%</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58128775"/>
                  </a:ext>
                </a:extLst>
              </a:tr>
              <a:tr h="195408">
                <a:tc>
                  <a:txBody>
                    <a:bodyPr/>
                    <a:lstStyle/>
                    <a:p>
                      <a:pPr algn="l" fontAlgn="ctr"/>
                      <a:endParaRPr lang="en-IN" sz="1000" b="0" i="0" u="none" strike="noStrike">
                        <a:solidFill>
                          <a:srgbClr val="000000"/>
                        </a:solidFill>
                        <a:effectLst/>
                        <a:latin typeface="Calibri" panose="020F0502020204030204" pitchFamily="34" charset="0"/>
                      </a:endParaRP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400482"/>
                  </a:ext>
                </a:extLst>
              </a:tr>
              <a:tr h="195408">
                <a:tc rowSpan="2">
                  <a:txBody>
                    <a:bodyPr/>
                    <a:lstStyle/>
                    <a:p>
                      <a:pPr algn="l" fontAlgn="ctr"/>
                      <a:r>
                        <a:rPr lang="en-IN" sz="1000" b="0" i="0" u="none" strike="noStrike">
                          <a:solidFill>
                            <a:srgbClr val="000000"/>
                          </a:solidFill>
                          <a:effectLst/>
                          <a:latin typeface="Calibri" panose="020F0502020204030204" pitchFamily="34" charset="0"/>
                        </a:rPr>
                        <a:t>Chocolatiness </a:t>
                      </a: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b"/>
                      <a:r>
                        <a:rPr lang="en-IN" sz="1000" b="0" i="0" u="none" strike="noStrike">
                          <a:solidFill>
                            <a:srgbClr val="000000"/>
                          </a:solidFill>
                          <a:effectLst/>
                          <a:latin typeface="Calibri" panose="020F0502020204030204" pitchFamily="34" charset="0"/>
                        </a:rPr>
                        <a:t>5.4</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b"/>
                      <a:r>
                        <a:rPr lang="en-IN" sz="1000" b="0" i="0" u="none" strike="noStrike" dirty="0">
                          <a:solidFill>
                            <a:srgbClr val="000000"/>
                          </a:solidFill>
                          <a:effectLst/>
                          <a:latin typeface="Calibri" panose="020F0502020204030204" pitchFamily="34" charset="0"/>
                        </a:rPr>
                        <a:t>5.2</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123786055"/>
                  </a:ext>
                </a:extLst>
              </a:tr>
              <a:tr h="195408">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97%</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50%</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49%</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48%</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756793698"/>
                  </a:ext>
                </a:extLst>
              </a:tr>
              <a:tr h="195408">
                <a:tc>
                  <a:txBody>
                    <a:bodyPr/>
                    <a:lstStyle/>
                    <a:p>
                      <a:pPr algn="l" fontAlgn="ctr"/>
                      <a:endParaRPr lang="en-IN" sz="1000" b="0" i="0" u="none" strike="noStrike">
                        <a:solidFill>
                          <a:srgbClr val="000000"/>
                        </a:solidFill>
                        <a:effectLst/>
                        <a:latin typeface="Calibri" panose="020F0502020204030204" pitchFamily="34" charset="0"/>
                      </a:endParaRP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2361180"/>
                  </a:ext>
                </a:extLst>
              </a:tr>
              <a:tr h="195408">
                <a:tc rowSpan="2">
                  <a:txBody>
                    <a:bodyPr/>
                    <a:lstStyle/>
                    <a:p>
                      <a:pPr algn="l" fontAlgn="ctr"/>
                      <a:r>
                        <a:rPr lang="en-US" sz="1000" b="0" i="0" u="none" strike="noStrike">
                          <a:solidFill>
                            <a:srgbClr val="000000"/>
                          </a:solidFill>
                          <a:effectLst/>
                          <a:latin typeface="Calibri" panose="020F0502020204030204" pitchFamily="34" charset="0"/>
                        </a:rPr>
                        <a:t>Cake like flavor of the product</a:t>
                      </a: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5.2</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5.0</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5.3</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3471024944"/>
                  </a:ext>
                </a:extLst>
              </a:tr>
              <a:tr h="195408">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80%</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84%</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78%</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83%</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85580729"/>
                  </a:ext>
                </a:extLst>
              </a:tr>
              <a:tr h="195408">
                <a:tc>
                  <a:txBody>
                    <a:bodyPr/>
                    <a:lstStyle/>
                    <a:p>
                      <a:pPr algn="l" fontAlgn="ctr"/>
                      <a:endParaRPr lang="en-IN" sz="1000" b="0" i="0" u="none" strike="noStrike">
                        <a:solidFill>
                          <a:srgbClr val="000000"/>
                        </a:solidFill>
                        <a:effectLst/>
                        <a:latin typeface="Calibri" panose="020F0502020204030204" pitchFamily="34" charset="0"/>
                      </a:endParaRP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8911400"/>
                  </a:ext>
                </a:extLst>
              </a:tr>
              <a:tr h="195408">
                <a:tc rowSpan="2">
                  <a:txBody>
                    <a:bodyPr/>
                    <a:lstStyle/>
                    <a:p>
                      <a:pPr algn="l" fontAlgn="ctr"/>
                      <a:r>
                        <a:rPr lang="en-IN" sz="1000" b="0" i="0" u="none" strike="noStrike">
                          <a:solidFill>
                            <a:srgbClr val="000000"/>
                          </a:solidFill>
                          <a:effectLst/>
                          <a:latin typeface="Calibri" panose="020F0502020204030204" pitchFamily="34" charset="0"/>
                        </a:rPr>
                        <a:t>Dissolves in your mouth</a:t>
                      </a: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5.2</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5.4</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3104722818"/>
                  </a:ext>
                </a:extLst>
              </a:tr>
              <a:tr h="195408">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79%</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88%</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79%</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78%</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602808069"/>
                  </a:ext>
                </a:extLst>
              </a:tr>
              <a:tr h="195408">
                <a:tc>
                  <a:txBody>
                    <a:bodyPr/>
                    <a:lstStyle/>
                    <a:p>
                      <a:pPr algn="l" fontAlgn="ctr"/>
                      <a:endParaRPr lang="en-IN" sz="1000" b="0" i="0" u="none" strike="noStrike">
                        <a:solidFill>
                          <a:srgbClr val="000000"/>
                        </a:solidFill>
                        <a:effectLst/>
                        <a:latin typeface="Calibri" panose="020F0502020204030204" pitchFamily="34" charset="0"/>
                      </a:endParaRP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6430513"/>
                  </a:ext>
                </a:extLst>
              </a:tr>
              <a:tr h="195408">
                <a:tc rowSpan="2">
                  <a:txBody>
                    <a:bodyPr/>
                    <a:lstStyle/>
                    <a:p>
                      <a:pPr algn="l" fontAlgn="ctr"/>
                      <a:r>
                        <a:rPr lang="en-IN" sz="1000" b="0" i="0" u="none" strike="noStrike">
                          <a:solidFill>
                            <a:srgbClr val="000000"/>
                          </a:solidFill>
                          <a:effectLst/>
                          <a:latin typeface="Calibri" panose="020F0502020204030204" pitchFamily="34" charset="0"/>
                        </a:rPr>
                        <a:t>Sweet lingering taste</a:t>
                      </a: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5.2</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5.3</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b"/>
                      <a:r>
                        <a:rPr lang="en-IN" sz="1000" b="0" i="0" u="none" strike="noStrike" dirty="0">
                          <a:solidFill>
                            <a:srgbClr val="000000"/>
                          </a:solidFill>
                          <a:effectLst/>
                          <a:latin typeface="Calibri" panose="020F0502020204030204" pitchFamily="34" charset="0"/>
                        </a:rPr>
                        <a:t>5.2</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92D050"/>
                    </a:solidFill>
                  </a:tcPr>
                </a:tc>
                <a:extLst>
                  <a:ext uri="{0D108BD9-81ED-4DB2-BD59-A6C34878D82A}">
                    <a16:rowId xmlns:a16="http://schemas.microsoft.com/office/drawing/2014/main" val="2066265837"/>
                  </a:ext>
                </a:extLst>
              </a:tr>
              <a:tr h="195408">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81%</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000" b="0" i="0" u="none" strike="noStrike">
                          <a:solidFill>
                            <a:srgbClr val="000000"/>
                          </a:solidFill>
                          <a:effectLst/>
                          <a:latin typeface="Calibri" panose="020F0502020204030204" pitchFamily="34" charset="0"/>
                        </a:rPr>
                        <a:t>90%</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000" b="0" i="0" u="none" strike="noStrike" dirty="0">
                          <a:solidFill>
                            <a:srgbClr val="000000"/>
                          </a:solidFill>
                          <a:effectLst/>
                          <a:latin typeface="Calibri" panose="020F0502020204030204" pitchFamily="34" charset="0"/>
                        </a:rPr>
                        <a:t>83%</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79%</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066553438"/>
                  </a:ext>
                </a:extLst>
              </a:tr>
              <a:tr h="195408">
                <a:tc>
                  <a:txBody>
                    <a:bodyPr/>
                    <a:lstStyle/>
                    <a:p>
                      <a:pPr algn="l" fontAlgn="ctr"/>
                      <a:endParaRPr lang="en-IN" sz="1000" b="0" i="0" u="none" strike="noStrike">
                        <a:solidFill>
                          <a:srgbClr val="000000"/>
                        </a:solidFill>
                        <a:effectLst/>
                        <a:latin typeface="Calibri" panose="020F0502020204030204" pitchFamily="34" charset="0"/>
                      </a:endParaRP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4068651"/>
                  </a:ext>
                </a:extLst>
              </a:tr>
              <a:tr h="195408">
                <a:tc rowSpan="2">
                  <a:txBody>
                    <a:bodyPr/>
                    <a:lstStyle/>
                    <a:p>
                      <a:pPr algn="l" fontAlgn="ctr"/>
                      <a:r>
                        <a:rPr lang="en-IN" sz="1000" b="0" i="0" u="none" strike="noStrike">
                          <a:solidFill>
                            <a:srgbClr val="000000"/>
                          </a:solidFill>
                          <a:effectLst/>
                          <a:latin typeface="Calibri" panose="020F0502020204030204" pitchFamily="34" charset="0"/>
                        </a:rPr>
                        <a:t>Lingering chocolatiness </a:t>
                      </a: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b"/>
                      <a:r>
                        <a:rPr lang="en-IN" sz="1000" b="0" i="0" u="none" strike="noStrike">
                          <a:solidFill>
                            <a:srgbClr val="000000"/>
                          </a:solidFill>
                          <a:effectLst/>
                          <a:latin typeface="Calibri" panose="020F0502020204030204" pitchFamily="34" charset="0"/>
                        </a:rPr>
                        <a:t>5.3</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5.1</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3703401084"/>
                  </a:ext>
                </a:extLst>
              </a:tr>
              <a:tr h="195408">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78%</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86%</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000" b="0" i="0" u="none" strike="noStrike" dirty="0">
                          <a:solidFill>
                            <a:srgbClr val="000000"/>
                          </a:solidFill>
                          <a:effectLst/>
                          <a:latin typeface="Calibri" panose="020F0502020204030204" pitchFamily="34" charset="0"/>
                        </a:rPr>
                        <a:t>78%</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77%</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347469147"/>
                  </a:ext>
                </a:extLst>
              </a:tr>
              <a:tr h="195408">
                <a:tc>
                  <a:txBody>
                    <a:bodyPr/>
                    <a:lstStyle/>
                    <a:p>
                      <a:pPr algn="l" fontAlgn="ctr"/>
                      <a:endParaRPr lang="en-IN" sz="1000" b="0" i="0" u="none" strike="noStrike">
                        <a:solidFill>
                          <a:srgbClr val="000000"/>
                        </a:solidFill>
                        <a:effectLst/>
                        <a:latin typeface="Calibri" panose="020F0502020204030204" pitchFamily="34" charset="0"/>
                      </a:endParaRP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8368" marR="8368" marT="836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5031711"/>
                  </a:ext>
                </a:extLst>
              </a:tr>
              <a:tr h="195408">
                <a:tc rowSpan="2">
                  <a:txBody>
                    <a:bodyPr/>
                    <a:lstStyle/>
                    <a:p>
                      <a:pPr algn="l" fontAlgn="ctr"/>
                      <a:r>
                        <a:rPr lang="en-IN" sz="1000" b="0" i="0" u="none" strike="noStrike">
                          <a:solidFill>
                            <a:srgbClr val="000000"/>
                          </a:solidFill>
                          <a:effectLst/>
                          <a:latin typeface="Calibri" panose="020F0502020204030204" pitchFamily="34" charset="0"/>
                        </a:rPr>
                        <a:t>Overall liking</a:t>
                      </a:r>
                    </a:p>
                  </a:txBody>
                  <a:tcPr marL="8368" marR="8368" marT="836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5.2</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5.4</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5.3</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5.1</a:t>
                      </a:r>
                    </a:p>
                  </a:txBody>
                  <a:tcPr marL="8368" marR="8368" marT="8368" marB="0" anchor="b">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1715097653"/>
                  </a:ext>
                </a:extLst>
              </a:tr>
              <a:tr h="195408">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80%</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000" b="0" i="0" u="none" strike="noStrike">
                          <a:solidFill>
                            <a:srgbClr val="000000"/>
                          </a:solidFill>
                          <a:effectLst/>
                          <a:latin typeface="Calibri" panose="020F0502020204030204" pitchFamily="34" charset="0"/>
                        </a:rPr>
                        <a:t>93%</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81%</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78%</a:t>
                      </a:r>
                    </a:p>
                  </a:txBody>
                  <a:tcPr marL="8368" marR="8368" marT="8368" marB="0" anchor="b">
                    <a:lnL>
                      <a:noFill/>
                    </a:lnL>
                    <a:lnR>
                      <a:noFill/>
                    </a:lnR>
                    <a:lnT>
                      <a:noFill/>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16593958"/>
                  </a:ext>
                </a:extLst>
              </a:tr>
            </a:tbl>
          </a:graphicData>
        </a:graphic>
      </p:graphicFrame>
      <p:graphicFrame>
        <p:nvGraphicFramePr>
          <p:cNvPr id="30" name="Chart 29">
            <a:extLst>
              <a:ext uri="{FF2B5EF4-FFF2-40B4-BE49-F238E27FC236}">
                <a16:creationId xmlns:a16="http://schemas.microsoft.com/office/drawing/2014/main" id="{E0E8D57D-0B89-5144-4554-513D21559559}"/>
              </a:ext>
            </a:extLst>
          </p:cNvPr>
          <p:cNvGraphicFramePr/>
          <p:nvPr/>
        </p:nvGraphicFramePr>
        <p:xfrm>
          <a:off x="14283" y="976050"/>
          <a:ext cx="1243005" cy="5008213"/>
        </p:xfrm>
        <a:graphic>
          <a:graphicData uri="http://schemas.openxmlformats.org/drawingml/2006/chart">
            <c:chart xmlns:c="http://schemas.openxmlformats.org/drawingml/2006/chart" xmlns:r="http://schemas.openxmlformats.org/officeDocument/2006/relationships" r:id="rId2"/>
          </a:graphicData>
        </a:graphic>
      </p:graphicFrame>
      <p:sp>
        <p:nvSpPr>
          <p:cNvPr id="31" name="TextBox 30">
            <a:extLst>
              <a:ext uri="{FF2B5EF4-FFF2-40B4-BE49-F238E27FC236}">
                <a16:creationId xmlns:a16="http://schemas.microsoft.com/office/drawing/2014/main" id="{D8CCDEC8-82A4-BA46-78CB-B8679F77D1B2}"/>
              </a:ext>
            </a:extLst>
          </p:cNvPr>
          <p:cNvSpPr txBox="1"/>
          <p:nvPr/>
        </p:nvSpPr>
        <p:spPr>
          <a:xfrm>
            <a:off x="498568" y="1965420"/>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graphicFrame>
        <p:nvGraphicFramePr>
          <p:cNvPr id="32" name="Table 31">
            <a:extLst>
              <a:ext uri="{FF2B5EF4-FFF2-40B4-BE49-F238E27FC236}">
                <a16:creationId xmlns:a16="http://schemas.microsoft.com/office/drawing/2014/main" id="{BD5F5974-EE42-7C02-C7DD-94864AD7DE5C}"/>
              </a:ext>
            </a:extLst>
          </p:cNvPr>
          <p:cNvGraphicFramePr>
            <a:graphicFrameLocks noGrp="1"/>
          </p:cNvGraphicFramePr>
          <p:nvPr>
            <p:extLst>
              <p:ext uri="{D42A27DB-BD31-4B8C-83A1-F6EECF244321}">
                <p14:modId xmlns:p14="http://schemas.microsoft.com/office/powerpoint/2010/main" val="3790836452"/>
              </p:ext>
            </p:extLst>
          </p:nvPr>
        </p:nvGraphicFramePr>
        <p:xfrm>
          <a:off x="14283" y="6429368"/>
          <a:ext cx="2700000" cy="381000"/>
        </p:xfrm>
        <a:graphic>
          <a:graphicData uri="http://schemas.openxmlformats.org/drawingml/2006/table">
            <a:tbl>
              <a:tblPr/>
              <a:tblGrid>
                <a:gridCol w="2700000">
                  <a:extLst>
                    <a:ext uri="{9D8B030D-6E8A-4147-A177-3AD203B41FA5}">
                      <a16:colId xmlns:a16="http://schemas.microsoft.com/office/drawing/2014/main" val="3248818770"/>
                    </a:ext>
                  </a:extLst>
                </a:gridCol>
              </a:tblGrid>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better than CB 24 @ 95%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299344285"/>
                  </a:ext>
                </a:extLst>
              </a:tr>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better than CB 24 @ 90%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135679168"/>
                  </a:ext>
                </a:extLst>
              </a:tr>
            </a:tbl>
          </a:graphicData>
        </a:graphic>
      </p:graphicFrame>
      <p:graphicFrame>
        <p:nvGraphicFramePr>
          <p:cNvPr id="33" name="Table 32">
            <a:extLst>
              <a:ext uri="{FF2B5EF4-FFF2-40B4-BE49-F238E27FC236}">
                <a16:creationId xmlns:a16="http://schemas.microsoft.com/office/drawing/2014/main" id="{8D8113DE-A607-AE17-1C70-D6DBB8AB46C4}"/>
              </a:ext>
            </a:extLst>
          </p:cNvPr>
          <p:cNvGraphicFramePr>
            <a:graphicFrameLocks noGrp="1"/>
          </p:cNvGraphicFramePr>
          <p:nvPr>
            <p:extLst>
              <p:ext uri="{D42A27DB-BD31-4B8C-83A1-F6EECF244321}">
                <p14:modId xmlns:p14="http://schemas.microsoft.com/office/powerpoint/2010/main" val="4203762158"/>
              </p:ext>
            </p:extLst>
          </p:nvPr>
        </p:nvGraphicFramePr>
        <p:xfrm>
          <a:off x="2747160" y="6429368"/>
          <a:ext cx="2700000" cy="381000"/>
        </p:xfrm>
        <a:graphic>
          <a:graphicData uri="http://schemas.openxmlformats.org/drawingml/2006/table">
            <a:tbl>
              <a:tblPr/>
              <a:tblGrid>
                <a:gridCol w="2700000">
                  <a:extLst>
                    <a:ext uri="{9D8B030D-6E8A-4147-A177-3AD203B41FA5}">
                      <a16:colId xmlns:a16="http://schemas.microsoft.com/office/drawing/2014/main" val="1714109665"/>
                    </a:ext>
                  </a:extLst>
                </a:gridCol>
              </a:tblGrid>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inferior than CB 24 @ 95%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954038242"/>
                  </a:ext>
                </a:extLst>
              </a:tr>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inferior than CB 24 @ 90%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1297679779"/>
                  </a:ext>
                </a:extLst>
              </a:tr>
            </a:tbl>
          </a:graphicData>
        </a:graphic>
      </p:graphicFrame>
      <p:sp>
        <p:nvSpPr>
          <p:cNvPr id="34" name="TextBox 33">
            <a:extLst>
              <a:ext uri="{FF2B5EF4-FFF2-40B4-BE49-F238E27FC236}">
                <a16:creationId xmlns:a16="http://schemas.microsoft.com/office/drawing/2014/main" id="{1F971884-53B6-33AC-B8A7-3C35ADAB479E}"/>
              </a:ext>
            </a:extLst>
          </p:cNvPr>
          <p:cNvSpPr txBox="1"/>
          <p:nvPr/>
        </p:nvSpPr>
        <p:spPr>
          <a:xfrm rot="16200000">
            <a:off x="-301447" y="3475166"/>
            <a:ext cx="861454" cy="276999"/>
          </a:xfrm>
          <a:prstGeom prst="rect">
            <a:avLst/>
          </a:prstGeom>
          <a:noFill/>
        </p:spPr>
        <p:txBody>
          <a:bodyPr wrap="none" rtlCol="0">
            <a:spAutoFit/>
          </a:bodyPr>
          <a:lstStyle/>
          <a:p>
            <a:r>
              <a:rPr lang="en-IN" sz="1200" dirty="0">
                <a:solidFill>
                  <a:schemeClr val="bg1">
                    <a:lumMod val="50000"/>
                  </a:schemeClr>
                </a:solidFill>
              </a:rPr>
              <a:t>Preference</a:t>
            </a:r>
          </a:p>
        </p:txBody>
      </p:sp>
      <p:sp>
        <p:nvSpPr>
          <p:cNvPr id="2" name="Title 1">
            <a:extLst>
              <a:ext uri="{FF2B5EF4-FFF2-40B4-BE49-F238E27FC236}">
                <a16:creationId xmlns:a16="http://schemas.microsoft.com/office/drawing/2014/main" id="{5CA5C04D-6C16-4BDE-B28E-99EA514313C9}"/>
              </a:ext>
            </a:extLst>
          </p:cNvPr>
          <p:cNvSpPr>
            <a:spLocks noGrp="1"/>
          </p:cNvSpPr>
          <p:nvPr>
            <p:ph type="title"/>
          </p:nvPr>
        </p:nvSpPr>
        <p:spPr>
          <a:xfrm>
            <a:off x="0" y="0"/>
            <a:ext cx="12192000" cy="749300"/>
          </a:xfrm>
          <a:solidFill>
            <a:srgbClr val="002060"/>
          </a:solidFill>
        </p:spPr>
        <p:txBody>
          <a:bodyPr anchor="ctr">
            <a:normAutofit/>
          </a:bodyPr>
          <a:lstStyle/>
          <a:p>
            <a:r>
              <a:rPr lang="en-US" sz="3200" b="1" dirty="0">
                <a:solidFill>
                  <a:schemeClr val="bg1"/>
                </a:solidFill>
              </a:rPr>
              <a:t>Attributes summary of product FS 18</a:t>
            </a:r>
            <a:endParaRPr lang="en-IN" sz="3200" b="1" dirty="0">
              <a:solidFill>
                <a:schemeClr val="bg1"/>
              </a:solidFill>
            </a:endParaRPr>
          </a:p>
        </p:txBody>
      </p:sp>
      <p:sp>
        <p:nvSpPr>
          <p:cNvPr id="4" name="TextBox 3">
            <a:extLst>
              <a:ext uri="{FF2B5EF4-FFF2-40B4-BE49-F238E27FC236}">
                <a16:creationId xmlns:a16="http://schemas.microsoft.com/office/drawing/2014/main" id="{24DB9E99-2600-F5CD-99DC-617B837ABAF6}"/>
              </a:ext>
            </a:extLst>
          </p:cNvPr>
          <p:cNvSpPr txBox="1"/>
          <p:nvPr/>
        </p:nvSpPr>
        <p:spPr>
          <a:xfrm>
            <a:off x="5457821" y="6439125"/>
            <a:ext cx="1620000" cy="180000"/>
          </a:xfrm>
          <a:prstGeom prst="rect">
            <a:avLst/>
          </a:prstGeom>
          <a:solidFill>
            <a:srgbClr val="FFFF00"/>
          </a:solidFill>
        </p:spPr>
        <p:txBody>
          <a:bodyPr wrap="square" rtlCol="0" anchor="ctr">
            <a:spAutoFit/>
          </a:bodyPr>
          <a:lstStyle/>
          <a:p>
            <a:r>
              <a:rPr lang="en-US" sz="1000" i="1" dirty="0"/>
              <a:t>FS 18 is parity with CB 24</a:t>
            </a:r>
            <a:endParaRPr lang="en-IN" sz="1000" i="1" dirty="0"/>
          </a:p>
        </p:txBody>
      </p:sp>
      <p:sp>
        <p:nvSpPr>
          <p:cNvPr id="5" name="TextBox 4">
            <a:extLst>
              <a:ext uri="{FF2B5EF4-FFF2-40B4-BE49-F238E27FC236}">
                <a16:creationId xmlns:a16="http://schemas.microsoft.com/office/drawing/2014/main" id="{0A6324D6-4E49-1FF3-207A-C7906DD57B91}"/>
              </a:ext>
            </a:extLst>
          </p:cNvPr>
          <p:cNvSpPr txBox="1"/>
          <p:nvPr/>
        </p:nvSpPr>
        <p:spPr>
          <a:xfrm>
            <a:off x="128587" y="6057898"/>
            <a:ext cx="12049129" cy="276999"/>
          </a:xfrm>
          <a:prstGeom prst="rect">
            <a:avLst/>
          </a:prstGeom>
          <a:noFill/>
        </p:spPr>
        <p:txBody>
          <a:bodyPr wrap="square" rtlCol="0">
            <a:spAutoFit/>
          </a:bodyPr>
          <a:lstStyle/>
          <a:p>
            <a:pPr algn="ctr"/>
            <a:r>
              <a:rPr lang="en-US" sz="1200" dirty="0"/>
              <a:t>FS 18 is significantly liked and parity to CB 24 at TTB and mean scores. No inferior score has been noticed for FS 18 against CB 24.</a:t>
            </a:r>
            <a:endParaRPr lang="en-IN" sz="1200" dirty="0"/>
          </a:p>
        </p:txBody>
      </p:sp>
    </p:spTree>
    <p:extLst>
      <p:ext uri="{BB962C8B-B14F-4D97-AF65-F5344CB8AC3E}">
        <p14:creationId xmlns:p14="http://schemas.microsoft.com/office/powerpoint/2010/main" val="1248567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5" name="Table 24">
            <a:extLst>
              <a:ext uri="{FF2B5EF4-FFF2-40B4-BE49-F238E27FC236}">
                <a16:creationId xmlns:a16="http://schemas.microsoft.com/office/drawing/2014/main" id="{9BD22125-B1AE-EE0B-FE1C-26B039935FB1}"/>
              </a:ext>
            </a:extLst>
          </p:cNvPr>
          <p:cNvGraphicFramePr>
            <a:graphicFrameLocks noGrp="1"/>
          </p:cNvGraphicFramePr>
          <p:nvPr/>
        </p:nvGraphicFramePr>
        <p:xfrm>
          <a:off x="2513101" y="945001"/>
          <a:ext cx="7200001" cy="4967998"/>
        </p:xfrm>
        <a:graphic>
          <a:graphicData uri="http://schemas.openxmlformats.org/drawingml/2006/table">
            <a:tbl>
              <a:tblPr/>
              <a:tblGrid>
                <a:gridCol w="3023581">
                  <a:extLst>
                    <a:ext uri="{9D8B030D-6E8A-4147-A177-3AD203B41FA5}">
                      <a16:colId xmlns:a16="http://schemas.microsoft.com/office/drawing/2014/main" val="3258589104"/>
                    </a:ext>
                  </a:extLst>
                </a:gridCol>
                <a:gridCol w="1044105">
                  <a:extLst>
                    <a:ext uri="{9D8B030D-6E8A-4147-A177-3AD203B41FA5}">
                      <a16:colId xmlns:a16="http://schemas.microsoft.com/office/drawing/2014/main" val="1131527176"/>
                    </a:ext>
                  </a:extLst>
                </a:gridCol>
                <a:gridCol w="1044105">
                  <a:extLst>
                    <a:ext uri="{9D8B030D-6E8A-4147-A177-3AD203B41FA5}">
                      <a16:colId xmlns:a16="http://schemas.microsoft.com/office/drawing/2014/main" val="931360299"/>
                    </a:ext>
                  </a:extLst>
                </a:gridCol>
                <a:gridCol w="1044105">
                  <a:extLst>
                    <a:ext uri="{9D8B030D-6E8A-4147-A177-3AD203B41FA5}">
                      <a16:colId xmlns:a16="http://schemas.microsoft.com/office/drawing/2014/main" val="2258724680"/>
                    </a:ext>
                  </a:extLst>
                </a:gridCol>
                <a:gridCol w="1044105">
                  <a:extLst>
                    <a:ext uri="{9D8B030D-6E8A-4147-A177-3AD203B41FA5}">
                      <a16:colId xmlns:a16="http://schemas.microsoft.com/office/drawing/2014/main" val="351202445"/>
                    </a:ext>
                  </a:extLst>
                </a:gridCol>
              </a:tblGrid>
              <a:tr h="354857">
                <a:tc>
                  <a:txBody>
                    <a:bodyPr/>
                    <a:lstStyle/>
                    <a:p>
                      <a:pPr algn="l" fontAlgn="b"/>
                      <a:r>
                        <a:rPr lang="en-IN" sz="1200" b="0" i="0" u="none" strike="noStrike" dirty="0">
                          <a:solidFill>
                            <a:srgbClr val="000000"/>
                          </a:solidFill>
                          <a:effectLst/>
                          <a:latin typeface="Calibri" panose="020F0502020204030204" pitchFamily="34" charset="0"/>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noFill/>
                  </a:tcPr>
                </a:tc>
                <a:tc gridSpan="4">
                  <a:txBody>
                    <a:bodyPr/>
                    <a:lstStyle/>
                    <a:p>
                      <a:pPr algn="ctr" fontAlgn="b"/>
                      <a:r>
                        <a:rPr lang="en-IN" sz="1200" b="0" i="0" u="none" strike="noStrike" dirty="0">
                          <a:solidFill>
                            <a:srgbClr val="000000"/>
                          </a:solidFill>
                          <a:effectLst/>
                          <a:latin typeface="Calibri" panose="020F0502020204030204" pitchFamily="34" charset="0"/>
                        </a:rPr>
                        <a:t>JAR</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91023281"/>
                  </a:ext>
                </a:extLst>
              </a:tr>
              <a:tr h="354857">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noFill/>
                  </a:tcPr>
                </a:tc>
                <a:tc>
                  <a:txBody>
                    <a:bodyPr/>
                    <a:lstStyle/>
                    <a:p>
                      <a:pPr algn="ctr" fontAlgn="ctr"/>
                      <a:r>
                        <a:rPr lang="en-IN" sz="1200" b="0" i="0" u="none" strike="noStrike">
                          <a:solidFill>
                            <a:srgbClr val="FFFFFF"/>
                          </a:solidFill>
                          <a:effectLst/>
                          <a:latin typeface="Arial" panose="020B0604020202020204" pitchFamily="34" charset="0"/>
                        </a:rPr>
                        <a:t>Total</a:t>
                      </a:r>
                    </a:p>
                  </a:txBody>
                  <a:tcPr marL="9525" marR="9525" marT="9525"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1200" b="0" i="0" u="none" strike="noStrike" dirty="0">
                          <a:solidFill>
                            <a:srgbClr val="000000"/>
                          </a:solidFill>
                          <a:effectLst/>
                          <a:latin typeface="Arial" panose="020B0604020202020204" pitchFamily="34" charset="0"/>
                        </a:rPr>
                        <a:t>Monadic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200" b="0" i="0" u="none" strike="noStrike" dirty="0">
                          <a:solidFill>
                            <a:srgbClr val="000000"/>
                          </a:solidFill>
                          <a:effectLst/>
                          <a:latin typeface="Arial" panose="020B0604020202020204" pitchFamily="34" charset="0"/>
                        </a:rPr>
                        <a:t>Mumbai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IN" sz="1200" b="0" i="0" u="none" strike="noStrike">
                          <a:solidFill>
                            <a:srgbClr val="000000"/>
                          </a:solidFill>
                          <a:effectLst/>
                          <a:latin typeface="Arial" panose="020B0604020202020204" pitchFamily="34" charset="0"/>
                        </a:rPr>
                        <a:t>Delhi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01472786"/>
                  </a:ext>
                </a:extLst>
              </a:tr>
              <a:tr h="354857">
                <a:tc>
                  <a:txBody>
                    <a:bodyPr/>
                    <a:lstStyle/>
                    <a:p>
                      <a:pPr algn="l" fontAlgn="b"/>
                      <a:r>
                        <a:rPr lang="en-IN" sz="1200" b="0" i="0" u="none" strike="noStrike">
                          <a:solidFill>
                            <a:srgbClr val="000000"/>
                          </a:solidFill>
                          <a:effectLst/>
                          <a:latin typeface="Calibri" panose="020F0502020204030204" pitchFamily="34" charset="0"/>
                        </a:rPr>
                        <a:t>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en-IN" sz="1200" b="0" i="0" u="none" strike="noStrike">
                          <a:solidFill>
                            <a:srgbClr val="FFFFFF"/>
                          </a:solidFill>
                          <a:effectLst/>
                          <a:latin typeface="Arial" panose="020B0604020202020204" pitchFamily="34" charset="0"/>
                        </a:rPr>
                        <a:t>FS 18</a:t>
                      </a:r>
                    </a:p>
                  </a:txBody>
                  <a:tcPr marL="9525" marR="9525" marT="9525"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1200" b="0" i="0" u="none" strike="noStrike" dirty="0">
                          <a:solidFill>
                            <a:srgbClr val="000000"/>
                          </a:solidFill>
                          <a:effectLst/>
                          <a:latin typeface="Arial" panose="020B0604020202020204" pitchFamily="34" charset="0"/>
                        </a:rPr>
                        <a:t>FS 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200" b="0" i="0" u="none" strike="noStrike" dirty="0">
                          <a:solidFill>
                            <a:srgbClr val="000000"/>
                          </a:solidFill>
                          <a:effectLst/>
                          <a:latin typeface="Arial" panose="020B0604020202020204" pitchFamily="34" charset="0"/>
                        </a:rPr>
                        <a:t>FS 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IN" sz="1200" b="0" i="0" u="none" strike="noStrike">
                          <a:solidFill>
                            <a:srgbClr val="000000"/>
                          </a:solidFill>
                          <a:effectLst/>
                          <a:latin typeface="Arial" panose="020B0604020202020204" pitchFamily="34" charset="0"/>
                        </a:rPr>
                        <a:t>FS 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64038749"/>
                  </a:ext>
                </a:extLst>
              </a:tr>
              <a:tr h="354857">
                <a:tc>
                  <a:txBody>
                    <a:bodyPr/>
                    <a:lstStyle/>
                    <a:p>
                      <a:pPr algn="l" fontAlgn="b"/>
                      <a:r>
                        <a:rPr lang="en-IN" sz="1200" b="0" i="0" u="none" strike="noStrike" dirty="0">
                          <a:solidFill>
                            <a:srgbClr val="000000"/>
                          </a:solidFill>
                          <a:effectLst/>
                          <a:latin typeface="Calibri" panose="020F0502020204030204" pitchFamily="34" charset="0"/>
                        </a:rPr>
                        <a:t>Size</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Calibri" panose="020F0502020204030204" pitchFamily="34" charset="0"/>
                        </a:rPr>
                        <a:t>86%</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200" b="0" i="0" u="none" strike="noStrike" dirty="0">
                          <a:solidFill>
                            <a:srgbClr val="000000"/>
                          </a:solidFill>
                          <a:effectLst/>
                          <a:latin typeface="Calibri" panose="020F0502020204030204" pitchFamily="34" charset="0"/>
                        </a:rPr>
                        <a:t>88%</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dirty="0">
                          <a:solidFill>
                            <a:srgbClr val="000000"/>
                          </a:solidFill>
                          <a:effectLst/>
                          <a:latin typeface="Calibri" panose="020F0502020204030204" pitchFamily="34" charset="0"/>
                        </a:rPr>
                        <a:t>84%</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a:solidFill>
                            <a:srgbClr val="000000"/>
                          </a:solidFill>
                          <a:effectLst/>
                          <a:latin typeface="Calibri" panose="020F0502020204030204" pitchFamily="34" charset="0"/>
                        </a:rPr>
                        <a:t>89%</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494571228"/>
                  </a:ext>
                </a:extLst>
              </a:tr>
              <a:tr h="354857">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1027871"/>
                  </a:ext>
                </a:extLst>
              </a:tr>
              <a:tr h="354857">
                <a:tc>
                  <a:txBody>
                    <a:bodyPr/>
                    <a:lstStyle/>
                    <a:p>
                      <a:pPr algn="l" fontAlgn="b"/>
                      <a:r>
                        <a:rPr lang="en-IN" sz="1200" b="0" i="0" u="none" strike="noStrike">
                          <a:solidFill>
                            <a:srgbClr val="000000"/>
                          </a:solidFill>
                          <a:effectLst/>
                          <a:latin typeface="Calibri" panose="020F0502020204030204" pitchFamily="34" charset="0"/>
                        </a:rPr>
                        <a:t>Thickness</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Calibri" panose="020F0502020204030204" pitchFamily="34" charset="0"/>
                        </a:rPr>
                        <a:t>91%</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200" b="0" i="0" u="none" strike="noStrike" dirty="0">
                          <a:solidFill>
                            <a:srgbClr val="000000"/>
                          </a:solidFill>
                          <a:effectLst/>
                          <a:latin typeface="Calibri" panose="020F0502020204030204" pitchFamily="34" charset="0"/>
                        </a:rPr>
                        <a:t>94%</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200" b="0" i="0" u="none" strike="noStrike" dirty="0">
                          <a:solidFill>
                            <a:srgbClr val="000000"/>
                          </a:solidFill>
                          <a:effectLst/>
                          <a:latin typeface="Calibri" panose="020F0502020204030204" pitchFamily="34" charset="0"/>
                        </a:rPr>
                        <a:t>89%</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200" b="0" i="0" u="none" strike="noStrike">
                          <a:solidFill>
                            <a:srgbClr val="000000"/>
                          </a:solidFill>
                          <a:effectLst/>
                          <a:latin typeface="Calibri" panose="020F0502020204030204" pitchFamily="34" charset="0"/>
                        </a:rPr>
                        <a:t>93%</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58154509"/>
                  </a:ext>
                </a:extLst>
              </a:tr>
              <a:tr h="354857">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9785341"/>
                  </a:ext>
                </a:extLst>
              </a:tr>
              <a:tr h="354857">
                <a:tc>
                  <a:txBody>
                    <a:bodyPr/>
                    <a:lstStyle/>
                    <a:p>
                      <a:pPr algn="l" fontAlgn="b"/>
                      <a:r>
                        <a:rPr lang="en-IN" sz="1200" b="0" i="0" u="none" strike="noStrike">
                          <a:solidFill>
                            <a:srgbClr val="000000"/>
                          </a:solidFill>
                          <a:effectLst/>
                          <a:latin typeface="Calibri" panose="020F0502020204030204" pitchFamily="34" charset="0"/>
                        </a:rPr>
                        <a:t>Bite of the product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Calibri" panose="020F0502020204030204" pitchFamily="34" charset="0"/>
                        </a:rPr>
                        <a:t>83%</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dirty="0">
                          <a:solidFill>
                            <a:srgbClr val="000000"/>
                          </a:solidFill>
                          <a:effectLst/>
                          <a:latin typeface="Calibri" panose="020F0502020204030204" pitchFamily="34" charset="0"/>
                        </a:rPr>
                        <a:t>88%</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dirty="0">
                          <a:solidFill>
                            <a:srgbClr val="000000"/>
                          </a:solidFill>
                          <a:effectLst/>
                          <a:latin typeface="Calibri" panose="020F0502020204030204" pitchFamily="34" charset="0"/>
                        </a:rPr>
                        <a:t>79%</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dirty="0">
                          <a:solidFill>
                            <a:srgbClr val="000000"/>
                          </a:solidFill>
                          <a:effectLst/>
                          <a:latin typeface="Calibri" panose="020F0502020204030204" pitchFamily="34" charset="0"/>
                        </a:rPr>
                        <a:t>86%</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282542737"/>
                  </a:ext>
                </a:extLst>
              </a:tr>
              <a:tr h="354857">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9202252"/>
                  </a:ext>
                </a:extLst>
              </a:tr>
              <a:tr h="354857">
                <a:tc>
                  <a:txBody>
                    <a:bodyPr/>
                    <a:lstStyle/>
                    <a:p>
                      <a:pPr algn="l" fontAlgn="b"/>
                      <a:r>
                        <a:rPr lang="en-IN" sz="1200" b="0" i="0" u="none" strike="noStrike">
                          <a:solidFill>
                            <a:srgbClr val="000000"/>
                          </a:solidFill>
                          <a:effectLst/>
                          <a:latin typeface="Calibri" panose="020F0502020204030204" pitchFamily="34" charset="0"/>
                        </a:rPr>
                        <a:t>Moistness of the product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Calibri" panose="020F0502020204030204" pitchFamily="34" charset="0"/>
                        </a:rPr>
                        <a:t>87%</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dirty="0">
                          <a:solidFill>
                            <a:srgbClr val="000000"/>
                          </a:solidFill>
                          <a:effectLst/>
                          <a:latin typeface="Calibri" panose="020F0502020204030204" pitchFamily="34" charset="0"/>
                        </a:rPr>
                        <a:t>92%</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dirty="0">
                          <a:solidFill>
                            <a:srgbClr val="000000"/>
                          </a:solidFill>
                          <a:effectLst/>
                          <a:latin typeface="Calibri" panose="020F0502020204030204" pitchFamily="34" charset="0"/>
                        </a:rPr>
                        <a:t>86%</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dirty="0">
                          <a:solidFill>
                            <a:srgbClr val="000000"/>
                          </a:solidFill>
                          <a:effectLst/>
                          <a:latin typeface="Calibri" panose="020F0502020204030204" pitchFamily="34" charset="0"/>
                        </a:rPr>
                        <a:t>88%</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956045255"/>
                  </a:ext>
                </a:extLst>
              </a:tr>
              <a:tr h="354857">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1208031"/>
                  </a:ext>
                </a:extLst>
              </a:tr>
              <a:tr h="354857">
                <a:tc>
                  <a:txBody>
                    <a:bodyPr/>
                    <a:lstStyle/>
                    <a:p>
                      <a:pPr algn="l" fontAlgn="b"/>
                      <a:r>
                        <a:rPr lang="en-IN" sz="1200" b="0" i="0" u="none" strike="noStrike">
                          <a:solidFill>
                            <a:srgbClr val="000000"/>
                          </a:solidFill>
                          <a:effectLst/>
                          <a:latin typeface="Calibri" panose="020F0502020204030204" pitchFamily="34" charset="0"/>
                        </a:rPr>
                        <a:t>Sweetness of the product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Calibri" panose="020F0502020204030204" pitchFamily="34" charset="0"/>
                        </a:rPr>
                        <a:t>82%</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dirty="0">
                          <a:solidFill>
                            <a:srgbClr val="000000"/>
                          </a:solidFill>
                          <a:effectLst/>
                          <a:latin typeface="Calibri" panose="020F0502020204030204" pitchFamily="34" charset="0"/>
                        </a:rPr>
                        <a:t>88%</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a:solidFill>
                            <a:srgbClr val="000000"/>
                          </a:solidFill>
                          <a:effectLst/>
                          <a:latin typeface="Calibri" panose="020F0502020204030204" pitchFamily="34" charset="0"/>
                        </a:rPr>
                        <a:t>77%</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b"/>
                      <a:r>
                        <a:rPr lang="en-IN" sz="1200" b="0" i="0" u="none" strike="noStrike" dirty="0">
                          <a:solidFill>
                            <a:srgbClr val="000000"/>
                          </a:solidFill>
                          <a:effectLst/>
                          <a:latin typeface="Calibri" panose="020F0502020204030204" pitchFamily="34" charset="0"/>
                        </a:rPr>
                        <a:t>88%</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748071057"/>
                  </a:ext>
                </a:extLst>
              </a:tr>
              <a:tr h="354857">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200" b="0" i="0" u="none" strike="noStrike" dirty="0">
                        <a:solidFill>
                          <a:srgbClr val="000000"/>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6669502"/>
                  </a:ext>
                </a:extLst>
              </a:tr>
              <a:tr h="354857">
                <a:tc>
                  <a:txBody>
                    <a:bodyPr/>
                    <a:lstStyle/>
                    <a:p>
                      <a:pPr algn="l" fontAlgn="b"/>
                      <a:r>
                        <a:rPr lang="en-IN" sz="1200" b="0" i="0" u="none" strike="noStrike">
                          <a:solidFill>
                            <a:srgbClr val="000000"/>
                          </a:solidFill>
                          <a:effectLst/>
                          <a:latin typeface="Calibri" panose="020F0502020204030204" pitchFamily="34" charset="0"/>
                        </a:rPr>
                        <a:t>Bitterness of the product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Calibri" panose="020F0502020204030204" pitchFamily="34" charset="0"/>
                        </a:rPr>
                        <a:t>73%</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dirty="0">
                          <a:solidFill>
                            <a:srgbClr val="000000"/>
                          </a:solidFill>
                          <a:effectLst/>
                          <a:latin typeface="Calibri" panose="020F0502020204030204" pitchFamily="34" charset="0"/>
                        </a:rPr>
                        <a:t>78%</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dirty="0">
                          <a:solidFill>
                            <a:srgbClr val="000000"/>
                          </a:solidFill>
                          <a:effectLst/>
                          <a:latin typeface="Calibri" panose="020F0502020204030204" pitchFamily="34" charset="0"/>
                        </a:rPr>
                        <a:t>59%</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200" b="0" i="0" u="none" strike="noStrike" dirty="0">
                          <a:solidFill>
                            <a:srgbClr val="000000"/>
                          </a:solidFill>
                          <a:effectLst/>
                          <a:latin typeface="Calibri" panose="020F0502020204030204" pitchFamily="34" charset="0"/>
                        </a:rPr>
                        <a:t>88%</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44284653"/>
                  </a:ext>
                </a:extLst>
              </a:tr>
            </a:tbl>
          </a:graphicData>
        </a:graphic>
      </p:graphicFrame>
      <p:graphicFrame>
        <p:nvGraphicFramePr>
          <p:cNvPr id="2" name="Chart 1">
            <a:extLst>
              <a:ext uri="{FF2B5EF4-FFF2-40B4-BE49-F238E27FC236}">
                <a16:creationId xmlns:a16="http://schemas.microsoft.com/office/drawing/2014/main" id="{ACE4095F-1043-050A-9EB8-45D4B6204C74}"/>
              </a:ext>
            </a:extLst>
          </p:cNvPr>
          <p:cNvGraphicFramePr/>
          <p:nvPr/>
        </p:nvGraphicFramePr>
        <p:xfrm>
          <a:off x="14283" y="976050"/>
          <a:ext cx="1243005" cy="5008213"/>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082F7D19-8231-78C1-C75E-112C2C7B2B3F}"/>
              </a:ext>
            </a:extLst>
          </p:cNvPr>
          <p:cNvSpPr txBox="1"/>
          <p:nvPr/>
        </p:nvSpPr>
        <p:spPr>
          <a:xfrm>
            <a:off x="498568" y="1936842"/>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graphicFrame>
        <p:nvGraphicFramePr>
          <p:cNvPr id="5" name="Table 4">
            <a:extLst>
              <a:ext uri="{FF2B5EF4-FFF2-40B4-BE49-F238E27FC236}">
                <a16:creationId xmlns:a16="http://schemas.microsoft.com/office/drawing/2014/main" id="{F579FC2B-7B74-3A08-80C5-143C0703E2BD}"/>
              </a:ext>
            </a:extLst>
          </p:cNvPr>
          <p:cNvGraphicFramePr>
            <a:graphicFrameLocks noGrp="1"/>
          </p:cNvGraphicFramePr>
          <p:nvPr>
            <p:extLst>
              <p:ext uri="{D42A27DB-BD31-4B8C-83A1-F6EECF244321}">
                <p14:modId xmlns:p14="http://schemas.microsoft.com/office/powerpoint/2010/main" val="859801466"/>
              </p:ext>
            </p:extLst>
          </p:nvPr>
        </p:nvGraphicFramePr>
        <p:xfrm>
          <a:off x="14283" y="6429368"/>
          <a:ext cx="2700000" cy="381000"/>
        </p:xfrm>
        <a:graphic>
          <a:graphicData uri="http://schemas.openxmlformats.org/drawingml/2006/table">
            <a:tbl>
              <a:tblPr/>
              <a:tblGrid>
                <a:gridCol w="2700000">
                  <a:extLst>
                    <a:ext uri="{9D8B030D-6E8A-4147-A177-3AD203B41FA5}">
                      <a16:colId xmlns:a16="http://schemas.microsoft.com/office/drawing/2014/main" val="3248818770"/>
                    </a:ext>
                  </a:extLst>
                </a:gridCol>
              </a:tblGrid>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better than CB 24 @ 95%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299344285"/>
                  </a:ext>
                </a:extLst>
              </a:tr>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better than CB 24 @ 90%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135679168"/>
                  </a:ext>
                </a:extLst>
              </a:tr>
            </a:tbl>
          </a:graphicData>
        </a:graphic>
      </p:graphicFrame>
      <p:graphicFrame>
        <p:nvGraphicFramePr>
          <p:cNvPr id="6" name="Table 5">
            <a:extLst>
              <a:ext uri="{FF2B5EF4-FFF2-40B4-BE49-F238E27FC236}">
                <a16:creationId xmlns:a16="http://schemas.microsoft.com/office/drawing/2014/main" id="{3DB30A3E-AEF1-D561-43DB-01C8BC41DCF0}"/>
              </a:ext>
            </a:extLst>
          </p:cNvPr>
          <p:cNvGraphicFramePr>
            <a:graphicFrameLocks noGrp="1"/>
          </p:cNvGraphicFramePr>
          <p:nvPr>
            <p:extLst>
              <p:ext uri="{D42A27DB-BD31-4B8C-83A1-F6EECF244321}">
                <p14:modId xmlns:p14="http://schemas.microsoft.com/office/powerpoint/2010/main" val="612098779"/>
              </p:ext>
            </p:extLst>
          </p:nvPr>
        </p:nvGraphicFramePr>
        <p:xfrm>
          <a:off x="2747160" y="6429368"/>
          <a:ext cx="2700000" cy="381000"/>
        </p:xfrm>
        <a:graphic>
          <a:graphicData uri="http://schemas.openxmlformats.org/drawingml/2006/table">
            <a:tbl>
              <a:tblPr/>
              <a:tblGrid>
                <a:gridCol w="2700000">
                  <a:extLst>
                    <a:ext uri="{9D8B030D-6E8A-4147-A177-3AD203B41FA5}">
                      <a16:colId xmlns:a16="http://schemas.microsoft.com/office/drawing/2014/main" val="1714109665"/>
                    </a:ext>
                  </a:extLst>
                </a:gridCol>
              </a:tblGrid>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inferior than CB 24 @ 95%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954038242"/>
                  </a:ext>
                </a:extLst>
              </a:tr>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inferior than CB 24 @ 90%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1297679779"/>
                  </a:ext>
                </a:extLst>
              </a:tr>
            </a:tbl>
          </a:graphicData>
        </a:graphic>
      </p:graphicFrame>
      <p:sp>
        <p:nvSpPr>
          <p:cNvPr id="9" name="TextBox 8">
            <a:extLst>
              <a:ext uri="{FF2B5EF4-FFF2-40B4-BE49-F238E27FC236}">
                <a16:creationId xmlns:a16="http://schemas.microsoft.com/office/drawing/2014/main" id="{F150A520-F96C-2DCD-E23F-35FE6EF509E0}"/>
              </a:ext>
            </a:extLst>
          </p:cNvPr>
          <p:cNvSpPr txBox="1"/>
          <p:nvPr/>
        </p:nvSpPr>
        <p:spPr>
          <a:xfrm rot="16200000">
            <a:off x="-301447" y="3475166"/>
            <a:ext cx="861454" cy="276999"/>
          </a:xfrm>
          <a:prstGeom prst="rect">
            <a:avLst/>
          </a:prstGeom>
          <a:noFill/>
        </p:spPr>
        <p:txBody>
          <a:bodyPr wrap="none" rtlCol="0">
            <a:spAutoFit/>
          </a:bodyPr>
          <a:lstStyle/>
          <a:p>
            <a:r>
              <a:rPr lang="en-IN" sz="1200" dirty="0">
                <a:solidFill>
                  <a:schemeClr val="bg1">
                    <a:lumMod val="50000"/>
                  </a:schemeClr>
                </a:solidFill>
              </a:rPr>
              <a:t>Preference</a:t>
            </a:r>
          </a:p>
        </p:txBody>
      </p:sp>
      <p:sp>
        <p:nvSpPr>
          <p:cNvPr id="3" name="Title 1">
            <a:extLst>
              <a:ext uri="{FF2B5EF4-FFF2-40B4-BE49-F238E27FC236}">
                <a16:creationId xmlns:a16="http://schemas.microsoft.com/office/drawing/2014/main" id="{090F66DD-3958-45FC-97EE-7FAD6A98B1A1}"/>
              </a:ext>
            </a:extLst>
          </p:cNvPr>
          <p:cNvSpPr>
            <a:spLocks noGrp="1"/>
          </p:cNvSpPr>
          <p:nvPr>
            <p:ph type="title"/>
          </p:nvPr>
        </p:nvSpPr>
        <p:spPr>
          <a:xfrm>
            <a:off x="0" y="0"/>
            <a:ext cx="12192000" cy="749300"/>
          </a:xfrm>
          <a:solidFill>
            <a:srgbClr val="002060"/>
          </a:solidFill>
        </p:spPr>
        <p:txBody>
          <a:bodyPr anchor="ctr">
            <a:normAutofit/>
          </a:bodyPr>
          <a:lstStyle/>
          <a:p>
            <a:r>
              <a:rPr lang="en-US" sz="3200" b="1" dirty="0">
                <a:solidFill>
                  <a:schemeClr val="bg1"/>
                </a:solidFill>
              </a:rPr>
              <a:t>Attributes summary of product FS 18</a:t>
            </a:r>
            <a:endParaRPr lang="en-IN" sz="3200" b="1" dirty="0">
              <a:solidFill>
                <a:schemeClr val="bg1"/>
              </a:solidFill>
            </a:endParaRPr>
          </a:p>
        </p:txBody>
      </p:sp>
      <p:sp>
        <p:nvSpPr>
          <p:cNvPr id="8" name="TextBox 7">
            <a:extLst>
              <a:ext uri="{FF2B5EF4-FFF2-40B4-BE49-F238E27FC236}">
                <a16:creationId xmlns:a16="http://schemas.microsoft.com/office/drawing/2014/main" id="{C45B0CF7-A9E9-DC5D-3BC3-5BD54CD6F172}"/>
              </a:ext>
            </a:extLst>
          </p:cNvPr>
          <p:cNvSpPr txBox="1"/>
          <p:nvPr/>
        </p:nvSpPr>
        <p:spPr>
          <a:xfrm>
            <a:off x="5457821" y="6439125"/>
            <a:ext cx="1620000" cy="180000"/>
          </a:xfrm>
          <a:prstGeom prst="rect">
            <a:avLst/>
          </a:prstGeom>
          <a:solidFill>
            <a:srgbClr val="FFFF00"/>
          </a:solidFill>
        </p:spPr>
        <p:txBody>
          <a:bodyPr wrap="square" rtlCol="0" anchor="ctr">
            <a:spAutoFit/>
          </a:bodyPr>
          <a:lstStyle/>
          <a:p>
            <a:r>
              <a:rPr lang="en-US" sz="1000" i="1" dirty="0"/>
              <a:t>FS 18 is parity with CB 24</a:t>
            </a:r>
            <a:endParaRPr lang="en-IN" sz="1000" i="1" dirty="0"/>
          </a:p>
        </p:txBody>
      </p:sp>
      <p:sp>
        <p:nvSpPr>
          <p:cNvPr id="11" name="TextBox 10">
            <a:extLst>
              <a:ext uri="{FF2B5EF4-FFF2-40B4-BE49-F238E27FC236}">
                <a16:creationId xmlns:a16="http://schemas.microsoft.com/office/drawing/2014/main" id="{83928E76-9553-BB3B-F40F-79DA9F3E9B41}"/>
              </a:ext>
            </a:extLst>
          </p:cNvPr>
          <p:cNvSpPr txBox="1"/>
          <p:nvPr/>
        </p:nvSpPr>
        <p:spPr>
          <a:xfrm>
            <a:off x="128587" y="6057898"/>
            <a:ext cx="12049129" cy="276999"/>
          </a:xfrm>
          <a:prstGeom prst="rect">
            <a:avLst/>
          </a:prstGeom>
          <a:noFill/>
        </p:spPr>
        <p:txBody>
          <a:bodyPr wrap="square" rtlCol="0">
            <a:spAutoFit/>
          </a:bodyPr>
          <a:lstStyle/>
          <a:p>
            <a:pPr algn="ctr"/>
            <a:r>
              <a:rPr lang="en-US" sz="1200" dirty="0"/>
              <a:t>FS 18 is significantly liked and parity to CB 24 at JAR scores. No inferior score has been noticed for FS 18 against CB 24 except Mumbai sweetness.</a:t>
            </a:r>
            <a:endParaRPr lang="en-IN" sz="1200" dirty="0"/>
          </a:p>
        </p:txBody>
      </p:sp>
    </p:spTree>
    <p:extLst>
      <p:ext uri="{BB962C8B-B14F-4D97-AF65-F5344CB8AC3E}">
        <p14:creationId xmlns:p14="http://schemas.microsoft.com/office/powerpoint/2010/main" val="14520907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1" name="Chart 10">
            <a:extLst>
              <a:ext uri="{FF2B5EF4-FFF2-40B4-BE49-F238E27FC236}">
                <a16:creationId xmlns:a16="http://schemas.microsoft.com/office/drawing/2014/main" id="{652C0CAD-23F5-F3F6-54F7-70367153D998}"/>
              </a:ext>
            </a:extLst>
          </p:cNvPr>
          <p:cNvGraphicFramePr/>
          <p:nvPr/>
        </p:nvGraphicFramePr>
        <p:xfrm>
          <a:off x="14283" y="976050"/>
          <a:ext cx="1243005" cy="5008213"/>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5225AA2F-2C7B-52BC-D97D-BE21C8E12277}"/>
              </a:ext>
            </a:extLst>
          </p:cNvPr>
          <p:cNvSpPr txBox="1"/>
          <p:nvPr/>
        </p:nvSpPr>
        <p:spPr>
          <a:xfrm>
            <a:off x="498568" y="1951128"/>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graphicFrame>
        <p:nvGraphicFramePr>
          <p:cNvPr id="4" name="Table 3">
            <a:extLst>
              <a:ext uri="{FF2B5EF4-FFF2-40B4-BE49-F238E27FC236}">
                <a16:creationId xmlns:a16="http://schemas.microsoft.com/office/drawing/2014/main" id="{150CA05B-8C76-1856-5A28-1B200BB36075}"/>
              </a:ext>
            </a:extLst>
          </p:cNvPr>
          <p:cNvGraphicFramePr>
            <a:graphicFrameLocks noGrp="1"/>
          </p:cNvGraphicFramePr>
          <p:nvPr/>
        </p:nvGraphicFramePr>
        <p:xfrm>
          <a:off x="1741573" y="890330"/>
          <a:ext cx="4679999" cy="5008217"/>
        </p:xfrm>
        <a:graphic>
          <a:graphicData uri="http://schemas.openxmlformats.org/drawingml/2006/table">
            <a:tbl>
              <a:tblPr/>
              <a:tblGrid>
                <a:gridCol w="1785154">
                  <a:extLst>
                    <a:ext uri="{9D8B030D-6E8A-4147-A177-3AD203B41FA5}">
                      <a16:colId xmlns:a16="http://schemas.microsoft.com/office/drawing/2014/main" val="448389635"/>
                    </a:ext>
                  </a:extLst>
                </a:gridCol>
                <a:gridCol w="578969">
                  <a:extLst>
                    <a:ext uri="{9D8B030D-6E8A-4147-A177-3AD203B41FA5}">
                      <a16:colId xmlns:a16="http://schemas.microsoft.com/office/drawing/2014/main" val="1211872390"/>
                    </a:ext>
                  </a:extLst>
                </a:gridCol>
                <a:gridCol w="578969">
                  <a:extLst>
                    <a:ext uri="{9D8B030D-6E8A-4147-A177-3AD203B41FA5}">
                      <a16:colId xmlns:a16="http://schemas.microsoft.com/office/drawing/2014/main" val="4025550702"/>
                    </a:ext>
                  </a:extLst>
                </a:gridCol>
                <a:gridCol w="578969">
                  <a:extLst>
                    <a:ext uri="{9D8B030D-6E8A-4147-A177-3AD203B41FA5}">
                      <a16:colId xmlns:a16="http://schemas.microsoft.com/office/drawing/2014/main" val="3349407554"/>
                    </a:ext>
                  </a:extLst>
                </a:gridCol>
                <a:gridCol w="578969">
                  <a:extLst>
                    <a:ext uri="{9D8B030D-6E8A-4147-A177-3AD203B41FA5}">
                      <a16:colId xmlns:a16="http://schemas.microsoft.com/office/drawing/2014/main" val="2892614642"/>
                    </a:ext>
                  </a:extLst>
                </a:gridCol>
                <a:gridCol w="578969">
                  <a:extLst>
                    <a:ext uri="{9D8B030D-6E8A-4147-A177-3AD203B41FA5}">
                      <a16:colId xmlns:a16="http://schemas.microsoft.com/office/drawing/2014/main" val="3598356187"/>
                    </a:ext>
                  </a:extLst>
                </a:gridCol>
              </a:tblGrid>
              <a:tr h="210535">
                <a:tc>
                  <a:txBody>
                    <a:bodyPr/>
                    <a:lstStyle/>
                    <a:p>
                      <a:pPr algn="l" fontAlgn="b"/>
                      <a:r>
                        <a:rPr lang="en-IN" sz="1000" b="0" i="0" u="none" strike="noStrike">
                          <a:solidFill>
                            <a:srgbClr val="000000"/>
                          </a:solidFill>
                          <a:effectLst/>
                          <a:latin typeface="Calibri" panose="020F0502020204030204" pitchFamily="34" charset="0"/>
                        </a:rPr>
                        <a:t> </a:t>
                      </a:r>
                    </a:p>
                  </a:txBody>
                  <a:tcPr marL="9184" marR="9184" marT="91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9184" marR="9184" marT="9184" marB="0" anchor="b">
                    <a:lnL>
                      <a:noFill/>
                    </a:lnL>
                    <a:lnR>
                      <a:noFill/>
                    </a:lnR>
                    <a:lnT w="6350" cap="flat" cmpd="sng" algn="ctr">
                      <a:solidFill>
                        <a:srgbClr val="000000"/>
                      </a:solidFill>
                      <a:prstDash val="solid"/>
                      <a:round/>
                      <a:headEnd type="none" w="med" len="med"/>
                      <a:tailEnd type="none" w="med" len="med"/>
                    </a:lnT>
                    <a:lnB>
                      <a:noFill/>
                    </a:lnB>
                    <a:noFill/>
                  </a:tcPr>
                </a:tc>
                <a:tc gridSpan="4">
                  <a:txBody>
                    <a:bodyPr/>
                    <a:lstStyle/>
                    <a:p>
                      <a:pPr algn="ctr" fontAlgn="b"/>
                      <a:r>
                        <a:rPr lang="en-IN" sz="1200" b="0" i="0" u="none" strike="noStrike" dirty="0">
                          <a:solidFill>
                            <a:srgbClr val="000000"/>
                          </a:solidFill>
                          <a:effectLst/>
                          <a:latin typeface="Calibri" panose="020F0502020204030204" pitchFamily="34" charset="0"/>
                        </a:rPr>
                        <a:t>Agree/Disagree</a:t>
                      </a: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992345383"/>
                  </a:ext>
                </a:extLst>
              </a:tr>
              <a:tr h="210535">
                <a:tc>
                  <a:txBody>
                    <a:bodyPr/>
                    <a:lstStyle/>
                    <a:p>
                      <a:pPr algn="l" fontAlgn="b"/>
                      <a:endParaRPr lang="en-IN" sz="1000" b="0" i="0" u="none" strike="noStrike">
                        <a:solidFill>
                          <a:srgbClr val="000000"/>
                        </a:solidFill>
                        <a:effectLst/>
                        <a:latin typeface="Calibri" panose="020F0502020204030204" pitchFamily="34" charset="0"/>
                      </a:endParaRPr>
                    </a:p>
                  </a:txBody>
                  <a:tcPr marL="9184" marR="9184" marT="9184" marB="0" anchor="b">
                    <a:lnL>
                      <a:noFill/>
                    </a:lnL>
                    <a:lnR>
                      <a:noFill/>
                    </a:lnR>
                    <a:lnT>
                      <a:noFill/>
                    </a:lnT>
                    <a:lnB>
                      <a:noFill/>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184" marR="9184" marT="9184"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r>
                        <a:rPr lang="en-IN" sz="1000" b="0" i="0" u="none" strike="noStrike">
                          <a:solidFill>
                            <a:srgbClr val="FFFFFF"/>
                          </a:solidFill>
                          <a:effectLst/>
                          <a:latin typeface="Arial" panose="020B0604020202020204" pitchFamily="34" charset="0"/>
                        </a:rPr>
                        <a:t>Total</a:t>
                      </a:r>
                    </a:p>
                  </a:txBody>
                  <a:tcPr marL="9184" marR="9184" marT="91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1000" b="0" i="0" u="none" strike="noStrike">
                          <a:solidFill>
                            <a:srgbClr val="000000"/>
                          </a:solidFill>
                          <a:effectLst/>
                          <a:latin typeface="Arial" panose="020B0604020202020204" pitchFamily="34" charset="0"/>
                        </a:rPr>
                        <a:t>Monadic</a:t>
                      </a:r>
                    </a:p>
                  </a:txBody>
                  <a:tcPr marL="9184" marR="9184" marT="91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000" b="0" i="0" u="none" strike="noStrike" dirty="0">
                          <a:solidFill>
                            <a:srgbClr val="000000"/>
                          </a:solidFill>
                          <a:effectLst/>
                          <a:latin typeface="Arial" panose="020B0604020202020204" pitchFamily="34" charset="0"/>
                        </a:rPr>
                        <a:t>Mumbai</a:t>
                      </a:r>
                    </a:p>
                  </a:txBody>
                  <a:tcPr marL="9184" marR="9184" marT="91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IN" sz="1000" b="0" i="0" u="none" strike="noStrike">
                          <a:solidFill>
                            <a:srgbClr val="000000"/>
                          </a:solidFill>
                          <a:effectLst/>
                          <a:latin typeface="Arial" panose="020B0604020202020204" pitchFamily="34" charset="0"/>
                        </a:rPr>
                        <a:t>Delhi</a:t>
                      </a:r>
                    </a:p>
                  </a:txBody>
                  <a:tcPr marL="9184" marR="9184" marT="91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951914496"/>
                  </a:ext>
                </a:extLst>
              </a:tr>
              <a:tr h="210535">
                <a:tc>
                  <a:txBody>
                    <a:bodyPr/>
                    <a:lstStyle/>
                    <a:p>
                      <a:pPr algn="l" fontAlgn="b"/>
                      <a:r>
                        <a:rPr lang="en-IN" sz="1000" b="0" i="0" u="none" strike="noStrike">
                          <a:solidFill>
                            <a:srgbClr val="000000"/>
                          </a:solidFill>
                          <a:effectLst/>
                          <a:latin typeface="Calibri" panose="020F0502020204030204" pitchFamily="34" charset="0"/>
                        </a:rPr>
                        <a:t> </a:t>
                      </a:r>
                    </a:p>
                  </a:txBody>
                  <a:tcPr marL="9184" marR="9184" marT="91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9184" marR="9184" marT="9184"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a:solidFill>
                            <a:srgbClr val="FFFFFF"/>
                          </a:solidFill>
                          <a:effectLst/>
                          <a:latin typeface="Arial" panose="020B0604020202020204" pitchFamily="34" charset="0"/>
                        </a:rPr>
                        <a:t>FS 18</a:t>
                      </a:r>
                    </a:p>
                  </a:txBody>
                  <a:tcPr marL="9184" marR="9184" marT="91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9184" marR="9184" marT="91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9184" marR="9184" marT="91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9184" marR="9184" marT="91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414781749"/>
                  </a:ext>
                </a:extLst>
              </a:tr>
              <a:tr h="210535">
                <a:tc rowSpan="2">
                  <a:txBody>
                    <a:bodyPr/>
                    <a:lstStyle/>
                    <a:p>
                      <a:pPr algn="l" fontAlgn="b"/>
                      <a:r>
                        <a:rPr lang="en-US" sz="1000" b="0" i="0" u="none" strike="noStrike" dirty="0">
                          <a:solidFill>
                            <a:srgbClr val="000000"/>
                          </a:solidFill>
                          <a:effectLst/>
                          <a:latin typeface="Calibri" panose="020F0502020204030204" pitchFamily="34" charset="0"/>
                        </a:rPr>
                        <a:t>Color of the Cake is very appealing</a:t>
                      </a: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184" marR="9184" marT="91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4.5</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4.8</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1312486842"/>
                  </a:ext>
                </a:extLst>
              </a:tr>
              <a:tr h="210535">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184" marR="9184" marT="91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95%</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93%</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92%</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98%</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4145273942"/>
                  </a:ext>
                </a:extLst>
              </a:tr>
              <a:tr h="210535">
                <a:tc>
                  <a:txBody>
                    <a:bodyPr/>
                    <a:lstStyle/>
                    <a:p>
                      <a:pPr algn="l" fontAlgn="b"/>
                      <a:endParaRPr lang="en-IN" sz="1000" b="0" i="0" u="none" strike="noStrike" dirty="0">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184" marR="9184" marT="918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dirty="0">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3314031"/>
                  </a:ext>
                </a:extLst>
              </a:tr>
              <a:tr h="210535">
                <a:tc rowSpan="2">
                  <a:txBody>
                    <a:bodyPr/>
                    <a:lstStyle/>
                    <a:p>
                      <a:pPr algn="l" fontAlgn="ctr"/>
                      <a:r>
                        <a:rPr lang="en-US" sz="1000" b="0" i="0" u="none" strike="noStrike" dirty="0">
                          <a:solidFill>
                            <a:srgbClr val="000000"/>
                          </a:solidFill>
                          <a:effectLst/>
                          <a:latin typeface="Calibri" panose="020F0502020204030204" pitchFamily="34" charset="0"/>
                        </a:rPr>
                        <a:t>Size of the Cake is perfect</a:t>
                      </a: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184" marR="9184" marT="91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4.4</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4.8</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4288237922"/>
                  </a:ext>
                </a:extLst>
              </a:tr>
              <a:tr h="210535">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184" marR="9184" marT="91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91%</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91%</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85%</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96%</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652247999"/>
                  </a:ext>
                </a:extLst>
              </a:tr>
              <a:tr h="210535">
                <a:tc>
                  <a:txBody>
                    <a:bodyPr/>
                    <a:lstStyle/>
                    <a:p>
                      <a:pPr algn="l"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184" marR="9184" marT="918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9120326"/>
                  </a:ext>
                </a:extLst>
              </a:tr>
              <a:tr h="210535">
                <a:tc rowSpan="2">
                  <a:txBody>
                    <a:bodyPr/>
                    <a:lstStyle/>
                    <a:p>
                      <a:pPr algn="l" fontAlgn="b"/>
                      <a:r>
                        <a:rPr lang="en-US" sz="1000" b="0" i="0" u="none" strike="noStrike" dirty="0">
                          <a:solidFill>
                            <a:srgbClr val="000000"/>
                          </a:solidFill>
                          <a:effectLst/>
                          <a:latin typeface="Calibri" panose="020F0502020204030204" pitchFamily="34" charset="0"/>
                        </a:rPr>
                        <a:t>Appearance of the Cake makes me want to eat more</a:t>
                      </a: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184" marR="9184" marT="91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4.7</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4.8</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4.8</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1133785192"/>
                  </a:ext>
                </a:extLst>
              </a:tr>
              <a:tr h="210535">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184" marR="9184" marT="91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95%</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a:solidFill>
                            <a:srgbClr val="000000"/>
                          </a:solidFill>
                          <a:effectLst/>
                          <a:latin typeface="Calibri" panose="020F0502020204030204" pitchFamily="34" charset="0"/>
                        </a:rPr>
                        <a:t>98%</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95%</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96%</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259874233"/>
                  </a:ext>
                </a:extLst>
              </a:tr>
              <a:tr h="210535">
                <a:tc>
                  <a:txBody>
                    <a:bodyPr/>
                    <a:lstStyle/>
                    <a:p>
                      <a:pPr algn="l"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184" marR="9184" marT="918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dirty="0">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2733465"/>
                  </a:ext>
                </a:extLst>
              </a:tr>
              <a:tr h="210535">
                <a:tc rowSpan="2">
                  <a:txBody>
                    <a:bodyPr/>
                    <a:lstStyle/>
                    <a:p>
                      <a:pPr algn="l" fontAlgn="b"/>
                      <a:r>
                        <a:rPr lang="en-US" sz="1000" b="0" i="0" u="none" strike="noStrike" dirty="0">
                          <a:solidFill>
                            <a:srgbClr val="000000"/>
                          </a:solidFill>
                          <a:effectLst/>
                          <a:latin typeface="Calibri" panose="020F0502020204030204" pitchFamily="34" charset="0"/>
                        </a:rPr>
                        <a:t>This aroma reminds me of rich melting chocolate</a:t>
                      </a: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184" marR="9184" marT="91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4.5</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4.4</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179112723"/>
                  </a:ext>
                </a:extLst>
              </a:tr>
              <a:tr h="210535">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184" marR="9184" marT="91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92%</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93%</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91%</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94%</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565919169"/>
                  </a:ext>
                </a:extLst>
              </a:tr>
              <a:tr h="210535">
                <a:tc>
                  <a:txBody>
                    <a:bodyPr/>
                    <a:lstStyle/>
                    <a:p>
                      <a:pPr algn="l" fontAlgn="b"/>
                      <a:endParaRPr lang="en-IN" sz="1000" b="0" i="0" u="none" strike="noStrike" dirty="0">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184" marR="9184" marT="918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dirty="0">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8568606"/>
                  </a:ext>
                </a:extLst>
              </a:tr>
              <a:tr h="210535">
                <a:tc rowSpan="2">
                  <a:txBody>
                    <a:bodyPr/>
                    <a:lstStyle/>
                    <a:p>
                      <a:pPr algn="l" fontAlgn="b"/>
                      <a:r>
                        <a:rPr lang="en-US" sz="1000" b="0" i="0" u="none" strike="noStrike" dirty="0">
                          <a:solidFill>
                            <a:srgbClr val="000000"/>
                          </a:solidFill>
                          <a:effectLst/>
                          <a:latin typeface="Calibri" panose="020F0502020204030204" pitchFamily="34" charset="0"/>
                        </a:rPr>
                        <a:t>Aroma of the product makes me want to eat more</a:t>
                      </a: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184" marR="9184" marT="91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4.5</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1641570379"/>
                  </a:ext>
                </a:extLst>
              </a:tr>
              <a:tr h="210535">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184" marR="9184" marT="91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92%</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94%</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92%</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93%</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347259594"/>
                  </a:ext>
                </a:extLst>
              </a:tr>
              <a:tr h="210535">
                <a:tc>
                  <a:txBody>
                    <a:bodyPr/>
                    <a:lstStyle/>
                    <a:p>
                      <a:pPr algn="l" fontAlgn="b"/>
                      <a:endParaRPr lang="en-IN" sz="1000" b="0" i="0" u="none" strike="noStrike" dirty="0">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184" marR="9184" marT="918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4576146"/>
                  </a:ext>
                </a:extLst>
              </a:tr>
              <a:tr h="210535">
                <a:tc rowSpan="2">
                  <a:txBody>
                    <a:bodyPr/>
                    <a:lstStyle/>
                    <a:p>
                      <a:pPr algn="l" fontAlgn="b"/>
                      <a:r>
                        <a:rPr lang="en-US" sz="1000" b="0" i="0" u="none" strike="noStrike" dirty="0">
                          <a:solidFill>
                            <a:srgbClr val="000000"/>
                          </a:solidFill>
                          <a:effectLst/>
                          <a:latin typeface="Calibri" panose="020F0502020204030204" pitchFamily="34" charset="0"/>
                        </a:rPr>
                        <a:t>It has a rich chocolaty aroma</a:t>
                      </a: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184" marR="9184" marT="91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4.5</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4.4</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2625015463"/>
                  </a:ext>
                </a:extLst>
              </a:tr>
              <a:tr h="210535">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184" marR="9184" marT="91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92%</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94%</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91%</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92%</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831060224"/>
                  </a:ext>
                </a:extLst>
              </a:tr>
              <a:tr h="210535">
                <a:tc>
                  <a:txBody>
                    <a:bodyPr/>
                    <a:lstStyle/>
                    <a:p>
                      <a:pPr algn="l" fontAlgn="b"/>
                      <a:endParaRPr lang="en-IN" sz="1000" b="0" i="0" u="none" strike="noStrike" dirty="0">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184" marR="9184" marT="918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dirty="0">
                        <a:solidFill>
                          <a:srgbClr val="000000"/>
                        </a:solidFill>
                        <a:effectLst/>
                        <a:latin typeface="Calibri" panose="020F0502020204030204" pitchFamily="34" charset="0"/>
                      </a:endParaRP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5063722"/>
                  </a:ext>
                </a:extLst>
              </a:tr>
              <a:tr h="210535">
                <a:tc rowSpan="2">
                  <a:txBody>
                    <a:bodyPr/>
                    <a:lstStyle/>
                    <a:p>
                      <a:pPr algn="l" fontAlgn="b"/>
                      <a:r>
                        <a:rPr lang="en-US" sz="1000" b="0" i="0" u="none" strike="noStrike" dirty="0">
                          <a:solidFill>
                            <a:srgbClr val="000000"/>
                          </a:solidFill>
                          <a:effectLst/>
                          <a:latin typeface="Calibri" panose="020F0502020204030204" pitchFamily="34" charset="0"/>
                        </a:rPr>
                        <a:t>The aroma has the best combination of a cake and chocolate</a:t>
                      </a:r>
                    </a:p>
                  </a:txBody>
                  <a:tcPr marL="9184" marR="9184" marT="918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184" marR="9184" marT="9184"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4.7</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b"/>
                      <a:r>
                        <a:rPr lang="en-IN" sz="1000" b="0" i="0" u="none" strike="noStrike">
                          <a:solidFill>
                            <a:srgbClr val="000000"/>
                          </a:solidFill>
                          <a:effectLst/>
                          <a:latin typeface="Calibri" panose="020F0502020204030204" pitchFamily="34" charset="0"/>
                        </a:rPr>
                        <a:t>4.8</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tc>
                  <a:txBody>
                    <a:bodyPr/>
                    <a:lstStyle/>
                    <a:p>
                      <a:pPr algn="ctr" fontAlgn="b"/>
                      <a:r>
                        <a:rPr lang="en-IN" sz="1000" b="0" i="0" u="none" strike="noStrike" dirty="0">
                          <a:solidFill>
                            <a:srgbClr val="000000"/>
                          </a:solidFill>
                          <a:effectLst/>
                          <a:latin typeface="Calibri" panose="020F0502020204030204" pitchFamily="34" charset="0"/>
                        </a:rPr>
                        <a:t>4.7</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4.7</a:t>
                      </a:r>
                    </a:p>
                  </a:txBody>
                  <a:tcPr marL="9184" marR="9184" marT="9184"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2036157197"/>
                  </a:ext>
                </a:extLst>
              </a:tr>
              <a:tr h="376447">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184" marR="9184" marT="9184"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94%</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100%</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96%</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92%</a:t>
                      </a:r>
                    </a:p>
                  </a:txBody>
                  <a:tcPr marL="9184" marR="9184" marT="9184"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726370744"/>
                  </a:ext>
                </a:extLst>
              </a:tr>
            </a:tbl>
          </a:graphicData>
        </a:graphic>
      </p:graphicFrame>
      <p:graphicFrame>
        <p:nvGraphicFramePr>
          <p:cNvPr id="6" name="Table 5">
            <a:extLst>
              <a:ext uri="{FF2B5EF4-FFF2-40B4-BE49-F238E27FC236}">
                <a16:creationId xmlns:a16="http://schemas.microsoft.com/office/drawing/2014/main" id="{C75866D4-27C1-737D-8D24-837F630C53FD}"/>
              </a:ext>
            </a:extLst>
          </p:cNvPr>
          <p:cNvGraphicFramePr>
            <a:graphicFrameLocks noGrp="1"/>
          </p:cNvGraphicFramePr>
          <p:nvPr/>
        </p:nvGraphicFramePr>
        <p:xfrm>
          <a:off x="6905857" y="890330"/>
          <a:ext cx="4680001" cy="5008224"/>
        </p:xfrm>
        <a:graphic>
          <a:graphicData uri="http://schemas.openxmlformats.org/drawingml/2006/table">
            <a:tbl>
              <a:tblPr/>
              <a:tblGrid>
                <a:gridCol w="1785156">
                  <a:extLst>
                    <a:ext uri="{9D8B030D-6E8A-4147-A177-3AD203B41FA5}">
                      <a16:colId xmlns:a16="http://schemas.microsoft.com/office/drawing/2014/main" val="232192117"/>
                    </a:ext>
                  </a:extLst>
                </a:gridCol>
                <a:gridCol w="578969">
                  <a:extLst>
                    <a:ext uri="{9D8B030D-6E8A-4147-A177-3AD203B41FA5}">
                      <a16:colId xmlns:a16="http://schemas.microsoft.com/office/drawing/2014/main" val="3924881832"/>
                    </a:ext>
                  </a:extLst>
                </a:gridCol>
                <a:gridCol w="578969">
                  <a:extLst>
                    <a:ext uri="{9D8B030D-6E8A-4147-A177-3AD203B41FA5}">
                      <a16:colId xmlns:a16="http://schemas.microsoft.com/office/drawing/2014/main" val="2937435001"/>
                    </a:ext>
                  </a:extLst>
                </a:gridCol>
                <a:gridCol w="578969">
                  <a:extLst>
                    <a:ext uri="{9D8B030D-6E8A-4147-A177-3AD203B41FA5}">
                      <a16:colId xmlns:a16="http://schemas.microsoft.com/office/drawing/2014/main" val="3355393669"/>
                    </a:ext>
                  </a:extLst>
                </a:gridCol>
                <a:gridCol w="578969">
                  <a:extLst>
                    <a:ext uri="{9D8B030D-6E8A-4147-A177-3AD203B41FA5}">
                      <a16:colId xmlns:a16="http://schemas.microsoft.com/office/drawing/2014/main" val="1823309481"/>
                    </a:ext>
                  </a:extLst>
                </a:gridCol>
                <a:gridCol w="578969">
                  <a:extLst>
                    <a:ext uri="{9D8B030D-6E8A-4147-A177-3AD203B41FA5}">
                      <a16:colId xmlns:a16="http://schemas.microsoft.com/office/drawing/2014/main" val="2089729886"/>
                    </a:ext>
                  </a:extLst>
                </a:gridCol>
              </a:tblGrid>
              <a:tr h="208676">
                <a:tc>
                  <a:txBody>
                    <a:bodyPr/>
                    <a:lstStyle/>
                    <a:p>
                      <a:pPr algn="l" fontAlgn="b"/>
                      <a:r>
                        <a:rPr lang="en-IN" sz="1000" b="0" i="0" u="none" strike="noStrike">
                          <a:solidFill>
                            <a:srgbClr val="000000"/>
                          </a:solidFill>
                          <a:effectLst/>
                          <a:latin typeface="Calibri" panose="020F0502020204030204" pitchFamily="34" charset="0"/>
                        </a:rPr>
                        <a:t> </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gridSpan="4">
                  <a:txBody>
                    <a:bodyPr/>
                    <a:lstStyle/>
                    <a:p>
                      <a:pPr algn="ctr" fontAlgn="b"/>
                      <a:r>
                        <a:rPr lang="en-IN" sz="1200" b="0" i="0" u="none" strike="noStrike" dirty="0">
                          <a:solidFill>
                            <a:srgbClr val="000000"/>
                          </a:solidFill>
                          <a:effectLst/>
                          <a:latin typeface="Calibri" panose="020F0502020204030204" pitchFamily="34" charset="0"/>
                        </a:rPr>
                        <a:t>Agree/Disagree</a:t>
                      </a: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373585915"/>
                  </a:ext>
                </a:extLst>
              </a:tr>
              <a:tr h="208676">
                <a:tc>
                  <a:txBody>
                    <a:bodyPr/>
                    <a:lstStyle/>
                    <a:p>
                      <a:pPr algn="l"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a:noFill/>
                    </a:lnT>
                    <a:lnB>
                      <a:noFill/>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r>
                        <a:rPr lang="en-IN" sz="1000" b="0" i="0" u="none" strike="noStrike">
                          <a:solidFill>
                            <a:srgbClr val="FFFFFF"/>
                          </a:solidFill>
                          <a:effectLst/>
                          <a:latin typeface="Arial" panose="020B0604020202020204" pitchFamily="34" charset="0"/>
                        </a:rPr>
                        <a:t>Total</a:t>
                      </a:r>
                    </a:p>
                  </a:txBody>
                  <a:tcPr marL="9065" marR="9065" marT="9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1000" b="0" i="0" u="none" strike="noStrike">
                          <a:solidFill>
                            <a:srgbClr val="000000"/>
                          </a:solidFill>
                          <a:effectLst/>
                          <a:latin typeface="Arial" panose="020B0604020202020204" pitchFamily="34" charset="0"/>
                        </a:rPr>
                        <a:t>Monadic</a:t>
                      </a:r>
                    </a:p>
                  </a:txBody>
                  <a:tcPr marL="9065" marR="9065" marT="9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000" b="0" i="0" u="none" strike="noStrike">
                          <a:solidFill>
                            <a:srgbClr val="000000"/>
                          </a:solidFill>
                          <a:effectLst/>
                          <a:latin typeface="Arial" panose="020B0604020202020204" pitchFamily="34" charset="0"/>
                        </a:rPr>
                        <a:t>Mumbai</a:t>
                      </a:r>
                    </a:p>
                  </a:txBody>
                  <a:tcPr marL="9065" marR="9065" marT="9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IN" sz="1000" b="0" i="0" u="none" strike="noStrike">
                          <a:solidFill>
                            <a:srgbClr val="000000"/>
                          </a:solidFill>
                          <a:effectLst/>
                          <a:latin typeface="Arial" panose="020B0604020202020204" pitchFamily="34" charset="0"/>
                        </a:rPr>
                        <a:t>Delhi</a:t>
                      </a:r>
                    </a:p>
                  </a:txBody>
                  <a:tcPr marL="9065" marR="9065" marT="9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879986799"/>
                  </a:ext>
                </a:extLst>
              </a:tr>
              <a:tr h="208676">
                <a:tc>
                  <a:txBody>
                    <a:bodyPr/>
                    <a:lstStyle/>
                    <a:p>
                      <a:pPr algn="l" fontAlgn="b"/>
                      <a:r>
                        <a:rPr lang="en-IN" sz="1000" b="0" i="0" u="none" strike="noStrike">
                          <a:solidFill>
                            <a:srgbClr val="000000"/>
                          </a:solidFill>
                          <a:effectLst/>
                          <a:latin typeface="Calibri" panose="020F0502020204030204" pitchFamily="34" charset="0"/>
                        </a:rPr>
                        <a:t> </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9065" marR="9065" marT="906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a:solidFill>
                            <a:srgbClr val="FFFFFF"/>
                          </a:solidFill>
                          <a:effectLst/>
                          <a:latin typeface="Arial" panose="020B0604020202020204" pitchFamily="34" charset="0"/>
                        </a:rPr>
                        <a:t>FS 18</a:t>
                      </a:r>
                    </a:p>
                  </a:txBody>
                  <a:tcPr marL="9065" marR="9065" marT="9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9065" marR="9065" marT="9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9065" marR="9065" marT="9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IN" sz="1000" b="0" i="0" u="none" strike="noStrike">
                          <a:solidFill>
                            <a:srgbClr val="000000"/>
                          </a:solidFill>
                          <a:effectLst/>
                          <a:latin typeface="Arial" panose="020B0604020202020204" pitchFamily="34" charset="0"/>
                        </a:rPr>
                        <a:t>FS 18</a:t>
                      </a:r>
                    </a:p>
                  </a:txBody>
                  <a:tcPr marL="9065" marR="9065" marT="90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704804921"/>
                  </a:ext>
                </a:extLst>
              </a:tr>
              <a:tr h="208676">
                <a:tc rowSpan="2">
                  <a:txBody>
                    <a:bodyPr/>
                    <a:lstStyle/>
                    <a:p>
                      <a:pPr algn="l" fontAlgn="b"/>
                      <a:r>
                        <a:rPr lang="en-US" sz="1000" b="0" i="0" u="none" strike="noStrike">
                          <a:solidFill>
                            <a:srgbClr val="000000"/>
                          </a:solidFill>
                          <a:effectLst/>
                          <a:latin typeface="Calibri" panose="020F0502020204030204" pitchFamily="34" charset="0"/>
                        </a:rPr>
                        <a:t>This cake has a perfect soft bite</a:t>
                      </a: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4.8</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2729951705"/>
                  </a:ext>
                </a:extLst>
              </a:tr>
              <a:tr h="20867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92%</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IN" sz="1000" b="0" i="0" u="none" strike="noStrike" dirty="0">
                          <a:solidFill>
                            <a:srgbClr val="000000"/>
                          </a:solidFill>
                          <a:effectLst/>
                          <a:latin typeface="Calibri" panose="020F0502020204030204" pitchFamily="34" charset="0"/>
                        </a:rPr>
                        <a:t>95%</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93%</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4B084"/>
                    </a:solidFill>
                  </a:tcPr>
                </a:tc>
                <a:tc>
                  <a:txBody>
                    <a:bodyPr/>
                    <a:lstStyle/>
                    <a:p>
                      <a:pPr algn="ctr" fontAlgn="b"/>
                      <a:r>
                        <a:rPr lang="en-IN" sz="1000" b="0" i="0" u="none" strike="noStrike" dirty="0">
                          <a:solidFill>
                            <a:srgbClr val="000000"/>
                          </a:solidFill>
                          <a:effectLst/>
                          <a:latin typeface="Calibri" panose="020F0502020204030204" pitchFamily="34" charset="0"/>
                        </a:rPr>
                        <a:t>92%</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174135274"/>
                  </a:ext>
                </a:extLst>
              </a:tr>
              <a:tr h="208676">
                <a:tc>
                  <a:txBody>
                    <a:bodyPr/>
                    <a:lstStyle/>
                    <a:p>
                      <a:pPr algn="l"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0084763"/>
                  </a:ext>
                </a:extLst>
              </a:tr>
              <a:tr h="208676">
                <a:tc rowSpan="2">
                  <a:txBody>
                    <a:bodyPr/>
                    <a:lstStyle/>
                    <a:p>
                      <a:pPr algn="l" fontAlgn="b"/>
                      <a:r>
                        <a:rPr lang="en-US" sz="1000" b="0" i="0" u="none" strike="noStrike">
                          <a:solidFill>
                            <a:srgbClr val="000000"/>
                          </a:solidFill>
                          <a:effectLst/>
                          <a:latin typeface="Calibri" panose="020F0502020204030204" pitchFamily="34" charset="0"/>
                        </a:rPr>
                        <a:t>This cake doesn’t crumble when I take a bite</a:t>
                      </a: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b"/>
                      <a:r>
                        <a:rPr lang="en-IN" sz="1000" b="0" i="0" u="none" strike="noStrike" dirty="0">
                          <a:solidFill>
                            <a:srgbClr val="000000"/>
                          </a:solidFill>
                          <a:effectLst/>
                          <a:latin typeface="Calibri" panose="020F0502020204030204" pitchFamily="34" charset="0"/>
                        </a:rPr>
                        <a:t>4.7</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4.7</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92D050"/>
                    </a:solidFill>
                  </a:tcPr>
                </a:tc>
                <a:extLst>
                  <a:ext uri="{0D108BD9-81ED-4DB2-BD59-A6C34878D82A}">
                    <a16:rowId xmlns:a16="http://schemas.microsoft.com/office/drawing/2014/main" val="1399525521"/>
                  </a:ext>
                </a:extLst>
              </a:tr>
              <a:tr h="20867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94%</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95%</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96%</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92%</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369870919"/>
                  </a:ext>
                </a:extLst>
              </a:tr>
              <a:tr h="208676">
                <a:tc>
                  <a:txBody>
                    <a:bodyPr/>
                    <a:lstStyle/>
                    <a:p>
                      <a:pPr algn="l"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dirty="0">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8673501"/>
                  </a:ext>
                </a:extLst>
              </a:tr>
              <a:tr h="208676">
                <a:tc rowSpan="2">
                  <a:txBody>
                    <a:bodyPr/>
                    <a:lstStyle/>
                    <a:p>
                      <a:pPr algn="l" fontAlgn="ctr"/>
                      <a:r>
                        <a:rPr lang="en-US" sz="1000" b="0" i="0" u="none" strike="noStrike">
                          <a:solidFill>
                            <a:srgbClr val="000000"/>
                          </a:solidFill>
                          <a:effectLst/>
                          <a:latin typeface="Calibri" panose="020F0502020204030204" pitchFamily="34" charset="0"/>
                        </a:rPr>
                        <a:t>This cake has perfect sweetness </a:t>
                      </a: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4.7</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4.4</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4.7</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320863179"/>
                  </a:ext>
                </a:extLst>
              </a:tr>
              <a:tr h="20867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90%</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92%</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4B084"/>
                    </a:solidFill>
                  </a:tcPr>
                </a:tc>
                <a:tc>
                  <a:txBody>
                    <a:bodyPr/>
                    <a:lstStyle/>
                    <a:p>
                      <a:pPr algn="ctr" fontAlgn="b"/>
                      <a:r>
                        <a:rPr lang="en-IN" sz="1000" b="0" i="0" u="none" strike="noStrike">
                          <a:solidFill>
                            <a:srgbClr val="000000"/>
                          </a:solidFill>
                          <a:effectLst/>
                          <a:latin typeface="Calibri" panose="020F0502020204030204" pitchFamily="34" charset="0"/>
                        </a:rPr>
                        <a:t>88%</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IN" sz="1000" b="0" i="0" u="none" strike="noStrike" dirty="0">
                          <a:solidFill>
                            <a:srgbClr val="000000"/>
                          </a:solidFill>
                          <a:effectLst/>
                          <a:latin typeface="Calibri" panose="020F0502020204030204" pitchFamily="34" charset="0"/>
                        </a:rPr>
                        <a:t>92%</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84800495"/>
                  </a:ext>
                </a:extLst>
              </a:tr>
              <a:tr h="208676">
                <a:tc>
                  <a:txBody>
                    <a:bodyPr/>
                    <a:lstStyle/>
                    <a:p>
                      <a:pPr algn="l" fontAlgn="ctr"/>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dirty="0">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8878563"/>
                  </a:ext>
                </a:extLst>
              </a:tr>
              <a:tr h="208676">
                <a:tc rowSpan="2">
                  <a:txBody>
                    <a:bodyPr/>
                    <a:lstStyle/>
                    <a:p>
                      <a:pPr algn="l" fontAlgn="ctr"/>
                      <a:r>
                        <a:rPr lang="en-US" sz="1000" b="0" i="0" u="none" strike="noStrike">
                          <a:solidFill>
                            <a:srgbClr val="000000"/>
                          </a:solidFill>
                          <a:effectLst/>
                          <a:latin typeface="Calibri" panose="020F0502020204030204" pitchFamily="34" charset="0"/>
                        </a:rPr>
                        <a:t>This cake has perfect taste</a:t>
                      </a: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4.7</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3980944169"/>
                  </a:ext>
                </a:extLst>
              </a:tr>
              <a:tr h="20867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 </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92%</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96%</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91%</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93%</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4051830543"/>
                  </a:ext>
                </a:extLst>
              </a:tr>
              <a:tr h="208676">
                <a:tc>
                  <a:txBody>
                    <a:bodyPr/>
                    <a:lstStyle/>
                    <a:p>
                      <a:pPr algn="l" fontAlgn="ctr"/>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6007022"/>
                  </a:ext>
                </a:extLst>
              </a:tr>
              <a:tr h="208676">
                <a:tc rowSpan="2">
                  <a:txBody>
                    <a:bodyPr/>
                    <a:lstStyle/>
                    <a:p>
                      <a:pPr algn="l" fontAlgn="ctr"/>
                      <a:r>
                        <a:rPr lang="en-IN" sz="1000" b="0" i="0" u="none" strike="noStrike">
                          <a:solidFill>
                            <a:srgbClr val="000000"/>
                          </a:solidFill>
                          <a:effectLst/>
                          <a:latin typeface="Calibri" panose="020F0502020204030204" pitchFamily="34" charset="0"/>
                        </a:rPr>
                        <a:t>Less Bitterness</a:t>
                      </a: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4.1</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4.2</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4B084"/>
                    </a:solidFill>
                  </a:tcPr>
                </a:tc>
                <a:tc>
                  <a:txBody>
                    <a:bodyPr/>
                    <a:lstStyle/>
                    <a:p>
                      <a:pPr algn="ctr" fontAlgn="b"/>
                      <a:r>
                        <a:rPr lang="en-IN" sz="1000" b="0" i="0" u="none" strike="noStrike">
                          <a:solidFill>
                            <a:srgbClr val="000000"/>
                          </a:solidFill>
                          <a:effectLst/>
                          <a:latin typeface="Calibri" panose="020F0502020204030204" pitchFamily="34" charset="0"/>
                        </a:rPr>
                        <a:t>3.9</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0000"/>
                    </a:solidFill>
                  </a:tcPr>
                </a:tc>
                <a:tc>
                  <a:txBody>
                    <a:bodyPr/>
                    <a:lstStyle/>
                    <a:p>
                      <a:pPr algn="ctr" fontAlgn="b"/>
                      <a:r>
                        <a:rPr lang="en-IN" sz="1000" b="0" i="0" u="none" strike="noStrike" dirty="0">
                          <a:solidFill>
                            <a:srgbClr val="000000"/>
                          </a:solidFill>
                          <a:effectLst/>
                          <a:latin typeface="Calibri" panose="020F0502020204030204" pitchFamily="34" charset="0"/>
                        </a:rPr>
                        <a:t>4.4</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4270107787"/>
                  </a:ext>
                </a:extLst>
              </a:tr>
              <a:tr h="20867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78%</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78%</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72%</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r>
                        <a:rPr lang="en-IN" sz="1000" b="0" i="0" u="none" strike="noStrike" dirty="0">
                          <a:solidFill>
                            <a:srgbClr val="000000"/>
                          </a:solidFill>
                          <a:effectLst/>
                          <a:latin typeface="Calibri" panose="020F0502020204030204" pitchFamily="34" charset="0"/>
                        </a:rPr>
                        <a:t>83%</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067984781"/>
                  </a:ext>
                </a:extLst>
              </a:tr>
              <a:tr h="208676">
                <a:tc>
                  <a:txBody>
                    <a:bodyPr/>
                    <a:lstStyle/>
                    <a:p>
                      <a:pPr algn="l" fontAlgn="ctr"/>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354285"/>
                  </a:ext>
                </a:extLst>
              </a:tr>
              <a:tr h="208676">
                <a:tc rowSpan="2">
                  <a:txBody>
                    <a:bodyPr/>
                    <a:lstStyle/>
                    <a:p>
                      <a:pPr algn="l" fontAlgn="ctr"/>
                      <a:r>
                        <a:rPr lang="en-US" sz="1000" b="0" i="0" u="none" strike="noStrike">
                          <a:solidFill>
                            <a:srgbClr val="000000"/>
                          </a:solidFill>
                          <a:effectLst/>
                          <a:latin typeface="Calibri" panose="020F0502020204030204" pitchFamily="34" charset="0"/>
                        </a:rPr>
                        <a:t>I really enjoyed the consuming the product</a:t>
                      </a: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4.8</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4.7</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00B050"/>
                    </a:solidFill>
                  </a:tcPr>
                </a:tc>
                <a:extLst>
                  <a:ext uri="{0D108BD9-81ED-4DB2-BD59-A6C34878D82A}">
                    <a16:rowId xmlns:a16="http://schemas.microsoft.com/office/drawing/2014/main" val="2264523541"/>
                  </a:ext>
                </a:extLst>
              </a:tr>
              <a:tr h="20867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Calibri" panose="020F0502020204030204" pitchFamily="34" charset="0"/>
                        </a:rPr>
                        <a:t>92%</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97%</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92%</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4B084"/>
                    </a:solidFill>
                  </a:tcPr>
                </a:tc>
                <a:tc>
                  <a:txBody>
                    <a:bodyPr/>
                    <a:lstStyle/>
                    <a:p>
                      <a:pPr algn="ctr" fontAlgn="b"/>
                      <a:r>
                        <a:rPr lang="en-IN" sz="1000" b="0" i="0" u="none" strike="noStrike" dirty="0">
                          <a:solidFill>
                            <a:srgbClr val="000000"/>
                          </a:solidFill>
                          <a:effectLst/>
                          <a:latin typeface="Calibri" panose="020F0502020204030204" pitchFamily="34" charset="0"/>
                        </a:rPr>
                        <a:t>92%</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040087455"/>
                  </a:ext>
                </a:extLst>
              </a:tr>
              <a:tr h="208676">
                <a:tc>
                  <a:txBody>
                    <a:bodyPr/>
                    <a:lstStyle/>
                    <a:p>
                      <a:pPr algn="l" fontAlgn="ctr"/>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IN" sz="1000" b="0" i="0" u="none" strike="noStrike" dirty="0">
                        <a:solidFill>
                          <a:srgbClr val="000000"/>
                        </a:solidFill>
                        <a:effectLst/>
                        <a:latin typeface="Calibri" panose="020F0502020204030204" pitchFamily="34" charset="0"/>
                      </a:endParaRP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70336154"/>
                  </a:ext>
                </a:extLst>
              </a:tr>
              <a:tr h="208676">
                <a:tc>
                  <a:txBody>
                    <a:bodyPr/>
                    <a:lstStyle/>
                    <a:p>
                      <a:pPr algn="l" fontAlgn="ctr"/>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IN" sz="1000" b="0" i="0" u="none" strike="noStrike">
                        <a:solidFill>
                          <a:srgbClr val="000000"/>
                        </a:solidFill>
                        <a:effectLst/>
                        <a:latin typeface="Calibri" panose="020F0502020204030204" pitchFamily="34" charset="0"/>
                      </a:endParaRP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296876"/>
                  </a:ext>
                </a:extLst>
              </a:tr>
              <a:tr h="208676">
                <a:tc rowSpan="2">
                  <a:txBody>
                    <a:bodyPr/>
                    <a:lstStyle/>
                    <a:p>
                      <a:pPr algn="l" fontAlgn="ctr"/>
                      <a:r>
                        <a:rPr lang="en-US" sz="1000" b="0" i="0" u="none" strike="noStrike">
                          <a:solidFill>
                            <a:srgbClr val="000000"/>
                          </a:solidFill>
                          <a:effectLst/>
                          <a:latin typeface="Calibri" panose="020F0502020204030204" pitchFamily="34" charset="0"/>
                        </a:rPr>
                        <a:t>It has a rich chocolaty flavor</a:t>
                      </a:r>
                    </a:p>
                  </a:txBody>
                  <a:tcPr marL="9065" marR="9065" marT="906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N" sz="1000" b="0" i="0" u="none" strike="noStrike">
                          <a:solidFill>
                            <a:srgbClr val="000000"/>
                          </a:solidFill>
                          <a:effectLst/>
                          <a:latin typeface="Calibri" panose="020F0502020204030204" pitchFamily="34" charset="0"/>
                        </a:rPr>
                        <a:t>Mean</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4.7</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4.5</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4.6</a:t>
                      </a:r>
                    </a:p>
                  </a:txBody>
                  <a:tcPr marL="9065" marR="9065" marT="9065"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extLst>
                  <a:ext uri="{0D108BD9-81ED-4DB2-BD59-A6C34878D82A}">
                    <a16:rowId xmlns:a16="http://schemas.microsoft.com/office/drawing/2014/main" val="806073975"/>
                  </a:ext>
                </a:extLst>
              </a:tr>
              <a:tr h="208676">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TTB</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a:solidFill>
                            <a:srgbClr val="000000"/>
                          </a:solidFill>
                          <a:effectLst/>
                          <a:latin typeface="Calibri" panose="020F0502020204030204" pitchFamily="34" charset="0"/>
                        </a:rPr>
                        <a:t>90%</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96%</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a:solidFill>
                            <a:srgbClr val="000000"/>
                          </a:solidFill>
                          <a:effectLst/>
                          <a:latin typeface="Calibri" panose="020F0502020204030204" pitchFamily="34" charset="0"/>
                        </a:rPr>
                        <a:t>90%</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IN" sz="1000" b="0" i="0" u="none" strike="noStrike" dirty="0">
                          <a:solidFill>
                            <a:srgbClr val="000000"/>
                          </a:solidFill>
                          <a:effectLst/>
                          <a:latin typeface="Calibri" panose="020F0502020204030204" pitchFamily="34" charset="0"/>
                        </a:rPr>
                        <a:t>91%</a:t>
                      </a:r>
                    </a:p>
                  </a:txBody>
                  <a:tcPr marL="9065" marR="9065" marT="9065" marB="0" anchor="ctr">
                    <a:lnL>
                      <a:noFill/>
                    </a:lnL>
                    <a:lnR>
                      <a:noFill/>
                    </a:lnR>
                    <a:lnT>
                      <a:noFill/>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091921656"/>
                  </a:ext>
                </a:extLst>
              </a:tr>
            </a:tbl>
          </a:graphicData>
        </a:graphic>
      </p:graphicFrame>
      <p:graphicFrame>
        <p:nvGraphicFramePr>
          <p:cNvPr id="12" name="Table 11">
            <a:extLst>
              <a:ext uri="{FF2B5EF4-FFF2-40B4-BE49-F238E27FC236}">
                <a16:creationId xmlns:a16="http://schemas.microsoft.com/office/drawing/2014/main" id="{0C52C8E8-9F67-C663-3B49-E5224B3ACC15}"/>
              </a:ext>
            </a:extLst>
          </p:cNvPr>
          <p:cNvGraphicFramePr>
            <a:graphicFrameLocks noGrp="1"/>
          </p:cNvGraphicFramePr>
          <p:nvPr>
            <p:extLst>
              <p:ext uri="{D42A27DB-BD31-4B8C-83A1-F6EECF244321}">
                <p14:modId xmlns:p14="http://schemas.microsoft.com/office/powerpoint/2010/main" val="514192164"/>
              </p:ext>
            </p:extLst>
          </p:nvPr>
        </p:nvGraphicFramePr>
        <p:xfrm>
          <a:off x="14283" y="6429368"/>
          <a:ext cx="2700000" cy="381000"/>
        </p:xfrm>
        <a:graphic>
          <a:graphicData uri="http://schemas.openxmlformats.org/drawingml/2006/table">
            <a:tbl>
              <a:tblPr/>
              <a:tblGrid>
                <a:gridCol w="2700000">
                  <a:extLst>
                    <a:ext uri="{9D8B030D-6E8A-4147-A177-3AD203B41FA5}">
                      <a16:colId xmlns:a16="http://schemas.microsoft.com/office/drawing/2014/main" val="3248818770"/>
                    </a:ext>
                  </a:extLst>
                </a:gridCol>
              </a:tblGrid>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better than CB 24 @ 95%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299344285"/>
                  </a:ext>
                </a:extLst>
              </a:tr>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better than CB 24 @ 90%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2135679168"/>
                  </a:ext>
                </a:extLst>
              </a:tr>
            </a:tbl>
          </a:graphicData>
        </a:graphic>
      </p:graphicFrame>
      <p:graphicFrame>
        <p:nvGraphicFramePr>
          <p:cNvPr id="14" name="Table 13">
            <a:extLst>
              <a:ext uri="{FF2B5EF4-FFF2-40B4-BE49-F238E27FC236}">
                <a16:creationId xmlns:a16="http://schemas.microsoft.com/office/drawing/2014/main" id="{0F16AF6C-01AB-DB1C-A6EE-65C2803B109F}"/>
              </a:ext>
            </a:extLst>
          </p:cNvPr>
          <p:cNvGraphicFramePr>
            <a:graphicFrameLocks noGrp="1"/>
          </p:cNvGraphicFramePr>
          <p:nvPr>
            <p:extLst>
              <p:ext uri="{D42A27DB-BD31-4B8C-83A1-F6EECF244321}">
                <p14:modId xmlns:p14="http://schemas.microsoft.com/office/powerpoint/2010/main" val="3292965514"/>
              </p:ext>
            </p:extLst>
          </p:nvPr>
        </p:nvGraphicFramePr>
        <p:xfrm>
          <a:off x="2747160" y="6429368"/>
          <a:ext cx="2700000" cy="381000"/>
        </p:xfrm>
        <a:graphic>
          <a:graphicData uri="http://schemas.openxmlformats.org/drawingml/2006/table">
            <a:tbl>
              <a:tblPr/>
              <a:tblGrid>
                <a:gridCol w="2700000">
                  <a:extLst>
                    <a:ext uri="{9D8B030D-6E8A-4147-A177-3AD203B41FA5}">
                      <a16:colId xmlns:a16="http://schemas.microsoft.com/office/drawing/2014/main" val="1714109665"/>
                    </a:ext>
                  </a:extLst>
                </a:gridCol>
              </a:tblGrid>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inferior than CB 24 @ 95%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954038242"/>
                  </a:ext>
                </a:extLst>
              </a:tr>
              <a:tr h="190500">
                <a:tc>
                  <a:txBody>
                    <a:bodyPr/>
                    <a:lstStyle/>
                    <a:p>
                      <a:pPr algn="l" fontAlgn="b"/>
                      <a:r>
                        <a:rPr lang="en-US" sz="1000" b="0" i="1" u="none" strike="noStrike" dirty="0">
                          <a:solidFill>
                            <a:srgbClr val="000000"/>
                          </a:solidFill>
                          <a:effectLst/>
                          <a:latin typeface="Calibri" panose="020F0502020204030204" pitchFamily="34" charset="0"/>
                        </a:rPr>
                        <a:t>FS 18 is significantly inferior than CB 24 @ 90% C.I.L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1297679779"/>
                  </a:ext>
                </a:extLst>
              </a:tr>
            </a:tbl>
          </a:graphicData>
        </a:graphic>
      </p:graphicFrame>
      <p:sp>
        <p:nvSpPr>
          <p:cNvPr id="16" name="TextBox 15">
            <a:extLst>
              <a:ext uri="{FF2B5EF4-FFF2-40B4-BE49-F238E27FC236}">
                <a16:creationId xmlns:a16="http://schemas.microsoft.com/office/drawing/2014/main" id="{42225C76-5AAD-B20C-CC74-EF5ACFE51643}"/>
              </a:ext>
            </a:extLst>
          </p:cNvPr>
          <p:cNvSpPr txBox="1"/>
          <p:nvPr/>
        </p:nvSpPr>
        <p:spPr>
          <a:xfrm rot="16200000">
            <a:off x="-301447" y="3475166"/>
            <a:ext cx="861454" cy="276999"/>
          </a:xfrm>
          <a:prstGeom prst="rect">
            <a:avLst/>
          </a:prstGeom>
          <a:noFill/>
        </p:spPr>
        <p:txBody>
          <a:bodyPr wrap="none" rtlCol="0">
            <a:spAutoFit/>
          </a:bodyPr>
          <a:lstStyle/>
          <a:p>
            <a:r>
              <a:rPr lang="en-IN" sz="1200" dirty="0">
                <a:solidFill>
                  <a:schemeClr val="bg1">
                    <a:lumMod val="50000"/>
                  </a:schemeClr>
                </a:solidFill>
              </a:rPr>
              <a:t>Preference</a:t>
            </a:r>
          </a:p>
        </p:txBody>
      </p:sp>
      <p:sp>
        <p:nvSpPr>
          <p:cNvPr id="2" name="Title 1">
            <a:extLst>
              <a:ext uri="{FF2B5EF4-FFF2-40B4-BE49-F238E27FC236}">
                <a16:creationId xmlns:a16="http://schemas.microsoft.com/office/drawing/2014/main" id="{3202B0F7-8AAE-E385-83D7-E0D27CF7A0E0}"/>
              </a:ext>
            </a:extLst>
          </p:cNvPr>
          <p:cNvSpPr>
            <a:spLocks noGrp="1"/>
          </p:cNvSpPr>
          <p:nvPr>
            <p:ph type="title"/>
          </p:nvPr>
        </p:nvSpPr>
        <p:spPr>
          <a:xfrm>
            <a:off x="0" y="0"/>
            <a:ext cx="12192000" cy="749300"/>
          </a:xfrm>
          <a:solidFill>
            <a:srgbClr val="002060"/>
          </a:solidFill>
        </p:spPr>
        <p:txBody>
          <a:bodyPr anchor="ctr">
            <a:normAutofit/>
          </a:bodyPr>
          <a:lstStyle/>
          <a:p>
            <a:r>
              <a:rPr lang="en-US" sz="3200" b="1" dirty="0">
                <a:solidFill>
                  <a:schemeClr val="bg1"/>
                </a:solidFill>
              </a:rPr>
              <a:t>Attributes summary of product FS 18</a:t>
            </a:r>
            <a:endParaRPr lang="en-IN" sz="3200" b="1" dirty="0">
              <a:solidFill>
                <a:schemeClr val="bg1"/>
              </a:solidFill>
            </a:endParaRPr>
          </a:p>
        </p:txBody>
      </p:sp>
      <p:sp>
        <p:nvSpPr>
          <p:cNvPr id="5" name="TextBox 4">
            <a:extLst>
              <a:ext uri="{FF2B5EF4-FFF2-40B4-BE49-F238E27FC236}">
                <a16:creationId xmlns:a16="http://schemas.microsoft.com/office/drawing/2014/main" id="{7985DB7B-E9BF-6CD7-C61A-552F4D668F5E}"/>
              </a:ext>
            </a:extLst>
          </p:cNvPr>
          <p:cNvSpPr txBox="1"/>
          <p:nvPr/>
        </p:nvSpPr>
        <p:spPr>
          <a:xfrm>
            <a:off x="5457821" y="6439125"/>
            <a:ext cx="1620000" cy="180000"/>
          </a:xfrm>
          <a:prstGeom prst="rect">
            <a:avLst/>
          </a:prstGeom>
          <a:solidFill>
            <a:srgbClr val="FFFF00"/>
          </a:solidFill>
        </p:spPr>
        <p:txBody>
          <a:bodyPr wrap="square" rtlCol="0" anchor="ctr">
            <a:spAutoFit/>
          </a:bodyPr>
          <a:lstStyle/>
          <a:p>
            <a:r>
              <a:rPr lang="en-US" sz="1000" i="1" dirty="0"/>
              <a:t>FS 18 is parity with CB 24</a:t>
            </a:r>
            <a:endParaRPr lang="en-IN" sz="1000" i="1" dirty="0"/>
          </a:p>
        </p:txBody>
      </p:sp>
      <p:sp>
        <p:nvSpPr>
          <p:cNvPr id="8" name="TextBox 7">
            <a:extLst>
              <a:ext uri="{FF2B5EF4-FFF2-40B4-BE49-F238E27FC236}">
                <a16:creationId xmlns:a16="http://schemas.microsoft.com/office/drawing/2014/main" id="{E573DA09-9B80-CD61-8DBB-C79C7715F19D}"/>
              </a:ext>
            </a:extLst>
          </p:cNvPr>
          <p:cNvSpPr txBox="1"/>
          <p:nvPr/>
        </p:nvSpPr>
        <p:spPr>
          <a:xfrm>
            <a:off x="128587" y="5957882"/>
            <a:ext cx="12049129" cy="461665"/>
          </a:xfrm>
          <a:prstGeom prst="rect">
            <a:avLst/>
          </a:prstGeom>
          <a:noFill/>
        </p:spPr>
        <p:txBody>
          <a:bodyPr wrap="square" rtlCol="0">
            <a:spAutoFit/>
          </a:bodyPr>
          <a:lstStyle/>
          <a:p>
            <a:pPr algn="ctr"/>
            <a:r>
              <a:rPr lang="en-US" sz="1200" dirty="0"/>
              <a:t>FS 18 is significantly liked and parity to CB 24 at agreement level at many attributes. Inferior scores have been noticed for FS 18 against CB 24 at bite, sweetness, bitterness, and enjoy the consuming the product.</a:t>
            </a:r>
            <a:endParaRPr lang="en-IN" sz="1200" dirty="0"/>
          </a:p>
        </p:txBody>
      </p:sp>
    </p:spTree>
    <p:extLst>
      <p:ext uri="{BB962C8B-B14F-4D97-AF65-F5344CB8AC3E}">
        <p14:creationId xmlns:p14="http://schemas.microsoft.com/office/powerpoint/2010/main" val="1724484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71A4C7E-5CDE-FDF2-CE6B-A7F877078441}"/>
              </a:ext>
            </a:extLst>
          </p:cNvPr>
          <p:cNvGraphicFramePr/>
          <p:nvPr>
            <p:extLst>
              <p:ext uri="{D42A27DB-BD31-4B8C-83A1-F6EECF244321}">
                <p14:modId xmlns:p14="http://schemas.microsoft.com/office/powerpoint/2010/main" val="524559958"/>
              </p:ext>
            </p:extLst>
          </p:nvPr>
        </p:nvGraphicFramePr>
        <p:xfrm>
          <a:off x="989011" y="833966"/>
          <a:ext cx="9383714" cy="56239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78059E54-7BF5-AA44-8F7B-83CFD524F14B}"/>
              </a:ext>
            </a:extLst>
          </p:cNvPr>
          <p:cNvSpPr>
            <a:spLocks noGrp="1"/>
          </p:cNvSpPr>
          <p:nvPr>
            <p:ph type="title"/>
          </p:nvPr>
        </p:nvSpPr>
        <p:spPr>
          <a:xfrm>
            <a:off x="0" y="0"/>
            <a:ext cx="12192000" cy="749300"/>
          </a:xfrm>
          <a:solidFill>
            <a:srgbClr val="002060"/>
          </a:solidFill>
        </p:spPr>
        <p:txBody>
          <a:bodyPr anchor="ctr">
            <a:normAutofit/>
          </a:bodyPr>
          <a:lstStyle/>
          <a:p>
            <a:r>
              <a:rPr lang="en-US" sz="3200" b="1" dirty="0">
                <a:solidFill>
                  <a:schemeClr val="bg1"/>
                </a:solidFill>
              </a:rPr>
              <a:t>Summary : SWOT analysis for product FS 18</a:t>
            </a:r>
            <a:endParaRPr lang="en-IN" sz="3200" b="1" dirty="0">
              <a:solidFill>
                <a:schemeClr val="bg1"/>
              </a:solidFill>
            </a:endParaRPr>
          </a:p>
        </p:txBody>
      </p:sp>
      <p:sp>
        <p:nvSpPr>
          <p:cNvPr id="5" name="TextBox 4">
            <a:extLst>
              <a:ext uri="{FF2B5EF4-FFF2-40B4-BE49-F238E27FC236}">
                <a16:creationId xmlns:a16="http://schemas.microsoft.com/office/drawing/2014/main" id="{2CB3D9EB-A2DE-A4C1-E097-39E154DB32D5}"/>
              </a:ext>
            </a:extLst>
          </p:cNvPr>
          <p:cNvSpPr txBox="1"/>
          <p:nvPr/>
        </p:nvSpPr>
        <p:spPr>
          <a:xfrm>
            <a:off x="2814642" y="1387350"/>
            <a:ext cx="403828" cy="1842749"/>
          </a:xfrm>
          <a:prstGeom prst="rect">
            <a:avLst/>
          </a:prstGeom>
          <a:noFill/>
        </p:spPr>
        <p:txBody>
          <a:bodyPr vert="wordArtVert" wrap="none" rtlCol="0">
            <a:spAutoFit/>
          </a:bodyPr>
          <a:lstStyle/>
          <a:p>
            <a:r>
              <a:rPr lang="en-US" sz="1200" b="1" dirty="0">
                <a:solidFill>
                  <a:srgbClr val="00B050"/>
                </a:solidFill>
              </a:rPr>
              <a:t>Strength</a:t>
            </a:r>
            <a:endParaRPr lang="en-IN" sz="1200" b="1" dirty="0">
              <a:solidFill>
                <a:srgbClr val="00B050"/>
              </a:solidFill>
            </a:endParaRPr>
          </a:p>
        </p:txBody>
      </p:sp>
      <p:sp>
        <p:nvSpPr>
          <p:cNvPr id="6" name="TextBox 5">
            <a:extLst>
              <a:ext uri="{FF2B5EF4-FFF2-40B4-BE49-F238E27FC236}">
                <a16:creationId xmlns:a16="http://schemas.microsoft.com/office/drawing/2014/main" id="{8874FC52-8666-3D9E-9403-92EEC9132C82}"/>
              </a:ext>
            </a:extLst>
          </p:cNvPr>
          <p:cNvSpPr txBox="1"/>
          <p:nvPr/>
        </p:nvSpPr>
        <p:spPr>
          <a:xfrm>
            <a:off x="8153415" y="1882657"/>
            <a:ext cx="403828" cy="963469"/>
          </a:xfrm>
          <a:prstGeom prst="rect">
            <a:avLst/>
          </a:prstGeom>
          <a:noFill/>
        </p:spPr>
        <p:txBody>
          <a:bodyPr vert="wordArtVert" wrap="none" rtlCol="0">
            <a:spAutoFit/>
          </a:bodyPr>
          <a:lstStyle/>
          <a:p>
            <a:r>
              <a:rPr lang="en-US" sz="1200" b="1" dirty="0">
                <a:solidFill>
                  <a:srgbClr val="FF0000"/>
                </a:solidFill>
              </a:rPr>
              <a:t>Weak</a:t>
            </a:r>
            <a:endParaRPr lang="en-IN" sz="1200" b="1" dirty="0">
              <a:solidFill>
                <a:srgbClr val="FF0000"/>
              </a:solidFill>
            </a:endParaRPr>
          </a:p>
        </p:txBody>
      </p:sp>
      <p:sp>
        <p:nvSpPr>
          <p:cNvPr id="7" name="TextBox 6">
            <a:extLst>
              <a:ext uri="{FF2B5EF4-FFF2-40B4-BE49-F238E27FC236}">
                <a16:creationId xmlns:a16="http://schemas.microsoft.com/office/drawing/2014/main" id="{9E276580-48A0-7A8D-7962-37A82091BB9C}"/>
              </a:ext>
            </a:extLst>
          </p:cNvPr>
          <p:cNvSpPr txBox="1"/>
          <p:nvPr/>
        </p:nvSpPr>
        <p:spPr>
          <a:xfrm>
            <a:off x="8162939" y="3792433"/>
            <a:ext cx="403828" cy="2503121"/>
          </a:xfrm>
          <a:prstGeom prst="rect">
            <a:avLst/>
          </a:prstGeom>
          <a:noFill/>
        </p:spPr>
        <p:txBody>
          <a:bodyPr vert="wordArtVert" wrap="none" rtlCol="0">
            <a:spAutoFit/>
          </a:bodyPr>
          <a:lstStyle/>
          <a:p>
            <a:r>
              <a:rPr lang="en-US" sz="1200" b="1" dirty="0">
                <a:solidFill>
                  <a:schemeClr val="accent4">
                    <a:lumMod val="75000"/>
                  </a:schemeClr>
                </a:solidFill>
              </a:rPr>
              <a:t>Opportunity</a:t>
            </a:r>
            <a:endParaRPr lang="en-IN" sz="1200" b="1" dirty="0">
              <a:solidFill>
                <a:schemeClr val="accent4">
                  <a:lumMod val="75000"/>
                </a:schemeClr>
              </a:solidFill>
            </a:endParaRPr>
          </a:p>
        </p:txBody>
      </p:sp>
      <p:sp>
        <p:nvSpPr>
          <p:cNvPr id="8" name="TextBox 7">
            <a:extLst>
              <a:ext uri="{FF2B5EF4-FFF2-40B4-BE49-F238E27FC236}">
                <a16:creationId xmlns:a16="http://schemas.microsoft.com/office/drawing/2014/main" id="{B76DDC8C-BDFE-2D43-44E7-6C1FF3A7C393}"/>
              </a:ext>
            </a:extLst>
          </p:cNvPr>
          <p:cNvSpPr txBox="1"/>
          <p:nvPr/>
        </p:nvSpPr>
        <p:spPr>
          <a:xfrm>
            <a:off x="2814639" y="4259163"/>
            <a:ext cx="403828" cy="1404167"/>
          </a:xfrm>
          <a:prstGeom prst="rect">
            <a:avLst/>
          </a:prstGeom>
          <a:noFill/>
        </p:spPr>
        <p:txBody>
          <a:bodyPr vert="wordArtVert" wrap="none" rtlCol="0">
            <a:spAutoFit/>
          </a:bodyPr>
          <a:lstStyle/>
          <a:p>
            <a:r>
              <a:rPr lang="en-US" sz="1200" b="1" dirty="0">
                <a:solidFill>
                  <a:srgbClr val="A80020"/>
                </a:solidFill>
              </a:rPr>
              <a:t>Threat</a:t>
            </a:r>
            <a:endParaRPr lang="en-IN" sz="1200" b="1" dirty="0">
              <a:solidFill>
                <a:srgbClr val="A80020"/>
              </a:solidFill>
            </a:endParaRPr>
          </a:p>
        </p:txBody>
      </p:sp>
    </p:spTree>
    <p:extLst>
      <p:ext uri="{BB962C8B-B14F-4D97-AF65-F5344CB8AC3E}">
        <p14:creationId xmlns:p14="http://schemas.microsoft.com/office/powerpoint/2010/main" val="2194576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5E6A4E6-8259-79FB-DDF9-9F875FEB9FDD}"/>
              </a:ext>
            </a:extLst>
          </p:cNvPr>
          <p:cNvSpPr>
            <a:spLocks noGrp="1"/>
          </p:cNvSpPr>
          <p:nvPr>
            <p:ph type="title"/>
          </p:nvPr>
        </p:nvSpPr>
        <p:spPr>
          <a:xfrm>
            <a:off x="0" y="0"/>
            <a:ext cx="12192000" cy="749300"/>
          </a:xfrm>
          <a:solidFill>
            <a:srgbClr val="002060"/>
          </a:solidFill>
        </p:spPr>
        <p:txBody>
          <a:bodyPr anchor="ctr">
            <a:normAutofit/>
          </a:bodyPr>
          <a:lstStyle/>
          <a:p>
            <a:r>
              <a:rPr lang="en-US" sz="3200" b="1" dirty="0">
                <a:solidFill>
                  <a:schemeClr val="bg1"/>
                </a:solidFill>
              </a:rPr>
              <a:t>Driver Analysis : FS 18</a:t>
            </a:r>
            <a:endParaRPr lang="en-IN" sz="3200" b="1" dirty="0">
              <a:solidFill>
                <a:schemeClr val="bg1"/>
              </a:solidFill>
            </a:endParaRPr>
          </a:p>
        </p:txBody>
      </p:sp>
      <p:graphicFrame>
        <p:nvGraphicFramePr>
          <p:cNvPr id="10" name="Chart 9">
            <a:extLst>
              <a:ext uri="{FF2B5EF4-FFF2-40B4-BE49-F238E27FC236}">
                <a16:creationId xmlns:a16="http://schemas.microsoft.com/office/drawing/2014/main" id="{AC62D0DA-3C49-7CCC-8DE4-27FC11D962E8}"/>
              </a:ext>
            </a:extLst>
          </p:cNvPr>
          <p:cNvGraphicFramePr/>
          <p:nvPr>
            <p:extLst>
              <p:ext uri="{D42A27DB-BD31-4B8C-83A1-F6EECF244321}">
                <p14:modId xmlns:p14="http://schemas.microsoft.com/office/powerpoint/2010/main" val="3741201534"/>
              </p:ext>
            </p:extLst>
          </p:nvPr>
        </p:nvGraphicFramePr>
        <p:xfrm>
          <a:off x="-1" y="1419762"/>
          <a:ext cx="12191999" cy="5418667"/>
        </p:xfrm>
        <a:graphic>
          <a:graphicData uri="http://schemas.openxmlformats.org/drawingml/2006/chart">
            <c:chart xmlns:c="http://schemas.openxmlformats.org/drawingml/2006/chart" xmlns:r="http://schemas.openxmlformats.org/officeDocument/2006/relationships" r:id="rId2"/>
          </a:graphicData>
        </a:graphic>
      </p:graphicFrame>
      <p:cxnSp>
        <p:nvCxnSpPr>
          <p:cNvPr id="12" name="Straight Connector 11">
            <a:extLst>
              <a:ext uri="{FF2B5EF4-FFF2-40B4-BE49-F238E27FC236}">
                <a16:creationId xmlns:a16="http://schemas.microsoft.com/office/drawing/2014/main" id="{151FBB6F-4565-A395-80AE-5CA7D91DEE39}"/>
              </a:ext>
            </a:extLst>
          </p:cNvPr>
          <p:cNvCxnSpPr/>
          <p:nvPr/>
        </p:nvCxnSpPr>
        <p:spPr>
          <a:xfrm>
            <a:off x="428625" y="2714638"/>
            <a:ext cx="11749085"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AF8D9D4-3711-7CF8-EB20-3CA2F0B1A300}"/>
              </a:ext>
            </a:extLst>
          </p:cNvPr>
          <p:cNvCxnSpPr/>
          <p:nvPr/>
        </p:nvCxnSpPr>
        <p:spPr>
          <a:xfrm>
            <a:off x="4900624" y="1435114"/>
            <a:ext cx="0" cy="396000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B05BEB2-7C71-37AC-7A5C-83FF2756CB88}"/>
              </a:ext>
            </a:extLst>
          </p:cNvPr>
          <p:cNvSpPr txBox="1"/>
          <p:nvPr/>
        </p:nvSpPr>
        <p:spPr>
          <a:xfrm>
            <a:off x="14281" y="738218"/>
            <a:ext cx="12168000" cy="646331"/>
          </a:xfrm>
          <a:prstGeom prst="rect">
            <a:avLst/>
          </a:prstGeom>
          <a:solidFill>
            <a:schemeClr val="accent2">
              <a:lumMod val="20000"/>
              <a:lumOff val="80000"/>
            </a:schemeClr>
          </a:solidFill>
        </p:spPr>
        <p:txBody>
          <a:bodyPr wrap="square" rtlCol="0">
            <a:spAutoFit/>
          </a:bodyPr>
          <a:lstStyle/>
          <a:p>
            <a:r>
              <a:rPr lang="en-IN" sz="1800" kern="100" dirty="0">
                <a:effectLst/>
                <a:latin typeface="Calibri" panose="020F0502020204030204" pitchFamily="34" charset="0"/>
                <a:ea typeface="Calibri" panose="020F0502020204030204" pitchFamily="34" charset="0"/>
                <a:cs typeface="Times New Roman" panose="02020603050405020304" pitchFamily="18" charset="0"/>
              </a:rPr>
              <a:t>Key Driver Analysis is used to identify the key drivers (or, factors) that influence Overall liking. The following top six elements or variables that have the most significant impact on Overall liking.</a:t>
            </a:r>
            <a:endParaRPr lang="en-IN" dirty="0"/>
          </a:p>
        </p:txBody>
      </p:sp>
      <p:sp>
        <p:nvSpPr>
          <p:cNvPr id="21" name="Rectangle 20">
            <a:extLst>
              <a:ext uri="{FF2B5EF4-FFF2-40B4-BE49-F238E27FC236}">
                <a16:creationId xmlns:a16="http://schemas.microsoft.com/office/drawing/2014/main" id="{CD5FC355-F21B-1B43-B47F-9244F47EFAE4}"/>
              </a:ext>
            </a:extLst>
          </p:cNvPr>
          <p:cNvSpPr/>
          <p:nvPr/>
        </p:nvSpPr>
        <p:spPr>
          <a:xfrm>
            <a:off x="428625" y="1435114"/>
            <a:ext cx="4457702" cy="1279524"/>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05F12C9F-B609-35DB-4780-8C2E86003E8E}"/>
              </a:ext>
            </a:extLst>
          </p:cNvPr>
          <p:cNvSpPr txBox="1"/>
          <p:nvPr/>
        </p:nvSpPr>
        <p:spPr>
          <a:xfrm>
            <a:off x="2085974" y="1457320"/>
            <a:ext cx="970009" cy="307777"/>
          </a:xfrm>
          <a:prstGeom prst="rect">
            <a:avLst/>
          </a:prstGeom>
          <a:noFill/>
        </p:spPr>
        <p:txBody>
          <a:bodyPr wrap="none" rtlCol="0">
            <a:spAutoFit/>
          </a:bodyPr>
          <a:lstStyle/>
          <a:p>
            <a:r>
              <a:rPr lang="en-US" sz="1400" i="1" dirty="0">
                <a:solidFill>
                  <a:schemeClr val="bg1">
                    <a:lumMod val="75000"/>
                  </a:schemeClr>
                </a:solidFill>
              </a:rPr>
              <a:t>Key drivers</a:t>
            </a:r>
            <a:endParaRPr lang="en-IN" sz="1400" i="1" dirty="0">
              <a:solidFill>
                <a:schemeClr val="bg1">
                  <a:lumMod val="75000"/>
                </a:schemeClr>
              </a:solidFill>
            </a:endParaRPr>
          </a:p>
        </p:txBody>
      </p:sp>
      <p:sp>
        <p:nvSpPr>
          <p:cNvPr id="23" name="Rectangle 22">
            <a:extLst>
              <a:ext uri="{FF2B5EF4-FFF2-40B4-BE49-F238E27FC236}">
                <a16:creationId xmlns:a16="http://schemas.microsoft.com/office/drawing/2014/main" id="{7944DF89-6829-60F9-7AE6-49E187D21DEE}"/>
              </a:ext>
            </a:extLst>
          </p:cNvPr>
          <p:cNvSpPr/>
          <p:nvPr/>
        </p:nvSpPr>
        <p:spPr>
          <a:xfrm>
            <a:off x="628650" y="5423953"/>
            <a:ext cx="4257677" cy="591067"/>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92705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5E6A4E6-8259-79FB-DDF9-9F875FEB9FDD}"/>
              </a:ext>
            </a:extLst>
          </p:cNvPr>
          <p:cNvSpPr>
            <a:spLocks noGrp="1"/>
          </p:cNvSpPr>
          <p:nvPr>
            <p:ph type="title"/>
          </p:nvPr>
        </p:nvSpPr>
        <p:spPr>
          <a:xfrm>
            <a:off x="0" y="0"/>
            <a:ext cx="12192000" cy="749300"/>
          </a:xfrm>
          <a:solidFill>
            <a:srgbClr val="002060"/>
          </a:solidFill>
        </p:spPr>
        <p:txBody>
          <a:bodyPr anchor="ctr">
            <a:normAutofit/>
          </a:bodyPr>
          <a:lstStyle/>
          <a:p>
            <a:r>
              <a:rPr lang="en-US" sz="3200" b="1" dirty="0">
                <a:solidFill>
                  <a:schemeClr val="bg1"/>
                </a:solidFill>
              </a:rPr>
              <a:t>Driver Analysis : CB 24</a:t>
            </a:r>
            <a:endParaRPr lang="en-IN" sz="3200" b="1" dirty="0">
              <a:solidFill>
                <a:schemeClr val="bg1"/>
              </a:solidFill>
            </a:endParaRPr>
          </a:p>
        </p:txBody>
      </p:sp>
      <p:graphicFrame>
        <p:nvGraphicFramePr>
          <p:cNvPr id="10" name="Chart 9">
            <a:extLst>
              <a:ext uri="{FF2B5EF4-FFF2-40B4-BE49-F238E27FC236}">
                <a16:creationId xmlns:a16="http://schemas.microsoft.com/office/drawing/2014/main" id="{AC62D0DA-3C49-7CCC-8DE4-27FC11D962E8}"/>
              </a:ext>
            </a:extLst>
          </p:cNvPr>
          <p:cNvGraphicFramePr/>
          <p:nvPr>
            <p:extLst>
              <p:ext uri="{D42A27DB-BD31-4B8C-83A1-F6EECF244321}">
                <p14:modId xmlns:p14="http://schemas.microsoft.com/office/powerpoint/2010/main" val="399982345"/>
              </p:ext>
            </p:extLst>
          </p:nvPr>
        </p:nvGraphicFramePr>
        <p:xfrm>
          <a:off x="-1" y="1434047"/>
          <a:ext cx="12191999" cy="5418667"/>
        </p:xfrm>
        <a:graphic>
          <a:graphicData uri="http://schemas.openxmlformats.org/drawingml/2006/chart">
            <c:chart xmlns:c="http://schemas.openxmlformats.org/drawingml/2006/chart" xmlns:r="http://schemas.openxmlformats.org/officeDocument/2006/relationships" r:id="rId2"/>
          </a:graphicData>
        </a:graphic>
      </p:graphicFrame>
      <p:cxnSp>
        <p:nvCxnSpPr>
          <p:cNvPr id="12" name="Straight Connector 11">
            <a:extLst>
              <a:ext uri="{FF2B5EF4-FFF2-40B4-BE49-F238E27FC236}">
                <a16:creationId xmlns:a16="http://schemas.microsoft.com/office/drawing/2014/main" id="{151FBB6F-4565-A395-80AE-5CA7D91DEE39}"/>
              </a:ext>
            </a:extLst>
          </p:cNvPr>
          <p:cNvCxnSpPr/>
          <p:nvPr/>
        </p:nvCxnSpPr>
        <p:spPr>
          <a:xfrm>
            <a:off x="428625" y="2728923"/>
            <a:ext cx="11749085"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AF8D9D4-3711-7CF8-EB20-3CA2F0B1A300}"/>
              </a:ext>
            </a:extLst>
          </p:cNvPr>
          <p:cNvCxnSpPr/>
          <p:nvPr/>
        </p:nvCxnSpPr>
        <p:spPr>
          <a:xfrm>
            <a:off x="4900624" y="1449403"/>
            <a:ext cx="0" cy="396000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6AB0060-D849-CFA3-A410-62DB2A7DE7DC}"/>
              </a:ext>
            </a:extLst>
          </p:cNvPr>
          <p:cNvSpPr txBox="1"/>
          <p:nvPr/>
        </p:nvSpPr>
        <p:spPr>
          <a:xfrm>
            <a:off x="14281" y="738218"/>
            <a:ext cx="12168000" cy="646331"/>
          </a:xfrm>
          <a:prstGeom prst="rect">
            <a:avLst/>
          </a:prstGeom>
          <a:solidFill>
            <a:schemeClr val="accent2">
              <a:lumMod val="20000"/>
              <a:lumOff val="80000"/>
            </a:schemeClr>
          </a:solidFill>
        </p:spPr>
        <p:txBody>
          <a:bodyPr wrap="square" rtlCol="0">
            <a:spAutoFit/>
          </a:bodyPr>
          <a:lstStyle/>
          <a:p>
            <a:r>
              <a:rPr lang="en-IN" sz="1800" kern="100" dirty="0">
                <a:effectLst/>
                <a:latin typeface="Calibri" panose="020F0502020204030204" pitchFamily="34" charset="0"/>
                <a:ea typeface="Calibri" panose="020F0502020204030204" pitchFamily="34" charset="0"/>
                <a:cs typeface="Times New Roman" panose="02020603050405020304" pitchFamily="18" charset="0"/>
              </a:rPr>
              <a:t>Key Driver Analysis is used to identify the key drivers (or, factors) that influence Overall liking. The following top six elements or variables that have the most significant impact on Overall liking.</a:t>
            </a:r>
            <a:endParaRPr lang="en-IN" dirty="0"/>
          </a:p>
        </p:txBody>
      </p:sp>
      <p:sp>
        <p:nvSpPr>
          <p:cNvPr id="3" name="Rectangle 2">
            <a:extLst>
              <a:ext uri="{FF2B5EF4-FFF2-40B4-BE49-F238E27FC236}">
                <a16:creationId xmlns:a16="http://schemas.microsoft.com/office/drawing/2014/main" id="{5A8057CB-4FAF-032D-E821-7F604E999CEE}"/>
              </a:ext>
            </a:extLst>
          </p:cNvPr>
          <p:cNvSpPr/>
          <p:nvPr/>
        </p:nvSpPr>
        <p:spPr>
          <a:xfrm>
            <a:off x="428625" y="1435114"/>
            <a:ext cx="4457702" cy="1279524"/>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302A240-8B4A-BD1F-9214-DE649F12B789}"/>
              </a:ext>
            </a:extLst>
          </p:cNvPr>
          <p:cNvSpPr txBox="1"/>
          <p:nvPr/>
        </p:nvSpPr>
        <p:spPr>
          <a:xfrm>
            <a:off x="2085974" y="1457320"/>
            <a:ext cx="970009" cy="307777"/>
          </a:xfrm>
          <a:prstGeom prst="rect">
            <a:avLst/>
          </a:prstGeom>
          <a:noFill/>
        </p:spPr>
        <p:txBody>
          <a:bodyPr wrap="none" rtlCol="0">
            <a:spAutoFit/>
          </a:bodyPr>
          <a:lstStyle/>
          <a:p>
            <a:r>
              <a:rPr lang="en-US" sz="1400" i="1" dirty="0">
                <a:solidFill>
                  <a:schemeClr val="bg1">
                    <a:lumMod val="75000"/>
                  </a:schemeClr>
                </a:solidFill>
              </a:rPr>
              <a:t>Key drivers</a:t>
            </a:r>
            <a:endParaRPr lang="en-IN" sz="1400" i="1" dirty="0">
              <a:solidFill>
                <a:schemeClr val="bg1">
                  <a:lumMod val="75000"/>
                </a:schemeClr>
              </a:solidFill>
            </a:endParaRPr>
          </a:p>
        </p:txBody>
      </p:sp>
      <p:sp>
        <p:nvSpPr>
          <p:cNvPr id="6" name="Rectangle 5">
            <a:extLst>
              <a:ext uri="{FF2B5EF4-FFF2-40B4-BE49-F238E27FC236}">
                <a16:creationId xmlns:a16="http://schemas.microsoft.com/office/drawing/2014/main" id="{B0A16806-EA82-027D-F229-6B3A543B21DA}"/>
              </a:ext>
            </a:extLst>
          </p:cNvPr>
          <p:cNvSpPr/>
          <p:nvPr/>
        </p:nvSpPr>
        <p:spPr>
          <a:xfrm>
            <a:off x="628650" y="5423953"/>
            <a:ext cx="4257677" cy="591067"/>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C6DAB2D9-E2D0-EFE1-40B9-03EC257F9AC5}"/>
              </a:ext>
            </a:extLst>
          </p:cNvPr>
          <p:cNvSpPr txBox="1"/>
          <p:nvPr/>
        </p:nvSpPr>
        <p:spPr>
          <a:xfrm>
            <a:off x="2181222" y="6024562"/>
            <a:ext cx="970009" cy="307777"/>
          </a:xfrm>
          <a:prstGeom prst="rect">
            <a:avLst/>
          </a:prstGeom>
          <a:noFill/>
        </p:spPr>
        <p:txBody>
          <a:bodyPr wrap="none" rtlCol="0">
            <a:spAutoFit/>
          </a:bodyPr>
          <a:lstStyle/>
          <a:p>
            <a:r>
              <a:rPr lang="en-US" sz="1400" i="1" dirty="0">
                <a:solidFill>
                  <a:schemeClr val="bg1">
                    <a:lumMod val="75000"/>
                  </a:schemeClr>
                </a:solidFill>
              </a:rPr>
              <a:t>Key drivers</a:t>
            </a:r>
            <a:endParaRPr lang="en-IN" sz="1400" i="1" dirty="0">
              <a:solidFill>
                <a:schemeClr val="bg1">
                  <a:lumMod val="75000"/>
                </a:schemeClr>
              </a:solidFill>
            </a:endParaRPr>
          </a:p>
        </p:txBody>
      </p:sp>
    </p:spTree>
    <p:extLst>
      <p:ext uri="{BB962C8B-B14F-4D97-AF65-F5344CB8AC3E}">
        <p14:creationId xmlns:p14="http://schemas.microsoft.com/office/powerpoint/2010/main" val="27957920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5083A5C7-FA84-F046-412A-5DD897E13495}"/>
              </a:ext>
            </a:extLst>
          </p:cNvPr>
          <p:cNvSpPr txBox="1"/>
          <p:nvPr/>
        </p:nvSpPr>
        <p:spPr>
          <a:xfrm>
            <a:off x="194824" y="1362774"/>
            <a:ext cx="11078014" cy="4708981"/>
          </a:xfrm>
          <a:prstGeom prst="rect">
            <a:avLst/>
          </a:prstGeom>
          <a:noFill/>
        </p:spPr>
        <p:txBody>
          <a:bodyPr wrap="square">
            <a:spAutoFit/>
          </a:bodyPr>
          <a:lstStyle/>
          <a:p>
            <a:r>
              <a:rPr lang="en-US" sz="2000" dirty="0">
                <a:latin typeface="+mj-lt"/>
              </a:rPr>
              <a:t>Product FS 18 has met the action standard. The product is superior on overall liking and preference vs. CB24. In the whole of the research, it has been noticed that product FS 18 has better performed, and some where it stands at par with CB 24. Wherever it appears in the red zone post-penalty analysis, only one parameter "too bitter" falls under the risk area.</a:t>
            </a:r>
          </a:p>
          <a:p>
            <a:endParaRPr lang="en-US" sz="2000" dirty="0">
              <a:latin typeface="+mj-lt"/>
            </a:endParaRPr>
          </a:p>
          <a:p>
            <a:r>
              <a:rPr lang="en-US" sz="2000" dirty="0">
                <a:latin typeface="+mj-lt"/>
              </a:rPr>
              <a:t>Mumbai consumers found too bitterness in product FS 18, which is blocking to increase its overall liking mean score.</a:t>
            </a:r>
          </a:p>
          <a:p>
            <a:endParaRPr lang="en-US" sz="2000" dirty="0">
              <a:latin typeface="+mj-lt"/>
            </a:endParaRPr>
          </a:p>
          <a:p>
            <a:r>
              <a:rPr lang="en-US" sz="2000" dirty="0">
                <a:latin typeface="+mj-lt"/>
              </a:rPr>
              <a:t>However, the too-bitterness consumer percentage is 13%, which is less than 20%. Theoretical, Mean-Drop analysis only done when 20% or more of respondents rate attribute “NOT-JAR”. So here only 13% of consumers have found bitterness in the product; hence, consideration for further modification in the product is not strictly applicable. </a:t>
            </a:r>
          </a:p>
          <a:p>
            <a:endParaRPr lang="en-US" sz="2000" dirty="0">
              <a:latin typeface="+mj-lt"/>
            </a:endParaRPr>
          </a:p>
          <a:p>
            <a:r>
              <a:rPr lang="en-US" sz="2000" dirty="0">
                <a:latin typeface="+mj-lt"/>
              </a:rPr>
              <a:t>So, recommend, can go-ahead with this product FS 18 to the next level with or without reduce the bitterness. </a:t>
            </a:r>
            <a:endParaRPr lang="en-IN" sz="2000" dirty="0">
              <a:latin typeface="+mj-lt"/>
            </a:endParaRPr>
          </a:p>
        </p:txBody>
      </p:sp>
      <p:sp>
        <p:nvSpPr>
          <p:cNvPr id="3" name="Flowchart: Punched Tape 2">
            <a:extLst>
              <a:ext uri="{FF2B5EF4-FFF2-40B4-BE49-F238E27FC236}">
                <a16:creationId xmlns:a16="http://schemas.microsoft.com/office/drawing/2014/main" id="{36B19170-B4A4-EA3D-559C-7FB9A51FA12D}"/>
              </a:ext>
            </a:extLst>
          </p:cNvPr>
          <p:cNvSpPr/>
          <p:nvPr/>
        </p:nvSpPr>
        <p:spPr>
          <a:xfrm>
            <a:off x="194824" y="371474"/>
            <a:ext cx="3262751" cy="804672"/>
          </a:xfrm>
          <a:prstGeom prst="flowChartPunchedTap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Recommendation</a:t>
            </a:r>
            <a:endParaRPr lang="en-IN" sz="3200" b="1" dirty="0"/>
          </a:p>
        </p:txBody>
      </p:sp>
    </p:spTree>
    <p:extLst>
      <p:ext uri="{BB962C8B-B14F-4D97-AF65-F5344CB8AC3E}">
        <p14:creationId xmlns:p14="http://schemas.microsoft.com/office/powerpoint/2010/main" val="16128820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Business Thank-You Letter Examples">
            <a:extLst>
              <a:ext uri="{FF2B5EF4-FFF2-40B4-BE49-F238E27FC236}">
                <a16:creationId xmlns:a16="http://schemas.microsoft.com/office/drawing/2014/main" id="{11A3D680-955F-EF65-D370-90B3FCF463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068" y="526963"/>
            <a:ext cx="8620403" cy="5736487"/>
          </a:xfrm>
          <a:prstGeom prst="rect">
            <a:avLst/>
          </a:prstGeom>
          <a:solidFill>
            <a:srgbClr val="FF9933"/>
          </a:solidFill>
        </p:spPr>
      </p:pic>
    </p:spTree>
    <p:extLst>
      <p:ext uri="{BB962C8B-B14F-4D97-AF65-F5344CB8AC3E}">
        <p14:creationId xmlns:p14="http://schemas.microsoft.com/office/powerpoint/2010/main" val="560392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F375-5B3F-A1D3-3770-4B7B259EC9A8}"/>
              </a:ext>
            </a:extLst>
          </p:cNvPr>
          <p:cNvSpPr>
            <a:spLocks noGrp="1"/>
          </p:cNvSpPr>
          <p:nvPr>
            <p:ph type="title"/>
          </p:nvPr>
        </p:nvSpPr>
        <p:spPr>
          <a:xfrm>
            <a:off x="0" y="442913"/>
            <a:ext cx="12191998" cy="1028699"/>
          </a:xfrm>
          <a:solidFill>
            <a:srgbClr val="002060"/>
          </a:solidFill>
        </p:spPr>
        <p:txBody>
          <a:bodyPr>
            <a:normAutofit fontScale="90000"/>
          </a:bodyPr>
          <a:lstStyle/>
          <a:p>
            <a:pPr algn="ctr"/>
            <a:r>
              <a:rPr lang="en-US" sz="2400" b="1" dirty="0">
                <a:solidFill>
                  <a:schemeClr val="bg1"/>
                </a:solidFill>
              </a:rPr>
              <a:t>Cadbury Chocobakes users have significantly liked FS 18 over CB 24 in total (60%:40%), and the same trend is seen in some demographic data. FS 18 has preferred better and significantly over CB 24 across.</a:t>
            </a:r>
            <a:endParaRPr lang="en-IN" sz="2400" b="1" dirty="0">
              <a:solidFill>
                <a:schemeClr val="bg1"/>
              </a:solidFill>
            </a:endParaRPr>
          </a:p>
        </p:txBody>
      </p:sp>
      <p:graphicFrame>
        <p:nvGraphicFramePr>
          <p:cNvPr id="9" name="Content Placeholder 8">
            <a:extLst>
              <a:ext uri="{FF2B5EF4-FFF2-40B4-BE49-F238E27FC236}">
                <a16:creationId xmlns:a16="http://schemas.microsoft.com/office/drawing/2014/main" id="{5E6C8E29-C22E-8AC7-58C6-8BBFA6A216EA}"/>
              </a:ext>
            </a:extLst>
          </p:cNvPr>
          <p:cNvGraphicFramePr>
            <a:graphicFrameLocks noGrp="1"/>
          </p:cNvGraphicFramePr>
          <p:nvPr>
            <p:ph idx="1"/>
            <p:extLst>
              <p:ext uri="{D42A27DB-BD31-4B8C-83A1-F6EECF244321}">
                <p14:modId xmlns:p14="http://schemas.microsoft.com/office/powerpoint/2010/main" val="878743954"/>
              </p:ext>
            </p:extLst>
          </p:nvPr>
        </p:nvGraphicFramePr>
        <p:xfrm>
          <a:off x="42864" y="3043242"/>
          <a:ext cx="12060000" cy="3240000"/>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CDF4F1C0-4D14-738D-7852-8A3382A377FF}"/>
              </a:ext>
            </a:extLst>
          </p:cNvPr>
          <p:cNvSpPr/>
          <p:nvPr/>
        </p:nvSpPr>
        <p:spPr>
          <a:xfrm>
            <a:off x="0" y="0"/>
            <a:ext cx="12191998" cy="442913"/>
          </a:xfrm>
          <a:prstGeom prst="rect">
            <a:avLst/>
          </a:prstGeom>
          <a:gradFill flip="none" rotWithShape="1">
            <a:gsLst>
              <a:gs pos="0">
                <a:srgbClr val="003366"/>
              </a:gs>
              <a:gs pos="55000">
                <a:schemeClr val="accent1">
                  <a:lumMod val="45000"/>
                  <a:lumOff val="55000"/>
                </a:schemeClr>
              </a:gs>
              <a:gs pos="75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effectLst/>
                <a:latin typeface="Calibri" panose="020F0502020204030204" pitchFamily="34" charset="0"/>
                <a:ea typeface="Calibri" panose="020F0502020204030204" pitchFamily="34" charset="0"/>
                <a:cs typeface="Mangal" panose="02040503050203030202" pitchFamily="18" charset="0"/>
              </a:rPr>
              <a:t>Preference</a:t>
            </a:r>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 – Total and Demographics</a:t>
            </a:r>
            <a:endParaRPr lang="en-IN" i="1" dirty="0">
              <a:solidFill>
                <a:schemeClr val="tx1"/>
              </a:solidFill>
            </a:endParaRPr>
          </a:p>
        </p:txBody>
      </p:sp>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B4626205-939A-7D42-C6A8-DFFB717C7529}"/>
              </a:ext>
            </a:extLst>
          </p:cNvPr>
          <p:cNvSpPr txBox="1"/>
          <p:nvPr/>
        </p:nvSpPr>
        <p:spPr>
          <a:xfrm>
            <a:off x="2138371" y="3195640"/>
            <a:ext cx="26321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0" name="TextBox 9">
            <a:extLst>
              <a:ext uri="{FF2B5EF4-FFF2-40B4-BE49-F238E27FC236}">
                <a16:creationId xmlns:a16="http://schemas.microsoft.com/office/drawing/2014/main" id="{A1BE8F8E-2C06-018B-7FCA-E5F58BCD4D57}"/>
              </a:ext>
            </a:extLst>
          </p:cNvPr>
          <p:cNvSpPr txBox="1"/>
          <p:nvPr/>
        </p:nvSpPr>
        <p:spPr>
          <a:xfrm>
            <a:off x="8886854" y="3271838"/>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1" name="TextBox 10">
            <a:extLst>
              <a:ext uri="{FF2B5EF4-FFF2-40B4-BE49-F238E27FC236}">
                <a16:creationId xmlns:a16="http://schemas.microsoft.com/office/drawing/2014/main" id="{FF65865B-6A52-FBAD-14F4-08E46D3EB3A7}"/>
              </a:ext>
            </a:extLst>
          </p:cNvPr>
          <p:cNvSpPr txBox="1"/>
          <p:nvPr/>
        </p:nvSpPr>
        <p:spPr>
          <a:xfrm>
            <a:off x="10582309" y="2809868"/>
            <a:ext cx="26321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2" name="TextBox 11">
            <a:extLst>
              <a:ext uri="{FF2B5EF4-FFF2-40B4-BE49-F238E27FC236}">
                <a16:creationId xmlns:a16="http://schemas.microsoft.com/office/drawing/2014/main" id="{515BA624-67E9-5B65-D20F-3FD9E82F3AF5}"/>
              </a:ext>
            </a:extLst>
          </p:cNvPr>
          <p:cNvSpPr txBox="1"/>
          <p:nvPr/>
        </p:nvSpPr>
        <p:spPr>
          <a:xfrm>
            <a:off x="14283" y="6372227"/>
            <a:ext cx="5396029" cy="507831"/>
          </a:xfrm>
          <a:prstGeom prst="rect">
            <a:avLst/>
          </a:prstGeom>
          <a:noFill/>
        </p:spPr>
        <p:txBody>
          <a:bodyPr wrap="none" rtlCol="0">
            <a:spAutoFit/>
          </a:bodyPr>
          <a:lstStyle/>
          <a:p>
            <a:r>
              <a:rPr lang="en-IN" sz="900" i="1" u="sng" dirty="0"/>
              <a:t>Note:</a:t>
            </a:r>
          </a:p>
          <a:p>
            <a:r>
              <a:rPr lang="en-IN" sz="900" i="1" dirty="0"/>
              <a:t>Capital letter “B” use for 95% confidence interval  level and Small letter “b” use for 90% confidence interval level</a:t>
            </a:r>
          </a:p>
          <a:p>
            <a:r>
              <a:rPr lang="en-IN" sz="900" i="1" dirty="0">
                <a:solidFill>
                  <a:srgbClr val="00B050"/>
                </a:solidFill>
              </a:rPr>
              <a:t>Green</a:t>
            </a:r>
            <a:r>
              <a:rPr lang="en-IN" sz="900" i="1" dirty="0"/>
              <a:t> colour means, FS 18 is higher than CB 24 and </a:t>
            </a:r>
            <a:r>
              <a:rPr lang="en-IN" sz="900" i="1" dirty="0">
                <a:solidFill>
                  <a:srgbClr val="FF0000"/>
                </a:solidFill>
              </a:rPr>
              <a:t>Red</a:t>
            </a:r>
            <a:r>
              <a:rPr lang="en-IN" sz="900" i="1" dirty="0"/>
              <a:t> colour means FS 18 is inferior than CB 24.  </a:t>
            </a:r>
          </a:p>
        </p:txBody>
      </p:sp>
      <p:graphicFrame>
        <p:nvGraphicFramePr>
          <p:cNvPr id="15" name="Chart 14">
            <a:extLst>
              <a:ext uri="{FF2B5EF4-FFF2-40B4-BE49-F238E27FC236}">
                <a16:creationId xmlns:a16="http://schemas.microsoft.com/office/drawing/2014/main" id="{97C49C88-3581-B490-1211-D044BC1BDFC6}"/>
              </a:ext>
            </a:extLst>
          </p:cNvPr>
          <p:cNvGraphicFramePr/>
          <p:nvPr>
            <p:extLst>
              <p:ext uri="{D42A27DB-BD31-4B8C-83A1-F6EECF244321}">
                <p14:modId xmlns:p14="http://schemas.microsoft.com/office/powerpoint/2010/main" val="1830826681"/>
              </p:ext>
            </p:extLst>
          </p:nvPr>
        </p:nvGraphicFramePr>
        <p:xfrm>
          <a:off x="3529200" y="1121227"/>
          <a:ext cx="4586100" cy="2307773"/>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a:extLst>
              <a:ext uri="{FF2B5EF4-FFF2-40B4-BE49-F238E27FC236}">
                <a16:creationId xmlns:a16="http://schemas.microsoft.com/office/drawing/2014/main" id="{BE4DF324-C992-0DB8-33AD-712BD70AE7C0}"/>
              </a:ext>
            </a:extLst>
          </p:cNvPr>
          <p:cNvSpPr txBox="1"/>
          <p:nvPr/>
        </p:nvSpPr>
        <p:spPr>
          <a:xfrm>
            <a:off x="5095880" y="1938340"/>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7" name="TextBox 16">
            <a:extLst>
              <a:ext uri="{FF2B5EF4-FFF2-40B4-BE49-F238E27FC236}">
                <a16:creationId xmlns:a16="http://schemas.microsoft.com/office/drawing/2014/main" id="{5F7F533A-4AC1-25E6-B2BB-F23C67DB9B9B}"/>
              </a:ext>
            </a:extLst>
          </p:cNvPr>
          <p:cNvSpPr txBox="1"/>
          <p:nvPr/>
        </p:nvSpPr>
        <p:spPr>
          <a:xfrm>
            <a:off x="3819542" y="3233736"/>
            <a:ext cx="26321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8" name="TextBox 17">
            <a:extLst>
              <a:ext uri="{FF2B5EF4-FFF2-40B4-BE49-F238E27FC236}">
                <a16:creationId xmlns:a16="http://schemas.microsoft.com/office/drawing/2014/main" id="{BCB44333-4E95-6E2A-EB06-5D5BEA0FBC6F}"/>
              </a:ext>
            </a:extLst>
          </p:cNvPr>
          <p:cNvSpPr txBox="1"/>
          <p:nvPr/>
        </p:nvSpPr>
        <p:spPr>
          <a:xfrm>
            <a:off x="8886858" y="3057522"/>
            <a:ext cx="268022"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20" name="TextBox 19">
            <a:extLst>
              <a:ext uri="{FF2B5EF4-FFF2-40B4-BE49-F238E27FC236}">
                <a16:creationId xmlns:a16="http://schemas.microsoft.com/office/drawing/2014/main" id="{985C1BE2-B912-22B8-2AF6-339B0BFAF813}"/>
              </a:ext>
            </a:extLst>
          </p:cNvPr>
          <p:cNvSpPr txBox="1"/>
          <p:nvPr/>
        </p:nvSpPr>
        <p:spPr>
          <a:xfrm>
            <a:off x="6958024" y="66675"/>
            <a:ext cx="5220532" cy="369332"/>
          </a:xfrm>
          <a:prstGeom prst="rect">
            <a:avLst/>
          </a:prstGeom>
          <a:noFill/>
        </p:spPr>
        <p:txBody>
          <a:bodyPr wrap="none" rtlCol="0">
            <a:spAutoFit/>
          </a:bodyPr>
          <a:lstStyle/>
          <a:p>
            <a:r>
              <a:rPr lang="en-IN" i="1" dirty="0">
                <a:solidFill>
                  <a:schemeClr val="bg1">
                    <a:lumMod val="95000"/>
                  </a:schemeClr>
                </a:solidFill>
              </a:rPr>
              <a:t>This analysis based on Cadbury (Mondelez) users only</a:t>
            </a:r>
          </a:p>
        </p:txBody>
      </p:sp>
      <p:sp>
        <p:nvSpPr>
          <p:cNvPr id="21" name="TextBox 20">
            <a:extLst>
              <a:ext uri="{FF2B5EF4-FFF2-40B4-BE49-F238E27FC236}">
                <a16:creationId xmlns:a16="http://schemas.microsoft.com/office/drawing/2014/main" id="{B27600FB-7670-4A3E-3FA7-69C47FB5E6E4}"/>
              </a:ext>
            </a:extLst>
          </p:cNvPr>
          <p:cNvSpPr txBox="1"/>
          <p:nvPr/>
        </p:nvSpPr>
        <p:spPr>
          <a:xfrm>
            <a:off x="4143566" y="1514472"/>
            <a:ext cx="590931" cy="338554"/>
          </a:xfrm>
          <a:prstGeom prst="rect">
            <a:avLst/>
          </a:prstGeom>
          <a:noFill/>
        </p:spPr>
        <p:txBody>
          <a:bodyPr wrap="none" rtlCol="0">
            <a:spAutoFit/>
          </a:bodyPr>
          <a:lstStyle/>
          <a:p>
            <a:r>
              <a:rPr lang="en-US" sz="1600" i="1" u="sng" dirty="0">
                <a:solidFill>
                  <a:schemeClr val="bg1">
                    <a:lumMod val="65000"/>
                  </a:schemeClr>
                </a:solidFill>
              </a:rPr>
              <a:t>Total</a:t>
            </a:r>
            <a:endParaRPr lang="en-IN" sz="1600" i="1" u="sng" dirty="0">
              <a:solidFill>
                <a:schemeClr val="bg1">
                  <a:lumMod val="65000"/>
                </a:schemeClr>
              </a:solidFill>
            </a:endParaRPr>
          </a:p>
        </p:txBody>
      </p:sp>
    </p:spTree>
    <p:extLst>
      <p:ext uri="{BB962C8B-B14F-4D97-AF65-F5344CB8AC3E}">
        <p14:creationId xmlns:p14="http://schemas.microsoft.com/office/powerpoint/2010/main" val="36832420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F375-5B3F-A1D3-3770-4B7B259EC9A8}"/>
              </a:ext>
            </a:extLst>
          </p:cNvPr>
          <p:cNvSpPr>
            <a:spLocks noGrp="1"/>
          </p:cNvSpPr>
          <p:nvPr>
            <p:ph type="title"/>
          </p:nvPr>
        </p:nvSpPr>
        <p:spPr>
          <a:xfrm>
            <a:off x="0" y="442913"/>
            <a:ext cx="12191998" cy="1028699"/>
          </a:xfrm>
          <a:solidFill>
            <a:srgbClr val="002060"/>
          </a:solidFill>
        </p:spPr>
        <p:txBody>
          <a:bodyPr>
            <a:normAutofit/>
          </a:bodyPr>
          <a:lstStyle/>
          <a:p>
            <a:pPr algn="ctr"/>
            <a:r>
              <a:rPr lang="en-US" sz="2400" b="1" dirty="0">
                <a:solidFill>
                  <a:schemeClr val="bg1"/>
                </a:solidFill>
              </a:rPr>
              <a:t>FS 18 is directionally and significantly better than CB 24. Chocobakes users have liked better to FS 18 over CB 24.</a:t>
            </a:r>
            <a:endParaRPr lang="en-IN" sz="2400" b="1" dirty="0">
              <a:solidFill>
                <a:schemeClr val="bg1"/>
              </a:solidFill>
            </a:endParaRPr>
          </a:p>
        </p:txBody>
      </p:sp>
      <p:graphicFrame>
        <p:nvGraphicFramePr>
          <p:cNvPr id="9" name="Content Placeholder 8">
            <a:extLst>
              <a:ext uri="{FF2B5EF4-FFF2-40B4-BE49-F238E27FC236}">
                <a16:creationId xmlns:a16="http://schemas.microsoft.com/office/drawing/2014/main" id="{5E6C8E29-C22E-8AC7-58C6-8BBFA6A216EA}"/>
              </a:ext>
            </a:extLst>
          </p:cNvPr>
          <p:cNvGraphicFramePr>
            <a:graphicFrameLocks noGrp="1"/>
          </p:cNvGraphicFramePr>
          <p:nvPr>
            <p:ph idx="1"/>
            <p:extLst>
              <p:ext uri="{D42A27DB-BD31-4B8C-83A1-F6EECF244321}">
                <p14:modId xmlns:p14="http://schemas.microsoft.com/office/powerpoint/2010/main" val="3691278879"/>
              </p:ext>
            </p:extLst>
          </p:nvPr>
        </p:nvGraphicFramePr>
        <p:xfrm>
          <a:off x="1500187" y="2700339"/>
          <a:ext cx="8064000" cy="3476624"/>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BDCCAEF9-E7A8-A7C5-8CA7-7CEBAA9CFC4D}"/>
              </a:ext>
            </a:extLst>
          </p:cNvPr>
          <p:cNvSpPr txBox="1"/>
          <p:nvPr/>
        </p:nvSpPr>
        <p:spPr>
          <a:xfrm rot="16200000">
            <a:off x="1345084" y="2571756"/>
            <a:ext cx="516488" cy="261610"/>
          </a:xfrm>
          <a:prstGeom prst="rect">
            <a:avLst/>
          </a:prstGeom>
          <a:noFill/>
        </p:spPr>
        <p:txBody>
          <a:bodyPr wrap="none" rtlCol="0">
            <a:spAutoFit/>
          </a:bodyPr>
          <a:lstStyle/>
          <a:p>
            <a:r>
              <a:rPr lang="en-US" sz="1050" i="1" u="sng" dirty="0">
                <a:solidFill>
                  <a:schemeClr val="bg1">
                    <a:lumMod val="50000"/>
                  </a:schemeClr>
                </a:solidFill>
              </a:rPr>
              <a:t>Mean</a:t>
            </a:r>
            <a:endParaRPr lang="en-IN" sz="1050" i="1" u="sng" dirty="0">
              <a:solidFill>
                <a:schemeClr val="bg1">
                  <a:lumMod val="50000"/>
                </a:schemeClr>
              </a:solidFill>
            </a:endParaRPr>
          </a:p>
        </p:txBody>
      </p:sp>
      <p:sp>
        <p:nvSpPr>
          <p:cNvPr id="10" name="TextBox 9">
            <a:extLst>
              <a:ext uri="{FF2B5EF4-FFF2-40B4-BE49-F238E27FC236}">
                <a16:creationId xmlns:a16="http://schemas.microsoft.com/office/drawing/2014/main" id="{981507F8-8962-58F4-F0F4-43CC20BC3849}"/>
              </a:ext>
            </a:extLst>
          </p:cNvPr>
          <p:cNvSpPr txBox="1"/>
          <p:nvPr/>
        </p:nvSpPr>
        <p:spPr>
          <a:xfrm rot="16200000">
            <a:off x="1398826" y="2095497"/>
            <a:ext cx="399468" cy="261610"/>
          </a:xfrm>
          <a:prstGeom prst="rect">
            <a:avLst/>
          </a:prstGeom>
          <a:noFill/>
        </p:spPr>
        <p:txBody>
          <a:bodyPr wrap="none" rtlCol="0">
            <a:spAutoFit/>
          </a:bodyPr>
          <a:lstStyle/>
          <a:p>
            <a:r>
              <a:rPr lang="en-US" sz="1050" i="1" u="sng" dirty="0">
                <a:solidFill>
                  <a:schemeClr val="bg1">
                    <a:lumMod val="50000"/>
                  </a:schemeClr>
                </a:solidFill>
              </a:rPr>
              <a:t>TTB</a:t>
            </a:r>
            <a:endParaRPr lang="en-IN" sz="1050" i="1" u="sng" dirty="0">
              <a:solidFill>
                <a:schemeClr val="bg1">
                  <a:lumMod val="50000"/>
                </a:schemeClr>
              </a:solidFill>
            </a:endParaRPr>
          </a:p>
        </p:txBody>
      </p:sp>
      <p:sp>
        <p:nvSpPr>
          <p:cNvPr id="4" name="Rectangle 3">
            <a:extLst>
              <a:ext uri="{FF2B5EF4-FFF2-40B4-BE49-F238E27FC236}">
                <a16:creationId xmlns:a16="http://schemas.microsoft.com/office/drawing/2014/main" id="{5A8E71FF-B9DC-B7C9-B338-484F386EA54E}"/>
              </a:ext>
            </a:extLst>
          </p:cNvPr>
          <p:cNvSpPr/>
          <p:nvPr/>
        </p:nvSpPr>
        <p:spPr>
          <a:xfrm>
            <a:off x="0" y="14288"/>
            <a:ext cx="12191998" cy="442913"/>
          </a:xfrm>
          <a:prstGeom prst="rect">
            <a:avLst/>
          </a:prstGeom>
          <a:gradFill flip="none" rotWithShape="1">
            <a:gsLst>
              <a:gs pos="0">
                <a:srgbClr val="003366"/>
              </a:gs>
              <a:gs pos="55000">
                <a:schemeClr val="accent1">
                  <a:lumMod val="45000"/>
                  <a:lumOff val="55000"/>
                </a:schemeClr>
              </a:gs>
              <a:gs pos="75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How would you rate the </a:t>
            </a:r>
            <a:r>
              <a:rPr lang="en-US" sz="1600" b="1"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overall liking</a:t>
            </a:r>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 of the product (Likeability)</a:t>
            </a:r>
            <a:endParaRPr lang="en-IN" sz="1600" i="1" dirty="0">
              <a:solidFill>
                <a:schemeClr val="tx1"/>
              </a:solidFill>
            </a:endParaRPr>
          </a:p>
        </p:txBody>
      </p:sp>
      <p:graphicFrame>
        <p:nvGraphicFramePr>
          <p:cNvPr id="5" name="Table 4">
            <a:extLst>
              <a:ext uri="{FF2B5EF4-FFF2-40B4-BE49-F238E27FC236}">
                <a16:creationId xmlns:a16="http://schemas.microsoft.com/office/drawing/2014/main" id="{D045A387-E450-27AC-4284-0C69947AB94F}"/>
              </a:ext>
            </a:extLst>
          </p:cNvPr>
          <p:cNvGraphicFramePr>
            <a:graphicFrameLocks noGrp="1"/>
          </p:cNvGraphicFramePr>
          <p:nvPr>
            <p:extLst>
              <p:ext uri="{D42A27DB-BD31-4B8C-83A1-F6EECF244321}">
                <p14:modId xmlns:p14="http://schemas.microsoft.com/office/powerpoint/2010/main" val="2544416134"/>
              </p:ext>
            </p:extLst>
          </p:nvPr>
        </p:nvGraphicFramePr>
        <p:xfrm>
          <a:off x="1609705" y="2157409"/>
          <a:ext cx="7740000" cy="600075"/>
        </p:xfrm>
        <a:graphic>
          <a:graphicData uri="http://schemas.openxmlformats.org/drawingml/2006/table">
            <a:tbl>
              <a:tblPr>
                <a:tableStyleId>{5C22544A-7EE6-4342-B048-85BDC9FD1C3A}</a:tableStyleId>
              </a:tblPr>
              <a:tblGrid>
                <a:gridCol w="1290000">
                  <a:extLst>
                    <a:ext uri="{9D8B030D-6E8A-4147-A177-3AD203B41FA5}">
                      <a16:colId xmlns:a16="http://schemas.microsoft.com/office/drawing/2014/main" val="742224706"/>
                    </a:ext>
                  </a:extLst>
                </a:gridCol>
                <a:gridCol w="1290000">
                  <a:extLst>
                    <a:ext uri="{9D8B030D-6E8A-4147-A177-3AD203B41FA5}">
                      <a16:colId xmlns:a16="http://schemas.microsoft.com/office/drawing/2014/main" val="303050526"/>
                    </a:ext>
                  </a:extLst>
                </a:gridCol>
                <a:gridCol w="1290000">
                  <a:extLst>
                    <a:ext uri="{9D8B030D-6E8A-4147-A177-3AD203B41FA5}">
                      <a16:colId xmlns:a16="http://schemas.microsoft.com/office/drawing/2014/main" val="404934917"/>
                    </a:ext>
                  </a:extLst>
                </a:gridCol>
                <a:gridCol w="1290000">
                  <a:extLst>
                    <a:ext uri="{9D8B030D-6E8A-4147-A177-3AD203B41FA5}">
                      <a16:colId xmlns:a16="http://schemas.microsoft.com/office/drawing/2014/main" val="2557982135"/>
                    </a:ext>
                  </a:extLst>
                </a:gridCol>
                <a:gridCol w="1290000">
                  <a:extLst>
                    <a:ext uri="{9D8B030D-6E8A-4147-A177-3AD203B41FA5}">
                      <a16:colId xmlns:a16="http://schemas.microsoft.com/office/drawing/2014/main" val="1608828115"/>
                    </a:ext>
                  </a:extLst>
                </a:gridCol>
                <a:gridCol w="1290000">
                  <a:extLst>
                    <a:ext uri="{9D8B030D-6E8A-4147-A177-3AD203B41FA5}">
                      <a16:colId xmlns:a16="http://schemas.microsoft.com/office/drawing/2014/main" val="3069341788"/>
                    </a:ext>
                  </a:extLst>
                </a:gridCol>
              </a:tblGrid>
              <a:tr h="200025">
                <a:tc>
                  <a:txBody>
                    <a:bodyPr/>
                    <a:lstStyle/>
                    <a:p>
                      <a:pPr algn="ctr" fontAlgn="ctr"/>
                      <a:r>
                        <a:rPr lang="en-IN" sz="1200" i="1" u="none" strike="noStrike" dirty="0">
                          <a:effectLst/>
                        </a:rPr>
                        <a:t>79%</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73%</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dirty="0">
                          <a:effectLst/>
                        </a:rPr>
                        <a:t>94%</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83%</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2728024247"/>
                  </a:ext>
                </a:extLst>
              </a:tr>
              <a:tr h="200025">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3974172277"/>
                  </a:ext>
                </a:extLst>
              </a:tr>
              <a:tr h="200025">
                <a:tc>
                  <a:txBody>
                    <a:bodyPr/>
                    <a:lstStyle/>
                    <a:p>
                      <a:pPr algn="ctr" fontAlgn="ctr"/>
                      <a:r>
                        <a:rPr lang="en-IN" sz="1200" i="1" u="none" strike="noStrike" dirty="0">
                          <a:effectLst/>
                        </a:rPr>
                        <a:t>5.2</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5.0</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l" fontAlgn="b"/>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ctr"/>
                      <a:r>
                        <a:rPr lang="en-IN" sz="1200" i="1" u="none" strike="noStrike" dirty="0">
                          <a:effectLst/>
                        </a:rPr>
                        <a:t>5.4</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5.2</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1840015309"/>
                  </a:ext>
                </a:extLst>
              </a:tr>
            </a:tbl>
          </a:graphicData>
        </a:graphic>
      </p:graphicFrame>
      <p:sp>
        <p:nvSpPr>
          <p:cNvPr id="11" name="TextBox 10">
            <a:extLst>
              <a:ext uri="{FF2B5EF4-FFF2-40B4-BE49-F238E27FC236}">
                <a16:creationId xmlns:a16="http://schemas.microsoft.com/office/drawing/2014/main" id="{AD4BE00E-54F7-40D2-5E90-0978CB1809EE}"/>
              </a:ext>
            </a:extLst>
          </p:cNvPr>
          <p:cNvSpPr txBox="1"/>
          <p:nvPr/>
        </p:nvSpPr>
        <p:spPr>
          <a:xfrm>
            <a:off x="7510475" y="2124067"/>
            <a:ext cx="26321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4" name="TextBox 13">
            <a:extLst>
              <a:ext uri="{FF2B5EF4-FFF2-40B4-BE49-F238E27FC236}">
                <a16:creationId xmlns:a16="http://schemas.microsoft.com/office/drawing/2014/main" id="{EC3160D6-6CC6-4FE3-C2A5-CBC8E60A549E}"/>
              </a:ext>
            </a:extLst>
          </p:cNvPr>
          <p:cNvSpPr txBox="1"/>
          <p:nvPr/>
        </p:nvSpPr>
        <p:spPr>
          <a:xfrm>
            <a:off x="14283" y="6372227"/>
            <a:ext cx="5396029" cy="507831"/>
          </a:xfrm>
          <a:prstGeom prst="rect">
            <a:avLst/>
          </a:prstGeom>
          <a:noFill/>
        </p:spPr>
        <p:txBody>
          <a:bodyPr wrap="none" rtlCol="0">
            <a:spAutoFit/>
          </a:bodyPr>
          <a:lstStyle/>
          <a:p>
            <a:r>
              <a:rPr lang="en-IN" sz="900" i="1" u="sng" dirty="0"/>
              <a:t>Note:</a:t>
            </a:r>
          </a:p>
          <a:p>
            <a:r>
              <a:rPr lang="en-IN" sz="900" i="1" dirty="0"/>
              <a:t>Capital letter “B” use for 95% confidence interval  level and Small letter “b” use for 90% confidence interval level</a:t>
            </a:r>
          </a:p>
          <a:p>
            <a:r>
              <a:rPr lang="en-IN" sz="900" i="1" dirty="0">
                <a:solidFill>
                  <a:srgbClr val="00B050"/>
                </a:solidFill>
              </a:rPr>
              <a:t>Green</a:t>
            </a:r>
            <a:r>
              <a:rPr lang="en-IN" sz="900" i="1" dirty="0"/>
              <a:t> colour means, FS 18 is higher than CB 24 and </a:t>
            </a:r>
            <a:r>
              <a:rPr lang="en-IN" sz="900" i="1" dirty="0">
                <a:solidFill>
                  <a:srgbClr val="FF0000"/>
                </a:solidFill>
              </a:rPr>
              <a:t>Red</a:t>
            </a:r>
            <a:r>
              <a:rPr lang="en-IN" sz="900" i="1" dirty="0"/>
              <a:t> colour means FS 18 is inferior than CB 24.  </a:t>
            </a:r>
          </a:p>
        </p:txBody>
      </p:sp>
      <p:pic>
        <p:nvPicPr>
          <p:cNvPr id="15" name="Picture 14">
            <a:extLst>
              <a:ext uri="{FF2B5EF4-FFF2-40B4-BE49-F238E27FC236}">
                <a16:creationId xmlns:a16="http://schemas.microsoft.com/office/drawing/2014/main" id="{CBC13D0A-14D5-97D5-D51C-56EF1730F79F}"/>
              </a:ext>
            </a:extLst>
          </p:cNvPr>
          <p:cNvPicPr>
            <a:picLocks noChangeAspect="1"/>
          </p:cNvPicPr>
          <p:nvPr/>
        </p:nvPicPr>
        <p:blipFill>
          <a:blip r:embed="rId3"/>
          <a:stretch>
            <a:fillRect/>
          </a:stretch>
        </p:blipFill>
        <p:spPr>
          <a:xfrm>
            <a:off x="3314429" y="6086470"/>
            <a:ext cx="4631998" cy="180000"/>
          </a:xfrm>
          <a:prstGeom prst="rect">
            <a:avLst/>
          </a:prstGeom>
        </p:spPr>
      </p:pic>
      <p:sp>
        <p:nvSpPr>
          <p:cNvPr id="16" name="TextBox 15">
            <a:extLst>
              <a:ext uri="{FF2B5EF4-FFF2-40B4-BE49-F238E27FC236}">
                <a16:creationId xmlns:a16="http://schemas.microsoft.com/office/drawing/2014/main" id="{061C62A4-C840-6E83-6238-FAF088AE5CA7}"/>
              </a:ext>
            </a:extLst>
          </p:cNvPr>
          <p:cNvSpPr txBox="1"/>
          <p:nvPr/>
        </p:nvSpPr>
        <p:spPr>
          <a:xfrm>
            <a:off x="2133618" y="3047996"/>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7" name="TextBox 16">
            <a:extLst>
              <a:ext uri="{FF2B5EF4-FFF2-40B4-BE49-F238E27FC236}">
                <a16:creationId xmlns:a16="http://schemas.microsoft.com/office/drawing/2014/main" id="{A68D327E-F47E-7C4D-D8B6-B286A47276FF}"/>
              </a:ext>
            </a:extLst>
          </p:cNvPr>
          <p:cNvSpPr txBox="1"/>
          <p:nvPr/>
        </p:nvSpPr>
        <p:spPr>
          <a:xfrm>
            <a:off x="7319986" y="3076566"/>
            <a:ext cx="26321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18" name="TextBox 17">
            <a:extLst>
              <a:ext uri="{FF2B5EF4-FFF2-40B4-BE49-F238E27FC236}">
                <a16:creationId xmlns:a16="http://schemas.microsoft.com/office/drawing/2014/main" id="{6C998B9B-FE6B-74C0-B428-80952B81C53D}"/>
              </a:ext>
            </a:extLst>
          </p:cNvPr>
          <p:cNvSpPr txBox="1"/>
          <p:nvPr/>
        </p:nvSpPr>
        <p:spPr>
          <a:xfrm>
            <a:off x="6958024" y="66675"/>
            <a:ext cx="5220532" cy="369332"/>
          </a:xfrm>
          <a:prstGeom prst="rect">
            <a:avLst/>
          </a:prstGeom>
          <a:noFill/>
        </p:spPr>
        <p:txBody>
          <a:bodyPr wrap="none" rtlCol="0">
            <a:spAutoFit/>
          </a:bodyPr>
          <a:lstStyle/>
          <a:p>
            <a:r>
              <a:rPr lang="en-IN" i="1" dirty="0">
                <a:solidFill>
                  <a:schemeClr val="bg1">
                    <a:lumMod val="95000"/>
                  </a:schemeClr>
                </a:solidFill>
              </a:rPr>
              <a:t>This analysis based on Cadbury (Mondelez) users only</a:t>
            </a:r>
          </a:p>
        </p:txBody>
      </p:sp>
    </p:spTree>
    <p:extLst>
      <p:ext uri="{BB962C8B-B14F-4D97-AF65-F5344CB8AC3E}">
        <p14:creationId xmlns:p14="http://schemas.microsoft.com/office/powerpoint/2010/main" val="4187680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F375-5B3F-A1D3-3770-4B7B259EC9A8}"/>
              </a:ext>
            </a:extLst>
          </p:cNvPr>
          <p:cNvSpPr>
            <a:spLocks noGrp="1"/>
          </p:cNvSpPr>
          <p:nvPr>
            <p:ph type="title"/>
          </p:nvPr>
        </p:nvSpPr>
        <p:spPr>
          <a:xfrm>
            <a:off x="0" y="442913"/>
            <a:ext cx="12191998" cy="1028699"/>
          </a:xfrm>
          <a:solidFill>
            <a:srgbClr val="002060"/>
          </a:solidFill>
        </p:spPr>
        <p:txBody>
          <a:bodyPr>
            <a:noAutofit/>
          </a:bodyPr>
          <a:lstStyle/>
          <a:p>
            <a:pPr algn="ctr"/>
            <a:r>
              <a:rPr lang="en-US" sz="2400" b="1" dirty="0">
                <a:solidFill>
                  <a:schemeClr val="bg1"/>
                </a:solidFill>
              </a:rPr>
              <a:t>All the Chocobakes users have liked equally to both products except male and elder age categories. Male and elderly consumers have liked significantly better FS 18 over CB 24.</a:t>
            </a:r>
            <a:endParaRPr lang="en-IN" sz="2400" b="1" dirty="0">
              <a:solidFill>
                <a:schemeClr val="bg1"/>
              </a:solidFill>
            </a:endParaRPr>
          </a:p>
        </p:txBody>
      </p:sp>
      <p:sp>
        <p:nvSpPr>
          <p:cNvPr id="6" name="Rectangle 5">
            <a:extLst>
              <a:ext uri="{FF2B5EF4-FFF2-40B4-BE49-F238E27FC236}">
                <a16:creationId xmlns:a16="http://schemas.microsoft.com/office/drawing/2014/main" id="{CDF4F1C0-4D14-738D-7852-8A3382A377FF}"/>
              </a:ext>
            </a:extLst>
          </p:cNvPr>
          <p:cNvSpPr/>
          <p:nvPr/>
        </p:nvSpPr>
        <p:spPr>
          <a:xfrm>
            <a:off x="0" y="14288"/>
            <a:ext cx="12191998" cy="442913"/>
          </a:xfrm>
          <a:prstGeom prst="rect">
            <a:avLst/>
          </a:prstGeom>
          <a:gradFill flip="none" rotWithShape="1">
            <a:gsLst>
              <a:gs pos="0">
                <a:srgbClr val="003366"/>
              </a:gs>
              <a:gs pos="55000">
                <a:schemeClr val="accent1">
                  <a:lumMod val="45000"/>
                  <a:lumOff val="55000"/>
                </a:schemeClr>
              </a:gs>
              <a:gs pos="75000">
                <a:schemeClr val="accent1">
                  <a:lumMod val="45000"/>
                  <a:lumOff val="55000"/>
                </a:schemeClr>
              </a:gs>
              <a:gs pos="100000">
                <a:schemeClr val="accent1">
                  <a:lumMod val="30000"/>
                  <a:lumOff val="7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How would you rate the </a:t>
            </a:r>
            <a:r>
              <a:rPr lang="en-US" sz="1600" b="1"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overall liking</a:t>
            </a:r>
            <a:r>
              <a:rPr lang="en-US" sz="1600" i="1" dirty="0">
                <a:solidFill>
                  <a:schemeClr val="tx1"/>
                </a:solidFill>
                <a:effectLst/>
                <a:latin typeface="Calibri" panose="020F0502020204030204" pitchFamily="34" charset="0"/>
                <a:ea typeface="Calibri" panose="020F0502020204030204" pitchFamily="34" charset="0"/>
                <a:cs typeface="Mangal" panose="02040503050203030202" pitchFamily="18" charset="0"/>
              </a:rPr>
              <a:t> of the product (Likeability)</a:t>
            </a:r>
            <a:endParaRPr lang="en-IN" sz="1600" i="1" dirty="0">
              <a:solidFill>
                <a:schemeClr val="tx1"/>
              </a:solidFill>
            </a:endParaRPr>
          </a:p>
        </p:txBody>
      </p:sp>
      <p:sp>
        <p:nvSpPr>
          <p:cNvPr id="7" name="Rectangle 6">
            <a:extLst>
              <a:ext uri="{FF2B5EF4-FFF2-40B4-BE49-F238E27FC236}">
                <a16:creationId xmlns:a16="http://schemas.microsoft.com/office/drawing/2014/main" id="{5AB6EF93-B59B-83DB-22E1-2BC86B1E1B03}"/>
              </a:ext>
            </a:extLst>
          </p:cNvPr>
          <p:cNvSpPr/>
          <p:nvPr/>
        </p:nvSpPr>
        <p:spPr>
          <a:xfrm>
            <a:off x="0" y="6429375"/>
            <a:ext cx="12192000" cy="4285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5" name="Content Placeholder 8">
            <a:extLst>
              <a:ext uri="{FF2B5EF4-FFF2-40B4-BE49-F238E27FC236}">
                <a16:creationId xmlns:a16="http://schemas.microsoft.com/office/drawing/2014/main" id="{50B302A9-9B31-2562-4677-31416FCC9D29}"/>
              </a:ext>
            </a:extLst>
          </p:cNvPr>
          <p:cNvGraphicFramePr>
            <a:graphicFrameLocks noGrp="1"/>
          </p:cNvGraphicFramePr>
          <p:nvPr>
            <p:ph idx="1"/>
            <p:extLst>
              <p:ext uri="{D42A27DB-BD31-4B8C-83A1-F6EECF244321}">
                <p14:modId xmlns:p14="http://schemas.microsoft.com/office/powerpoint/2010/main" val="3576046461"/>
              </p:ext>
            </p:extLst>
          </p:nvPr>
        </p:nvGraphicFramePr>
        <p:xfrm>
          <a:off x="42864" y="2700339"/>
          <a:ext cx="12060000" cy="3476624"/>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a:extLst>
              <a:ext uri="{FF2B5EF4-FFF2-40B4-BE49-F238E27FC236}">
                <a16:creationId xmlns:a16="http://schemas.microsoft.com/office/drawing/2014/main" id="{6FCDFB66-2492-A080-5467-E0B6221C9E4F}"/>
              </a:ext>
            </a:extLst>
          </p:cNvPr>
          <p:cNvSpPr txBox="1"/>
          <p:nvPr/>
        </p:nvSpPr>
        <p:spPr>
          <a:xfrm rot="16200000">
            <a:off x="-140817" y="2528892"/>
            <a:ext cx="516488" cy="261610"/>
          </a:xfrm>
          <a:prstGeom prst="rect">
            <a:avLst/>
          </a:prstGeom>
          <a:noFill/>
        </p:spPr>
        <p:txBody>
          <a:bodyPr wrap="none" rtlCol="0">
            <a:spAutoFit/>
          </a:bodyPr>
          <a:lstStyle/>
          <a:p>
            <a:r>
              <a:rPr lang="en-US" sz="1050" i="1" u="sng" dirty="0">
                <a:solidFill>
                  <a:schemeClr val="bg1">
                    <a:lumMod val="50000"/>
                  </a:schemeClr>
                </a:solidFill>
              </a:rPr>
              <a:t>Mean</a:t>
            </a:r>
            <a:endParaRPr lang="en-IN" sz="1050" i="1" u="sng" dirty="0">
              <a:solidFill>
                <a:schemeClr val="bg1">
                  <a:lumMod val="50000"/>
                </a:schemeClr>
              </a:solidFill>
            </a:endParaRPr>
          </a:p>
        </p:txBody>
      </p:sp>
      <p:sp>
        <p:nvSpPr>
          <p:cNvPr id="14" name="TextBox 13">
            <a:extLst>
              <a:ext uri="{FF2B5EF4-FFF2-40B4-BE49-F238E27FC236}">
                <a16:creationId xmlns:a16="http://schemas.microsoft.com/office/drawing/2014/main" id="{BEA4704A-F364-4B82-DF63-476BD67C4CB3}"/>
              </a:ext>
            </a:extLst>
          </p:cNvPr>
          <p:cNvSpPr txBox="1"/>
          <p:nvPr/>
        </p:nvSpPr>
        <p:spPr>
          <a:xfrm rot="16200000">
            <a:off x="-87075" y="2052633"/>
            <a:ext cx="399468" cy="261610"/>
          </a:xfrm>
          <a:prstGeom prst="rect">
            <a:avLst/>
          </a:prstGeom>
          <a:noFill/>
        </p:spPr>
        <p:txBody>
          <a:bodyPr wrap="none" rtlCol="0">
            <a:spAutoFit/>
          </a:bodyPr>
          <a:lstStyle/>
          <a:p>
            <a:r>
              <a:rPr lang="en-US" sz="1050" i="1" u="sng" dirty="0">
                <a:solidFill>
                  <a:schemeClr val="bg1">
                    <a:lumMod val="50000"/>
                  </a:schemeClr>
                </a:solidFill>
              </a:rPr>
              <a:t>TTB</a:t>
            </a:r>
            <a:endParaRPr lang="en-IN" sz="1050" i="1" u="sng" dirty="0">
              <a:solidFill>
                <a:schemeClr val="bg1">
                  <a:lumMod val="50000"/>
                </a:schemeClr>
              </a:solidFill>
            </a:endParaRPr>
          </a:p>
        </p:txBody>
      </p:sp>
      <p:graphicFrame>
        <p:nvGraphicFramePr>
          <p:cNvPr id="3" name="Table 2">
            <a:extLst>
              <a:ext uri="{FF2B5EF4-FFF2-40B4-BE49-F238E27FC236}">
                <a16:creationId xmlns:a16="http://schemas.microsoft.com/office/drawing/2014/main" id="{D4E4741C-4C20-C2BC-0FA4-6642C4005B3A}"/>
              </a:ext>
            </a:extLst>
          </p:cNvPr>
          <p:cNvGraphicFramePr>
            <a:graphicFrameLocks noGrp="1"/>
          </p:cNvGraphicFramePr>
          <p:nvPr>
            <p:extLst>
              <p:ext uri="{D42A27DB-BD31-4B8C-83A1-F6EECF244321}">
                <p14:modId xmlns:p14="http://schemas.microsoft.com/office/powerpoint/2010/main" val="416789145"/>
              </p:ext>
            </p:extLst>
          </p:nvPr>
        </p:nvGraphicFramePr>
        <p:xfrm>
          <a:off x="171440" y="2128833"/>
          <a:ext cx="11879994" cy="600075"/>
        </p:xfrm>
        <a:graphic>
          <a:graphicData uri="http://schemas.openxmlformats.org/drawingml/2006/table">
            <a:tbl>
              <a:tblPr>
                <a:tableStyleId>{5C22544A-7EE6-4342-B048-85BDC9FD1C3A}</a:tableStyleId>
              </a:tblPr>
              <a:tblGrid>
                <a:gridCol w="848571">
                  <a:extLst>
                    <a:ext uri="{9D8B030D-6E8A-4147-A177-3AD203B41FA5}">
                      <a16:colId xmlns:a16="http://schemas.microsoft.com/office/drawing/2014/main" val="278005536"/>
                    </a:ext>
                  </a:extLst>
                </a:gridCol>
                <a:gridCol w="848571">
                  <a:extLst>
                    <a:ext uri="{9D8B030D-6E8A-4147-A177-3AD203B41FA5}">
                      <a16:colId xmlns:a16="http://schemas.microsoft.com/office/drawing/2014/main" val="758501093"/>
                    </a:ext>
                  </a:extLst>
                </a:gridCol>
                <a:gridCol w="848571">
                  <a:extLst>
                    <a:ext uri="{9D8B030D-6E8A-4147-A177-3AD203B41FA5}">
                      <a16:colId xmlns:a16="http://schemas.microsoft.com/office/drawing/2014/main" val="2482351811"/>
                    </a:ext>
                  </a:extLst>
                </a:gridCol>
                <a:gridCol w="848571">
                  <a:extLst>
                    <a:ext uri="{9D8B030D-6E8A-4147-A177-3AD203B41FA5}">
                      <a16:colId xmlns:a16="http://schemas.microsoft.com/office/drawing/2014/main" val="838033238"/>
                    </a:ext>
                  </a:extLst>
                </a:gridCol>
                <a:gridCol w="848571">
                  <a:extLst>
                    <a:ext uri="{9D8B030D-6E8A-4147-A177-3AD203B41FA5}">
                      <a16:colId xmlns:a16="http://schemas.microsoft.com/office/drawing/2014/main" val="4103268875"/>
                    </a:ext>
                  </a:extLst>
                </a:gridCol>
                <a:gridCol w="848571">
                  <a:extLst>
                    <a:ext uri="{9D8B030D-6E8A-4147-A177-3AD203B41FA5}">
                      <a16:colId xmlns:a16="http://schemas.microsoft.com/office/drawing/2014/main" val="815936739"/>
                    </a:ext>
                  </a:extLst>
                </a:gridCol>
                <a:gridCol w="848571">
                  <a:extLst>
                    <a:ext uri="{9D8B030D-6E8A-4147-A177-3AD203B41FA5}">
                      <a16:colId xmlns:a16="http://schemas.microsoft.com/office/drawing/2014/main" val="1049978882"/>
                    </a:ext>
                  </a:extLst>
                </a:gridCol>
                <a:gridCol w="848571">
                  <a:extLst>
                    <a:ext uri="{9D8B030D-6E8A-4147-A177-3AD203B41FA5}">
                      <a16:colId xmlns:a16="http://schemas.microsoft.com/office/drawing/2014/main" val="2363958230"/>
                    </a:ext>
                  </a:extLst>
                </a:gridCol>
                <a:gridCol w="848571">
                  <a:extLst>
                    <a:ext uri="{9D8B030D-6E8A-4147-A177-3AD203B41FA5}">
                      <a16:colId xmlns:a16="http://schemas.microsoft.com/office/drawing/2014/main" val="133990247"/>
                    </a:ext>
                  </a:extLst>
                </a:gridCol>
                <a:gridCol w="848571">
                  <a:extLst>
                    <a:ext uri="{9D8B030D-6E8A-4147-A177-3AD203B41FA5}">
                      <a16:colId xmlns:a16="http://schemas.microsoft.com/office/drawing/2014/main" val="188982038"/>
                    </a:ext>
                  </a:extLst>
                </a:gridCol>
                <a:gridCol w="848571">
                  <a:extLst>
                    <a:ext uri="{9D8B030D-6E8A-4147-A177-3AD203B41FA5}">
                      <a16:colId xmlns:a16="http://schemas.microsoft.com/office/drawing/2014/main" val="3848204289"/>
                    </a:ext>
                  </a:extLst>
                </a:gridCol>
                <a:gridCol w="848571">
                  <a:extLst>
                    <a:ext uri="{9D8B030D-6E8A-4147-A177-3AD203B41FA5}">
                      <a16:colId xmlns:a16="http://schemas.microsoft.com/office/drawing/2014/main" val="1532594056"/>
                    </a:ext>
                  </a:extLst>
                </a:gridCol>
                <a:gridCol w="848571">
                  <a:extLst>
                    <a:ext uri="{9D8B030D-6E8A-4147-A177-3AD203B41FA5}">
                      <a16:colId xmlns:a16="http://schemas.microsoft.com/office/drawing/2014/main" val="1486272217"/>
                    </a:ext>
                  </a:extLst>
                </a:gridCol>
                <a:gridCol w="848571">
                  <a:extLst>
                    <a:ext uri="{9D8B030D-6E8A-4147-A177-3AD203B41FA5}">
                      <a16:colId xmlns:a16="http://schemas.microsoft.com/office/drawing/2014/main" val="149685826"/>
                    </a:ext>
                  </a:extLst>
                </a:gridCol>
              </a:tblGrid>
              <a:tr h="200025">
                <a:tc>
                  <a:txBody>
                    <a:bodyPr/>
                    <a:lstStyle/>
                    <a:p>
                      <a:pPr algn="ctr" fontAlgn="ctr"/>
                      <a:r>
                        <a:rPr lang="en-IN" sz="1200" i="1" u="none" strike="noStrike" dirty="0">
                          <a:effectLst/>
                        </a:rPr>
                        <a:t>81%</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78%</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76%</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65%</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84%</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68%</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75%</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78%</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77%</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76%</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81%</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70%</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81%</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69%</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698187825"/>
                  </a:ext>
                </a:extLst>
              </a:tr>
              <a:tr h="200025">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 </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3140594464"/>
                  </a:ext>
                </a:extLst>
              </a:tr>
              <a:tr h="200025">
                <a:tc>
                  <a:txBody>
                    <a:bodyPr/>
                    <a:lstStyle/>
                    <a:p>
                      <a:pPr algn="ctr" fontAlgn="ctr"/>
                      <a:r>
                        <a:rPr lang="en-IN" sz="1200" i="1" u="none" strike="noStrike" dirty="0">
                          <a:effectLst/>
                        </a:rPr>
                        <a:t>5.3</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5.2</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5.1</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4.8</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5.2</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5.0</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5.2</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5.0</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5.2</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5.1</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5.2</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5.0</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5.4</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tc>
                  <a:txBody>
                    <a:bodyPr/>
                    <a:lstStyle/>
                    <a:p>
                      <a:pPr algn="ctr" fontAlgn="ctr"/>
                      <a:r>
                        <a:rPr lang="en-IN" sz="1200" i="1" u="none" strike="noStrike" dirty="0">
                          <a:effectLst/>
                        </a:rPr>
                        <a:t>4.8</a:t>
                      </a:r>
                      <a:endParaRPr lang="en-IN" sz="1200" b="0" i="1" u="none" strike="noStrike" dirty="0">
                        <a:solidFill>
                          <a:srgbClr val="000000"/>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858152277"/>
                  </a:ext>
                </a:extLst>
              </a:tr>
            </a:tbl>
          </a:graphicData>
        </a:graphic>
      </p:graphicFrame>
      <p:sp>
        <p:nvSpPr>
          <p:cNvPr id="11" name="TextBox 10">
            <a:extLst>
              <a:ext uri="{FF2B5EF4-FFF2-40B4-BE49-F238E27FC236}">
                <a16:creationId xmlns:a16="http://schemas.microsoft.com/office/drawing/2014/main" id="{FA4E319B-5CA8-006A-DA00-B4166831D635}"/>
              </a:ext>
            </a:extLst>
          </p:cNvPr>
          <p:cNvSpPr txBox="1"/>
          <p:nvPr/>
        </p:nvSpPr>
        <p:spPr>
          <a:xfrm>
            <a:off x="4081460" y="2095491"/>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20" name="TextBox 19">
            <a:extLst>
              <a:ext uri="{FF2B5EF4-FFF2-40B4-BE49-F238E27FC236}">
                <a16:creationId xmlns:a16="http://schemas.microsoft.com/office/drawing/2014/main" id="{B810446D-6389-3642-6756-B163FB59C17C}"/>
              </a:ext>
            </a:extLst>
          </p:cNvPr>
          <p:cNvSpPr txBox="1"/>
          <p:nvPr/>
        </p:nvSpPr>
        <p:spPr>
          <a:xfrm>
            <a:off x="14283" y="6372227"/>
            <a:ext cx="5396029" cy="507831"/>
          </a:xfrm>
          <a:prstGeom prst="rect">
            <a:avLst/>
          </a:prstGeom>
          <a:noFill/>
        </p:spPr>
        <p:txBody>
          <a:bodyPr wrap="none" rtlCol="0">
            <a:spAutoFit/>
          </a:bodyPr>
          <a:lstStyle/>
          <a:p>
            <a:r>
              <a:rPr lang="en-IN" sz="900" i="1" u="sng" dirty="0"/>
              <a:t>Note:</a:t>
            </a:r>
          </a:p>
          <a:p>
            <a:r>
              <a:rPr lang="en-IN" sz="900" i="1" dirty="0"/>
              <a:t>Capital letter “B” use for 95% confidence interval  level and Small letter “b” use for 90% confidence interval level</a:t>
            </a:r>
          </a:p>
          <a:p>
            <a:r>
              <a:rPr lang="en-IN" sz="900" i="1" dirty="0">
                <a:solidFill>
                  <a:srgbClr val="00B050"/>
                </a:solidFill>
              </a:rPr>
              <a:t>Green</a:t>
            </a:r>
            <a:r>
              <a:rPr lang="en-IN" sz="900" i="1" dirty="0"/>
              <a:t> colour means, FS 18 is higher than CB 24 and </a:t>
            </a:r>
            <a:r>
              <a:rPr lang="en-IN" sz="900" i="1" dirty="0">
                <a:solidFill>
                  <a:srgbClr val="FF0000"/>
                </a:solidFill>
              </a:rPr>
              <a:t>Red</a:t>
            </a:r>
            <a:r>
              <a:rPr lang="en-IN" sz="900" i="1" dirty="0"/>
              <a:t> colour means FS 18 is inferior than CB 24.  </a:t>
            </a:r>
          </a:p>
        </p:txBody>
      </p:sp>
      <p:pic>
        <p:nvPicPr>
          <p:cNvPr id="21" name="Picture 20">
            <a:extLst>
              <a:ext uri="{FF2B5EF4-FFF2-40B4-BE49-F238E27FC236}">
                <a16:creationId xmlns:a16="http://schemas.microsoft.com/office/drawing/2014/main" id="{84985C1A-2056-B897-0178-3929694A64FA}"/>
              </a:ext>
            </a:extLst>
          </p:cNvPr>
          <p:cNvPicPr>
            <a:picLocks noChangeAspect="1"/>
          </p:cNvPicPr>
          <p:nvPr/>
        </p:nvPicPr>
        <p:blipFill>
          <a:blip r:embed="rId3"/>
          <a:stretch>
            <a:fillRect/>
          </a:stretch>
        </p:blipFill>
        <p:spPr>
          <a:xfrm>
            <a:off x="3843073" y="6086470"/>
            <a:ext cx="4631998" cy="180000"/>
          </a:xfrm>
          <a:prstGeom prst="rect">
            <a:avLst/>
          </a:prstGeom>
        </p:spPr>
      </p:pic>
      <p:sp>
        <p:nvSpPr>
          <p:cNvPr id="22" name="TextBox 21">
            <a:extLst>
              <a:ext uri="{FF2B5EF4-FFF2-40B4-BE49-F238E27FC236}">
                <a16:creationId xmlns:a16="http://schemas.microsoft.com/office/drawing/2014/main" id="{FE112B64-79AD-A58E-5D8F-E67F367380C1}"/>
              </a:ext>
            </a:extLst>
          </p:cNvPr>
          <p:cNvSpPr txBox="1"/>
          <p:nvPr/>
        </p:nvSpPr>
        <p:spPr>
          <a:xfrm>
            <a:off x="10820419" y="2490779"/>
            <a:ext cx="26321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23" name="TextBox 22">
            <a:extLst>
              <a:ext uri="{FF2B5EF4-FFF2-40B4-BE49-F238E27FC236}">
                <a16:creationId xmlns:a16="http://schemas.microsoft.com/office/drawing/2014/main" id="{B10452D0-A56B-72C2-225B-D3F3AB6645BC}"/>
              </a:ext>
            </a:extLst>
          </p:cNvPr>
          <p:cNvSpPr txBox="1"/>
          <p:nvPr/>
        </p:nvSpPr>
        <p:spPr>
          <a:xfrm>
            <a:off x="461954" y="3133723"/>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24" name="TextBox 23">
            <a:extLst>
              <a:ext uri="{FF2B5EF4-FFF2-40B4-BE49-F238E27FC236}">
                <a16:creationId xmlns:a16="http://schemas.microsoft.com/office/drawing/2014/main" id="{7935C00E-8288-2427-C4DC-9CFD6BF2A90A}"/>
              </a:ext>
            </a:extLst>
          </p:cNvPr>
          <p:cNvSpPr txBox="1"/>
          <p:nvPr/>
        </p:nvSpPr>
        <p:spPr>
          <a:xfrm>
            <a:off x="5486413" y="3086096"/>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25" name="TextBox 24">
            <a:extLst>
              <a:ext uri="{FF2B5EF4-FFF2-40B4-BE49-F238E27FC236}">
                <a16:creationId xmlns:a16="http://schemas.microsoft.com/office/drawing/2014/main" id="{D0F8EF46-DFA3-6A14-1B1D-B8DEA27630D4}"/>
              </a:ext>
            </a:extLst>
          </p:cNvPr>
          <p:cNvSpPr txBox="1"/>
          <p:nvPr/>
        </p:nvSpPr>
        <p:spPr>
          <a:xfrm>
            <a:off x="10539441" y="3081332"/>
            <a:ext cx="274434" cy="276999"/>
          </a:xfrm>
          <a:prstGeom prst="rect">
            <a:avLst/>
          </a:prstGeom>
          <a:noFill/>
        </p:spPr>
        <p:txBody>
          <a:bodyPr wrap="none" rtlCol="0">
            <a:spAutoFit/>
          </a:bodyPr>
          <a:lstStyle/>
          <a:p>
            <a:r>
              <a:rPr lang="en-US" sz="1200" i="1" dirty="0">
                <a:solidFill>
                  <a:srgbClr val="00B050"/>
                </a:solidFill>
              </a:rPr>
              <a:t>B</a:t>
            </a:r>
            <a:endParaRPr lang="en-IN" sz="1200" i="1" dirty="0">
              <a:solidFill>
                <a:srgbClr val="00B050"/>
              </a:solidFill>
            </a:endParaRPr>
          </a:p>
        </p:txBody>
      </p:sp>
      <p:sp>
        <p:nvSpPr>
          <p:cNvPr id="26" name="TextBox 25">
            <a:extLst>
              <a:ext uri="{FF2B5EF4-FFF2-40B4-BE49-F238E27FC236}">
                <a16:creationId xmlns:a16="http://schemas.microsoft.com/office/drawing/2014/main" id="{789496F4-DEA4-D62C-E096-5F769229A6BB}"/>
              </a:ext>
            </a:extLst>
          </p:cNvPr>
          <p:cNvSpPr txBox="1"/>
          <p:nvPr/>
        </p:nvSpPr>
        <p:spPr>
          <a:xfrm>
            <a:off x="6958024" y="66675"/>
            <a:ext cx="5220532" cy="369332"/>
          </a:xfrm>
          <a:prstGeom prst="rect">
            <a:avLst/>
          </a:prstGeom>
          <a:noFill/>
        </p:spPr>
        <p:txBody>
          <a:bodyPr wrap="none" rtlCol="0">
            <a:spAutoFit/>
          </a:bodyPr>
          <a:lstStyle/>
          <a:p>
            <a:r>
              <a:rPr lang="en-IN" i="1" dirty="0">
                <a:solidFill>
                  <a:schemeClr val="bg1">
                    <a:lumMod val="95000"/>
                  </a:schemeClr>
                </a:solidFill>
              </a:rPr>
              <a:t>This analysis based on Cadbury (Mondelez) users only</a:t>
            </a:r>
          </a:p>
        </p:txBody>
      </p:sp>
    </p:spTree>
    <p:extLst>
      <p:ext uri="{BB962C8B-B14F-4D97-AF65-F5344CB8AC3E}">
        <p14:creationId xmlns:p14="http://schemas.microsoft.com/office/powerpoint/2010/main" val="2863740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4127</TotalTime>
  <Words>4643</Words>
  <PresentationFormat>Widescreen</PresentationFormat>
  <Paragraphs>1260</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Corbel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Consumers are preferred FS 18 product is significantly better over the CB 24. FS 18 sample (FS18) has preferred 58%  while CB 24 sample (Abc) has preferred 42%. Whoever preferred product FS 18, they also rated a better score to its overall mean over CB 24.</vt:lpstr>
      <vt:lpstr>FS 18 product has significantly better preference over CB 24 across demographics.</vt:lpstr>
      <vt:lpstr>Overall likeability is significantly better of FS 18 over CB 24.</vt:lpstr>
      <vt:lpstr>In Delhi, male and elder age group consumers are liked significantly better to the FS 18 product over CB 24, while in Mumbai, male, female, small age, and mid-age group consumers stand at parity.</vt:lpstr>
      <vt:lpstr>90%+ consumers stated Product FS 18 thickness is perfect at the combined and monadic level, and its JAR scores are significantly better than CB 24.</vt:lpstr>
      <vt:lpstr>FS 24 thickness is perfect, and its JAR level is significantly better across segments.</vt:lpstr>
      <vt:lpstr>92% and 95% at all and monadic level consumers agreed that the FS 18 product has a perfect soft bite. If see, these % are not bad, but in comparison perspective, 92% is significantly inferior to CB 24. Consumers are more agreeing that CB 24 has a perfect soft bite over FS 18.</vt:lpstr>
      <vt:lpstr>Mumbai, female and small age group consumers less agreed (significantly) with this statement for FS 18 that “This cake has a perfect soft bite." Delhi, male, mid, and elder age group consumers stand at par with this statement. </vt:lpstr>
      <vt:lpstr>Mean Drop Penalty Analysis</vt:lpstr>
      <vt:lpstr>Mean Drop Penalty Analysis : Impact on Overall likeability (F 18)</vt:lpstr>
      <vt:lpstr>Mean Drop Penalty Analysis: Impact on respective likeability attributes (F 18)</vt:lpstr>
      <vt:lpstr>Mean Drop Penalty Analysis : Impact on Overall likeability (F 18)</vt:lpstr>
      <vt:lpstr>Mean Drop Penalty Analysis: Impact on respective likeability attributes (F 18)</vt:lpstr>
      <vt:lpstr>Mean Drop Penalty Analysis : Impact on Overall likeability (F 18)</vt:lpstr>
      <vt:lpstr>Mean Drop Penalty Analysis: Impact on respective likeability attributes (F 18)</vt:lpstr>
      <vt:lpstr>Attributes summary of product FS 18</vt:lpstr>
      <vt:lpstr>Attributes summary of product FS 18</vt:lpstr>
      <vt:lpstr>Attributes summary of product FS 18</vt:lpstr>
      <vt:lpstr>Summary : SWOT analysis for product FS 18</vt:lpstr>
      <vt:lpstr>Driver Analysis : FS 18</vt:lpstr>
      <vt:lpstr>Driver Analysis : CB 24</vt:lpstr>
      <vt:lpstr>PowerPoint Presentation</vt:lpstr>
      <vt:lpstr>PowerPoint Presentation</vt:lpstr>
      <vt:lpstr>Cadbury Chocobakes users have significantly liked FS 18 over CB 24 in total (60%:40%), and the same trend is seen in some demographic data. FS 18 has preferred better and significantly over CB 24 across.</vt:lpstr>
      <vt:lpstr>FS 18 is directionally and significantly better than CB 24. Chocobakes users have liked better to FS 18 over CB 24.</vt:lpstr>
      <vt:lpstr>All the Chocobakes users have liked equally to both products except male and elder age categories. Male and elderly consumers have liked significantly better FS 18 over CB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erms:created xsi:type="dcterms:W3CDTF">2024-09-17T18:19:34Z</dcterms:created>
  <dcterms:modified xsi:type="dcterms:W3CDTF">2025-09-10T11:57:20Z</dcterms:modified>
</cp:coreProperties>
</file>